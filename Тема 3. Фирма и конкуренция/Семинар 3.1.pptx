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4" r:id="rId9"/>
    <p:sldId id="263" r:id="rId10"/>
    <p:sldId id="275" r:id="rId11"/>
    <p:sldId id="276" r:id="rId12"/>
    <p:sldId id="265" r:id="rId13"/>
    <p:sldId id="277" r:id="rId14"/>
    <p:sldId id="278" r:id="rId15"/>
    <p:sldId id="266" r:id="rId16"/>
    <p:sldId id="267" r:id="rId17"/>
    <p:sldId id="268" r:id="rId18"/>
    <p:sldId id="269" r:id="rId19"/>
    <p:sldId id="270" r:id="rId20"/>
    <p:sldId id="279" r:id="rId21"/>
    <p:sldId id="272" r:id="rId22"/>
    <p:sldId id="273" r:id="rId23"/>
  </p:sldIdLst>
  <p:sldSz cx="12192000" cy="6858000"/>
  <p:notesSz cx="12192000" cy="6858000"/>
  <p:defaultText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25">
          <p15:clr>
            <a:srgbClr val="A4A3A4"/>
          </p15:clr>
        </p15:guide>
        <p15:guide id="2" pos="1209">
          <p15:clr>
            <a:srgbClr val="A4A3A4"/>
          </p15:clr>
        </p15:guide>
        <p15:guide id="3" pos="2955">
          <p15:clr>
            <a:srgbClr val="A4A3A4"/>
          </p15:clr>
        </p15:guide>
        <p15:guide id="4" pos="2071">
          <p15:clr>
            <a:srgbClr val="A4A3A4"/>
          </p15:clr>
        </p15:guide>
        <p15:guide id="5" pos="3840">
          <p15:clr>
            <a:srgbClr val="A4A3A4"/>
          </p15:clr>
        </p15:guide>
        <p15:guide id="6" pos="4702">
          <p15:clr>
            <a:srgbClr val="A4A3A4"/>
          </p15:clr>
        </p15:guide>
        <p15:guide id="7" pos="5586">
          <p15:clr>
            <a:srgbClr val="A4A3A4"/>
          </p15:clr>
        </p15:guide>
        <p15:guide id="8" pos="7333">
          <p15:clr>
            <a:srgbClr val="A4A3A4"/>
          </p15:clr>
        </p15:guide>
        <p15:guide id="9" orient="horz" pos="3952">
          <p15:clr>
            <a:srgbClr val="A4A3A4"/>
          </p15:clr>
        </p15:guide>
        <p15:guide id="10" pos="6471">
          <p15:clr>
            <a:srgbClr val="A4A3A4"/>
          </p15:clr>
        </p15:guide>
        <p15:guide id="11" orient="horz" pos="91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63"/>
    <p:restoredTop sz="94682"/>
  </p:normalViewPr>
  <p:slideViewPr>
    <p:cSldViewPr snapToGrid="0" snapToObjects="1">
      <p:cViewPr varScale="1">
        <p:scale>
          <a:sx n="110" d="100"/>
          <a:sy n="110" d="100"/>
        </p:scale>
        <p:origin x="200" y="272"/>
      </p:cViewPr>
      <p:guideLst>
        <p:guide pos="325"/>
        <p:guide pos="1209"/>
        <p:guide pos="2955"/>
        <p:guide pos="2071"/>
        <p:guide pos="3840"/>
        <p:guide pos="4702"/>
        <p:guide pos="5586"/>
        <p:guide pos="7333"/>
        <p:guide orient="horz" pos="3952"/>
        <p:guide pos="6471"/>
        <p:guide orient="horz" pos="91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Sheet1!$I$11</c:f>
              <c:strCache>
                <c:ptCount val="1"/>
                <c:pt idx="0">
                  <c:v>APL</c:v>
                </c:pt>
              </c:strCache>
            </c:strRef>
          </c:tx>
          <c:spPr>
            <a:ln w="28575" cap="rnd">
              <a:solidFill>
                <a:schemeClr val="accent1"/>
              </a:solidFill>
              <a:round/>
            </a:ln>
            <a:effectLst/>
          </c:spPr>
          <c:marker>
            <c:symbol val="none"/>
          </c:marker>
          <c:val>
            <c:numRef>
              <c:f>Sheet1!$I$12:$I$16</c:f>
              <c:numCache>
                <c:formatCode>General</c:formatCode>
                <c:ptCount val="5"/>
                <c:pt idx="0">
                  <c:v>5</c:v>
                </c:pt>
                <c:pt idx="1">
                  <c:v>6</c:v>
                </c:pt>
                <c:pt idx="2">
                  <c:v>7</c:v>
                </c:pt>
                <c:pt idx="3">
                  <c:v>6</c:v>
                </c:pt>
                <c:pt idx="4">
                  <c:v>5</c:v>
                </c:pt>
              </c:numCache>
            </c:numRef>
          </c:val>
          <c:smooth val="0"/>
          <c:extLst>
            <c:ext xmlns:c16="http://schemas.microsoft.com/office/drawing/2014/chart" uri="{C3380CC4-5D6E-409C-BE32-E72D297353CC}">
              <c16:uniqueId val="{00000000-2E0B-DE49-8393-5716A6908B8D}"/>
            </c:ext>
          </c:extLst>
        </c:ser>
        <c:ser>
          <c:idx val="1"/>
          <c:order val="1"/>
          <c:tx>
            <c:strRef>
              <c:f>Sheet1!$J$11</c:f>
              <c:strCache>
                <c:ptCount val="1"/>
                <c:pt idx="0">
                  <c:v>MPL</c:v>
                </c:pt>
              </c:strCache>
            </c:strRef>
          </c:tx>
          <c:spPr>
            <a:ln w="28575" cap="rnd">
              <a:solidFill>
                <a:schemeClr val="accent3"/>
              </a:solidFill>
              <a:round/>
            </a:ln>
            <a:effectLst/>
          </c:spPr>
          <c:marker>
            <c:symbol val="none"/>
          </c:marker>
          <c:val>
            <c:numRef>
              <c:f>Sheet1!$J$12:$J$16</c:f>
              <c:numCache>
                <c:formatCode>General</c:formatCode>
                <c:ptCount val="5"/>
                <c:pt idx="0">
                  <c:v>5</c:v>
                </c:pt>
                <c:pt idx="1">
                  <c:v>7</c:v>
                </c:pt>
                <c:pt idx="2">
                  <c:v>9</c:v>
                </c:pt>
                <c:pt idx="3">
                  <c:v>3</c:v>
                </c:pt>
                <c:pt idx="4">
                  <c:v>1</c:v>
                </c:pt>
              </c:numCache>
            </c:numRef>
          </c:val>
          <c:smooth val="0"/>
          <c:extLst>
            <c:ext xmlns:c16="http://schemas.microsoft.com/office/drawing/2014/chart" uri="{C3380CC4-5D6E-409C-BE32-E72D297353CC}">
              <c16:uniqueId val="{00000001-2E0B-DE49-8393-5716A6908B8D}"/>
            </c:ext>
          </c:extLst>
        </c:ser>
        <c:dLbls>
          <c:showLegendKey val="0"/>
          <c:showVal val="0"/>
          <c:showCatName val="0"/>
          <c:showSerName val="0"/>
          <c:showPercent val="0"/>
          <c:showBubbleSize val="0"/>
        </c:dLbls>
        <c:smooth val="0"/>
        <c:axId val="2026009936"/>
        <c:axId val="2025977184"/>
      </c:lineChart>
      <c:catAx>
        <c:axId val="2026009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RU"/>
          </a:p>
        </c:txPr>
        <c:crossAx val="2025977184"/>
        <c:crosses val="autoZero"/>
        <c:auto val="1"/>
        <c:lblAlgn val="ctr"/>
        <c:lblOffset val="100"/>
        <c:noMultiLvlLbl val="0"/>
      </c:catAx>
      <c:valAx>
        <c:axId val="2025977184"/>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0260099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RU"/>
        </a:p>
      </c:txPr>
    </c:legend>
    <c:plotVisOnly val="1"/>
    <c:dispBlanksAs val="gap"/>
    <c:showDLblsOverMax val="0"/>
  </c:chart>
  <c:spPr>
    <a:noFill/>
    <a:ln>
      <a:noFill/>
    </a:ln>
    <a:effectLst/>
  </c:spPr>
  <c:txPr>
    <a:bodyPr/>
    <a:lstStyle/>
    <a:p>
      <a:pPr>
        <a:defRPr/>
      </a:pPr>
      <a:endParaRPr lang="en-RU"/>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Обложка">
    <p:bg>
      <p:bgPr>
        <a:blipFill>
          <a:blip r:embed="rId2">
            <a:lum/>
          </a:blip>
          <a:stretch/>
        </a:blipFill>
        <a:effectLst/>
      </p:bgPr>
    </p:bg>
    <p:spTree>
      <p:nvGrpSpPr>
        <p:cNvPr id="1" name=""/>
        <p:cNvGrpSpPr/>
        <p:nvPr/>
      </p:nvGrpSpPr>
      <p:grpSpPr bwMode="auto">
        <a:xfrm>
          <a:off x="0" y="0"/>
          <a:ext cx="0" cy="0"/>
          <a:chOff x="0" y="0"/>
          <a:chExt cx="0" cy="0"/>
        </a:xfrm>
      </p:grpSpPr>
      <p:pic>
        <p:nvPicPr>
          <p:cNvPr id="7" name="Picture 28" descr="A blue circle with white text&#10;&#10;Description automatically generated with low confidence"/>
          <p:cNvPicPr>
            <a:picLocks noChangeAspect="1"/>
          </p:cNvPicPr>
          <p:nvPr userDrawn="1"/>
        </p:nvPicPr>
        <p:blipFill>
          <a:blip r:embed="rId3"/>
          <a:stretch/>
        </p:blipFill>
        <p:spPr bwMode="auto">
          <a:xfrm>
            <a:off x="1013859" y="962173"/>
            <a:ext cx="886499" cy="886499"/>
          </a:xfrm>
          <a:prstGeom prst="rect">
            <a:avLst/>
          </a:prstGeom>
        </p:spPr>
      </p:pic>
      <p:cxnSp>
        <p:nvCxnSpPr>
          <p:cNvPr id="11" name="Straight Connector 48"/>
          <p:cNvCxnSpPr>
            <a:cxnSpLocks/>
          </p:cNvCxnSpPr>
          <p:nvPr userDrawn="1"/>
        </p:nvCxnSpPr>
        <p:spPr bwMode="auto">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p:cNvCxnSpPr>
            <a:cxnSpLocks/>
          </p:cNvCxnSpPr>
          <p:nvPr userDrawn="1"/>
        </p:nvCxnSpPr>
        <p:spPr bwMode="auto">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p:cNvCxnSpPr>
            <a:cxnSpLocks/>
          </p:cNvCxnSpPr>
          <p:nvPr userDrawn="1"/>
        </p:nvCxnSpPr>
        <p:spPr bwMode="auto">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p:cNvSpPr>
            <a:spLocks noGrp="1"/>
          </p:cNvSpPr>
          <p:nvPr>
            <p:ph type="title" hasCustomPrompt="1"/>
          </p:nvPr>
        </p:nvSpPr>
        <p:spPr bwMode="auto">
          <a:xfrm>
            <a:off x="1027967" y="2404670"/>
            <a:ext cx="7634059" cy="1978323"/>
          </a:xfrm>
        </p:spPr>
        <p:txBody>
          <a:bodyPr lIns="0" tIns="0" rIns="0" bIns="0" anchor="t">
            <a:normAutofit/>
          </a:bodyPr>
          <a:lstStyle>
            <a:lvl1pPr>
              <a:lnSpc>
                <a:spcPct val="100000"/>
              </a:lnSpc>
              <a:defRPr sz="4300" b="0" i="0">
                <a:solidFill>
                  <a:srgbClr val="0E2D69"/>
                </a:solidFill>
                <a:latin typeface="HSE Sans"/>
              </a:defRPr>
            </a:lvl1pPr>
          </a:lstStyle>
          <a:p>
            <a:pPr>
              <a:defRPr/>
            </a:pPr>
            <a:r>
              <a:rPr lang="ru-RU" sz="4400">
                <a:solidFill>
                  <a:srgbClr val="102D69"/>
                </a:solidFill>
                <a:latin typeface="HSE Sans"/>
              </a:rPr>
              <a:t>Название презентации</a:t>
            </a:r>
            <a:br>
              <a:rPr lang="ru-RU" sz="4400">
                <a:solidFill>
                  <a:srgbClr val="102D69"/>
                </a:solidFill>
                <a:latin typeface="HSE Sans"/>
              </a:rPr>
            </a:br>
            <a:r>
              <a:rPr lang="ru-RU" sz="4400">
                <a:solidFill>
                  <a:srgbClr val="102D69"/>
                </a:solidFill>
                <a:latin typeface="HSE Sans"/>
              </a:rPr>
              <a:t>может быть набрано в две </a:t>
            </a:r>
            <a:br>
              <a:rPr lang="ru-RU" sz="4400">
                <a:solidFill>
                  <a:srgbClr val="102D69"/>
                </a:solidFill>
                <a:latin typeface="HSE Sans"/>
              </a:rPr>
            </a:br>
            <a:r>
              <a:rPr lang="ru-RU" sz="4400">
                <a:solidFill>
                  <a:srgbClr val="102D69"/>
                </a:solidFill>
                <a:latin typeface="HSE Sans"/>
              </a:rPr>
              <a:t>или три строки (43 </a:t>
            </a:r>
            <a:r>
              <a:rPr lang="en-GB" sz="4400">
                <a:solidFill>
                  <a:srgbClr val="102D69"/>
                </a:solidFill>
                <a:latin typeface="HSE Sans"/>
              </a:rPr>
              <a:t>pt)</a:t>
            </a:r>
            <a:endParaRPr lang="ru-RU" sz="4400">
              <a:solidFill>
                <a:srgbClr val="102D69"/>
              </a:solidFill>
              <a:latin typeface="HSE Sans"/>
            </a:endParaRPr>
          </a:p>
        </p:txBody>
      </p:sp>
      <p:sp>
        <p:nvSpPr>
          <p:cNvPr id="20" name="Текст 19"/>
          <p:cNvSpPr>
            <a:spLocks noGrp="1"/>
          </p:cNvSpPr>
          <p:nvPr>
            <p:ph type="body" sz="quarter" idx="10" hasCustomPrompt="1"/>
          </p:nvPr>
        </p:nvSpPr>
        <p:spPr bwMode="auto">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a:defRPr>
            </a:lvl1pPr>
            <a:lvl2pPr marL="457200" indent="0" algn="l">
              <a:buNone/>
              <a:defRPr sz="1600" b="0" i="0">
                <a:latin typeface="HSE Sans"/>
              </a:defRPr>
            </a:lvl2pPr>
            <a:lvl3pPr marL="914400" indent="0" algn="l">
              <a:buNone/>
              <a:defRPr sz="1600" b="0" i="0">
                <a:latin typeface="HSE Sans"/>
              </a:defRPr>
            </a:lvl3pPr>
            <a:lvl4pPr marL="1371600" indent="0" algn="l">
              <a:buNone/>
              <a:defRPr sz="1600" b="0" i="0">
                <a:latin typeface="HSE Sans"/>
              </a:defRPr>
            </a:lvl4pPr>
            <a:lvl5pPr marL="1828800" indent="0" algn="l">
              <a:buNone/>
              <a:defRPr sz="1600" b="0" i="0">
                <a:latin typeface="HSE Sans"/>
              </a:defRPr>
            </a:lvl5pPr>
          </a:lstStyle>
          <a:p>
            <a:pPr>
              <a:defRPr/>
            </a:pPr>
            <a:r>
              <a:rPr lang="ru-RU">
                <a:latin typeface="HSE Sans"/>
              </a:rPr>
              <a:t>Название факультета</a:t>
            </a:r>
            <a:br>
              <a:rPr lang="ru-RU">
                <a:latin typeface="HSE Sans"/>
              </a:rPr>
            </a:br>
            <a:r>
              <a:rPr lang="ru-RU">
                <a:latin typeface="HSE Sans"/>
              </a:rPr>
              <a:t>в две строки</a:t>
            </a:r>
            <a:r>
              <a:rPr lang="en-GB">
                <a:latin typeface="HSE Sans"/>
              </a:rPr>
              <a:t> (16 pt)</a:t>
            </a:r>
            <a:endParaRPr lang="ru-RU">
              <a:latin typeface="HSE Sans"/>
            </a:endParaRPr>
          </a:p>
        </p:txBody>
      </p:sp>
      <p:sp>
        <p:nvSpPr>
          <p:cNvPr id="25" name="Текст 24"/>
          <p:cNvSpPr>
            <a:spLocks noGrp="1"/>
          </p:cNvSpPr>
          <p:nvPr>
            <p:ph type="body" sz="quarter" idx="11" hasCustomPrompt="1"/>
          </p:nvPr>
        </p:nvSpPr>
        <p:spPr bwMode="auto">
          <a:xfrm>
            <a:off x="6259420" y="1173829"/>
            <a:ext cx="2278063" cy="463186"/>
          </a:xfrm>
        </p:spPr>
        <p:txBody>
          <a:bodyPr lIns="0" tIns="0" rIns="0" bIns="0" anchor="t">
            <a:normAutofit/>
          </a:bodyPr>
          <a:lstStyle>
            <a:lvl1pPr marL="0" marR="0" indent="0" algn="l" defTabSz="914400">
              <a:lnSpc>
                <a:spcPct val="100000"/>
              </a:lnSpc>
              <a:spcBef>
                <a:spcPts val="0"/>
              </a:spcBef>
              <a:spcAft>
                <a:spcPts val="0"/>
              </a:spcAft>
              <a:buClrTx/>
              <a:buSzTx/>
              <a:buFont typeface="Arial"/>
              <a:buNone/>
              <a:defRPr sz="1200" b="0" i="0">
                <a:solidFill>
                  <a:srgbClr val="0E2D69"/>
                </a:solidFill>
                <a:latin typeface="HSE Sans"/>
              </a:defRPr>
            </a:lvl1pPr>
          </a:lstStyle>
          <a:p>
            <a:pPr marL="0" marR="0" lvl="0" indent="0" algn="l" defTabSz="914400">
              <a:lnSpc>
                <a:spcPct val="90000"/>
              </a:lnSpc>
              <a:spcBef>
                <a:spcPts val="1000"/>
              </a:spcBef>
              <a:spcAft>
                <a:spcPts val="0"/>
              </a:spcAft>
              <a:buClrTx/>
              <a:buSzTx/>
              <a:buFont typeface="Arial"/>
              <a:buNone/>
              <a:defRPr/>
            </a:pPr>
            <a:r>
              <a:rPr lang="ru-RU" sz="1200">
                <a:latin typeface="HSE Sans"/>
              </a:rPr>
              <a:t>Название подразделения</a:t>
            </a:r>
            <a:br>
              <a:rPr lang="ru-RU" sz="1200">
                <a:latin typeface="HSE Sans"/>
              </a:rPr>
            </a:br>
            <a:r>
              <a:rPr lang="ru-RU" sz="1200">
                <a:latin typeface="HSE Sans"/>
              </a:rPr>
              <a:t>в две или три строки</a:t>
            </a:r>
            <a:r>
              <a:rPr lang="en-GB" sz="1200">
                <a:latin typeface="HSE Sans"/>
              </a:rPr>
              <a:t> (12pt)</a:t>
            </a:r>
            <a:endParaRPr lang="ru-RU" sz="1200">
              <a:latin typeface="HSE Sans"/>
            </a:endParaRPr>
          </a:p>
        </p:txBody>
      </p:sp>
      <p:sp>
        <p:nvSpPr>
          <p:cNvPr id="27" name="Текст 26"/>
          <p:cNvSpPr>
            <a:spLocks noGrp="1"/>
          </p:cNvSpPr>
          <p:nvPr>
            <p:ph type="body" idx="12" hasCustomPrompt="1"/>
          </p:nvPr>
        </p:nvSpPr>
        <p:spPr bwMode="auto">
          <a:xfrm>
            <a:off x="8786720" y="1173829"/>
            <a:ext cx="2217738" cy="463186"/>
          </a:xfrm>
        </p:spPr>
        <p:txBody>
          <a:bodyPr lIns="0" tIns="0" rIns="0" bIns="0" anchor="t">
            <a:normAutofit/>
          </a:bodyPr>
          <a:lstStyle>
            <a:lvl1pPr marL="0" marR="0" indent="0" algn="l" defTabSz="914400">
              <a:lnSpc>
                <a:spcPct val="100000"/>
              </a:lnSpc>
              <a:spcBef>
                <a:spcPts val="0"/>
              </a:spcBef>
              <a:spcAft>
                <a:spcPts val="0"/>
              </a:spcAft>
              <a:buClrTx/>
              <a:buSzTx/>
              <a:buFont typeface="Arial"/>
              <a:buNone/>
              <a:defRPr sz="1200" b="0" i="0">
                <a:solidFill>
                  <a:srgbClr val="0E2D69"/>
                </a:solidFill>
                <a:latin typeface="HSE Sans"/>
              </a:defRPr>
            </a:lvl1pPr>
          </a:lstStyle>
          <a:p>
            <a:pPr marL="0" marR="0" lvl="0" indent="0" algn="l" defTabSz="914400">
              <a:lnSpc>
                <a:spcPct val="90000"/>
              </a:lnSpc>
              <a:spcBef>
                <a:spcPts val="1000"/>
              </a:spcBef>
              <a:spcAft>
                <a:spcPts val="0"/>
              </a:spcAft>
              <a:buClrTx/>
              <a:buSzTx/>
              <a:buFont typeface="Arial"/>
              <a:buNone/>
              <a:defRPr/>
            </a:pPr>
            <a:r>
              <a:rPr lang="ru-RU" sz="1200">
                <a:latin typeface="HSE Sans"/>
              </a:rPr>
              <a:t>Москва</a:t>
            </a:r>
            <a:br>
              <a:rPr lang="ru-RU" sz="1200">
                <a:latin typeface="HSE Sans"/>
              </a:rPr>
            </a:br>
            <a:r>
              <a:rPr lang="ru-RU" sz="1200">
                <a:latin typeface="HSE Sans"/>
              </a:rPr>
              <a:t>2022</a:t>
            </a:r>
            <a:r>
              <a:rPr lang="en-GB" sz="1200">
                <a:latin typeface="HSE Sans"/>
              </a:rPr>
              <a:t> (12pt)</a:t>
            </a:r>
            <a:endParaRPr lang="ru-RU" sz="1200">
              <a:latin typeface="HSE Sans"/>
            </a:endParaRPr>
          </a:p>
        </p:txBody>
      </p:sp>
      <p:sp>
        <p:nvSpPr>
          <p:cNvPr id="29" name="Текст 28"/>
          <p:cNvSpPr>
            <a:spLocks noGrp="1"/>
          </p:cNvSpPr>
          <p:nvPr>
            <p:ph type="body" sz="quarter" idx="13" hasCustomPrompt="1"/>
          </p:nvPr>
        </p:nvSpPr>
        <p:spPr bwMode="auto">
          <a:xfrm>
            <a:off x="1027967" y="4824914"/>
            <a:ext cx="7625267" cy="652860"/>
          </a:xfrm>
        </p:spPr>
        <p:txBody>
          <a:bodyPr lIns="0" tIns="0" rIns="0" bIns="0">
            <a:normAutofit/>
          </a:bodyPr>
          <a:lstStyle>
            <a:lvl1pPr marL="0" marR="0" indent="0" algn="l" defTabSz="914400">
              <a:lnSpc>
                <a:spcPct val="100000"/>
              </a:lnSpc>
              <a:spcBef>
                <a:spcPts val="0"/>
              </a:spcBef>
              <a:spcAft>
                <a:spcPts val="0"/>
              </a:spcAft>
              <a:buClrTx/>
              <a:buSzTx/>
              <a:buFont typeface="Arial"/>
              <a:buNone/>
              <a:defRPr sz="1600" b="0" i="0">
                <a:solidFill>
                  <a:srgbClr val="0E2D69"/>
                </a:solidFill>
                <a:latin typeface="HSE Sans"/>
              </a:defRPr>
            </a:lvl1pPr>
          </a:lstStyle>
          <a:p>
            <a:pPr marL="0" marR="0" lvl="0" indent="0" algn="l" defTabSz="914400">
              <a:lnSpc>
                <a:spcPct val="90000"/>
              </a:lnSpc>
              <a:spcBef>
                <a:spcPts val="1000"/>
              </a:spcBef>
              <a:spcAft>
                <a:spcPts val="0"/>
              </a:spcAft>
              <a:buClrTx/>
              <a:buSzTx/>
              <a:buFont typeface="Arial"/>
              <a:buNone/>
              <a:defRPr/>
            </a:pPr>
            <a:r>
              <a:rPr lang="ru-RU" sz="1600">
                <a:latin typeface="HSE Sans"/>
              </a:rPr>
              <a:t>Если нужно больше места, то используйте подзаголовок</a:t>
            </a:r>
            <a:r>
              <a:rPr lang="en-GB" sz="1600">
                <a:latin typeface="HSE Sans"/>
              </a:rPr>
              <a:t> (16 pt)</a:t>
            </a:r>
            <a:endParaRPr lang="ru-RU" sz="1600">
              <a:latin typeface="HSE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Текст_1">
    <p:bg>
      <p:bgPr>
        <a:blipFill>
          <a:blip r:embed="rId2">
            <a:lum/>
          </a:blip>
          <a:stretch/>
        </a:blipFill>
        <a:effectLst/>
      </p:bgPr>
    </p:bg>
    <p:spTree>
      <p:nvGrpSpPr>
        <p:cNvPr id="1" name=""/>
        <p:cNvGrpSpPr/>
        <p:nvPr/>
      </p:nvGrpSpPr>
      <p:grpSpPr bwMode="auto">
        <a:xfrm>
          <a:off x="0" y="0"/>
          <a:ext cx="0" cy="0"/>
          <a:chOff x="0" y="0"/>
          <a:chExt cx="0" cy="0"/>
        </a:xfrm>
      </p:grpSpPr>
      <p:pic>
        <p:nvPicPr>
          <p:cNvPr id="10" name="Picture 4" descr="Icon&#10;&#10;Description automatically generated"/>
          <p:cNvPicPr>
            <a:picLocks noChangeAspect="1"/>
          </p:cNvPicPr>
          <p:nvPr userDrawn="1"/>
        </p:nvPicPr>
        <p:blipFill>
          <a:blip r:embed="rId3"/>
          <a:stretch/>
        </p:blipFill>
        <p:spPr bwMode="auto">
          <a:xfrm>
            <a:off x="517199" y="464363"/>
            <a:ext cx="448276" cy="448276"/>
          </a:xfrm>
          <a:prstGeom prst="rect">
            <a:avLst/>
          </a:prstGeom>
        </p:spPr>
      </p:pic>
      <p:cxnSp>
        <p:nvCxnSpPr>
          <p:cNvPr id="11" name="Straight Connector 19"/>
          <p:cNvCxnSpPr>
            <a:cxnSpLocks/>
          </p:cNvCxnSpPr>
          <p:nvPr userDrawn="1"/>
        </p:nvCxnSpPr>
        <p:spPr bwMode="auto">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p:cNvCxnSpPr>
            <a:cxnSpLocks/>
          </p:cNvCxnSpPr>
          <p:nvPr userDrawn="1"/>
        </p:nvCxnSpPr>
        <p:spPr bwMode="auto">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p:cNvCxnSpPr>
            <a:cxnSpLocks/>
          </p:cNvCxnSpPr>
          <p:nvPr userDrawn="1"/>
        </p:nvCxnSpPr>
        <p:spPr bwMode="auto">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userDrawn="1"/>
        </p:nvSpPr>
        <p:spPr bwMode="auto">
          <a:xfrm>
            <a:off x="10410201" y="532278"/>
            <a:ext cx="671977" cy="307777"/>
          </a:xfrm>
          <a:prstGeom prst="rect">
            <a:avLst/>
          </a:prstGeom>
          <a:noFill/>
        </p:spPr>
        <p:txBody>
          <a:bodyPr wrap="square" lIns="0" tIns="0" rIns="0" bIns="0" rtlCol="0">
            <a:spAutoFit/>
          </a:bodyPr>
          <a:lstStyle/>
          <a:p>
            <a:pPr>
              <a:defRPr/>
            </a:pPr>
            <a:fld id="{32AF94B5-93D7-5247-B727-C7089232F508}" type="slidenum">
              <a:rPr lang="ru-RU" sz="2000">
                <a:solidFill>
                  <a:srgbClr val="102D69"/>
                </a:solidFill>
                <a:latin typeface="HSE Sans"/>
              </a:rPr>
              <a:t>‹#›</a:t>
            </a:fld>
            <a:endParaRPr lang="ru-RU" sz="2000">
              <a:solidFill>
                <a:srgbClr val="102D69"/>
              </a:solidFill>
              <a:latin typeface="HSE Sans"/>
            </a:endParaRPr>
          </a:p>
        </p:txBody>
      </p:sp>
      <p:cxnSp>
        <p:nvCxnSpPr>
          <p:cNvPr id="19" name="Straight Connector 59"/>
          <p:cNvCxnSpPr>
            <a:cxnSpLocks/>
          </p:cNvCxnSpPr>
          <p:nvPr userDrawn="1"/>
        </p:nvCxnSpPr>
        <p:spPr bwMode="auto">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p:cNvSpPr>
            <a:spLocks noGrp="1"/>
          </p:cNvSpPr>
          <p:nvPr>
            <p:ph type="pic" sz="quarter" idx="10" hasCustomPrompt="1"/>
          </p:nvPr>
        </p:nvSpPr>
        <p:spPr bwMode="auto">
          <a:xfrm>
            <a:off x="6684653" y="1447790"/>
            <a:ext cx="4325167" cy="4325107"/>
          </a:xfrm>
          <a:prstGeom prst="rect">
            <a:avLst/>
          </a:prstGeom>
          <a:solidFill>
            <a:srgbClr val="D9D9D9"/>
          </a:solidFill>
        </p:spPr>
        <p:txBody>
          <a:bodyPr anchor="ctr">
            <a:normAutofit/>
          </a:bodyPr>
          <a:lstStyle>
            <a:lvl1pPr marL="0" marR="0" indent="0" algn="ctr" defTabSz="914400">
              <a:lnSpc>
                <a:spcPct val="90000"/>
              </a:lnSpc>
              <a:spcBef>
                <a:spcPts val="1000"/>
              </a:spcBef>
              <a:spcAft>
                <a:spcPts val="0"/>
              </a:spcAft>
              <a:buClrTx/>
              <a:buSzTx/>
              <a:buFont typeface="Arial"/>
              <a:buNone/>
              <a:defRPr sz="1200">
                <a:solidFill>
                  <a:schemeClr val="bg2">
                    <a:lumMod val="10000"/>
                  </a:schemeClr>
                </a:solidFill>
              </a:defRPr>
            </a:lvl1pPr>
          </a:lstStyle>
          <a:p>
            <a:pPr marL="0" marR="0" lvl="0" indent="0" algn="ctr" defTabSz="914400">
              <a:lnSpc>
                <a:spcPct val="90000"/>
              </a:lnSpc>
              <a:spcBef>
                <a:spcPts val="1000"/>
              </a:spcBef>
              <a:spcAft>
                <a:spcPts val="0"/>
              </a:spcAft>
              <a:buClrTx/>
              <a:buSzTx/>
              <a:buFont typeface="Arial"/>
              <a:buNone/>
              <a:defRPr/>
            </a:pPr>
            <a:r>
              <a:rPr lang="ru-RU" sz="2800">
                <a:solidFill>
                  <a:schemeClr val="tx1"/>
                </a:solidFill>
                <a:latin typeface="HSE Sans"/>
              </a:rPr>
              <a:t>Чтобы слайд не выглядел пустым, сюда можно поставить иллюстрацию или фотографию</a:t>
            </a:r>
            <a:endParaRPr sz="2800">
              <a:solidFill>
                <a:schemeClr val="tx1"/>
              </a:solidFill>
              <a:latin typeface="HSE Sans"/>
            </a:endParaRPr>
          </a:p>
        </p:txBody>
      </p:sp>
      <p:sp>
        <p:nvSpPr>
          <p:cNvPr id="32" name="Заголовок 31"/>
          <p:cNvSpPr>
            <a:spLocks noGrp="1"/>
          </p:cNvSpPr>
          <p:nvPr>
            <p:ph type="title" hasCustomPrompt="1"/>
          </p:nvPr>
        </p:nvSpPr>
        <p:spPr bwMode="auto">
          <a:xfrm>
            <a:off x="585898" y="1447790"/>
            <a:ext cx="5245560" cy="777025"/>
          </a:xfrm>
        </p:spPr>
        <p:txBody>
          <a:bodyPr lIns="0" tIns="0" rIns="0" bIns="0" anchor="t">
            <a:normAutofit/>
          </a:bodyPr>
          <a:lstStyle>
            <a:lvl1pPr>
              <a:lnSpc>
                <a:spcPct val="100000"/>
              </a:lnSpc>
              <a:defRPr sz="2400" b="0" i="0">
                <a:latin typeface="HSE Sans"/>
              </a:defRPr>
            </a:lvl1pPr>
          </a:lstStyle>
          <a:p>
            <a:pPr>
              <a:defRPr/>
            </a:pPr>
            <a:r>
              <a:rPr lang="ru-RU" sz="2400">
                <a:solidFill>
                  <a:srgbClr val="102D69"/>
                </a:solidFill>
                <a:latin typeface="HSE Sans"/>
              </a:rPr>
              <a:t>Заголовок может быть набран</a:t>
            </a:r>
            <a:br>
              <a:rPr lang="ru-RU" sz="2400">
                <a:solidFill>
                  <a:srgbClr val="102D69"/>
                </a:solidFill>
                <a:latin typeface="HSE Sans"/>
              </a:rPr>
            </a:br>
            <a:r>
              <a:rPr lang="ru-RU" sz="2400">
                <a:solidFill>
                  <a:srgbClr val="102D69"/>
                </a:solidFill>
                <a:latin typeface="HSE Sans"/>
              </a:rPr>
              <a:t>в две или три строки</a:t>
            </a:r>
            <a:r>
              <a:rPr lang="en-GB" sz="2400">
                <a:solidFill>
                  <a:srgbClr val="102D69"/>
                </a:solidFill>
                <a:latin typeface="HSE Sans"/>
              </a:rPr>
              <a:t> (24 pt)</a:t>
            </a:r>
            <a:endParaRPr lang="ru-RU" sz="2400">
              <a:solidFill>
                <a:srgbClr val="102D69"/>
              </a:solidFill>
              <a:latin typeface="HSE Sans"/>
            </a:endParaRPr>
          </a:p>
        </p:txBody>
      </p:sp>
      <p:sp>
        <p:nvSpPr>
          <p:cNvPr id="36" name="Текст 35"/>
          <p:cNvSpPr>
            <a:spLocks noGrp="1"/>
          </p:cNvSpPr>
          <p:nvPr>
            <p:ph type="body" sz="quarter" idx="12" hasCustomPrompt="1"/>
          </p:nvPr>
        </p:nvSpPr>
        <p:spPr bwMode="auto">
          <a:xfrm>
            <a:off x="585897" y="2379663"/>
            <a:ext cx="5245561" cy="3393234"/>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lvl="0">
              <a:defRPr/>
            </a:pPr>
            <a:r>
              <a:rPr lang="ru-RU"/>
              <a:t>Небольшие куски текста (13</a:t>
            </a:r>
            <a:r>
              <a:rPr lang="en-US"/>
              <a:t>pt) </a:t>
            </a:r>
            <a:r>
              <a:rPr lang="ru-RU"/>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endParaRPr/>
          </a:p>
        </p:txBody>
      </p:sp>
      <p:sp>
        <p:nvSpPr>
          <p:cNvPr id="38" name="Текст 37"/>
          <p:cNvSpPr>
            <a:spLocks noGrp="1"/>
          </p:cNvSpPr>
          <p:nvPr>
            <p:ph type="body" sz="quarter" idx="13" hasCustomPrompt="1"/>
          </p:nvPr>
        </p:nvSpPr>
        <p:spPr bwMode="auto">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defRPr>
            </a:lvl1pPr>
            <a:lvl2pPr marL="457200" indent="0">
              <a:lnSpc>
                <a:spcPct val="100000"/>
              </a:lnSpc>
              <a:buNone/>
              <a:defRPr sz="1000" b="0" i="0">
                <a:latin typeface="HSE Sans"/>
              </a:defRPr>
            </a:lvl2pPr>
            <a:lvl3pPr marL="914400" indent="0">
              <a:lnSpc>
                <a:spcPct val="100000"/>
              </a:lnSpc>
              <a:buNone/>
              <a:defRPr sz="1000" b="0" i="0">
                <a:latin typeface="HSE Sans"/>
              </a:defRPr>
            </a:lvl3pPr>
            <a:lvl4pPr marL="1371600" indent="0">
              <a:lnSpc>
                <a:spcPct val="100000"/>
              </a:lnSpc>
              <a:buNone/>
              <a:defRPr sz="1000" b="0" i="0">
                <a:latin typeface="HSE Sans"/>
              </a:defRPr>
            </a:lvl4pPr>
            <a:lvl5pPr marL="1828800" indent="0">
              <a:lnSpc>
                <a:spcPct val="100000"/>
              </a:lnSpc>
              <a:buNone/>
              <a:defRPr sz="1000" b="0" i="0">
                <a:latin typeface="HSE Sans"/>
              </a:defRPr>
            </a:lvl5pPr>
          </a:lstStyle>
          <a:p>
            <a:pPr marL="0" marR="0" lvl="0" indent="0" algn="l" defTabSz="914400">
              <a:lnSpc>
                <a:spcPct val="100000"/>
              </a:lnSpc>
              <a:spcBef>
                <a:spcPts val="1000"/>
              </a:spcBef>
              <a:spcAft>
                <a:spcPts val="0"/>
              </a:spcAft>
              <a:buClrTx/>
              <a:buSzTx/>
              <a:buFont typeface="Arial"/>
              <a:buNone/>
              <a:defRPr/>
            </a:pPr>
            <a:r>
              <a:rPr lang="ru-RU" sz="1000">
                <a:latin typeface="HSE Sans"/>
              </a:rPr>
              <a:t>Название подразделения</a:t>
            </a:r>
            <a:br>
              <a:rPr lang="ru-RU" sz="1000">
                <a:latin typeface="HSE Sans"/>
              </a:rPr>
            </a:br>
            <a:r>
              <a:rPr lang="ru-RU" sz="1000">
                <a:latin typeface="HSE Sans"/>
              </a:rPr>
              <a:t>в две или три строки</a:t>
            </a:r>
            <a:r>
              <a:rPr lang="en-GB" sz="1000">
                <a:latin typeface="HSE Sans"/>
              </a:rPr>
              <a:t> (10pt)</a:t>
            </a:r>
            <a:endParaRPr lang="ru-RU" sz="1000">
              <a:latin typeface="HSE Sans"/>
            </a:endParaRPr>
          </a:p>
        </p:txBody>
      </p:sp>
      <p:sp>
        <p:nvSpPr>
          <p:cNvPr id="40" name="Текст 39"/>
          <p:cNvSpPr>
            <a:spLocks noGrp="1"/>
          </p:cNvSpPr>
          <p:nvPr>
            <p:ph type="body" sz="quarter" idx="14" hasCustomPrompt="1"/>
          </p:nvPr>
        </p:nvSpPr>
        <p:spPr bwMode="auto">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презентации может быть набрано в две или три строки</a:t>
            </a:r>
            <a:r>
              <a:rPr lang="en-GB" sz="1000">
                <a:latin typeface="HSE Sans"/>
              </a:rPr>
              <a:t> (10pt)</a:t>
            </a:r>
            <a:endParaRPr lang="ru-RU" sz="1000">
              <a:latin typeface="HSE Sans"/>
            </a:endParaRPr>
          </a:p>
        </p:txBody>
      </p:sp>
      <p:sp>
        <p:nvSpPr>
          <p:cNvPr id="41" name="Текст 39"/>
          <p:cNvSpPr>
            <a:spLocks noGrp="1"/>
          </p:cNvSpPr>
          <p:nvPr>
            <p:ph type="body" sz="quarter" idx="15" hasCustomPrompt="1"/>
          </p:nvPr>
        </p:nvSpPr>
        <p:spPr bwMode="auto">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раздела может быть набрано в две или три строки</a:t>
            </a:r>
            <a:r>
              <a:rPr lang="en-GB" sz="1000">
                <a:latin typeface="HSE Sans"/>
              </a:rPr>
              <a:t> (10pt)</a:t>
            </a:r>
            <a:endParaRPr lang="ru-RU" sz="1000">
              <a:latin typeface="HSE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Текст_2">
    <p:bg>
      <p:bgPr>
        <a:blipFill>
          <a:blip r:embed="rId2">
            <a:lum/>
          </a:blip>
          <a:stretch/>
        </a:blipFill>
        <a:effectLst/>
      </p:bgPr>
    </p:bg>
    <p:spTree>
      <p:nvGrpSpPr>
        <p:cNvPr id="1" name=""/>
        <p:cNvGrpSpPr/>
        <p:nvPr/>
      </p:nvGrpSpPr>
      <p:grpSpPr bwMode="auto">
        <a:xfrm>
          <a:off x="0" y="0"/>
          <a:ext cx="0" cy="0"/>
          <a:chOff x="0" y="0"/>
          <a:chExt cx="0" cy="0"/>
        </a:xfrm>
      </p:grpSpPr>
      <p:pic>
        <p:nvPicPr>
          <p:cNvPr id="7" name="Picture 4" descr="Icon&#10;&#10;Description automatically generated"/>
          <p:cNvPicPr>
            <a:picLocks noChangeAspect="1"/>
          </p:cNvPicPr>
          <p:nvPr userDrawn="1"/>
        </p:nvPicPr>
        <p:blipFill>
          <a:blip r:embed="rId3"/>
          <a:stretch/>
        </p:blipFill>
        <p:spPr bwMode="auto">
          <a:xfrm>
            <a:off x="517199" y="464363"/>
            <a:ext cx="448276" cy="448276"/>
          </a:xfrm>
          <a:prstGeom prst="rect">
            <a:avLst/>
          </a:prstGeom>
        </p:spPr>
      </p:pic>
      <p:cxnSp>
        <p:nvCxnSpPr>
          <p:cNvPr id="8" name="Straight Connector 19"/>
          <p:cNvCxnSpPr>
            <a:cxnSpLocks/>
          </p:cNvCxnSpPr>
          <p:nvPr userDrawn="1"/>
        </p:nvCxnSpPr>
        <p:spPr bwMode="auto">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p:cNvCxnSpPr>
            <a:cxnSpLocks/>
          </p:cNvCxnSpPr>
          <p:nvPr userDrawn="1"/>
        </p:nvCxnSpPr>
        <p:spPr bwMode="auto">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p:cNvCxnSpPr>
            <a:cxnSpLocks/>
          </p:cNvCxnSpPr>
          <p:nvPr userDrawn="1"/>
        </p:nvCxnSpPr>
        <p:spPr bwMode="auto">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bwMode="auto">
          <a:xfrm>
            <a:off x="10410201" y="532278"/>
            <a:ext cx="671977" cy="307777"/>
          </a:xfrm>
          <a:prstGeom prst="rect">
            <a:avLst/>
          </a:prstGeom>
          <a:noFill/>
        </p:spPr>
        <p:txBody>
          <a:bodyPr wrap="square" lIns="0" tIns="0" rIns="0" bIns="0" rtlCol="0">
            <a:spAutoFit/>
          </a:bodyPr>
          <a:lstStyle/>
          <a:p>
            <a:pPr>
              <a:defRPr/>
            </a:pPr>
            <a:fld id="{32AF94B5-93D7-5247-B727-C7089232F508}" type="slidenum">
              <a:rPr lang="ru-RU" sz="2000">
                <a:solidFill>
                  <a:srgbClr val="102D69"/>
                </a:solidFill>
                <a:latin typeface="HSE Sans"/>
              </a:rPr>
              <a:t>‹#›</a:t>
            </a:fld>
            <a:endParaRPr lang="ru-RU" sz="2000">
              <a:solidFill>
                <a:srgbClr val="102D69"/>
              </a:solidFill>
              <a:latin typeface="HSE Sans"/>
            </a:endParaRPr>
          </a:p>
        </p:txBody>
      </p:sp>
      <p:cxnSp>
        <p:nvCxnSpPr>
          <p:cNvPr id="12" name="Straight Connector 59"/>
          <p:cNvCxnSpPr>
            <a:cxnSpLocks/>
          </p:cNvCxnSpPr>
          <p:nvPr userDrawn="1"/>
        </p:nvCxnSpPr>
        <p:spPr bwMode="auto">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p:cNvSpPr>
            <a:spLocks noGrp="1"/>
          </p:cNvSpPr>
          <p:nvPr>
            <p:ph type="body" sz="quarter" idx="13" hasCustomPrompt="1"/>
          </p:nvPr>
        </p:nvSpPr>
        <p:spPr bwMode="auto">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defRPr>
            </a:lvl1pPr>
            <a:lvl2pPr marL="457200" indent="0">
              <a:lnSpc>
                <a:spcPct val="100000"/>
              </a:lnSpc>
              <a:buNone/>
              <a:defRPr sz="1000" b="0" i="0">
                <a:latin typeface="HSE Sans"/>
              </a:defRPr>
            </a:lvl2pPr>
            <a:lvl3pPr marL="914400" indent="0">
              <a:lnSpc>
                <a:spcPct val="100000"/>
              </a:lnSpc>
              <a:buNone/>
              <a:defRPr sz="1000" b="0" i="0">
                <a:latin typeface="HSE Sans"/>
              </a:defRPr>
            </a:lvl3pPr>
            <a:lvl4pPr marL="1371600" indent="0">
              <a:lnSpc>
                <a:spcPct val="100000"/>
              </a:lnSpc>
              <a:buNone/>
              <a:defRPr sz="1000" b="0" i="0">
                <a:latin typeface="HSE Sans"/>
              </a:defRPr>
            </a:lvl4pPr>
            <a:lvl5pPr marL="1828800" indent="0">
              <a:lnSpc>
                <a:spcPct val="100000"/>
              </a:lnSpc>
              <a:buNone/>
              <a:defRPr sz="1000" b="0" i="0">
                <a:latin typeface="HSE Sans"/>
              </a:defRPr>
            </a:lvl5pPr>
          </a:lstStyle>
          <a:p>
            <a:pPr marL="0" marR="0" lvl="0" indent="0" algn="l" defTabSz="914400">
              <a:lnSpc>
                <a:spcPct val="100000"/>
              </a:lnSpc>
              <a:spcBef>
                <a:spcPts val="1000"/>
              </a:spcBef>
              <a:spcAft>
                <a:spcPts val="0"/>
              </a:spcAft>
              <a:buClrTx/>
              <a:buSzTx/>
              <a:buFont typeface="Arial"/>
              <a:buNone/>
              <a:defRPr/>
            </a:pPr>
            <a:r>
              <a:rPr lang="ru-RU" sz="1000">
                <a:latin typeface="HSE Sans"/>
              </a:rPr>
              <a:t>Название подразделения</a:t>
            </a:r>
            <a:br>
              <a:rPr lang="ru-RU" sz="1000">
                <a:latin typeface="HSE Sans"/>
              </a:rPr>
            </a:br>
            <a:r>
              <a:rPr lang="ru-RU" sz="1000">
                <a:latin typeface="HSE Sans"/>
              </a:rPr>
              <a:t>в две или три строки</a:t>
            </a:r>
            <a:r>
              <a:rPr lang="en-GB" sz="1000">
                <a:latin typeface="HSE Sans"/>
              </a:rPr>
              <a:t> (10pt)</a:t>
            </a:r>
            <a:endParaRPr lang="ru-RU" sz="1000">
              <a:latin typeface="HSE Sans"/>
            </a:endParaRPr>
          </a:p>
        </p:txBody>
      </p:sp>
      <p:sp>
        <p:nvSpPr>
          <p:cNvPr id="14" name="Текст 39"/>
          <p:cNvSpPr>
            <a:spLocks noGrp="1"/>
          </p:cNvSpPr>
          <p:nvPr>
            <p:ph type="body" sz="quarter" idx="14" hasCustomPrompt="1"/>
          </p:nvPr>
        </p:nvSpPr>
        <p:spPr bwMode="auto">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презентации может быть набрано в две или три строки</a:t>
            </a:r>
            <a:r>
              <a:rPr lang="en-GB" sz="1000">
                <a:latin typeface="HSE Sans"/>
              </a:rPr>
              <a:t> (10pt)</a:t>
            </a:r>
            <a:endParaRPr lang="ru-RU" sz="1000">
              <a:latin typeface="HSE Sans"/>
            </a:endParaRPr>
          </a:p>
        </p:txBody>
      </p:sp>
      <p:sp>
        <p:nvSpPr>
          <p:cNvPr id="16" name="Заголовок 31"/>
          <p:cNvSpPr>
            <a:spLocks noGrp="1"/>
          </p:cNvSpPr>
          <p:nvPr>
            <p:ph type="title" hasCustomPrompt="1"/>
          </p:nvPr>
        </p:nvSpPr>
        <p:spPr bwMode="auto">
          <a:xfrm>
            <a:off x="585897" y="1447790"/>
            <a:ext cx="11057955" cy="777025"/>
          </a:xfrm>
        </p:spPr>
        <p:txBody>
          <a:bodyPr lIns="0" tIns="0" rIns="0" bIns="0" anchor="t">
            <a:normAutofit/>
          </a:bodyPr>
          <a:lstStyle>
            <a:lvl1pPr>
              <a:lnSpc>
                <a:spcPct val="100000"/>
              </a:lnSpc>
              <a:defRPr sz="2400" b="0" i="0">
                <a:latin typeface="HSE Sans"/>
              </a:defRPr>
            </a:lvl1pPr>
          </a:lstStyle>
          <a:p>
            <a:pPr>
              <a:defRPr/>
            </a:pPr>
            <a:r>
              <a:rPr lang="ru-RU" sz="2400">
                <a:solidFill>
                  <a:srgbClr val="102D69"/>
                </a:solidFill>
                <a:latin typeface="HSE Sans"/>
              </a:rPr>
              <a:t>Заголовок может быть набран в две или три строки</a:t>
            </a:r>
            <a:r>
              <a:rPr lang="en-GB" sz="2400">
                <a:solidFill>
                  <a:srgbClr val="102D69"/>
                </a:solidFill>
                <a:latin typeface="HSE Sans"/>
              </a:rPr>
              <a:t> (24 pt)</a:t>
            </a:r>
            <a:endParaRPr lang="ru-RU" sz="2400">
              <a:solidFill>
                <a:srgbClr val="102D69"/>
              </a:solidFill>
              <a:latin typeface="HSE Sans"/>
            </a:endParaRPr>
          </a:p>
        </p:txBody>
      </p:sp>
      <p:sp>
        <p:nvSpPr>
          <p:cNvPr id="17" name="Текст 35"/>
          <p:cNvSpPr>
            <a:spLocks noGrp="1"/>
          </p:cNvSpPr>
          <p:nvPr>
            <p:ph type="body" sz="quarter" idx="12" hasCustomPrompt="1"/>
          </p:nvPr>
        </p:nvSpPr>
        <p:spPr bwMode="auto">
          <a:xfrm>
            <a:off x="585897" y="2379663"/>
            <a:ext cx="11057971" cy="3745092"/>
          </a:xfrm>
        </p:spPr>
        <p:txBody>
          <a:bodyPr lIns="0" tIns="0" rIns="0" numCol="3" spcCol="252000">
            <a:noAutofit/>
          </a:bodyPr>
          <a:lstStyle>
            <a:lvl1pPr marL="0" marR="0" indent="0" algn="l" defTabSz="914400">
              <a:lnSpc>
                <a:spcPct val="100000"/>
              </a:lnSpc>
              <a:spcBef>
                <a:spcPts val="1200"/>
              </a:spcBef>
              <a:spcAft>
                <a:spcPts val="0"/>
              </a:spcAft>
              <a:buClrTx/>
              <a:buSzTx/>
              <a:buFont typeface="Arial"/>
              <a:buNone/>
              <a:defRPr sz="13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marL="0" marR="0" lvl="0" indent="0" algn="l" defTabSz="914400">
              <a:lnSpc>
                <a:spcPct val="100000"/>
              </a:lnSpc>
              <a:spcBef>
                <a:spcPts val="1200"/>
              </a:spcBef>
              <a:spcAft>
                <a:spcPts val="0"/>
              </a:spcAft>
              <a:buClrTx/>
              <a:buSzTx/>
              <a:buFont typeface="Arial"/>
              <a:buNone/>
              <a:defRPr/>
            </a:pPr>
            <a:r>
              <a:rPr lang="ru-RU" sz="1300">
                <a:latin typeface="HSE Sans"/>
              </a:rP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endParaRPr/>
          </a:p>
        </p:txBody>
      </p:sp>
      <p:sp>
        <p:nvSpPr>
          <p:cNvPr id="18" name="Текст 39"/>
          <p:cNvSpPr>
            <a:spLocks noGrp="1"/>
          </p:cNvSpPr>
          <p:nvPr>
            <p:ph type="body" sz="quarter" idx="15" hasCustomPrompt="1"/>
          </p:nvPr>
        </p:nvSpPr>
        <p:spPr bwMode="auto">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раздела может быть набрано в две или три строки</a:t>
            </a:r>
            <a:r>
              <a:rPr lang="en-GB" sz="1000">
                <a:latin typeface="HSE Sans"/>
              </a:rPr>
              <a:t> (10pt)</a:t>
            </a:r>
            <a:endParaRPr lang="ru-RU" sz="1000">
              <a:latin typeface="HSE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Текст_3">
    <p:bg>
      <p:bgPr>
        <a:blipFill>
          <a:blip r:embed="rId2">
            <a:lum/>
          </a:blip>
          <a:stretch/>
        </a:blipFill>
        <a:effectLst/>
      </p:bgPr>
    </p:bg>
    <p:spTree>
      <p:nvGrpSpPr>
        <p:cNvPr id="1" name=""/>
        <p:cNvGrpSpPr/>
        <p:nvPr/>
      </p:nvGrpSpPr>
      <p:grpSpPr bwMode="auto">
        <a:xfrm>
          <a:off x="0" y="0"/>
          <a:ext cx="0" cy="0"/>
          <a:chOff x="0" y="0"/>
          <a:chExt cx="0" cy="0"/>
        </a:xfrm>
      </p:grpSpPr>
      <p:pic>
        <p:nvPicPr>
          <p:cNvPr id="7" name="Picture 4" descr="Icon&#10;&#10;Description automatically generated"/>
          <p:cNvPicPr>
            <a:picLocks noChangeAspect="1"/>
          </p:cNvPicPr>
          <p:nvPr userDrawn="1"/>
        </p:nvPicPr>
        <p:blipFill>
          <a:blip r:embed="rId3"/>
          <a:stretch/>
        </p:blipFill>
        <p:spPr bwMode="auto">
          <a:xfrm>
            <a:off x="517199" y="464363"/>
            <a:ext cx="448276" cy="448276"/>
          </a:xfrm>
          <a:prstGeom prst="rect">
            <a:avLst/>
          </a:prstGeom>
        </p:spPr>
      </p:pic>
      <p:cxnSp>
        <p:nvCxnSpPr>
          <p:cNvPr id="8" name="Straight Connector 19"/>
          <p:cNvCxnSpPr>
            <a:cxnSpLocks/>
          </p:cNvCxnSpPr>
          <p:nvPr userDrawn="1"/>
        </p:nvCxnSpPr>
        <p:spPr bwMode="auto">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p:cNvCxnSpPr>
            <a:cxnSpLocks/>
          </p:cNvCxnSpPr>
          <p:nvPr userDrawn="1"/>
        </p:nvCxnSpPr>
        <p:spPr bwMode="auto">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p:cNvCxnSpPr>
            <a:cxnSpLocks/>
          </p:cNvCxnSpPr>
          <p:nvPr userDrawn="1"/>
        </p:nvCxnSpPr>
        <p:spPr bwMode="auto">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bwMode="auto">
          <a:xfrm>
            <a:off x="10410201" y="532278"/>
            <a:ext cx="671977" cy="307777"/>
          </a:xfrm>
          <a:prstGeom prst="rect">
            <a:avLst/>
          </a:prstGeom>
          <a:noFill/>
        </p:spPr>
        <p:txBody>
          <a:bodyPr wrap="square" lIns="0" tIns="0" rIns="0" bIns="0" rtlCol="0">
            <a:spAutoFit/>
          </a:bodyPr>
          <a:lstStyle/>
          <a:p>
            <a:pPr>
              <a:defRPr/>
            </a:pPr>
            <a:fld id="{32AF94B5-93D7-5247-B727-C7089232F508}" type="slidenum">
              <a:rPr lang="ru-RU" sz="2000">
                <a:solidFill>
                  <a:srgbClr val="102D69"/>
                </a:solidFill>
                <a:latin typeface="HSE Sans"/>
              </a:rPr>
              <a:t>‹#›</a:t>
            </a:fld>
            <a:endParaRPr lang="ru-RU" sz="2000">
              <a:solidFill>
                <a:srgbClr val="102D69"/>
              </a:solidFill>
              <a:latin typeface="HSE Sans"/>
            </a:endParaRPr>
          </a:p>
        </p:txBody>
      </p:sp>
      <p:cxnSp>
        <p:nvCxnSpPr>
          <p:cNvPr id="12" name="Straight Connector 59"/>
          <p:cNvCxnSpPr>
            <a:cxnSpLocks/>
          </p:cNvCxnSpPr>
          <p:nvPr userDrawn="1"/>
        </p:nvCxnSpPr>
        <p:spPr bwMode="auto">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p:cNvSpPr>
            <a:spLocks noGrp="1"/>
          </p:cNvSpPr>
          <p:nvPr>
            <p:ph type="body" sz="quarter" idx="13" hasCustomPrompt="1"/>
          </p:nvPr>
        </p:nvSpPr>
        <p:spPr bwMode="auto">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defRPr>
            </a:lvl1pPr>
            <a:lvl2pPr marL="457200" indent="0">
              <a:lnSpc>
                <a:spcPct val="100000"/>
              </a:lnSpc>
              <a:buNone/>
              <a:defRPr sz="1000" b="0" i="0">
                <a:latin typeface="HSE Sans"/>
              </a:defRPr>
            </a:lvl2pPr>
            <a:lvl3pPr marL="914400" indent="0">
              <a:lnSpc>
                <a:spcPct val="100000"/>
              </a:lnSpc>
              <a:buNone/>
              <a:defRPr sz="1000" b="0" i="0">
                <a:latin typeface="HSE Sans"/>
              </a:defRPr>
            </a:lvl3pPr>
            <a:lvl4pPr marL="1371600" indent="0">
              <a:lnSpc>
                <a:spcPct val="100000"/>
              </a:lnSpc>
              <a:buNone/>
              <a:defRPr sz="1000" b="0" i="0">
                <a:latin typeface="HSE Sans"/>
              </a:defRPr>
            </a:lvl4pPr>
            <a:lvl5pPr marL="1828800" indent="0">
              <a:lnSpc>
                <a:spcPct val="100000"/>
              </a:lnSpc>
              <a:buNone/>
              <a:defRPr sz="1000" b="0" i="0">
                <a:latin typeface="HSE Sans"/>
              </a:defRPr>
            </a:lvl5pPr>
          </a:lstStyle>
          <a:p>
            <a:pPr marL="0" marR="0" lvl="0" indent="0" algn="l" defTabSz="914400">
              <a:lnSpc>
                <a:spcPct val="100000"/>
              </a:lnSpc>
              <a:spcBef>
                <a:spcPts val="1000"/>
              </a:spcBef>
              <a:spcAft>
                <a:spcPts val="0"/>
              </a:spcAft>
              <a:buClrTx/>
              <a:buSzTx/>
              <a:buFont typeface="Arial"/>
              <a:buNone/>
              <a:defRPr/>
            </a:pPr>
            <a:r>
              <a:rPr lang="ru-RU" sz="1000">
                <a:latin typeface="HSE Sans"/>
              </a:rPr>
              <a:t>Название подразделения</a:t>
            </a:r>
            <a:br>
              <a:rPr lang="ru-RU" sz="1000">
                <a:latin typeface="HSE Sans"/>
              </a:rPr>
            </a:br>
            <a:r>
              <a:rPr lang="ru-RU" sz="1000">
                <a:latin typeface="HSE Sans"/>
              </a:rPr>
              <a:t>в две или три строки</a:t>
            </a:r>
            <a:r>
              <a:rPr lang="en-GB" sz="1000">
                <a:latin typeface="HSE Sans"/>
              </a:rPr>
              <a:t> (10pt)</a:t>
            </a:r>
            <a:endParaRPr lang="ru-RU" sz="1000">
              <a:latin typeface="HSE Sans"/>
            </a:endParaRPr>
          </a:p>
        </p:txBody>
      </p:sp>
      <p:sp>
        <p:nvSpPr>
          <p:cNvPr id="14" name="Текст 39"/>
          <p:cNvSpPr>
            <a:spLocks noGrp="1"/>
          </p:cNvSpPr>
          <p:nvPr>
            <p:ph type="body" sz="quarter" idx="14" hasCustomPrompt="1"/>
          </p:nvPr>
        </p:nvSpPr>
        <p:spPr bwMode="auto">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презентации может быть набрано в две или три строки</a:t>
            </a:r>
            <a:r>
              <a:rPr lang="en-GB" sz="1000">
                <a:latin typeface="HSE Sans"/>
              </a:rPr>
              <a:t> (10pt)</a:t>
            </a:r>
            <a:endParaRPr lang="ru-RU" sz="1000">
              <a:latin typeface="HSE Sans"/>
            </a:endParaRPr>
          </a:p>
        </p:txBody>
      </p:sp>
      <p:sp>
        <p:nvSpPr>
          <p:cNvPr id="17" name="Текст 35"/>
          <p:cNvSpPr>
            <a:spLocks noGrp="1"/>
          </p:cNvSpPr>
          <p:nvPr>
            <p:ph type="body" sz="quarter" idx="12" hasCustomPrompt="1"/>
          </p:nvPr>
        </p:nvSpPr>
        <p:spPr bwMode="auto">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lvl="0">
              <a:defRPr/>
            </a:pPr>
            <a:r>
              <a:rPr lang="ru-RU"/>
              <a:t>Небольшие куски текста (13</a:t>
            </a:r>
            <a:r>
              <a:rPr lang="en-US"/>
              <a:t>pt) </a:t>
            </a:r>
            <a:r>
              <a:rPr lang="ru-RU"/>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endParaRPr/>
          </a:p>
        </p:txBody>
      </p:sp>
      <p:sp>
        <p:nvSpPr>
          <p:cNvPr id="20" name="Текст 35"/>
          <p:cNvSpPr>
            <a:spLocks noGrp="1"/>
          </p:cNvSpPr>
          <p:nvPr>
            <p:ph type="body" sz="quarter" idx="16" hasCustomPrompt="1"/>
          </p:nvPr>
        </p:nvSpPr>
        <p:spPr bwMode="auto">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a:defRPr/>
            </a:pPr>
            <a:r>
              <a:rPr lang="ru-RU" sz="1000">
                <a:latin typeface="HSE Sans"/>
              </a:rPr>
              <a:t>Примечания, или любая другая пояснительная или дополнительная информация набираются шрифтом размером 10 </a:t>
            </a:r>
            <a:r>
              <a:rPr lang="en-GB" sz="1000">
                <a:latin typeface="HSE Sans"/>
              </a:rPr>
              <a:t>pt</a:t>
            </a:r>
            <a:endParaRPr lang="ru-RU" sz="1000">
              <a:latin typeface="HSE Sans"/>
            </a:endParaRPr>
          </a:p>
        </p:txBody>
      </p:sp>
      <p:sp>
        <p:nvSpPr>
          <p:cNvPr id="23" name="Текст 22"/>
          <p:cNvSpPr>
            <a:spLocks noGrp="1"/>
          </p:cNvSpPr>
          <p:nvPr>
            <p:ph type="body" sz="quarter" idx="18" hasCustomPrompt="1"/>
          </p:nvPr>
        </p:nvSpPr>
        <p:spPr bwMode="auto">
          <a:xfrm>
            <a:off x="6259892" y="2379663"/>
            <a:ext cx="5383968" cy="3451794"/>
          </a:xfrm>
        </p:spPr>
        <p:txBody>
          <a:bodyPr lIns="0" tIns="0" rIns="0" bIns="0">
            <a:normAutofit/>
          </a:bodyPr>
          <a:lstStyle>
            <a:lvl1pPr marL="0" marR="0" indent="0" algn="l" defTabSz="914400">
              <a:lnSpc>
                <a:spcPct val="90000"/>
              </a:lnSpc>
              <a:spcBef>
                <a:spcPts val="1000"/>
              </a:spcBef>
              <a:spcAft>
                <a:spcPts val="0"/>
              </a:spcAft>
              <a:buClrTx/>
              <a:buSzTx/>
              <a:buFont typeface="Arial"/>
              <a:buNone/>
              <a:defRPr sz="3200" b="0" i="0">
                <a:solidFill>
                  <a:srgbClr val="0E2D69"/>
                </a:solidFill>
                <a:latin typeface="HSE Sans"/>
              </a:defRPr>
            </a:lvl1pPr>
          </a:lstStyle>
          <a:p>
            <a:pPr marL="0" marR="0" lvl="0" indent="0" algn="l" defTabSz="914400">
              <a:lnSpc>
                <a:spcPct val="90000"/>
              </a:lnSpc>
              <a:spcBef>
                <a:spcPts val="1000"/>
              </a:spcBef>
              <a:spcAft>
                <a:spcPts val="0"/>
              </a:spcAft>
              <a:buClrTx/>
              <a:buSzTx/>
              <a:buFont typeface="Arial"/>
              <a:buNone/>
              <a:defRPr/>
            </a:pPr>
            <a:r>
              <a:rPr lang="ru-RU" sz="3200">
                <a:solidFill>
                  <a:srgbClr val="102D69"/>
                </a:solidFill>
                <a:latin typeface="HSE Sans"/>
              </a:rPr>
              <a:t>Небольшую фразу, с важной информацией, можно выделить, набрав ее более крупным кеглем, чем обычный  текст. Делать это часто не рекомендуется.</a:t>
            </a:r>
            <a:endParaRPr/>
          </a:p>
          <a:p>
            <a:pPr lvl="0">
              <a:defRPr/>
            </a:pPr>
            <a:endParaRPr lang="ru-RU"/>
          </a:p>
        </p:txBody>
      </p:sp>
      <p:sp>
        <p:nvSpPr>
          <p:cNvPr id="24" name="Текст 39"/>
          <p:cNvSpPr>
            <a:spLocks noGrp="1"/>
          </p:cNvSpPr>
          <p:nvPr>
            <p:ph type="body" sz="quarter" idx="15" hasCustomPrompt="1"/>
          </p:nvPr>
        </p:nvSpPr>
        <p:spPr bwMode="auto">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раздела может быть набрано в две или три строки</a:t>
            </a:r>
            <a:r>
              <a:rPr lang="en-GB" sz="1000">
                <a:latin typeface="HSE Sans"/>
              </a:rPr>
              <a:t> (10pt)</a:t>
            </a:r>
            <a:endParaRPr lang="ru-RU" sz="1000">
              <a:latin typeface="HSE Sans"/>
            </a:endParaRPr>
          </a:p>
        </p:txBody>
      </p:sp>
      <p:sp>
        <p:nvSpPr>
          <p:cNvPr id="25" name="Заголовок 31"/>
          <p:cNvSpPr>
            <a:spLocks noGrp="1"/>
          </p:cNvSpPr>
          <p:nvPr>
            <p:ph type="title" hasCustomPrompt="1"/>
          </p:nvPr>
        </p:nvSpPr>
        <p:spPr bwMode="auto">
          <a:xfrm>
            <a:off x="585897" y="1447790"/>
            <a:ext cx="11057955" cy="777025"/>
          </a:xfrm>
        </p:spPr>
        <p:txBody>
          <a:bodyPr lIns="0" tIns="0" rIns="0" bIns="0" anchor="t">
            <a:normAutofit/>
          </a:bodyPr>
          <a:lstStyle>
            <a:lvl1pPr>
              <a:lnSpc>
                <a:spcPct val="100000"/>
              </a:lnSpc>
              <a:defRPr sz="2400" b="0" i="0">
                <a:latin typeface="HSE Sans"/>
              </a:defRPr>
            </a:lvl1pPr>
          </a:lstStyle>
          <a:p>
            <a:pPr>
              <a:defRPr/>
            </a:pPr>
            <a:r>
              <a:rPr lang="ru-RU" sz="2400">
                <a:solidFill>
                  <a:srgbClr val="102D69"/>
                </a:solidFill>
                <a:latin typeface="HSE Sans"/>
              </a:rPr>
              <a:t>Заголовок может быть набран в две или три строки</a:t>
            </a:r>
            <a:r>
              <a:rPr lang="en-GB" sz="2400">
                <a:solidFill>
                  <a:srgbClr val="102D69"/>
                </a:solidFill>
                <a:latin typeface="HSE Sans"/>
              </a:rPr>
              <a:t> (24 pt)</a:t>
            </a:r>
            <a:endParaRPr lang="ru-RU" sz="2400">
              <a:solidFill>
                <a:srgbClr val="102D69"/>
              </a:solidFill>
              <a:latin typeface="HSE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График_1">
    <p:bg>
      <p:bgPr>
        <a:blipFill>
          <a:blip r:embed="rId2">
            <a:lum/>
          </a:blip>
          <a:stretch/>
        </a:blipFill>
        <a:effectLst/>
      </p:bgPr>
    </p:bg>
    <p:spTree>
      <p:nvGrpSpPr>
        <p:cNvPr id="1" name=""/>
        <p:cNvGrpSpPr/>
        <p:nvPr/>
      </p:nvGrpSpPr>
      <p:grpSpPr bwMode="auto">
        <a:xfrm>
          <a:off x="0" y="0"/>
          <a:ext cx="0" cy="0"/>
          <a:chOff x="0" y="0"/>
          <a:chExt cx="0" cy="0"/>
        </a:xfrm>
      </p:grpSpPr>
      <p:pic>
        <p:nvPicPr>
          <p:cNvPr id="7" name="Picture 4" descr="Icon&#10;&#10;Description automatically generated"/>
          <p:cNvPicPr>
            <a:picLocks noChangeAspect="1"/>
          </p:cNvPicPr>
          <p:nvPr userDrawn="1"/>
        </p:nvPicPr>
        <p:blipFill>
          <a:blip r:embed="rId3"/>
          <a:stretch/>
        </p:blipFill>
        <p:spPr bwMode="auto">
          <a:xfrm>
            <a:off x="517199" y="464363"/>
            <a:ext cx="448276" cy="448276"/>
          </a:xfrm>
          <a:prstGeom prst="rect">
            <a:avLst/>
          </a:prstGeom>
        </p:spPr>
      </p:pic>
      <p:cxnSp>
        <p:nvCxnSpPr>
          <p:cNvPr id="8" name="Straight Connector 19"/>
          <p:cNvCxnSpPr>
            <a:cxnSpLocks/>
          </p:cNvCxnSpPr>
          <p:nvPr userDrawn="1"/>
        </p:nvCxnSpPr>
        <p:spPr bwMode="auto">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p:cNvCxnSpPr>
            <a:cxnSpLocks/>
          </p:cNvCxnSpPr>
          <p:nvPr userDrawn="1"/>
        </p:nvCxnSpPr>
        <p:spPr bwMode="auto">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p:cNvCxnSpPr>
            <a:cxnSpLocks/>
          </p:cNvCxnSpPr>
          <p:nvPr userDrawn="1"/>
        </p:nvCxnSpPr>
        <p:spPr bwMode="auto">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bwMode="auto">
          <a:xfrm>
            <a:off x="10410201" y="532278"/>
            <a:ext cx="671977" cy="307777"/>
          </a:xfrm>
          <a:prstGeom prst="rect">
            <a:avLst/>
          </a:prstGeom>
          <a:noFill/>
        </p:spPr>
        <p:txBody>
          <a:bodyPr wrap="square" lIns="0" tIns="0" rIns="0" bIns="0" rtlCol="0">
            <a:spAutoFit/>
          </a:bodyPr>
          <a:lstStyle/>
          <a:p>
            <a:pPr>
              <a:defRPr/>
            </a:pPr>
            <a:fld id="{32AF94B5-93D7-5247-B727-C7089232F508}" type="slidenum">
              <a:rPr lang="ru-RU" sz="2000">
                <a:solidFill>
                  <a:srgbClr val="102D69"/>
                </a:solidFill>
                <a:latin typeface="HSE Sans"/>
              </a:rPr>
              <a:t>‹#›</a:t>
            </a:fld>
            <a:endParaRPr lang="ru-RU" sz="2000">
              <a:solidFill>
                <a:srgbClr val="102D69"/>
              </a:solidFill>
              <a:latin typeface="HSE Sans"/>
            </a:endParaRPr>
          </a:p>
        </p:txBody>
      </p:sp>
      <p:cxnSp>
        <p:nvCxnSpPr>
          <p:cNvPr id="12" name="Straight Connector 59"/>
          <p:cNvCxnSpPr>
            <a:cxnSpLocks/>
          </p:cNvCxnSpPr>
          <p:nvPr userDrawn="1"/>
        </p:nvCxnSpPr>
        <p:spPr bwMode="auto">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p:cNvSpPr>
            <a:spLocks noGrp="1"/>
          </p:cNvSpPr>
          <p:nvPr>
            <p:ph type="body" sz="quarter" idx="13" hasCustomPrompt="1"/>
          </p:nvPr>
        </p:nvSpPr>
        <p:spPr bwMode="auto">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defRPr>
            </a:lvl1pPr>
            <a:lvl2pPr marL="457200" indent="0">
              <a:lnSpc>
                <a:spcPct val="100000"/>
              </a:lnSpc>
              <a:buNone/>
              <a:defRPr sz="1000" b="0" i="0">
                <a:latin typeface="HSE Sans"/>
              </a:defRPr>
            </a:lvl2pPr>
            <a:lvl3pPr marL="914400" indent="0">
              <a:lnSpc>
                <a:spcPct val="100000"/>
              </a:lnSpc>
              <a:buNone/>
              <a:defRPr sz="1000" b="0" i="0">
                <a:latin typeface="HSE Sans"/>
              </a:defRPr>
            </a:lvl3pPr>
            <a:lvl4pPr marL="1371600" indent="0">
              <a:lnSpc>
                <a:spcPct val="100000"/>
              </a:lnSpc>
              <a:buNone/>
              <a:defRPr sz="1000" b="0" i="0">
                <a:latin typeface="HSE Sans"/>
              </a:defRPr>
            </a:lvl4pPr>
            <a:lvl5pPr marL="1828800" indent="0">
              <a:lnSpc>
                <a:spcPct val="100000"/>
              </a:lnSpc>
              <a:buNone/>
              <a:defRPr sz="1000" b="0" i="0">
                <a:latin typeface="HSE Sans"/>
              </a:defRPr>
            </a:lvl5pPr>
          </a:lstStyle>
          <a:p>
            <a:pPr marL="0" marR="0" lvl="0" indent="0" algn="l" defTabSz="914400">
              <a:lnSpc>
                <a:spcPct val="100000"/>
              </a:lnSpc>
              <a:spcBef>
                <a:spcPts val="1000"/>
              </a:spcBef>
              <a:spcAft>
                <a:spcPts val="0"/>
              </a:spcAft>
              <a:buClrTx/>
              <a:buSzTx/>
              <a:buFont typeface="Arial"/>
              <a:buNone/>
              <a:defRPr/>
            </a:pPr>
            <a:r>
              <a:rPr lang="ru-RU" sz="1000">
                <a:latin typeface="HSE Sans"/>
              </a:rPr>
              <a:t>Название подразделения</a:t>
            </a:r>
            <a:br>
              <a:rPr lang="ru-RU" sz="1000">
                <a:latin typeface="HSE Sans"/>
              </a:rPr>
            </a:br>
            <a:r>
              <a:rPr lang="ru-RU" sz="1000">
                <a:latin typeface="HSE Sans"/>
              </a:rPr>
              <a:t>в две или три строки</a:t>
            </a:r>
            <a:r>
              <a:rPr lang="en-GB" sz="1000">
                <a:latin typeface="HSE Sans"/>
              </a:rPr>
              <a:t> (10pt)</a:t>
            </a:r>
            <a:endParaRPr lang="ru-RU" sz="1000">
              <a:latin typeface="HSE Sans"/>
            </a:endParaRPr>
          </a:p>
        </p:txBody>
      </p:sp>
      <p:sp>
        <p:nvSpPr>
          <p:cNvPr id="14" name="Текст 39"/>
          <p:cNvSpPr>
            <a:spLocks noGrp="1"/>
          </p:cNvSpPr>
          <p:nvPr>
            <p:ph type="body" sz="quarter" idx="14" hasCustomPrompt="1"/>
          </p:nvPr>
        </p:nvSpPr>
        <p:spPr bwMode="auto">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презентации может быть набрано в две или три строки</a:t>
            </a:r>
            <a:r>
              <a:rPr lang="en-GB" sz="1000">
                <a:latin typeface="HSE Sans"/>
              </a:rPr>
              <a:t> (10pt)</a:t>
            </a:r>
            <a:endParaRPr lang="ru-RU" sz="1000">
              <a:latin typeface="HSE Sans"/>
            </a:endParaRPr>
          </a:p>
        </p:txBody>
      </p:sp>
      <p:sp>
        <p:nvSpPr>
          <p:cNvPr id="16" name="Текст 39"/>
          <p:cNvSpPr>
            <a:spLocks noGrp="1"/>
          </p:cNvSpPr>
          <p:nvPr>
            <p:ph type="body" sz="quarter" idx="15" hasCustomPrompt="1"/>
          </p:nvPr>
        </p:nvSpPr>
        <p:spPr bwMode="auto">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раздела может быть набрано в две или три строки</a:t>
            </a:r>
            <a:r>
              <a:rPr lang="en-GB" sz="1000">
                <a:latin typeface="HSE Sans"/>
              </a:rPr>
              <a:t> (10pt)</a:t>
            </a:r>
            <a:endParaRPr lang="ru-RU" sz="1000">
              <a:latin typeface="HSE Sans"/>
            </a:endParaRPr>
          </a:p>
        </p:txBody>
      </p:sp>
      <p:sp>
        <p:nvSpPr>
          <p:cNvPr id="17" name="Заголовок 31"/>
          <p:cNvSpPr>
            <a:spLocks noGrp="1"/>
          </p:cNvSpPr>
          <p:nvPr>
            <p:ph type="title" hasCustomPrompt="1"/>
          </p:nvPr>
        </p:nvSpPr>
        <p:spPr bwMode="auto">
          <a:xfrm>
            <a:off x="585899" y="1447790"/>
            <a:ext cx="4322530" cy="777025"/>
          </a:xfrm>
        </p:spPr>
        <p:txBody>
          <a:bodyPr lIns="0" tIns="0" rIns="0" bIns="0" anchor="t">
            <a:normAutofit/>
          </a:bodyPr>
          <a:lstStyle>
            <a:lvl1pPr>
              <a:lnSpc>
                <a:spcPct val="100000"/>
              </a:lnSpc>
              <a:defRPr sz="2400" b="0" i="0">
                <a:latin typeface="HSE Sans"/>
              </a:defRPr>
            </a:lvl1pPr>
          </a:lstStyle>
          <a:p>
            <a:pPr>
              <a:defRPr/>
            </a:pPr>
            <a:r>
              <a:rPr lang="ru-RU" sz="2400">
                <a:solidFill>
                  <a:srgbClr val="102D69"/>
                </a:solidFill>
                <a:latin typeface="HSE Sans"/>
              </a:rPr>
              <a:t>Заголовок может быть набран </a:t>
            </a:r>
            <a:br>
              <a:rPr lang="ru-RU" sz="2400">
                <a:solidFill>
                  <a:srgbClr val="102D69"/>
                </a:solidFill>
                <a:latin typeface="HSE Sans"/>
              </a:rPr>
            </a:br>
            <a:r>
              <a:rPr lang="ru-RU" sz="2400">
                <a:solidFill>
                  <a:srgbClr val="102D69"/>
                </a:solidFill>
                <a:latin typeface="HSE Sans"/>
              </a:rPr>
              <a:t>в две или три строки</a:t>
            </a:r>
            <a:r>
              <a:rPr lang="en-GB" sz="2400">
                <a:solidFill>
                  <a:srgbClr val="102D69"/>
                </a:solidFill>
                <a:latin typeface="HSE Sans"/>
              </a:rPr>
              <a:t> (24 pt)</a:t>
            </a:r>
            <a:endParaRPr lang="ru-RU" sz="2400">
              <a:solidFill>
                <a:srgbClr val="102D69"/>
              </a:solidFill>
              <a:latin typeface="HSE Sans"/>
            </a:endParaRPr>
          </a:p>
        </p:txBody>
      </p:sp>
      <p:sp>
        <p:nvSpPr>
          <p:cNvPr id="18" name="Текст 35"/>
          <p:cNvSpPr>
            <a:spLocks noGrp="1"/>
          </p:cNvSpPr>
          <p:nvPr>
            <p:ph type="body" sz="quarter" idx="12" hasCustomPrompt="1"/>
          </p:nvPr>
        </p:nvSpPr>
        <p:spPr bwMode="auto">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a:defRPr/>
            </a:pPr>
            <a:r>
              <a:rPr lang="en-GB" sz="1300">
                <a:latin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ru-RU" sz="1300">
              <a:latin typeface="HSE Sans"/>
            </a:endParaRPr>
          </a:p>
        </p:txBody>
      </p:sp>
      <p:sp>
        <p:nvSpPr>
          <p:cNvPr id="19" name="Текст 35"/>
          <p:cNvSpPr>
            <a:spLocks noGrp="1"/>
          </p:cNvSpPr>
          <p:nvPr>
            <p:ph type="body" sz="quarter" idx="16" hasCustomPrompt="1"/>
          </p:nvPr>
        </p:nvSpPr>
        <p:spPr bwMode="auto">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a:defRPr/>
            </a:pPr>
            <a:r>
              <a:rPr lang="ru-RU" sz="1000">
                <a:latin typeface="HSE Sans"/>
              </a:rPr>
              <a:t>Примечания, или любая другая пояснительная или дополнительная информация набираются шрифтом размером 10 </a:t>
            </a:r>
            <a:r>
              <a:rPr lang="en-GB" sz="1000">
                <a:latin typeface="HSE Sans"/>
              </a:rPr>
              <a:t>pt</a:t>
            </a:r>
            <a:endParaRPr lang="ru-RU" sz="1000">
              <a:latin typeface="HSE Sans"/>
            </a:endParaRPr>
          </a:p>
        </p:txBody>
      </p:sp>
      <p:sp>
        <p:nvSpPr>
          <p:cNvPr id="21" name="Диаграмма 7"/>
          <p:cNvSpPr>
            <a:spLocks noGrp="1"/>
          </p:cNvSpPr>
          <p:nvPr>
            <p:ph type="chart" sz="quarter" idx="10"/>
          </p:nvPr>
        </p:nvSpPr>
        <p:spPr bwMode="auto">
          <a:xfrm>
            <a:off x="5272097" y="1447790"/>
            <a:ext cx="6371768" cy="4289457"/>
          </a:xfrm>
        </p:spPr>
        <p:txBody>
          <a:bodyPr/>
          <a:lstStyle/>
          <a:p>
            <a:pPr>
              <a:defRPr/>
            </a:pPr>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График_2">
    <p:bg>
      <p:bgPr>
        <a:blipFill>
          <a:blip r:embed="rId2">
            <a:lum/>
          </a:blip>
          <a:stretch/>
        </a:blipFill>
        <a:effectLst/>
      </p:bgPr>
    </p:bg>
    <p:spTree>
      <p:nvGrpSpPr>
        <p:cNvPr id="1" name=""/>
        <p:cNvGrpSpPr/>
        <p:nvPr/>
      </p:nvGrpSpPr>
      <p:grpSpPr bwMode="auto">
        <a:xfrm>
          <a:off x="0" y="0"/>
          <a:ext cx="0" cy="0"/>
          <a:chOff x="0" y="0"/>
          <a:chExt cx="0" cy="0"/>
        </a:xfrm>
      </p:grpSpPr>
      <p:pic>
        <p:nvPicPr>
          <p:cNvPr id="8" name="Picture 4" descr="Icon&#10;&#10;Description automatically generated"/>
          <p:cNvPicPr>
            <a:picLocks noChangeAspect="1"/>
          </p:cNvPicPr>
          <p:nvPr userDrawn="1"/>
        </p:nvPicPr>
        <p:blipFill>
          <a:blip r:embed="rId3"/>
          <a:stretch/>
        </p:blipFill>
        <p:spPr bwMode="auto">
          <a:xfrm>
            <a:off x="517199" y="464363"/>
            <a:ext cx="448276" cy="448276"/>
          </a:xfrm>
          <a:prstGeom prst="rect">
            <a:avLst/>
          </a:prstGeom>
        </p:spPr>
      </p:pic>
      <p:cxnSp>
        <p:nvCxnSpPr>
          <p:cNvPr id="9" name="Straight Connector 19"/>
          <p:cNvCxnSpPr>
            <a:cxnSpLocks/>
          </p:cNvCxnSpPr>
          <p:nvPr userDrawn="1"/>
        </p:nvCxnSpPr>
        <p:spPr bwMode="auto">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p:cNvCxnSpPr>
            <a:cxnSpLocks/>
          </p:cNvCxnSpPr>
          <p:nvPr userDrawn="1"/>
        </p:nvCxnSpPr>
        <p:spPr bwMode="auto">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p:cNvCxnSpPr>
            <a:cxnSpLocks/>
          </p:cNvCxnSpPr>
          <p:nvPr userDrawn="1"/>
        </p:nvCxnSpPr>
        <p:spPr bwMode="auto">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userDrawn="1"/>
        </p:nvSpPr>
        <p:spPr bwMode="auto">
          <a:xfrm>
            <a:off x="10410201" y="532278"/>
            <a:ext cx="671977" cy="307777"/>
          </a:xfrm>
          <a:prstGeom prst="rect">
            <a:avLst/>
          </a:prstGeom>
          <a:noFill/>
        </p:spPr>
        <p:txBody>
          <a:bodyPr wrap="square" lIns="0" tIns="0" rIns="0" bIns="0" rtlCol="0">
            <a:spAutoFit/>
          </a:bodyPr>
          <a:lstStyle/>
          <a:p>
            <a:pPr>
              <a:defRPr/>
            </a:pPr>
            <a:fld id="{32AF94B5-93D7-5247-B727-C7089232F508}" type="slidenum">
              <a:rPr lang="ru-RU" sz="2000">
                <a:solidFill>
                  <a:srgbClr val="102D69"/>
                </a:solidFill>
                <a:latin typeface="HSE Sans"/>
              </a:rPr>
              <a:t>‹#›</a:t>
            </a:fld>
            <a:endParaRPr lang="ru-RU" sz="2000">
              <a:solidFill>
                <a:srgbClr val="102D69"/>
              </a:solidFill>
              <a:latin typeface="HSE Sans"/>
            </a:endParaRPr>
          </a:p>
        </p:txBody>
      </p:sp>
      <p:cxnSp>
        <p:nvCxnSpPr>
          <p:cNvPr id="13" name="Straight Connector 59"/>
          <p:cNvCxnSpPr>
            <a:cxnSpLocks/>
          </p:cNvCxnSpPr>
          <p:nvPr userDrawn="1"/>
        </p:nvCxnSpPr>
        <p:spPr bwMode="auto">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p:cNvSpPr>
            <a:spLocks noGrp="1"/>
          </p:cNvSpPr>
          <p:nvPr>
            <p:ph type="body" sz="quarter" idx="13" hasCustomPrompt="1"/>
          </p:nvPr>
        </p:nvSpPr>
        <p:spPr bwMode="auto">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defRPr>
            </a:lvl1pPr>
            <a:lvl2pPr marL="457200" indent="0">
              <a:lnSpc>
                <a:spcPct val="100000"/>
              </a:lnSpc>
              <a:buNone/>
              <a:defRPr sz="1000" b="0" i="0">
                <a:latin typeface="HSE Sans"/>
              </a:defRPr>
            </a:lvl2pPr>
            <a:lvl3pPr marL="914400" indent="0">
              <a:lnSpc>
                <a:spcPct val="100000"/>
              </a:lnSpc>
              <a:buNone/>
              <a:defRPr sz="1000" b="0" i="0">
                <a:latin typeface="HSE Sans"/>
              </a:defRPr>
            </a:lvl3pPr>
            <a:lvl4pPr marL="1371600" indent="0">
              <a:lnSpc>
                <a:spcPct val="100000"/>
              </a:lnSpc>
              <a:buNone/>
              <a:defRPr sz="1000" b="0" i="0">
                <a:latin typeface="HSE Sans"/>
              </a:defRPr>
            </a:lvl4pPr>
            <a:lvl5pPr marL="1828800" indent="0">
              <a:lnSpc>
                <a:spcPct val="100000"/>
              </a:lnSpc>
              <a:buNone/>
              <a:defRPr sz="1000" b="0" i="0">
                <a:latin typeface="HSE Sans"/>
              </a:defRPr>
            </a:lvl5pPr>
          </a:lstStyle>
          <a:p>
            <a:pPr marL="0" marR="0" lvl="0" indent="0" algn="l" defTabSz="914400">
              <a:lnSpc>
                <a:spcPct val="100000"/>
              </a:lnSpc>
              <a:spcBef>
                <a:spcPts val="1000"/>
              </a:spcBef>
              <a:spcAft>
                <a:spcPts val="0"/>
              </a:spcAft>
              <a:buClrTx/>
              <a:buSzTx/>
              <a:buFont typeface="Arial"/>
              <a:buNone/>
              <a:defRPr/>
            </a:pPr>
            <a:r>
              <a:rPr lang="ru-RU" sz="1000">
                <a:latin typeface="HSE Sans"/>
              </a:rPr>
              <a:t>Название подразделения</a:t>
            </a:r>
            <a:br>
              <a:rPr lang="ru-RU" sz="1000">
                <a:latin typeface="HSE Sans"/>
              </a:rPr>
            </a:br>
            <a:r>
              <a:rPr lang="ru-RU" sz="1000">
                <a:latin typeface="HSE Sans"/>
              </a:rPr>
              <a:t>в две или три строки</a:t>
            </a:r>
            <a:r>
              <a:rPr lang="en-GB" sz="1000">
                <a:latin typeface="HSE Sans"/>
              </a:rPr>
              <a:t> (10pt)</a:t>
            </a:r>
            <a:endParaRPr lang="ru-RU" sz="1000">
              <a:latin typeface="HSE Sans"/>
            </a:endParaRPr>
          </a:p>
        </p:txBody>
      </p:sp>
      <p:sp>
        <p:nvSpPr>
          <p:cNvPr id="15" name="Текст 39"/>
          <p:cNvSpPr>
            <a:spLocks noGrp="1"/>
          </p:cNvSpPr>
          <p:nvPr>
            <p:ph type="body" sz="quarter" idx="14" hasCustomPrompt="1"/>
          </p:nvPr>
        </p:nvSpPr>
        <p:spPr bwMode="auto">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презентации может быть набрано в две или три строки</a:t>
            </a:r>
            <a:r>
              <a:rPr lang="en-GB" sz="1000">
                <a:latin typeface="HSE Sans"/>
              </a:rPr>
              <a:t> (10pt)</a:t>
            </a:r>
            <a:endParaRPr lang="ru-RU" sz="1000">
              <a:latin typeface="HSE Sans"/>
            </a:endParaRPr>
          </a:p>
        </p:txBody>
      </p:sp>
      <p:sp>
        <p:nvSpPr>
          <p:cNvPr id="17" name="Текст 39"/>
          <p:cNvSpPr>
            <a:spLocks noGrp="1"/>
          </p:cNvSpPr>
          <p:nvPr>
            <p:ph type="body" sz="quarter" idx="15" hasCustomPrompt="1"/>
          </p:nvPr>
        </p:nvSpPr>
        <p:spPr bwMode="auto">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раздела может быть набрано в две или три строки</a:t>
            </a:r>
            <a:r>
              <a:rPr lang="en-GB" sz="1000">
                <a:latin typeface="HSE Sans"/>
              </a:rPr>
              <a:t> (10pt)</a:t>
            </a:r>
            <a:endParaRPr lang="ru-RU" sz="1000">
              <a:latin typeface="HSE Sans"/>
            </a:endParaRPr>
          </a:p>
        </p:txBody>
      </p:sp>
      <p:sp>
        <p:nvSpPr>
          <p:cNvPr id="20" name="Текст 35"/>
          <p:cNvSpPr>
            <a:spLocks noGrp="1"/>
          </p:cNvSpPr>
          <p:nvPr>
            <p:ph type="body" sz="quarter" idx="16" hasCustomPrompt="1"/>
          </p:nvPr>
        </p:nvSpPr>
        <p:spPr bwMode="auto">
          <a:xfrm>
            <a:off x="585897" y="5183249"/>
            <a:ext cx="3934345" cy="553998"/>
          </a:xfrm>
        </p:spPr>
        <p:txBody>
          <a:bodyPr lIns="0" tIns="0" rIns="0">
            <a:normAutofit/>
          </a:bodyPr>
          <a:lstStyle>
            <a:lvl1pPr marL="0" marR="0" indent="0" algn="l" defTabSz="914400">
              <a:lnSpc>
                <a:spcPct val="100000"/>
              </a:lnSpc>
              <a:spcBef>
                <a:spcPts val="1000"/>
              </a:spcBef>
              <a:spcAft>
                <a:spcPts val="0"/>
              </a:spcAft>
              <a:buClrTx/>
              <a:buSzTx/>
              <a:buFont typeface="Arial"/>
              <a:buNone/>
              <a:defRPr sz="10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a:defRPr/>
            </a:pPr>
            <a:r>
              <a:rPr lang="ru-RU" sz="1000">
                <a:latin typeface="HSE Sans"/>
              </a:rPr>
              <a:t>Примечания, или любая другая пояснительная или дополнительная информация набираются шрифтом размером 10 </a:t>
            </a:r>
            <a:r>
              <a:rPr lang="en-GB" sz="1000">
                <a:latin typeface="HSE Sans"/>
              </a:rPr>
              <a:t>pt</a:t>
            </a:r>
            <a:endParaRPr lang="ru-RU" sz="1000">
              <a:latin typeface="HSE Sans"/>
            </a:endParaRPr>
          </a:p>
        </p:txBody>
      </p:sp>
      <p:sp>
        <p:nvSpPr>
          <p:cNvPr id="21" name="Диаграмма 7"/>
          <p:cNvSpPr>
            <a:spLocks noGrp="1"/>
          </p:cNvSpPr>
          <p:nvPr>
            <p:ph type="chart" sz="quarter" idx="10"/>
          </p:nvPr>
        </p:nvSpPr>
        <p:spPr bwMode="auto">
          <a:xfrm>
            <a:off x="5272097" y="1447790"/>
            <a:ext cx="6371768" cy="4289457"/>
          </a:xfrm>
        </p:spPr>
        <p:txBody>
          <a:bodyPr/>
          <a:lstStyle/>
          <a:p>
            <a:pPr>
              <a:defRPr/>
            </a:pPr>
            <a:endParaRPr lang="ru-RU"/>
          </a:p>
        </p:txBody>
      </p:sp>
      <p:sp>
        <p:nvSpPr>
          <p:cNvPr id="23" name="Текст 22"/>
          <p:cNvSpPr>
            <a:spLocks noGrp="1"/>
          </p:cNvSpPr>
          <p:nvPr>
            <p:ph type="body" sz="quarter" idx="17" hasCustomPrompt="1"/>
          </p:nvPr>
        </p:nvSpPr>
        <p:spPr bwMode="auto">
          <a:xfrm>
            <a:off x="585788" y="1447064"/>
            <a:ext cx="4322762" cy="703205"/>
          </a:xfrm>
        </p:spPr>
        <p:txBody>
          <a:bodyPr>
            <a:noAutofit/>
          </a:bodyPr>
          <a:lstStyle>
            <a:lvl1pPr marL="0" indent="0">
              <a:buNone/>
              <a:defRPr sz="1600" b="0" i="0">
                <a:solidFill>
                  <a:srgbClr val="0E2D69"/>
                </a:solidFill>
                <a:latin typeface="HSE Sans"/>
              </a:defRPr>
            </a:lvl1pPr>
            <a:lvl2pPr>
              <a:defRPr sz="1600" b="0" i="0">
                <a:solidFill>
                  <a:srgbClr val="0E2D69"/>
                </a:solidFill>
                <a:latin typeface="HSE Sans"/>
              </a:defRPr>
            </a:lvl2pPr>
            <a:lvl3pPr>
              <a:defRPr sz="1600" b="0" i="0">
                <a:solidFill>
                  <a:srgbClr val="0E2D69"/>
                </a:solidFill>
                <a:latin typeface="HSE Sans"/>
              </a:defRPr>
            </a:lvl3pPr>
            <a:lvl4pPr>
              <a:defRPr sz="1600" b="0" i="0">
                <a:solidFill>
                  <a:srgbClr val="0E2D69"/>
                </a:solidFill>
                <a:latin typeface="HSE Sans"/>
              </a:defRPr>
            </a:lvl4pPr>
            <a:lvl5pPr>
              <a:defRPr sz="1600" b="0" i="0">
                <a:solidFill>
                  <a:srgbClr val="0E2D69"/>
                </a:solidFill>
                <a:latin typeface="HSE Sans"/>
              </a:defRPr>
            </a:lvl5pPr>
          </a:lstStyle>
          <a:p>
            <a:pPr>
              <a:defRPr/>
            </a:pPr>
            <a:r>
              <a:rPr lang="ru-RU" sz="1600">
                <a:solidFill>
                  <a:srgbClr val="102D69"/>
                </a:solidFill>
                <a:latin typeface="HSE Sans"/>
              </a:rPr>
              <a:t>Название графика. Обратите внимание, что название графика набирается меньшим кеглем, чем заголовок</a:t>
            </a:r>
            <a:r>
              <a:rPr lang="en-GB" sz="1600">
                <a:solidFill>
                  <a:srgbClr val="102D69"/>
                </a:solidFill>
                <a:latin typeface="HSE Sans"/>
              </a:rPr>
              <a:t> (16pt)</a:t>
            </a:r>
            <a:endParaRPr lang="ru-RU" sz="1600">
              <a:solidFill>
                <a:srgbClr val="102D69"/>
              </a:solidFill>
              <a:latin typeface="HSE Sans"/>
            </a:endParaRPr>
          </a:p>
        </p:txBody>
      </p:sp>
      <p:sp>
        <p:nvSpPr>
          <p:cNvPr id="28" name="Текст 35"/>
          <p:cNvSpPr>
            <a:spLocks noGrp="1"/>
          </p:cNvSpPr>
          <p:nvPr>
            <p:ph type="body" sz="quarter" idx="12" hasCustomPrompt="1"/>
          </p:nvPr>
        </p:nvSpPr>
        <p:spPr bwMode="auto">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a:defRPr/>
            </a:pPr>
            <a:r>
              <a:rPr lang="en-GB" sz="1300">
                <a:latin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ru-RU" sz="1300">
              <a:latin typeface="HSE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Цифры">
    <p:bg>
      <p:bgPr>
        <a:blipFill>
          <a:blip r:embed="rId2">
            <a:lum/>
          </a:blip>
          <a:stretch/>
        </a:blipFill>
        <a:effectLst/>
      </p:bgPr>
    </p:bg>
    <p:spTree>
      <p:nvGrpSpPr>
        <p:cNvPr id="1" name=""/>
        <p:cNvGrpSpPr/>
        <p:nvPr/>
      </p:nvGrpSpPr>
      <p:grpSpPr bwMode="auto">
        <a:xfrm>
          <a:off x="0" y="0"/>
          <a:ext cx="0" cy="0"/>
          <a:chOff x="0" y="0"/>
          <a:chExt cx="0" cy="0"/>
        </a:xfrm>
      </p:grpSpPr>
      <p:pic>
        <p:nvPicPr>
          <p:cNvPr id="6" name="Picture 4" descr="Icon&#10;&#10;Description automatically generated"/>
          <p:cNvPicPr>
            <a:picLocks noChangeAspect="1"/>
          </p:cNvPicPr>
          <p:nvPr userDrawn="1"/>
        </p:nvPicPr>
        <p:blipFill>
          <a:blip r:embed="rId3"/>
          <a:stretch/>
        </p:blipFill>
        <p:spPr bwMode="auto">
          <a:xfrm>
            <a:off x="517199" y="464363"/>
            <a:ext cx="448276" cy="448276"/>
          </a:xfrm>
          <a:prstGeom prst="rect">
            <a:avLst/>
          </a:prstGeom>
        </p:spPr>
      </p:pic>
      <p:cxnSp>
        <p:nvCxnSpPr>
          <p:cNvPr id="7" name="Straight Connector 19"/>
          <p:cNvCxnSpPr>
            <a:cxnSpLocks/>
          </p:cNvCxnSpPr>
          <p:nvPr userDrawn="1"/>
        </p:nvCxnSpPr>
        <p:spPr bwMode="auto">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p:cNvCxnSpPr>
            <a:cxnSpLocks/>
          </p:cNvCxnSpPr>
          <p:nvPr userDrawn="1"/>
        </p:nvCxnSpPr>
        <p:spPr bwMode="auto">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p:cNvCxnSpPr>
            <a:cxnSpLocks/>
          </p:cNvCxnSpPr>
          <p:nvPr userDrawn="1"/>
        </p:nvCxnSpPr>
        <p:spPr bwMode="auto">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userDrawn="1"/>
        </p:nvSpPr>
        <p:spPr bwMode="auto">
          <a:xfrm>
            <a:off x="10410201" y="532278"/>
            <a:ext cx="671977" cy="307777"/>
          </a:xfrm>
          <a:prstGeom prst="rect">
            <a:avLst/>
          </a:prstGeom>
          <a:noFill/>
        </p:spPr>
        <p:txBody>
          <a:bodyPr wrap="square" lIns="0" tIns="0" rIns="0" bIns="0" rtlCol="0">
            <a:spAutoFit/>
          </a:bodyPr>
          <a:lstStyle/>
          <a:p>
            <a:pPr>
              <a:defRPr/>
            </a:pPr>
            <a:fld id="{32AF94B5-93D7-5247-B727-C7089232F508}" type="slidenum">
              <a:rPr lang="ru-RU" sz="2000">
                <a:solidFill>
                  <a:srgbClr val="102D69"/>
                </a:solidFill>
                <a:latin typeface="HSE Sans"/>
              </a:rPr>
              <a:t>‹#›</a:t>
            </a:fld>
            <a:endParaRPr lang="ru-RU" sz="2000">
              <a:solidFill>
                <a:srgbClr val="102D69"/>
              </a:solidFill>
              <a:latin typeface="HSE Sans"/>
            </a:endParaRPr>
          </a:p>
        </p:txBody>
      </p:sp>
      <p:cxnSp>
        <p:nvCxnSpPr>
          <p:cNvPr id="11" name="Straight Connector 59"/>
          <p:cNvCxnSpPr>
            <a:cxnSpLocks/>
          </p:cNvCxnSpPr>
          <p:nvPr userDrawn="1"/>
        </p:nvCxnSpPr>
        <p:spPr bwMode="auto">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Текст 37"/>
          <p:cNvSpPr>
            <a:spLocks noGrp="1"/>
          </p:cNvSpPr>
          <p:nvPr>
            <p:ph type="body" sz="quarter" idx="13" hasCustomPrompt="1"/>
          </p:nvPr>
        </p:nvSpPr>
        <p:spPr bwMode="auto">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defRPr>
            </a:lvl1pPr>
            <a:lvl2pPr marL="457200" indent="0">
              <a:lnSpc>
                <a:spcPct val="100000"/>
              </a:lnSpc>
              <a:buNone/>
              <a:defRPr sz="1000" b="0" i="0">
                <a:latin typeface="HSE Sans"/>
              </a:defRPr>
            </a:lvl2pPr>
            <a:lvl3pPr marL="914400" indent="0">
              <a:lnSpc>
                <a:spcPct val="100000"/>
              </a:lnSpc>
              <a:buNone/>
              <a:defRPr sz="1000" b="0" i="0">
                <a:latin typeface="HSE Sans"/>
              </a:defRPr>
            </a:lvl3pPr>
            <a:lvl4pPr marL="1371600" indent="0">
              <a:lnSpc>
                <a:spcPct val="100000"/>
              </a:lnSpc>
              <a:buNone/>
              <a:defRPr sz="1000" b="0" i="0">
                <a:latin typeface="HSE Sans"/>
              </a:defRPr>
            </a:lvl4pPr>
            <a:lvl5pPr marL="1828800" indent="0">
              <a:lnSpc>
                <a:spcPct val="100000"/>
              </a:lnSpc>
              <a:buNone/>
              <a:defRPr sz="1000" b="0" i="0">
                <a:latin typeface="HSE Sans"/>
              </a:defRPr>
            </a:lvl5pPr>
          </a:lstStyle>
          <a:p>
            <a:pPr marL="0" marR="0" lvl="0" indent="0" algn="l" defTabSz="914400">
              <a:lnSpc>
                <a:spcPct val="100000"/>
              </a:lnSpc>
              <a:spcBef>
                <a:spcPts val="1000"/>
              </a:spcBef>
              <a:spcAft>
                <a:spcPts val="0"/>
              </a:spcAft>
              <a:buClrTx/>
              <a:buSzTx/>
              <a:buFont typeface="Arial"/>
              <a:buNone/>
              <a:defRPr/>
            </a:pPr>
            <a:r>
              <a:rPr lang="ru-RU" sz="1000">
                <a:latin typeface="HSE Sans"/>
              </a:rPr>
              <a:t>Название подразделения</a:t>
            </a:r>
            <a:br>
              <a:rPr lang="ru-RU" sz="1000">
                <a:latin typeface="HSE Sans"/>
              </a:rPr>
            </a:br>
            <a:r>
              <a:rPr lang="ru-RU" sz="1000">
                <a:latin typeface="HSE Sans"/>
              </a:rPr>
              <a:t>в две или три строки</a:t>
            </a:r>
            <a:r>
              <a:rPr lang="en-GB" sz="1000">
                <a:latin typeface="HSE Sans"/>
              </a:rPr>
              <a:t> (10pt)</a:t>
            </a:r>
            <a:endParaRPr lang="ru-RU" sz="1000">
              <a:latin typeface="HSE Sans"/>
            </a:endParaRPr>
          </a:p>
        </p:txBody>
      </p:sp>
      <p:sp>
        <p:nvSpPr>
          <p:cNvPr id="13" name="Текст 39"/>
          <p:cNvSpPr>
            <a:spLocks noGrp="1"/>
          </p:cNvSpPr>
          <p:nvPr>
            <p:ph type="body" sz="quarter" idx="14" hasCustomPrompt="1"/>
          </p:nvPr>
        </p:nvSpPr>
        <p:spPr bwMode="auto">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презентации может быть набрано в две или три строки</a:t>
            </a:r>
            <a:r>
              <a:rPr lang="en-GB" sz="1000">
                <a:latin typeface="HSE Sans"/>
              </a:rPr>
              <a:t> (10pt)</a:t>
            </a:r>
            <a:endParaRPr lang="ru-RU" sz="1000">
              <a:latin typeface="HSE Sans"/>
            </a:endParaRPr>
          </a:p>
        </p:txBody>
      </p:sp>
      <p:sp>
        <p:nvSpPr>
          <p:cNvPr id="15" name="Текст 39"/>
          <p:cNvSpPr>
            <a:spLocks noGrp="1"/>
          </p:cNvSpPr>
          <p:nvPr>
            <p:ph type="body" sz="quarter" idx="15" hasCustomPrompt="1"/>
          </p:nvPr>
        </p:nvSpPr>
        <p:spPr bwMode="auto">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раздела может быть набрано в две или три строки</a:t>
            </a:r>
            <a:r>
              <a:rPr lang="en-GB" sz="1000">
                <a:latin typeface="HSE Sans"/>
              </a:rPr>
              <a:t> (10pt)</a:t>
            </a:r>
            <a:endParaRPr lang="ru-RU" sz="1000">
              <a:latin typeface="HSE Sans"/>
            </a:endParaRPr>
          </a:p>
        </p:txBody>
      </p:sp>
      <p:sp>
        <p:nvSpPr>
          <p:cNvPr id="17" name="Заголовок 31"/>
          <p:cNvSpPr>
            <a:spLocks noGrp="1"/>
          </p:cNvSpPr>
          <p:nvPr>
            <p:ph type="title" hasCustomPrompt="1"/>
          </p:nvPr>
        </p:nvSpPr>
        <p:spPr bwMode="auto">
          <a:xfrm>
            <a:off x="585897" y="1447790"/>
            <a:ext cx="11057955" cy="777025"/>
          </a:xfrm>
        </p:spPr>
        <p:txBody>
          <a:bodyPr lIns="0" tIns="0" rIns="0" bIns="0" anchor="t">
            <a:normAutofit/>
          </a:bodyPr>
          <a:lstStyle>
            <a:lvl1pPr>
              <a:lnSpc>
                <a:spcPct val="100000"/>
              </a:lnSpc>
              <a:defRPr sz="2400" b="0" i="0">
                <a:latin typeface="HSE Sans"/>
              </a:defRPr>
            </a:lvl1pPr>
          </a:lstStyle>
          <a:p>
            <a:pPr>
              <a:defRPr/>
            </a:pPr>
            <a:r>
              <a:rPr lang="ru-RU" sz="2400">
                <a:solidFill>
                  <a:srgbClr val="102D69"/>
                </a:solidFill>
                <a:latin typeface="HSE Sans"/>
              </a:rPr>
              <a:t>Заголовок может быть набран в две или три строки</a:t>
            </a:r>
            <a:r>
              <a:rPr lang="en-GB" sz="2400">
                <a:solidFill>
                  <a:srgbClr val="102D69"/>
                </a:solidFill>
                <a:latin typeface="HSE Sans"/>
              </a:rPr>
              <a:t> (24 pt)</a:t>
            </a:r>
            <a:endParaRPr lang="ru-RU" sz="2400">
              <a:solidFill>
                <a:srgbClr val="102D69"/>
              </a:solidFill>
              <a:latin typeface="HSE Sans"/>
            </a:endParaRPr>
          </a:p>
        </p:txBody>
      </p:sp>
      <p:sp>
        <p:nvSpPr>
          <p:cNvPr id="24" name="Текст 35"/>
          <p:cNvSpPr>
            <a:spLocks noGrp="1"/>
          </p:cNvSpPr>
          <p:nvPr>
            <p:ph type="body" sz="quarter" idx="12" hasCustomPrompt="1"/>
          </p:nvPr>
        </p:nvSpPr>
        <p:spPr bwMode="auto">
          <a:xfrm>
            <a:off x="575076" y="4103994"/>
            <a:ext cx="2758143"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a:defRPr/>
            </a:pPr>
            <a:r>
              <a:rPr lang="ru-RU" sz="1300">
                <a:latin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endParaRPr/>
          </a:p>
        </p:txBody>
      </p:sp>
      <p:sp>
        <p:nvSpPr>
          <p:cNvPr id="25" name="Текст 35"/>
          <p:cNvSpPr>
            <a:spLocks noGrp="1"/>
          </p:cNvSpPr>
          <p:nvPr>
            <p:ph type="body" sz="quarter" idx="16" hasCustomPrompt="1"/>
          </p:nvPr>
        </p:nvSpPr>
        <p:spPr bwMode="auto">
          <a:xfrm>
            <a:off x="4047007" y="4103994"/>
            <a:ext cx="2757612"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a:defRPr/>
            </a:pPr>
            <a:r>
              <a:rPr lang="ru-RU" sz="1300">
                <a:latin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endParaRPr/>
          </a:p>
        </p:txBody>
      </p:sp>
      <p:sp>
        <p:nvSpPr>
          <p:cNvPr id="26" name="Текст 35"/>
          <p:cNvSpPr>
            <a:spLocks noGrp="1"/>
          </p:cNvSpPr>
          <p:nvPr>
            <p:ph type="body" sz="quarter" idx="17" hasCustomPrompt="1"/>
          </p:nvPr>
        </p:nvSpPr>
        <p:spPr bwMode="auto">
          <a:xfrm>
            <a:off x="7518938" y="4103994"/>
            <a:ext cx="2757612" cy="156966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a:defRPr/>
            </a:pPr>
            <a:r>
              <a:rPr lang="ru-RU" sz="1300">
                <a:latin typeface="HSE Sans"/>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endParaRPr/>
          </a:p>
        </p:txBody>
      </p:sp>
      <p:sp>
        <p:nvSpPr>
          <p:cNvPr id="28" name="Текст 27"/>
          <p:cNvSpPr>
            <a:spLocks noGrp="1"/>
          </p:cNvSpPr>
          <p:nvPr>
            <p:ph type="body" sz="quarter" idx="18" hasCustomPrompt="1"/>
          </p:nvPr>
        </p:nvSpPr>
        <p:spPr bwMode="auto">
          <a:xfrm>
            <a:off x="575076" y="2710235"/>
            <a:ext cx="2758143" cy="1164116"/>
          </a:xfrm>
        </p:spPr>
        <p:txBody>
          <a:bodyPr lIns="0" tIns="0" rIns="0" bIns="0">
            <a:noAutofit/>
          </a:bodyPr>
          <a:lstStyle>
            <a:lvl1pPr marL="0" indent="0">
              <a:buNone/>
              <a:defRPr sz="9600">
                <a:latin typeface="HSE Sans"/>
              </a:defRPr>
            </a:lvl1pPr>
            <a:lvl2pPr>
              <a:defRPr sz="9600">
                <a:latin typeface="HSE Sans"/>
              </a:defRPr>
            </a:lvl2pPr>
            <a:lvl3pPr>
              <a:defRPr sz="9600">
                <a:latin typeface="HSE Sans"/>
              </a:defRPr>
            </a:lvl3pPr>
            <a:lvl4pPr>
              <a:defRPr sz="9600">
                <a:latin typeface="HSE Sans"/>
              </a:defRPr>
            </a:lvl4pPr>
            <a:lvl5pPr>
              <a:defRPr sz="9600">
                <a:latin typeface="HSE Sans"/>
              </a:defRPr>
            </a:lvl5pPr>
          </a:lstStyle>
          <a:p>
            <a:pPr lvl="0">
              <a:defRPr/>
            </a:pPr>
            <a:r>
              <a:rPr lang="ru-RU" sz="9600">
                <a:solidFill>
                  <a:srgbClr val="102D69"/>
                </a:solidFill>
                <a:latin typeface="HSE Sans"/>
              </a:rPr>
              <a:t>152</a:t>
            </a:r>
            <a:endParaRPr lang="ru-RU"/>
          </a:p>
        </p:txBody>
      </p:sp>
      <p:sp>
        <p:nvSpPr>
          <p:cNvPr id="29" name="Текст 27"/>
          <p:cNvSpPr>
            <a:spLocks noGrp="1"/>
          </p:cNvSpPr>
          <p:nvPr>
            <p:ph type="body" sz="quarter" idx="19" hasCustomPrompt="1"/>
          </p:nvPr>
        </p:nvSpPr>
        <p:spPr bwMode="auto">
          <a:xfrm>
            <a:off x="4047007" y="2710235"/>
            <a:ext cx="2758143" cy="1164116"/>
          </a:xfrm>
        </p:spPr>
        <p:txBody>
          <a:bodyPr lIns="0" tIns="0" rIns="0" bIns="0">
            <a:noAutofit/>
          </a:bodyPr>
          <a:lstStyle>
            <a:lvl1pPr marL="0" indent="0">
              <a:buNone/>
              <a:defRPr sz="9600">
                <a:latin typeface="HSE Sans"/>
              </a:defRPr>
            </a:lvl1pPr>
            <a:lvl2pPr>
              <a:defRPr sz="9600">
                <a:latin typeface="HSE Sans"/>
              </a:defRPr>
            </a:lvl2pPr>
            <a:lvl3pPr>
              <a:defRPr sz="9600">
                <a:latin typeface="HSE Sans"/>
              </a:defRPr>
            </a:lvl3pPr>
            <a:lvl4pPr>
              <a:defRPr sz="9600">
                <a:latin typeface="HSE Sans"/>
              </a:defRPr>
            </a:lvl4pPr>
            <a:lvl5pPr>
              <a:defRPr sz="9600">
                <a:latin typeface="HSE Sans"/>
              </a:defRPr>
            </a:lvl5pPr>
          </a:lstStyle>
          <a:p>
            <a:pPr lvl="0">
              <a:defRPr/>
            </a:pPr>
            <a:r>
              <a:rPr lang="ru-RU" sz="9600">
                <a:solidFill>
                  <a:srgbClr val="102D69"/>
                </a:solidFill>
                <a:latin typeface="HSE Sans"/>
              </a:rPr>
              <a:t>95</a:t>
            </a:r>
            <a:endParaRPr lang="ru-RU"/>
          </a:p>
        </p:txBody>
      </p:sp>
      <p:sp>
        <p:nvSpPr>
          <p:cNvPr id="30" name="Текст 27"/>
          <p:cNvSpPr>
            <a:spLocks noGrp="1"/>
          </p:cNvSpPr>
          <p:nvPr>
            <p:ph type="body" sz="quarter" idx="20" hasCustomPrompt="1"/>
          </p:nvPr>
        </p:nvSpPr>
        <p:spPr bwMode="auto">
          <a:xfrm>
            <a:off x="7518938" y="2710235"/>
            <a:ext cx="2758143" cy="1164116"/>
          </a:xfrm>
        </p:spPr>
        <p:txBody>
          <a:bodyPr lIns="0" tIns="0" rIns="0" bIns="0">
            <a:noAutofit/>
          </a:bodyPr>
          <a:lstStyle>
            <a:lvl1pPr marL="0" indent="0">
              <a:buNone/>
              <a:defRPr sz="9600">
                <a:latin typeface="HSE Sans"/>
              </a:defRPr>
            </a:lvl1pPr>
            <a:lvl2pPr>
              <a:defRPr sz="9600">
                <a:latin typeface="HSE Sans"/>
              </a:defRPr>
            </a:lvl2pPr>
            <a:lvl3pPr>
              <a:defRPr sz="9600">
                <a:latin typeface="HSE Sans"/>
              </a:defRPr>
            </a:lvl3pPr>
            <a:lvl4pPr>
              <a:defRPr sz="9600">
                <a:latin typeface="HSE Sans"/>
              </a:defRPr>
            </a:lvl4pPr>
            <a:lvl5pPr>
              <a:defRPr sz="9600">
                <a:latin typeface="HSE Sans"/>
              </a:defRPr>
            </a:lvl5pPr>
          </a:lstStyle>
          <a:p>
            <a:pPr lvl="0">
              <a:defRPr/>
            </a:pPr>
            <a:r>
              <a:rPr lang="ru-RU" sz="9600">
                <a:solidFill>
                  <a:srgbClr val="102D69"/>
                </a:solidFill>
                <a:latin typeface="HSE Sans"/>
              </a:rPr>
              <a:t>284</a:t>
            </a:r>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Таблица_1">
    <p:bg>
      <p:bgPr>
        <a:blipFill>
          <a:blip r:embed="rId2">
            <a:lum/>
          </a:blip>
          <a:stretch/>
        </a:blipFill>
        <a:effectLst/>
      </p:bgPr>
    </p:bg>
    <p:spTree>
      <p:nvGrpSpPr>
        <p:cNvPr id="1" name=""/>
        <p:cNvGrpSpPr/>
        <p:nvPr/>
      </p:nvGrpSpPr>
      <p:grpSpPr bwMode="auto">
        <a:xfrm>
          <a:off x="0" y="0"/>
          <a:ext cx="0" cy="0"/>
          <a:chOff x="0" y="0"/>
          <a:chExt cx="0" cy="0"/>
        </a:xfrm>
      </p:grpSpPr>
      <p:pic>
        <p:nvPicPr>
          <p:cNvPr id="5" name="Picture 4" descr="Icon&#10;&#10;Description automatically generated"/>
          <p:cNvPicPr>
            <a:picLocks noChangeAspect="1"/>
          </p:cNvPicPr>
          <p:nvPr userDrawn="1"/>
        </p:nvPicPr>
        <p:blipFill>
          <a:blip r:embed="rId3"/>
          <a:stretch/>
        </p:blipFill>
        <p:spPr bwMode="auto">
          <a:xfrm>
            <a:off x="517199" y="464363"/>
            <a:ext cx="448276" cy="448276"/>
          </a:xfrm>
          <a:prstGeom prst="rect">
            <a:avLst/>
          </a:prstGeom>
        </p:spPr>
      </p:pic>
      <p:cxnSp>
        <p:nvCxnSpPr>
          <p:cNvPr id="6" name="Straight Connector 19"/>
          <p:cNvCxnSpPr>
            <a:cxnSpLocks/>
          </p:cNvCxnSpPr>
          <p:nvPr userDrawn="1"/>
        </p:nvCxnSpPr>
        <p:spPr bwMode="auto">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p:cNvCxnSpPr>
            <a:cxnSpLocks/>
          </p:cNvCxnSpPr>
          <p:nvPr userDrawn="1"/>
        </p:nvCxnSpPr>
        <p:spPr bwMode="auto">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p:cNvCxnSpPr>
            <a:cxnSpLocks/>
          </p:cNvCxnSpPr>
          <p:nvPr userDrawn="1"/>
        </p:nvCxnSpPr>
        <p:spPr bwMode="auto">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bwMode="auto">
          <a:xfrm>
            <a:off x="10410201" y="532278"/>
            <a:ext cx="671977" cy="307777"/>
          </a:xfrm>
          <a:prstGeom prst="rect">
            <a:avLst/>
          </a:prstGeom>
          <a:noFill/>
        </p:spPr>
        <p:txBody>
          <a:bodyPr wrap="square" lIns="0" tIns="0" rIns="0" bIns="0" rtlCol="0">
            <a:spAutoFit/>
          </a:bodyPr>
          <a:lstStyle/>
          <a:p>
            <a:pPr>
              <a:defRPr/>
            </a:pPr>
            <a:fld id="{32AF94B5-93D7-5247-B727-C7089232F508}" type="slidenum">
              <a:rPr lang="ru-RU" sz="2000">
                <a:solidFill>
                  <a:srgbClr val="102D69"/>
                </a:solidFill>
                <a:latin typeface="HSE Sans"/>
              </a:rPr>
              <a:t>‹#›</a:t>
            </a:fld>
            <a:endParaRPr lang="ru-RU" sz="2000">
              <a:solidFill>
                <a:srgbClr val="102D69"/>
              </a:solidFill>
              <a:latin typeface="HSE Sans"/>
            </a:endParaRPr>
          </a:p>
        </p:txBody>
      </p:sp>
      <p:cxnSp>
        <p:nvCxnSpPr>
          <p:cNvPr id="10" name="Straight Connector 59"/>
          <p:cNvCxnSpPr>
            <a:cxnSpLocks/>
          </p:cNvCxnSpPr>
          <p:nvPr userDrawn="1"/>
        </p:nvCxnSpPr>
        <p:spPr bwMode="auto">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Текст 37"/>
          <p:cNvSpPr>
            <a:spLocks noGrp="1"/>
          </p:cNvSpPr>
          <p:nvPr>
            <p:ph type="body" sz="quarter" idx="13" hasCustomPrompt="1"/>
          </p:nvPr>
        </p:nvSpPr>
        <p:spPr bwMode="auto">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defRPr>
            </a:lvl1pPr>
            <a:lvl2pPr marL="457200" indent="0">
              <a:lnSpc>
                <a:spcPct val="100000"/>
              </a:lnSpc>
              <a:buNone/>
              <a:defRPr sz="1000" b="0" i="0">
                <a:latin typeface="HSE Sans"/>
              </a:defRPr>
            </a:lvl2pPr>
            <a:lvl3pPr marL="914400" indent="0">
              <a:lnSpc>
                <a:spcPct val="100000"/>
              </a:lnSpc>
              <a:buNone/>
              <a:defRPr sz="1000" b="0" i="0">
                <a:latin typeface="HSE Sans"/>
              </a:defRPr>
            </a:lvl3pPr>
            <a:lvl4pPr marL="1371600" indent="0">
              <a:lnSpc>
                <a:spcPct val="100000"/>
              </a:lnSpc>
              <a:buNone/>
              <a:defRPr sz="1000" b="0" i="0">
                <a:latin typeface="HSE Sans"/>
              </a:defRPr>
            </a:lvl4pPr>
            <a:lvl5pPr marL="1828800" indent="0">
              <a:lnSpc>
                <a:spcPct val="100000"/>
              </a:lnSpc>
              <a:buNone/>
              <a:defRPr sz="1000" b="0" i="0">
                <a:latin typeface="HSE Sans"/>
              </a:defRPr>
            </a:lvl5pPr>
          </a:lstStyle>
          <a:p>
            <a:pPr marL="0" marR="0" lvl="0" indent="0" algn="l" defTabSz="914400">
              <a:lnSpc>
                <a:spcPct val="100000"/>
              </a:lnSpc>
              <a:spcBef>
                <a:spcPts val="1000"/>
              </a:spcBef>
              <a:spcAft>
                <a:spcPts val="0"/>
              </a:spcAft>
              <a:buClrTx/>
              <a:buSzTx/>
              <a:buFont typeface="Arial"/>
              <a:buNone/>
              <a:defRPr/>
            </a:pPr>
            <a:r>
              <a:rPr lang="ru-RU" sz="1000">
                <a:latin typeface="HSE Sans"/>
              </a:rPr>
              <a:t>Название подразделения</a:t>
            </a:r>
            <a:br>
              <a:rPr lang="ru-RU" sz="1000">
                <a:latin typeface="HSE Sans"/>
              </a:rPr>
            </a:br>
            <a:r>
              <a:rPr lang="ru-RU" sz="1000">
                <a:latin typeface="HSE Sans"/>
              </a:rPr>
              <a:t>в две или три строки</a:t>
            </a:r>
            <a:r>
              <a:rPr lang="en-GB" sz="1000">
                <a:latin typeface="HSE Sans"/>
              </a:rPr>
              <a:t> (10pt)</a:t>
            </a:r>
            <a:endParaRPr lang="ru-RU" sz="1000">
              <a:latin typeface="HSE Sans"/>
            </a:endParaRPr>
          </a:p>
        </p:txBody>
      </p:sp>
      <p:sp>
        <p:nvSpPr>
          <p:cNvPr id="12" name="Текст 39"/>
          <p:cNvSpPr>
            <a:spLocks noGrp="1"/>
          </p:cNvSpPr>
          <p:nvPr>
            <p:ph type="body" sz="quarter" idx="14" hasCustomPrompt="1"/>
          </p:nvPr>
        </p:nvSpPr>
        <p:spPr bwMode="auto">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презентации может быть набрано в две или три строки</a:t>
            </a:r>
            <a:r>
              <a:rPr lang="en-GB" sz="1000">
                <a:latin typeface="HSE Sans"/>
              </a:rPr>
              <a:t> (10pt)</a:t>
            </a:r>
            <a:endParaRPr lang="ru-RU" sz="1000">
              <a:latin typeface="HSE Sans"/>
            </a:endParaRPr>
          </a:p>
        </p:txBody>
      </p:sp>
      <p:sp>
        <p:nvSpPr>
          <p:cNvPr id="14" name="Текст 39"/>
          <p:cNvSpPr>
            <a:spLocks noGrp="1"/>
          </p:cNvSpPr>
          <p:nvPr>
            <p:ph type="body" sz="quarter" idx="15" hasCustomPrompt="1"/>
          </p:nvPr>
        </p:nvSpPr>
        <p:spPr bwMode="auto">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раздела может быть набрано в две или три строки</a:t>
            </a:r>
            <a:r>
              <a:rPr lang="en-GB" sz="1000">
                <a:latin typeface="HSE Sans"/>
              </a:rPr>
              <a:t> (10pt)</a:t>
            </a:r>
            <a:endParaRPr lang="ru-RU" sz="1000">
              <a:latin typeface="HSE Sans"/>
            </a:endParaRPr>
          </a:p>
        </p:txBody>
      </p:sp>
      <p:sp>
        <p:nvSpPr>
          <p:cNvPr id="15" name="Текст 22"/>
          <p:cNvSpPr>
            <a:spLocks noGrp="1"/>
          </p:cNvSpPr>
          <p:nvPr>
            <p:ph type="body" sz="quarter" idx="17" hasCustomPrompt="1"/>
          </p:nvPr>
        </p:nvSpPr>
        <p:spPr bwMode="auto">
          <a:xfrm>
            <a:off x="585787" y="1447065"/>
            <a:ext cx="11058065" cy="307778"/>
          </a:xfrm>
        </p:spPr>
        <p:txBody>
          <a:bodyPr lIns="0" tIns="0" rIns="0" bIns="0">
            <a:noAutofit/>
          </a:bodyPr>
          <a:lstStyle>
            <a:lvl1pPr marL="0" indent="0">
              <a:buNone/>
              <a:defRPr sz="1600" b="0" i="0">
                <a:solidFill>
                  <a:srgbClr val="0E2D69"/>
                </a:solidFill>
                <a:latin typeface="HSE Sans"/>
              </a:defRPr>
            </a:lvl1pPr>
            <a:lvl2pPr>
              <a:defRPr sz="1600" b="0" i="0">
                <a:solidFill>
                  <a:srgbClr val="0E2D69"/>
                </a:solidFill>
                <a:latin typeface="HSE Sans"/>
              </a:defRPr>
            </a:lvl2pPr>
            <a:lvl3pPr>
              <a:defRPr sz="1600" b="0" i="0">
                <a:solidFill>
                  <a:srgbClr val="0E2D69"/>
                </a:solidFill>
                <a:latin typeface="HSE Sans"/>
              </a:defRPr>
            </a:lvl3pPr>
            <a:lvl4pPr>
              <a:defRPr sz="1600" b="0" i="0">
                <a:solidFill>
                  <a:srgbClr val="0E2D69"/>
                </a:solidFill>
                <a:latin typeface="HSE Sans"/>
              </a:defRPr>
            </a:lvl4pPr>
            <a:lvl5pPr>
              <a:defRPr sz="1600" b="0" i="0">
                <a:solidFill>
                  <a:srgbClr val="0E2D69"/>
                </a:solidFill>
                <a:latin typeface="HSE Sans"/>
              </a:defRPr>
            </a:lvl5pPr>
          </a:lstStyle>
          <a:p>
            <a:pPr>
              <a:defRPr/>
            </a:pPr>
            <a:r>
              <a:rPr lang="ru-RU" sz="1600">
                <a:solidFill>
                  <a:srgbClr val="102D69"/>
                </a:solidFill>
                <a:latin typeface="HSE Sans"/>
              </a:rPr>
              <a:t>Название таблицы. Обратите внимание, что название графика набирается меньшим кеглем, чем заголовок (16</a:t>
            </a:r>
            <a:r>
              <a:rPr lang="en-GB" sz="1600">
                <a:solidFill>
                  <a:srgbClr val="102D69"/>
                </a:solidFill>
                <a:latin typeface="HSE Sans"/>
              </a:rPr>
              <a:t>pt)</a:t>
            </a:r>
            <a:endParaRPr lang="ru-RU" sz="1600">
              <a:solidFill>
                <a:srgbClr val="102D69"/>
              </a:solidFill>
              <a:latin typeface="HSE Sans"/>
            </a:endParaRPr>
          </a:p>
        </p:txBody>
      </p:sp>
      <p:sp>
        <p:nvSpPr>
          <p:cNvPr id="17" name="Текст 16"/>
          <p:cNvSpPr>
            <a:spLocks noGrp="1"/>
          </p:cNvSpPr>
          <p:nvPr>
            <p:ph type="body" sz="quarter" idx="18" hasCustomPrompt="1"/>
          </p:nvPr>
        </p:nvSpPr>
        <p:spPr bwMode="auto">
          <a:xfrm>
            <a:off x="585788" y="5739189"/>
            <a:ext cx="6824303" cy="703205"/>
          </a:xfrm>
        </p:spPr>
        <p:txBody>
          <a:bodyPr lIns="0" tIns="0" rIns="0" bIns="0">
            <a:normAutofit/>
          </a:bodyPr>
          <a:lstStyle>
            <a:lvl1pPr marL="0" marR="0" indent="0" algn="l" defTabSz="914400">
              <a:lnSpc>
                <a:spcPct val="100000"/>
              </a:lnSpc>
              <a:spcBef>
                <a:spcPts val="600"/>
              </a:spcBef>
              <a:spcAft>
                <a:spcPts val="0"/>
              </a:spcAft>
              <a:buClrTx/>
              <a:buSzTx/>
              <a:buFontTx/>
              <a:buNone/>
              <a:defRPr sz="1300" b="0" i="0">
                <a:solidFill>
                  <a:srgbClr val="0E2D69"/>
                </a:solidFill>
                <a:latin typeface="HSE Sans"/>
              </a:defRPr>
            </a:lvl1pPr>
            <a:lvl2pPr>
              <a:defRPr sz="1300" b="0" i="0">
                <a:solidFill>
                  <a:srgbClr val="0E2D69"/>
                </a:solidFill>
                <a:latin typeface="HSE Sans"/>
              </a:defRPr>
            </a:lvl2pPr>
            <a:lvl3pPr>
              <a:defRPr sz="1300" b="0" i="0">
                <a:solidFill>
                  <a:srgbClr val="0E2D69"/>
                </a:solidFill>
                <a:latin typeface="HSE Sans"/>
              </a:defRPr>
            </a:lvl3pPr>
            <a:lvl4pPr>
              <a:defRPr sz="1300" b="0" i="0">
                <a:solidFill>
                  <a:srgbClr val="0E2D69"/>
                </a:solidFill>
                <a:latin typeface="HSE Sans"/>
              </a:defRPr>
            </a:lvl4pPr>
            <a:lvl5pPr>
              <a:defRPr sz="1300" b="0" i="0">
                <a:solidFill>
                  <a:srgbClr val="0E2D69"/>
                </a:solidFill>
                <a:latin typeface="HSE Sans"/>
              </a:defRPr>
            </a:lvl5pPr>
          </a:lstStyle>
          <a:p>
            <a:pPr marL="0" marR="0" lvl="0" indent="0" algn="l" defTabSz="914400">
              <a:lnSpc>
                <a:spcPct val="100000"/>
              </a:lnSpc>
              <a:spcBef>
                <a:spcPts val="600"/>
              </a:spcBef>
              <a:spcAft>
                <a:spcPts val="0"/>
              </a:spcAft>
              <a:buClrTx/>
              <a:buSzTx/>
              <a:buFontTx/>
              <a:buNone/>
              <a:defRPr/>
            </a:pPr>
            <a:r>
              <a:rPr lang="ru-RU" sz="1300" b="0">
                <a:ln>
                  <a:noFill/>
                </a:ln>
                <a:latin typeface="HSE Sans"/>
              </a:rPr>
              <a:t>Мы рекомендуем очень аккуратно использовать жирное начертание, старайтесь выделять жирным самое важное. </a:t>
            </a:r>
            <a:r>
              <a:rPr lang="ru-RU" sz="1300">
                <a:latin typeface="HSE Sans"/>
              </a:rPr>
              <a:t>Также старайтесь не использовать выделение жирным начертанием вместе с заливкой ячеек каким-либо цветом, достаточно и одного акцента.</a:t>
            </a:r>
            <a:endParaRPr sz="1300" b="0">
              <a:ln>
                <a:noFill/>
              </a:ln>
              <a:latin typeface="HSE Sans"/>
            </a:endParaRPr>
          </a:p>
        </p:txBody>
      </p:sp>
      <p:sp>
        <p:nvSpPr>
          <p:cNvPr id="19" name="Таблица 18"/>
          <p:cNvSpPr>
            <a:spLocks noGrp="1"/>
          </p:cNvSpPr>
          <p:nvPr>
            <p:ph type="tbl" sz="quarter" idx="19"/>
          </p:nvPr>
        </p:nvSpPr>
        <p:spPr bwMode="auto">
          <a:xfrm>
            <a:off x="585787" y="1984076"/>
            <a:ext cx="11058527" cy="3519576"/>
          </a:xfrm>
        </p:spPr>
        <p:txBody>
          <a:bodyPr/>
          <a:lstStyle/>
          <a:p>
            <a:pPr>
              <a:defRPr/>
            </a:pPr>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Таблица_2">
    <p:bg>
      <p:bgPr>
        <a:blipFill>
          <a:blip r:embed="rId2">
            <a:lum/>
          </a:blip>
          <a:stretch/>
        </a:blipFill>
        <a:effectLst/>
      </p:bgPr>
    </p:bg>
    <p:spTree>
      <p:nvGrpSpPr>
        <p:cNvPr id="1" name=""/>
        <p:cNvGrpSpPr/>
        <p:nvPr/>
      </p:nvGrpSpPr>
      <p:grpSpPr bwMode="auto">
        <a:xfrm>
          <a:off x="0" y="0"/>
          <a:ext cx="0" cy="0"/>
          <a:chOff x="0" y="0"/>
          <a:chExt cx="0" cy="0"/>
        </a:xfrm>
      </p:grpSpPr>
      <p:pic>
        <p:nvPicPr>
          <p:cNvPr id="8" name="Picture 4" descr="Icon&#10;&#10;Description automatically generated"/>
          <p:cNvPicPr>
            <a:picLocks noChangeAspect="1"/>
          </p:cNvPicPr>
          <p:nvPr userDrawn="1"/>
        </p:nvPicPr>
        <p:blipFill>
          <a:blip r:embed="rId3"/>
          <a:stretch/>
        </p:blipFill>
        <p:spPr bwMode="auto">
          <a:xfrm>
            <a:off x="517199" y="464363"/>
            <a:ext cx="448276" cy="448276"/>
          </a:xfrm>
          <a:prstGeom prst="rect">
            <a:avLst/>
          </a:prstGeom>
        </p:spPr>
      </p:pic>
      <p:cxnSp>
        <p:nvCxnSpPr>
          <p:cNvPr id="9" name="Straight Connector 19"/>
          <p:cNvCxnSpPr>
            <a:cxnSpLocks/>
          </p:cNvCxnSpPr>
          <p:nvPr userDrawn="1"/>
        </p:nvCxnSpPr>
        <p:spPr bwMode="auto">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p:cNvCxnSpPr>
            <a:cxnSpLocks/>
          </p:cNvCxnSpPr>
          <p:nvPr userDrawn="1"/>
        </p:nvCxnSpPr>
        <p:spPr bwMode="auto">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p:cNvCxnSpPr>
            <a:cxnSpLocks/>
          </p:cNvCxnSpPr>
          <p:nvPr userDrawn="1"/>
        </p:nvCxnSpPr>
        <p:spPr bwMode="auto">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userDrawn="1"/>
        </p:nvSpPr>
        <p:spPr bwMode="auto">
          <a:xfrm>
            <a:off x="10410201" y="532278"/>
            <a:ext cx="671977" cy="307777"/>
          </a:xfrm>
          <a:prstGeom prst="rect">
            <a:avLst/>
          </a:prstGeom>
          <a:noFill/>
        </p:spPr>
        <p:txBody>
          <a:bodyPr wrap="square" lIns="0" tIns="0" rIns="0" bIns="0" rtlCol="0">
            <a:spAutoFit/>
          </a:bodyPr>
          <a:lstStyle/>
          <a:p>
            <a:pPr>
              <a:defRPr/>
            </a:pPr>
            <a:fld id="{32AF94B5-93D7-5247-B727-C7089232F508}" type="slidenum">
              <a:rPr lang="ru-RU" sz="2000">
                <a:solidFill>
                  <a:srgbClr val="102D69"/>
                </a:solidFill>
                <a:latin typeface="HSE Sans"/>
              </a:rPr>
              <a:t>‹#›</a:t>
            </a:fld>
            <a:endParaRPr lang="ru-RU" sz="2000">
              <a:solidFill>
                <a:srgbClr val="102D69"/>
              </a:solidFill>
              <a:latin typeface="HSE Sans"/>
            </a:endParaRPr>
          </a:p>
        </p:txBody>
      </p:sp>
      <p:cxnSp>
        <p:nvCxnSpPr>
          <p:cNvPr id="13" name="Straight Connector 59"/>
          <p:cNvCxnSpPr>
            <a:cxnSpLocks/>
          </p:cNvCxnSpPr>
          <p:nvPr userDrawn="1"/>
        </p:nvCxnSpPr>
        <p:spPr bwMode="auto">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p:cNvSpPr>
            <a:spLocks noGrp="1"/>
          </p:cNvSpPr>
          <p:nvPr>
            <p:ph type="body" sz="quarter" idx="13" hasCustomPrompt="1"/>
          </p:nvPr>
        </p:nvSpPr>
        <p:spPr bwMode="auto">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defRPr>
            </a:lvl1pPr>
            <a:lvl2pPr marL="457200" indent="0">
              <a:lnSpc>
                <a:spcPct val="100000"/>
              </a:lnSpc>
              <a:buNone/>
              <a:defRPr sz="1000" b="0" i="0">
                <a:latin typeface="HSE Sans"/>
              </a:defRPr>
            </a:lvl2pPr>
            <a:lvl3pPr marL="914400" indent="0">
              <a:lnSpc>
                <a:spcPct val="100000"/>
              </a:lnSpc>
              <a:buNone/>
              <a:defRPr sz="1000" b="0" i="0">
                <a:latin typeface="HSE Sans"/>
              </a:defRPr>
            </a:lvl3pPr>
            <a:lvl4pPr marL="1371600" indent="0">
              <a:lnSpc>
                <a:spcPct val="100000"/>
              </a:lnSpc>
              <a:buNone/>
              <a:defRPr sz="1000" b="0" i="0">
                <a:latin typeface="HSE Sans"/>
              </a:defRPr>
            </a:lvl4pPr>
            <a:lvl5pPr marL="1828800" indent="0">
              <a:lnSpc>
                <a:spcPct val="100000"/>
              </a:lnSpc>
              <a:buNone/>
              <a:defRPr sz="1000" b="0" i="0">
                <a:latin typeface="HSE Sans"/>
              </a:defRPr>
            </a:lvl5pPr>
          </a:lstStyle>
          <a:p>
            <a:pPr marL="0" marR="0" lvl="0" indent="0" algn="l" defTabSz="914400">
              <a:lnSpc>
                <a:spcPct val="100000"/>
              </a:lnSpc>
              <a:spcBef>
                <a:spcPts val="1000"/>
              </a:spcBef>
              <a:spcAft>
                <a:spcPts val="0"/>
              </a:spcAft>
              <a:buClrTx/>
              <a:buSzTx/>
              <a:buFont typeface="Arial"/>
              <a:buNone/>
              <a:defRPr/>
            </a:pPr>
            <a:r>
              <a:rPr lang="ru-RU" sz="1000">
                <a:latin typeface="HSE Sans"/>
              </a:rPr>
              <a:t>Название подразделения</a:t>
            </a:r>
            <a:br>
              <a:rPr lang="ru-RU" sz="1000">
                <a:latin typeface="HSE Sans"/>
              </a:rPr>
            </a:br>
            <a:r>
              <a:rPr lang="ru-RU" sz="1000">
                <a:latin typeface="HSE Sans"/>
              </a:rPr>
              <a:t>в две или три строки</a:t>
            </a:r>
            <a:r>
              <a:rPr lang="en-GB" sz="1000">
                <a:latin typeface="HSE Sans"/>
              </a:rPr>
              <a:t> (10pt)</a:t>
            </a:r>
            <a:endParaRPr lang="ru-RU" sz="1000">
              <a:latin typeface="HSE Sans"/>
            </a:endParaRPr>
          </a:p>
        </p:txBody>
      </p:sp>
      <p:sp>
        <p:nvSpPr>
          <p:cNvPr id="15" name="Текст 39"/>
          <p:cNvSpPr>
            <a:spLocks noGrp="1"/>
          </p:cNvSpPr>
          <p:nvPr>
            <p:ph type="body" sz="quarter" idx="14" hasCustomPrompt="1"/>
          </p:nvPr>
        </p:nvSpPr>
        <p:spPr bwMode="auto">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презентации может быть набрано в две или три строки</a:t>
            </a:r>
            <a:r>
              <a:rPr lang="en-GB" sz="1000">
                <a:latin typeface="HSE Sans"/>
              </a:rPr>
              <a:t> (10pt)</a:t>
            </a:r>
            <a:endParaRPr lang="ru-RU" sz="1000">
              <a:latin typeface="HSE Sans"/>
            </a:endParaRPr>
          </a:p>
        </p:txBody>
      </p:sp>
      <p:sp>
        <p:nvSpPr>
          <p:cNvPr id="17" name="Текст 39"/>
          <p:cNvSpPr>
            <a:spLocks noGrp="1"/>
          </p:cNvSpPr>
          <p:nvPr>
            <p:ph type="body" sz="quarter" idx="15" hasCustomPrompt="1"/>
          </p:nvPr>
        </p:nvSpPr>
        <p:spPr bwMode="auto">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раздела может быть набрано в две или три строки</a:t>
            </a:r>
            <a:r>
              <a:rPr lang="en-GB" sz="1000">
                <a:latin typeface="HSE Sans"/>
              </a:rPr>
              <a:t> (10pt)</a:t>
            </a:r>
            <a:endParaRPr lang="ru-RU" sz="1000">
              <a:latin typeface="HSE Sans"/>
            </a:endParaRPr>
          </a:p>
        </p:txBody>
      </p:sp>
      <p:sp>
        <p:nvSpPr>
          <p:cNvPr id="18" name="Текст 22"/>
          <p:cNvSpPr>
            <a:spLocks noGrp="1"/>
          </p:cNvSpPr>
          <p:nvPr>
            <p:ph type="body" sz="quarter" idx="17" hasCustomPrompt="1"/>
          </p:nvPr>
        </p:nvSpPr>
        <p:spPr bwMode="auto">
          <a:xfrm>
            <a:off x="585787" y="1447064"/>
            <a:ext cx="7617877" cy="537011"/>
          </a:xfrm>
        </p:spPr>
        <p:txBody>
          <a:bodyPr lIns="0" tIns="0" rIns="0" bIns="0">
            <a:noAutofit/>
          </a:bodyPr>
          <a:lstStyle>
            <a:lvl1pPr marL="0" indent="0">
              <a:buNone/>
              <a:defRPr sz="1600" b="0" i="0">
                <a:solidFill>
                  <a:srgbClr val="0E2D69"/>
                </a:solidFill>
                <a:latin typeface="HSE Sans"/>
              </a:defRPr>
            </a:lvl1pPr>
            <a:lvl2pPr>
              <a:defRPr sz="1600" b="0" i="0">
                <a:solidFill>
                  <a:srgbClr val="0E2D69"/>
                </a:solidFill>
                <a:latin typeface="HSE Sans"/>
              </a:defRPr>
            </a:lvl2pPr>
            <a:lvl3pPr>
              <a:defRPr sz="1600" b="0" i="0">
                <a:solidFill>
                  <a:srgbClr val="0E2D69"/>
                </a:solidFill>
                <a:latin typeface="HSE Sans"/>
              </a:defRPr>
            </a:lvl3pPr>
            <a:lvl4pPr>
              <a:defRPr sz="1600" b="0" i="0">
                <a:solidFill>
                  <a:srgbClr val="0E2D69"/>
                </a:solidFill>
                <a:latin typeface="HSE Sans"/>
              </a:defRPr>
            </a:lvl4pPr>
            <a:lvl5pPr>
              <a:defRPr sz="1600" b="0" i="0">
                <a:solidFill>
                  <a:srgbClr val="0E2D69"/>
                </a:solidFill>
                <a:latin typeface="HSE Sans"/>
              </a:defRPr>
            </a:lvl5pPr>
          </a:lstStyle>
          <a:p>
            <a:pPr>
              <a:defRPr/>
            </a:pPr>
            <a:r>
              <a:rPr lang="ru-RU" sz="1600">
                <a:solidFill>
                  <a:srgbClr val="102D69"/>
                </a:solidFill>
                <a:latin typeface="HSE Sans"/>
              </a:rPr>
              <a:t>Название таблицы. Обратите внимание, что название графика набирается меньшим кеглем, чем заголовок (16</a:t>
            </a:r>
            <a:r>
              <a:rPr lang="en-GB" sz="1600">
                <a:solidFill>
                  <a:srgbClr val="102D69"/>
                </a:solidFill>
                <a:latin typeface="HSE Sans"/>
              </a:rPr>
              <a:t>pt)</a:t>
            </a:r>
            <a:endParaRPr lang="ru-RU" sz="1600">
              <a:solidFill>
                <a:srgbClr val="102D69"/>
              </a:solidFill>
              <a:latin typeface="HSE Sans"/>
            </a:endParaRPr>
          </a:p>
        </p:txBody>
      </p:sp>
      <p:sp>
        <p:nvSpPr>
          <p:cNvPr id="19" name="Текст 16"/>
          <p:cNvSpPr>
            <a:spLocks noGrp="1"/>
          </p:cNvSpPr>
          <p:nvPr>
            <p:ph type="body" sz="quarter" idx="18" hasCustomPrompt="1"/>
          </p:nvPr>
        </p:nvSpPr>
        <p:spPr bwMode="auto">
          <a:xfrm>
            <a:off x="585788" y="5739189"/>
            <a:ext cx="6824303" cy="703205"/>
          </a:xfrm>
        </p:spPr>
        <p:txBody>
          <a:bodyPr lIns="0" tIns="0" rIns="0" bIns="0">
            <a:normAutofit/>
          </a:bodyPr>
          <a:lstStyle>
            <a:lvl1pPr marL="0" marR="0" indent="0" algn="l" defTabSz="914400">
              <a:lnSpc>
                <a:spcPct val="100000"/>
              </a:lnSpc>
              <a:spcBef>
                <a:spcPts val="600"/>
              </a:spcBef>
              <a:spcAft>
                <a:spcPts val="0"/>
              </a:spcAft>
              <a:buClrTx/>
              <a:buSzTx/>
              <a:buFontTx/>
              <a:buNone/>
              <a:defRPr sz="1300" b="0" i="0">
                <a:solidFill>
                  <a:srgbClr val="0E2D69"/>
                </a:solidFill>
                <a:latin typeface="HSE Sans"/>
              </a:defRPr>
            </a:lvl1pPr>
            <a:lvl2pPr>
              <a:defRPr sz="1300" b="0" i="0">
                <a:solidFill>
                  <a:srgbClr val="0E2D69"/>
                </a:solidFill>
                <a:latin typeface="HSE Sans"/>
              </a:defRPr>
            </a:lvl2pPr>
            <a:lvl3pPr>
              <a:defRPr sz="1300" b="0" i="0">
                <a:solidFill>
                  <a:srgbClr val="0E2D69"/>
                </a:solidFill>
                <a:latin typeface="HSE Sans"/>
              </a:defRPr>
            </a:lvl3pPr>
            <a:lvl4pPr>
              <a:defRPr sz="1300" b="0" i="0">
                <a:solidFill>
                  <a:srgbClr val="0E2D69"/>
                </a:solidFill>
                <a:latin typeface="HSE Sans"/>
              </a:defRPr>
            </a:lvl4pPr>
            <a:lvl5pPr>
              <a:defRPr sz="1300" b="0" i="0">
                <a:solidFill>
                  <a:srgbClr val="0E2D69"/>
                </a:solidFill>
                <a:latin typeface="HSE Sans"/>
              </a:defRPr>
            </a:lvl5pPr>
          </a:lstStyle>
          <a:p>
            <a:pPr marL="0" marR="0" lvl="0" indent="0" algn="l" defTabSz="914400">
              <a:lnSpc>
                <a:spcPct val="100000"/>
              </a:lnSpc>
              <a:spcBef>
                <a:spcPts val="600"/>
              </a:spcBef>
              <a:spcAft>
                <a:spcPts val="0"/>
              </a:spcAft>
              <a:buClrTx/>
              <a:buSzTx/>
              <a:buFontTx/>
              <a:buNone/>
              <a:defRPr/>
            </a:pPr>
            <a:r>
              <a:rPr lang="ru-RU" sz="1300" b="0">
                <a:ln>
                  <a:noFill/>
                </a:ln>
                <a:latin typeface="HSE Sans"/>
              </a:rPr>
              <a:t>Мы рекомендуем очень аккуратно использовать жирное начертание, старайтесь выделять жирным самое важное. </a:t>
            </a:r>
            <a:r>
              <a:rPr lang="ru-RU" sz="1300">
                <a:latin typeface="HSE Sans"/>
              </a:rPr>
              <a:t>Также старайтесь не использовать выделение жирным начертанием вместе с заливкой ячеек каким-либо цветом, достаточно и одного акцента.</a:t>
            </a:r>
            <a:endParaRPr sz="1300" b="0">
              <a:ln>
                <a:noFill/>
              </a:ln>
              <a:latin typeface="HSE Sans"/>
            </a:endParaRPr>
          </a:p>
        </p:txBody>
      </p:sp>
      <p:sp>
        <p:nvSpPr>
          <p:cNvPr id="20" name="Таблица 18"/>
          <p:cNvSpPr>
            <a:spLocks noGrp="1"/>
          </p:cNvSpPr>
          <p:nvPr>
            <p:ph type="tbl" sz="quarter" idx="19"/>
          </p:nvPr>
        </p:nvSpPr>
        <p:spPr bwMode="auto">
          <a:xfrm>
            <a:off x="585787" y="2208362"/>
            <a:ext cx="7617895" cy="3295290"/>
          </a:xfrm>
        </p:spPr>
        <p:txBody>
          <a:bodyPr/>
          <a:lstStyle/>
          <a:p>
            <a:pPr>
              <a:defRPr/>
            </a:pPr>
            <a:endParaRPr lang="ru-RU"/>
          </a:p>
        </p:txBody>
      </p:sp>
      <p:sp>
        <p:nvSpPr>
          <p:cNvPr id="21" name="Текст 35"/>
          <p:cNvSpPr>
            <a:spLocks noGrp="1"/>
          </p:cNvSpPr>
          <p:nvPr>
            <p:ph type="body" sz="quarter" idx="12" hasCustomPrompt="1"/>
          </p:nvPr>
        </p:nvSpPr>
        <p:spPr bwMode="auto">
          <a:xfrm>
            <a:off x="8686807" y="2208363"/>
            <a:ext cx="2930666" cy="2570672"/>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a:defRPr/>
            </a:pPr>
            <a:r>
              <a:rPr lang="en-GB" sz="1300">
                <a:latin typeface="HSE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ru-RU" sz="1300">
              <a:latin typeface="HSE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цвет">
    <p:bg>
      <p:bgPr>
        <a:blipFill>
          <a:blip r:embed="rId2">
            <a:lum/>
          </a:blip>
          <a:stretch/>
        </a:blipFill>
        <a:effectLst/>
      </p:bgPr>
    </p:bg>
    <p:spTree>
      <p:nvGrpSpPr>
        <p:cNvPr id="1" name=""/>
        <p:cNvGrpSpPr/>
        <p:nvPr/>
      </p:nvGrpSpPr>
      <p:grpSpPr bwMode="auto">
        <a:xfrm>
          <a:off x="0" y="0"/>
          <a:ext cx="0" cy="0"/>
          <a:chOff x="0" y="0"/>
          <a:chExt cx="0" cy="0"/>
        </a:xfrm>
      </p:grpSpPr>
      <p:pic>
        <p:nvPicPr>
          <p:cNvPr id="7" name="Picture 4" descr="Icon&#10;&#10;Description automatically generated"/>
          <p:cNvPicPr>
            <a:picLocks noChangeAspect="1"/>
          </p:cNvPicPr>
          <p:nvPr userDrawn="1"/>
        </p:nvPicPr>
        <p:blipFill>
          <a:blip r:embed="rId3"/>
          <a:stretch/>
        </p:blipFill>
        <p:spPr bwMode="auto">
          <a:xfrm>
            <a:off x="517199" y="464363"/>
            <a:ext cx="448276" cy="448276"/>
          </a:xfrm>
          <a:prstGeom prst="rect">
            <a:avLst/>
          </a:prstGeom>
        </p:spPr>
      </p:pic>
      <p:cxnSp>
        <p:nvCxnSpPr>
          <p:cNvPr id="8" name="Straight Connector 19"/>
          <p:cNvCxnSpPr>
            <a:cxnSpLocks/>
          </p:cNvCxnSpPr>
          <p:nvPr userDrawn="1"/>
        </p:nvCxnSpPr>
        <p:spPr bwMode="auto">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p:cNvCxnSpPr>
            <a:cxnSpLocks/>
          </p:cNvCxnSpPr>
          <p:nvPr userDrawn="1"/>
        </p:nvCxnSpPr>
        <p:spPr bwMode="auto">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p:cNvCxnSpPr>
            <a:cxnSpLocks/>
          </p:cNvCxnSpPr>
          <p:nvPr userDrawn="1"/>
        </p:nvCxnSpPr>
        <p:spPr bwMode="auto">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bwMode="auto">
          <a:xfrm>
            <a:off x="10410201" y="532278"/>
            <a:ext cx="671977" cy="307777"/>
          </a:xfrm>
          <a:prstGeom prst="rect">
            <a:avLst/>
          </a:prstGeom>
          <a:noFill/>
        </p:spPr>
        <p:txBody>
          <a:bodyPr wrap="square" lIns="0" tIns="0" rIns="0" bIns="0" rtlCol="0">
            <a:spAutoFit/>
          </a:bodyPr>
          <a:lstStyle/>
          <a:p>
            <a:pPr>
              <a:defRPr/>
            </a:pPr>
            <a:fld id="{32AF94B5-93D7-5247-B727-C7089232F508}" type="slidenum">
              <a:rPr lang="ru-RU" sz="2000">
                <a:solidFill>
                  <a:srgbClr val="102D69"/>
                </a:solidFill>
                <a:latin typeface="HSE Sans"/>
              </a:rPr>
              <a:t>‹#›</a:t>
            </a:fld>
            <a:endParaRPr lang="ru-RU" sz="2000">
              <a:solidFill>
                <a:srgbClr val="102D69"/>
              </a:solidFill>
              <a:latin typeface="HSE Sans"/>
            </a:endParaRPr>
          </a:p>
        </p:txBody>
      </p:sp>
      <p:cxnSp>
        <p:nvCxnSpPr>
          <p:cNvPr id="12" name="Straight Connector 59"/>
          <p:cNvCxnSpPr>
            <a:cxnSpLocks/>
          </p:cNvCxnSpPr>
          <p:nvPr userDrawn="1"/>
        </p:nvCxnSpPr>
        <p:spPr bwMode="auto">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p:cNvSpPr>
            <a:spLocks noGrp="1"/>
          </p:cNvSpPr>
          <p:nvPr>
            <p:ph type="body" sz="quarter" idx="13" hasCustomPrompt="1"/>
          </p:nvPr>
        </p:nvSpPr>
        <p:spPr bwMode="auto">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defRPr>
            </a:lvl1pPr>
            <a:lvl2pPr marL="457200" indent="0">
              <a:lnSpc>
                <a:spcPct val="100000"/>
              </a:lnSpc>
              <a:buNone/>
              <a:defRPr sz="1000" b="0" i="0">
                <a:latin typeface="HSE Sans"/>
              </a:defRPr>
            </a:lvl2pPr>
            <a:lvl3pPr marL="914400" indent="0">
              <a:lnSpc>
                <a:spcPct val="100000"/>
              </a:lnSpc>
              <a:buNone/>
              <a:defRPr sz="1000" b="0" i="0">
                <a:latin typeface="HSE Sans"/>
              </a:defRPr>
            </a:lvl3pPr>
            <a:lvl4pPr marL="1371600" indent="0">
              <a:lnSpc>
                <a:spcPct val="100000"/>
              </a:lnSpc>
              <a:buNone/>
              <a:defRPr sz="1000" b="0" i="0">
                <a:latin typeface="HSE Sans"/>
              </a:defRPr>
            </a:lvl4pPr>
            <a:lvl5pPr marL="1828800" indent="0">
              <a:lnSpc>
                <a:spcPct val="100000"/>
              </a:lnSpc>
              <a:buNone/>
              <a:defRPr sz="1000" b="0" i="0">
                <a:latin typeface="HSE Sans"/>
              </a:defRPr>
            </a:lvl5pPr>
          </a:lstStyle>
          <a:p>
            <a:pPr marL="0" marR="0" lvl="0" indent="0" algn="l" defTabSz="914400">
              <a:lnSpc>
                <a:spcPct val="100000"/>
              </a:lnSpc>
              <a:spcBef>
                <a:spcPts val="1000"/>
              </a:spcBef>
              <a:spcAft>
                <a:spcPts val="0"/>
              </a:spcAft>
              <a:buClrTx/>
              <a:buSzTx/>
              <a:buFont typeface="Arial"/>
              <a:buNone/>
              <a:defRPr/>
            </a:pPr>
            <a:r>
              <a:rPr lang="ru-RU" sz="1000">
                <a:latin typeface="HSE Sans"/>
              </a:rPr>
              <a:t>Название подразделения</a:t>
            </a:r>
            <a:br>
              <a:rPr lang="ru-RU" sz="1000">
                <a:latin typeface="HSE Sans"/>
              </a:rPr>
            </a:br>
            <a:r>
              <a:rPr lang="ru-RU" sz="1000">
                <a:latin typeface="HSE Sans"/>
              </a:rPr>
              <a:t>в две или три строки</a:t>
            </a:r>
            <a:r>
              <a:rPr lang="en-GB" sz="1000">
                <a:latin typeface="HSE Sans"/>
              </a:rPr>
              <a:t> (10pt)</a:t>
            </a:r>
            <a:endParaRPr lang="ru-RU" sz="1000">
              <a:latin typeface="HSE Sans"/>
            </a:endParaRPr>
          </a:p>
        </p:txBody>
      </p:sp>
      <p:sp>
        <p:nvSpPr>
          <p:cNvPr id="14" name="Текст 39"/>
          <p:cNvSpPr>
            <a:spLocks noGrp="1"/>
          </p:cNvSpPr>
          <p:nvPr>
            <p:ph type="body" sz="quarter" idx="14" hasCustomPrompt="1"/>
          </p:nvPr>
        </p:nvSpPr>
        <p:spPr bwMode="auto">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презентации может быть набрано в две или три строки</a:t>
            </a:r>
            <a:r>
              <a:rPr lang="en-GB" sz="1000">
                <a:latin typeface="HSE Sans"/>
              </a:rPr>
              <a:t> (10pt)</a:t>
            </a:r>
            <a:endParaRPr lang="ru-RU" sz="1000">
              <a:latin typeface="HSE Sans"/>
            </a:endParaRPr>
          </a:p>
        </p:txBody>
      </p:sp>
      <p:sp>
        <p:nvSpPr>
          <p:cNvPr id="16" name="Текст 39"/>
          <p:cNvSpPr>
            <a:spLocks noGrp="1"/>
          </p:cNvSpPr>
          <p:nvPr>
            <p:ph type="body" sz="quarter" idx="15" hasCustomPrompt="1"/>
          </p:nvPr>
        </p:nvSpPr>
        <p:spPr bwMode="auto">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раздела может быть набрано в две или три строки</a:t>
            </a:r>
            <a:r>
              <a:rPr lang="en-GB" sz="1000">
                <a:latin typeface="HSE Sans"/>
              </a:rPr>
              <a:t> (10pt)</a:t>
            </a:r>
            <a:endParaRPr lang="ru-RU" sz="1000">
              <a:latin typeface="HSE Sans"/>
            </a:endParaRPr>
          </a:p>
        </p:txBody>
      </p:sp>
      <p:sp>
        <p:nvSpPr>
          <p:cNvPr id="19" name="Заголовок 31"/>
          <p:cNvSpPr>
            <a:spLocks noGrp="1"/>
          </p:cNvSpPr>
          <p:nvPr>
            <p:ph type="title" hasCustomPrompt="1"/>
          </p:nvPr>
        </p:nvSpPr>
        <p:spPr bwMode="auto">
          <a:xfrm>
            <a:off x="585899" y="1447790"/>
            <a:ext cx="4322530" cy="777025"/>
          </a:xfrm>
        </p:spPr>
        <p:txBody>
          <a:bodyPr lIns="0" tIns="0" rIns="0" bIns="0" anchor="t">
            <a:normAutofit/>
          </a:bodyPr>
          <a:lstStyle>
            <a:lvl1pPr>
              <a:lnSpc>
                <a:spcPct val="100000"/>
              </a:lnSpc>
              <a:defRPr sz="2400" b="0" i="0">
                <a:latin typeface="HSE Sans"/>
              </a:defRPr>
            </a:lvl1pPr>
          </a:lstStyle>
          <a:p>
            <a:pPr>
              <a:defRPr/>
            </a:pPr>
            <a:r>
              <a:rPr lang="ru-RU" sz="2400">
                <a:solidFill>
                  <a:srgbClr val="102D69"/>
                </a:solidFill>
                <a:latin typeface="HSE Sans"/>
              </a:rPr>
              <a:t>Дополнительная </a:t>
            </a:r>
            <a:br>
              <a:rPr lang="ru-RU" sz="2400">
                <a:solidFill>
                  <a:srgbClr val="102D69"/>
                </a:solidFill>
                <a:latin typeface="HSE Sans"/>
              </a:rPr>
            </a:br>
            <a:r>
              <a:rPr lang="ru-RU" sz="2400">
                <a:solidFill>
                  <a:srgbClr val="102D69"/>
                </a:solidFill>
                <a:latin typeface="HSE Sans"/>
              </a:rPr>
              <a:t>цветовая гамма</a:t>
            </a:r>
            <a:endParaRPr/>
          </a:p>
        </p:txBody>
      </p:sp>
      <p:sp>
        <p:nvSpPr>
          <p:cNvPr id="20" name="Текст 35"/>
          <p:cNvSpPr>
            <a:spLocks noGrp="1"/>
          </p:cNvSpPr>
          <p:nvPr>
            <p:ph type="body" sz="quarter" idx="12" hasCustomPrompt="1"/>
          </p:nvPr>
        </p:nvSpPr>
        <p:spPr bwMode="auto">
          <a:xfrm>
            <a:off x="585898" y="2379663"/>
            <a:ext cx="4322531" cy="2399371"/>
          </a:xfrm>
        </p:spPr>
        <p:txBody>
          <a:bodyPr lIns="0" tIns="0" rIns="0">
            <a:normAutofit/>
          </a:bodyPr>
          <a:lstStyle>
            <a:lvl1pPr marL="0" marR="0" indent="0" algn="l" defTabSz="914400">
              <a:lnSpc>
                <a:spcPct val="100000"/>
              </a:lnSpc>
              <a:spcBef>
                <a:spcPts val="1000"/>
              </a:spcBef>
              <a:spcAft>
                <a:spcPts val="0"/>
              </a:spcAft>
              <a:buClrTx/>
              <a:buSzTx/>
              <a:buFont typeface="Arial"/>
              <a:buNone/>
              <a:defRPr sz="1300" b="0" i="0">
                <a:solidFill>
                  <a:srgbClr val="0E2D69"/>
                </a:solidFill>
                <a:latin typeface="HSE Sans"/>
              </a:defRPr>
            </a:lvl1pPr>
            <a:lvl2pPr marL="457200" indent="0" algn="l">
              <a:lnSpc>
                <a:spcPct val="100000"/>
              </a:lnSpc>
              <a:spcBef>
                <a:spcPts val="1000"/>
              </a:spcBef>
              <a:buFont typeface="Arial"/>
              <a:buNone/>
              <a:defRPr sz="1300" b="0" i="0">
                <a:solidFill>
                  <a:srgbClr val="0E2D69"/>
                </a:solidFill>
                <a:latin typeface="HSE Sans"/>
              </a:defRPr>
            </a:lvl2pPr>
            <a:lvl3pPr marL="914400" indent="0" algn="l">
              <a:lnSpc>
                <a:spcPct val="100000"/>
              </a:lnSpc>
              <a:spcBef>
                <a:spcPts val="1000"/>
              </a:spcBef>
              <a:buFont typeface="Arial"/>
              <a:buNone/>
              <a:defRPr sz="1300" b="0" i="0">
                <a:solidFill>
                  <a:srgbClr val="0E2D69"/>
                </a:solidFill>
                <a:latin typeface="HSE Sans"/>
              </a:defRPr>
            </a:lvl3pPr>
            <a:lvl4pPr marL="1371600" indent="0" algn="l">
              <a:lnSpc>
                <a:spcPct val="100000"/>
              </a:lnSpc>
              <a:spcBef>
                <a:spcPts val="1000"/>
              </a:spcBef>
              <a:buFont typeface="Arial"/>
              <a:buNone/>
              <a:defRPr sz="1300" b="0" i="0">
                <a:solidFill>
                  <a:srgbClr val="0E2D69"/>
                </a:solidFill>
                <a:latin typeface="HSE Sans"/>
              </a:defRPr>
            </a:lvl4pPr>
            <a:lvl5pPr marL="1828800" indent="0" algn="l">
              <a:lnSpc>
                <a:spcPct val="100000"/>
              </a:lnSpc>
              <a:spcBef>
                <a:spcPts val="1000"/>
              </a:spcBef>
              <a:buFont typeface="Arial"/>
              <a:buNone/>
              <a:defRPr sz="1300" b="0" i="0">
                <a:solidFill>
                  <a:srgbClr val="0E2D69"/>
                </a:solidFill>
                <a:latin typeface="HSE Sans"/>
              </a:defRPr>
            </a:lvl5pPr>
          </a:lstStyle>
          <a:p>
            <a:pPr>
              <a:defRPr/>
            </a:pPr>
            <a:r>
              <a:rPr lang="ru-RU" sz="1300">
                <a:latin typeface="HSE Sans"/>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endParaRPr/>
          </a:p>
        </p:txBody>
      </p:sp>
      <p:sp>
        <p:nvSpPr>
          <p:cNvPr id="21" name="Oval 5"/>
          <p:cNvSpPr/>
          <p:nvPr userDrawn="1"/>
        </p:nvSpPr>
        <p:spPr bwMode="auto">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22" name="Oval 20"/>
          <p:cNvSpPr/>
          <p:nvPr userDrawn="1"/>
        </p:nvSpPr>
        <p:spPr bwMode="auto">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23" name="Oval 22"/>
          <p:cNvSpPr/>
          <p:nvPr userDrawn="1"/>
        </p:nvSpPr>
        <p:spPr bwMode="auto">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24" name="Oval 23"/>
          <p:cNvSpPr/>
          <p:nvPr userDrawn="1"/>
        </p:nvSpPr>
        <p:spPr bwMode="auto">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25" name="Oval 26"/>
          <p:cNvSpPr/>
          <p:nvPr userDrawn="1"/>
        </p:nvSpPr>
        <p:spPr bwMode="auto">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26" name="Oval 29"/>
          <p:cNvSpPr/>
          <p:nvPr userDrawn="1"/>
        </p:nvSpPr>
        <p:spPr bwMode="auto">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27" name="Oval 33"/>
          <p:cNvSpPr/>
          <p:nvPr userDrawn="1"/>
        </p:nvSpPr>
        <p:spPr bwMode="auto">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28" name="Oval 34"/>
          <p:cNvSpPr/>
          <p:nvPr userDrawn="1"/>
        </p:nvSpPr>
        <p:spPr bwMode="auto">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29" name="Oval 35"/>
          <p:cNvSpPr/>
          <p:nvPr userDrawn="1"/>
        </p:nvSpPr>
        <p:spPr bwMode="auto">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30" name="Oval 36"/>
          <p:cNvSpPr/>
          <p:nvPr userDrawn="1"/>
        </p:nvSpPr>
        <p:spPr bwMode="auto">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31" name="Oval 37"/>
          <p:cNvSpPr/>
          <p:nvPr userDrawn="1"/>
        </p:nvSpPr>
        <p:spPr bwMode="auto">
          <a:xfrm>
            <a:off x="5392982" y="3969608"/>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32" name="Oval 38"/>
          <p:cNvSpPr/>
          <p:nvPr userDrawn="1"/>
        </p:nvSpPr>
        <p:spPr bwMode="auto">
          <a:xfrm>
            <a:off x="6742925" y="3969608"/>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33" name="Oval 39"/>
          <p:cNvSpPr/>
          <p:nvPr userDrawn="1"/>
        </p:nvSpPr>
        <p:spPr bwMode="auto">
          <a:xfrm>
            <a:off x="8092868" y="3969608"/>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34" name="Oval 40"/>
          <p:cNvSpPr/>
          <p:nvPr userDrawn="1"/>
        </p:nvSpPr>
        <p:spPr bwMode="auto">
          <a:xfrm>
            <a:off x="9442811" y="3969608"/>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35" name="Oval 41"/>
          <p:cNvSpPr/>
          <p:nvPr userDrawn="1"/>
        </p:nvSpPr>
        <p:spPr bwMode="auto">
          <a:xfrm>
            <a:off x="10792754" y="3969608"/>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36" name="Oval 42"/>
          <p:cNvSpPr/>
          <p:nvPr userDrawn="1"/>
        </p:nvSpPr>
        <p:spPr bwMode="auto">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37" name="Oval 43"/>
          <p:cNvSpPr/>
          <p:nvPr userDrawn="1"/>
        </p:nvSpPr>
        <p:spPr bwMode="auto">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38" name="Oval 44"/>
          <p:cNvSpPr/>
          <p:nvPr userDrawn="1"/>
        </p:nvSpPr>
        <p:spPr bwMode="auto">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39" name="Oval 45"/>
          <p:cNvSpPr/>
          <p:nvPr userDrawn="1"/>
        </p:nvSpPr>
        <p:spPr bwMode="auto">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40" name="Oval 46"/>
          <p:cNvSpPr/>
          <p:nvPr userDrawn="1"/>
        </p:nvSpPr>
        <p:spPr bwMode="auto">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чистый_2">
    <p:bg>
      <p:bgPr>
        <a:blipFill>
          <a:blip r:embed="rId2">
            <a:lum/>
          </a:blip>
          <a:stretch/>
        </a:blipFill>
        <a:effectLst/>
      </p:bgPr>
    </p:bg>
    <p:spTree>
      <p:nvGrpSpPr>
        <p:cNvPr id="1" name=""/>
        <p:cNvGrpSpPr/>
        <p:nvPr/>
      </p:nvGrpSpPr>
      <p:grpSpPr bwMode="auto">
        <a:xfrm>
          <a:off x="0" y="0"/>
          <a:ext cx="0" cy="0"/>
          <a:chOff x="0" y="0"/>
          <a:chExt cx="0" cy="0"/>
        </a:xfrm>
      </p:grpSpPr>
      <p:pic>
        <p:nvPicPr>
          <p:cNvPr id="8" name="Picture 4" descr="Icon&#10;&#10;Description automatically generated"/>
          <p:cNvPicPr>
            <a:picLocks noChangeAspect="1"/>
          </p:cNvPicPr>
          <p:nvPr userDrawn="1"/>
        </p:nvPicPr>
        <p:blipFill>
          <a:blip r:embed="rId3"/>
          <a:stretch/>
        </p:blipFill>
        <p:spPr bwMode="auto">
          <a:xfrm>
            <a:off x="517199" y="464363"/>
            <a:ext cx="448276" cy="448276"/>
          </a:xfrm>
          <a:prstGeom prst="rect">
            <a:avLst/>
          </a:prstGeom>
        </p:spPr>
      </p:pic>
      <p:cxnSp>
        <p:nvCxnSpPr>
          <p:cNvPr id="9" name="Straight Connector 19"/>
          <p:cNvCxnSpPr>
            <a:cxnSpLocks/>
          </p:cNvCxnSpPr>
          <p:nvPr userDrawn="1"/>
        </p:nvCxnSpPr>
        <p:spPr bwMode="auto">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p:cNvCxnSpPr>
            <a:cxnSpLocks/>
          </p:cNvCxnSpPr>
          <p:nvPr userDrawn="1"/>
        </p:nvCxnSpPr>
        <p:spPr bwMode="auto">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p:cNvCxnSpPr>
            <a:cxnSpLocks/>
          </p:cNvCxnSpPr>
          <p:nvPr userDrawn="1"/>
        </p:nvCxnSpPr>
        <p:spPr bwMode="auto">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userDrawn="1"/>
        </p:nvSpPr>
        <p:spPr bwMode="auto">
          <a:xfrm>
            <a:off x="10410201" y="532278"/>
            <a:ext cx="671977" cy="307777"/>
          </a:xfrm>
          <a:prstGeom prst="rect">
            <a:avLst/>
          </a:prstGeom>
          <a:noFill/>
        </p:spPr>
        <p:txBody>
          <a:bodyPr wrap="square" lIns="0" tIns="0" rIns="0" bIns="0" rtlCol="0">
            <a:spAutoFit/>
          </a:bodyPr>
          <a:lstStyle/>
          <a:p>
            <a:pPr>
              <a:defRPr/>
            </a:pPr>
            <a:fld id="{32AF94B5-93D7-5247-B727-C7089232F508}" type="slidenum">
              <a:rPr lang="ru-RU" sz="2000">
                <a:solidFill>
                  <a:srgbClr val="102D69"/>
                </a:solidFill>
                <a:latin typeface="HSE Sans"/>
              </a:rPr>
              <a:t>‹#›</a:t>
            </a:fld>
            <a:endParaRPr lang="ru-RU" sz="2000">
              <a:solidFill>
                <a:srgbClr val="102D69"/>
              </a:solidFill>
              <a:latin typeface="HSE Sans"/>
            </a:endParaRPr>
          </a:p>
        </p:txBody>
      </p:sp>
      <p:cxnSp>
        <p:nvCxnSpPr>
          <p:cNvPr id="13" name="Straight Connector 59"/>
          <p:cNvCxnSpPr>
            <a:cxnSpLocks/>
          </p:cNvCxnSpPr>
          <p:nvPr userDrawn="1"/>
        </p:nvCxnSpPr>
        <p:spPr bwMode="auto">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p:cNvSpPr>
            <a:spLocks noGrp="1"/>
          </p:cNvSpPr>
          <p:nvPr>
            <p:ph type="body" sz="quarter" idx="13" hasCustomPrompt="1"/>
          </p:nvPr>
        </p:nvSpPr>
        <p:spPr bwMode="auto">
          <a:xfrm>
            <a:off x="1143689" y="540904"/>
            <a:ext cx="1901825" cy="415925"/>
          </a:xfrm>
        </p:spPr>
        <p:txBody>
          <a:bodyPr lIns="0" tIns="0" rIns="0" bIns="0">
            <a:noAutofit/>
          </a:bodyPr>
          <a:lstStyle>
            <a:lvl1pPr marL="0" marR="0" indent="0" algn="l" defTabSz="914400">
              <a:lnSpc>
                <a:spcPct val="100000"/>
              </a:lnSpc>
              <a:spcBef>
                <a:spcPts val="0"/>
              </a:spcBef>
              <a:spcAft>
                <a:spcPts val="0"/>
              </a:spcAft>
              <a:buClrTx/>
              <a:buSzTx/>
              <a:buFont typeface="Arial"/>
              <a:buNone/>
              <a:defRPr sz="1000" b="0" i="0">
                <a:latin typeface="HSE Sans"/>
              </a:defRPr>
            </a:lvl1pPr>
            <a:lvl2pPr marL="457200" indent="0">
              <a:lnSpc>
                <a:spcPct val="100000"/>
              </a:lnSpc>
              <a:buNone/>
              <a:defRPr sz="1000" b="0" i="0">
                <a:latin typeface="HSE Sans"/>
              </a:defRPr>
            </a:lvl2pPr>
            <a:lvl3pPr marL="914400" indent="0">
              <a:lnSpc>
                <a:spcPct val="100000"/>
              </a:lnSpc>
              <a:buNone/>
              <a:defRPr sz="1000" b="0" i="0">
                <a:latin typeface="HSE Sans"/>
              </a:defRPr>
            </a:lvl3pPr>
            <a:lvl4pPr marL="1371600" indent="0">
              <a:lnSpc>
                <a:spcPct val="100000"/>
              </a:lnSpc>
              <a:buNone/>
              <a:defRPr sz="1000" b="0" i="0">
                <a:latin typeface="HSE Sans"/>
              </a:defRPr>
            </a:lvl4pPr>
            <a:lvl5pPr marL="1828800" indent="0">
              <a:lnSpc>
                <a:spcPct val="100000"/>
              </a:lnSpc>
              <a:buNone/>
              <a:defRPr sz="1000" b="0" i="0">
                <a:latin typeface="HSE Sans"/>
              </a:defRPr>
            </a:lvl5pPr>
          </a:lstStyle>
          <a:p>
            <a:pPr marL="0" marR="0" lvl="0" indent="0" algn="l" defTabSz="914400">
              <a:lnSpc>
                <a:spcPct val="100000"/>
              </a:lnSpc>
              <a:spcBef>
                <a:spcPts val="1000"/>
              </a:spcBef>
              <a:spcAft>
                <a:spcPts val="0"/>
              </a:spcAft>
              <a:buClrTx/>
              <a:buSzTx/>
              <a:buFont typeface="Arial"/>
              <a:buNone/>
              <a:defRPr/>
            </a:pPr>
            <a:r>
              <a:rPr lang="ru-RU" sz="1000">
                <a:latin typeface="HSE Sans"/>
              </a:rPr>
              <a:t>Название подразделения</a:t>
            </a:r>
            <a:br>
              <a:rPr lang="ru-RU" sz="1000">
                <a:latin typeface="HSE Sans"/>
              </a:rPr>
            </a:br>
            <a:r>
              <a:rPr lang="ru-RU" sz="1000">
                <a:latin typeface="HSE Sans"/>
              </a:rPr>
              <a:t>в две или три строки</a:t>
            </a:r>
            <a:r>
              <a:rPr lang="en-GB" sz="1000">
                <a:latin typeface="HSE Sans"/>
              </a:rPr>
              <a:t> (10pt)</a:t>
            </a:r>
            <a:endParaRPr lang="ru-RU" sz="1000">
              <a:latin typeface="HSE Sans"/>
            </a:endParaRPr>
          </a:p>
        </p:txBody>
      </p:sp>
      <p:sp>
        <p:nvSpPr>
          <p:cNvPr id="15" name="Текст 39"/>
          <p:cNvSpPr>
            <a:spLocks noGrp="1"/>
          </p:cNvSpPr>
          <p:nvPr>
            <p:ph type="body" sz="quarter" idx="14" hasCustomPrompt="1"/>
          </p:nvPr>
        </p:nvSpPr>
        <p:spPr bwMode="auto">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презентации может быть набрано в две или три строки</a:t>
            </a:r>
            <a:r>
              <a:rPr lang="en-GB" sz="1000">
                <a:latin typeface="HSE Sans"/>
              </a:rPr>
              <a:t> (10pt)</a:t>
            </a:r>
            <a:endParaRPr lang="ru-RU" sz="1000">
              <a:latin typeface="HSE Sans"/>
            </a:endParaRPr>
          </a:p>
        </p:txBody>
      </p:sp>
      <p:sp>
        <p:nvSpPr>
          <p:cNvPr id="17" name="Текст 39"/>
          <p:cNvSpPr>
            <a:spLocks noGrp="1"/>
          </p:cNvSpPr>
          <p:nvPr>
            <p:ph type="body" sz="quarter" idx="15" hasCustomPrompt="1"/>
          </p:nvPr>
        </p:nvSpPr>
        <p:spPr bwMode="auto">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a:defRPr>
            </a:lvl1pPr>
            <a:lvl2pPr marL="457200" indent="0">
              <a:buNone/>
              <a:defRPr sz="1000" b="0" i="0">
                <a:solidFill>
                  <a:srgbClr val="0E2D69"/>
                </a:solidFill>
                <a:latin typeface="HSE Sans"/>
              </a:defRPr>
            </a:lvl2pPr>
            <a:lvl3pPr marL="914400" indent="0">
              <a:buNone/>
              <a:defRPr sz="1000" b="0" i="0">
                <a:solidFill>
                  <a:srgbClr val="0E2D69"/>
                </a:solidFill>
                <a:latin typeface="HSE Sans"/>
              </a:defRPr>
            </a:lvl3pPr>
            <a:lvl4pPr marL="1371600" indent="0">
              <a:buNone/>
              <a:defRPr sz="1000" b="0" i="0">
                <a:solidFill>
                  <a:srgbClr val="0E2D69"/>
                </a:solidFill>
                <a:latin typeface="HSE Sans"/>
              </a:defRPr>
            </a:lvl4pPr>
            <a:lvl5pPr marL="1828800" indent="0">
              <a:buNone/>
              <a:defRPr sz="1000" b="0" i="0">
                <a:solidFill>
                  <a:srgbClr val="0E2D69"/>
                </a:solidFill>
                <a:latin typeface="HSE Sans"/>
              </a:defRPr>
            </a:lvl5pPr>
          </a:lstStyle>
          <a:p>
            <a:pPr>
              <a:defRPr/>
            </a:pPr>
            <a:r>
              <a:rPr lang="ru-RU" sz="1000">
                <a:latin typeface="HSE Sans"/>
              </a:rPr>
              <a:t>Название раздела может быть набрано в две или три строки</a:t>
            </a:r>
            <a:r>
              <a:rPr lang="en-GB" sz="1000">
                <a:latin typeface="HSE Sans"/>
              </a:rPr>
              <a:t> (10pt)</a:t>
            </a:r>
            <a:endParaRPr lang="ru-RU" sz="1000">
              <a:latin typeface="HSE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чистый">
    <p:bg>
      <p:bgPr>
        <a:blipFill>
          <a:blip r:embed="rId2">
            <a:lum/>
          </a:blip>
          <a:stretch/>
        </a:blipFill>
        <a:effectLst/>
      </p:bgPr>
    </p:bg>
    <p:spTree>
      <p:nvGrpSpPr>
        <p:cNvPr id="1" name=""/>
        <p:cNvGrpSpPr/>
        <p:nvPr/>
      </p:nvGrpSpPr>
      <p:grpSpPr bwMode="auto">
        <a:xfrm>
          <a:off x="0" y="0"/>
          <a:ext cx="0" cy="0"/>
          <a:chOff x="0" y="0"/>
          <a:chExt cx="0" cy="0"/>
        </a:xfrm>
      </p:grpSpPr>
      <p:sp>
        <p:nvSpPr>
          <p:cNvPr id="3" name="Rectangle 2"/>
          <p:cNvSpPr/>
          <p:nvPr userDrawn="1"/>
        </p:nvSpPr>
        <p:spPr bwMode="auto">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a:p>
        </p:txBody>
      </p:sp>
      <p:pic>
        <p:nvPicPr>
          <p:cNvPr id="2" name="Picture 1"/>
          <p:cNvPicPr>
            <a:picLocks noChangeAspect="1"/>
          </p:cNvPicPr>
          <p:nvPr userDrawn="1"/>
        </p:nvPicPr>
        <p:blipFill>
          <a:blip r:embed="rId3"/>
          <a:stretch/>
        </p:blipFill>
        <p:spPr bwMode="auto">
          <a:xfrm>
            <a:off x="5310809" y="2643809"/>
            <a:ext cx="1570383" cy="157038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GB"/>
              <a:t>Click to edit Master title style</a:t>
            </a:r>
            <a:endParaRPr/>
          </a:p>
        </p:txBody>
      </p:sp>
      <p:sp>
        <p:nvSpPr>
          <p:cNvPr id="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4"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3063DFB-8595-A44B-9F09-A50FA310E559}" type="datetimeFigureOut">
              <a:rPr lang="en-RU"/>
              <a:t>14.02.2026</a:t>
            </a:fld>
            <a:endParaRPr/>
          </a:p>
        </p:txBody>
      </p:sp>
      <p:sp>
        <p:nvSpPr>
          <p:cNvPr id="5"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
        <p:nvSpPr>
          <p:cNvPr id="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C20F133-126C-5944-A0E4-6A9616EDC0DA}"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027967" y="2033086"/>
            <a:ext cx="9976491" cy="1978323"/>
          </a:xfrm>
        </p:spPr>
        <p:txBody>
          <a:bodyPr>
            <a:normAutofit fontScale="90000"/>
          </a:bodyPr>
          <a:lstStyle/>
          <a:p>
            <a:pPr>
              <a:spcAft>
                <a:spcPts val="1200"/>
              </a:spcAft>
              <a:defRPr/>
            </a:pPr>
            <a:r>
              <a:rPr lang="ru-RU" dirty="0">
                <a:latin typeface="Aptos" panose="020B0004020202020204" pitchFamily="34" charset="0"/>
              </a:rPr>
              <a:t>ДОЦ «Экономика»</a:t>
            </a:r>
            <a:br>
              <a:rPr lang="ru-RU" dirty="0">
                <a:latin typeface="Aptos" panose="020B0004020202020204" pitchFamily="34" charset="0"/>
              </a:rPr>
            </a:br>
            <a:br>
              <a:rPr lang="ru-RU" dirty="0">
                <a:latin typeface="Aptos" panose="020B0004020202020204" pitchFamily="34" charset="0"/>
              </a:rPr>
            </a:br>
            <a:r>
              <a:rPr lang="ru-RU" b="1" dirty="0">
                <a:latin typeface="Aptos" panose="020B0004020202020204" pitchFamily="34" charset="0"/>
              </a:rPr>
              <a:t>Семинар 3.1 Фирма и конкуренция </a:t>
            </a:r>
            <a:br>
              <a:rPr lang="ru-RU" b="1" i="1" dirty="0">
                <a:latin typeface="Aptos" panose="020B0004020202020204" pitchFamily="34" charset="0"/>
              </a:rPr>
            </a:br>
            <a:br>
              <a:rPr lang="ru-RU" b="1" i="1" dirty="0">
                <a:latin typeface="Aptos" panose="020B0004020202020204" pitchFamily="34" charset="0"/>
              </a:rPr>
            </a:br>
            <a:br>
              <a:rPr lang="ru-RU" b="1" i="1" dirty="0">
                <a:latin typeface="Aptos" panose="020B0004020202020204" pitchFamily="34" charset="0"/>
              </a:rPr>
            </a:br>
            <a:endParaRPr lang="ru-RU" sz="3200" b="1" i="1" dirty="0">
              <a:latin typeface="Aptos" panose="020B0004020202020204" pitchFamily="34" charset="0"/>
            </a:endParaRPr>
          </a:p>
        </p:txBody>
      </p:sp>
      <p:sp>
        <p:nvSpPr>
          <p:cNvPr id="3" name="Текст 2"/>
          <p:cNvSpPr>
            <a:spLocks noGrp="1"/>
          </p:cNvSpPr>
          <p:nvPr>
            <p:ph type="body" sz="quarter" idx="10"/>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4" name="Текст 3"/>
          <p:cNvSpPr>
            <a:spLocks noGrp="1"/>
          </p:cNvSpPr>
          <p:nvPr>
            <p:ph type="body" sz="quarter" idx="11"/>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5" name="Текст 4"/>
          <p:cNvSpPr>
            <a:spLocks noGrp="1"/>
          </p:cNvSpPr>
          <p:nvPr>
            <p:ph type="body" idx="12"/>
          </p:nvPr>
        </p:nvSpPr>
        <p:spPr bwMode="auto"/>
        <p:txBody>
          <a:bodyPr>
            <a:normAutofit/>
          </a:bodyPr>
          <a:lstStyle/>
          <a:p>
            <a:pPr>
              <a:defRPr/>
            </a:pPr>
            <a:r>
              <a:rPr lang="ru-RU">
                <a:latin typeface="Aptos" panose="020B0004020202020204" pitchFamily="34" charset="0"/>
              </a:rPr>
              <a:t>Москва 2025</a:t>
            </a:r>
            <a:endParaRPr>
              <a:latin typeface="Aptos" panose="020B0004020202020204" pitchFamily="34" charset="0"/>
            </a:endParaRPr>
          </a:p>
        </p:txBody>
      </p:sp>
      <p:sp>
        <p:nvSpPr>
          <p:cNvPr id="6" name="Текст 5"/>
          <p:cNvSpPr>
            <a:spLocks noGrp="1"/>
          </p:cNvSpPr>
          <p:nvPr>
            <p:ph type="body" sz="quarter" idx="13"/>
          </p:nvPr>
        </p:nvSpPr>
        <p:spPr bwMode="auto"/>
        <p:txBody>
          <a:bodyPr/>
          <a:lstStyle/>
          <a:p>
            <a:pPr>
              <a:defRPr/>
            </a:pPr>
            <a:r>
              <a:rPr lang="ru-RU" dirty="0">
                <a:latin typeface="Aptos" panose="020B0004020202020204" pitchFamily="34" charset="0"/>
              </a:rPr>
              <a:t>Приглашенный преподаватель Департамента теоретической экономики</a:t>
            </a:r>
            <a:endParaRPr dirty="0">
              <a:latin typeface="Aptos" panose="020B0004020202020204" pitchFamily="34" charset="0"/>
            </a:endParaRPr>
          </a:p>
          <a:p>
            <a:pPr>
              <a:defRPr/>
            </a:pPr>
            <a:r>
              <a:rPr lang="ru-RU" dirty="0">
                <a:latin typeface="Aptos" panose="020B0004020202020204" pitchFamily="34" charset="0"/>
              </a:rPr>
              <a:t>Иванова Анна Павловна</a:t>
            </a:r>
            <a:endParaRPr dirty="0">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2699381"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5" name="TextBox 4"/>
          <p:cNvSpPr txBox="1"/>
          <p:nvPr/>
        </p:nvSpPr>
        <p:spPr bwMode="auto">
          <a:xfrm>
            <a:off x="533348" y="3105833"/>
            <a:ext cx="2447617" cy="646331"/>
          </a:xfrm>
          <a:prstGeom prst="rect">
            <a:avLst/>
          </a:prstGeom>
          <a:noFill/>
          <a:ln w="28575">
            <a:solidFill>
              <a:schemeClr val="tx1"/>
            </a:solidFill>
          </a:ln>
        </p:spPr>
        <p:txBody>
          <a:bodyPr wrap="square" rtlCol="0">
            <a:spAutoFit/>
          </a:bodyPr>
          <a:lstStyle/>
          <a:p>
            <a:pPr algn="ctr">
              <a:defRPr/>
            </a:pPr>
            <a:r>
              <a:rPr lang="ru-RU" sz="3600" b="1" dirty="0">
                <a:latin typeface="Aptos" panose="020B0004020202020204" pitchFamily="34" charset="0"/>
              </a:rPr>
              <a:t>РЕСУРСЫ</a:t>
            </a:r>
            <a:endParaRPr dirty="0">
              <a:latin typeface="Aptos" panose="020B0004020202020204" pitchFamily="34" charset="0"/>
            </a:endParaRPr>
          </a:p>
        </p:txBody>
      </p:sp>
      <p:sp>
        <p:nvSpPr>
          <p:cNvPr id="6" name="TextBox 5"/>
          <p:cNvSpPr txBox="1"/>
          <p:nvPr/>
        </p:nvSpPr>
        <p:spPr bwMode="auto">
          <a:xfrm>
            <a:off x="3927576" y="3105833"/>
            <a:ext cx="3904185" cy="646331"/>
          </a:xfrm>
          <a:prstGeom prst="rect">
            <a:avLst/>
          </a:prstGeom>
          <a:noFill/>
          <a:ln w="28575">
            <a:solidFill>
              <a:schemeClr val="tx1"/>
            </a:solidFill>
          </a:ln>
        </p:spPr>
        <p:txBody>
          <a:bodyPr wrap="square" rtlCol="0">
            <a:spAutoFit/>
          </a:bodyPr>
          <a:lstStyle>
            <a:defPPr>
              <a:defRPr/>
            </a:defPPr>
            <a:lvl1pPr algn="ctr">
              <a:defRPr sz="3600" b="1">
                <a:latin typeface="Aptos" panose="020B0004020202020204" pitchFamily="34" charset="0"/>
              </a:defRPr>
            </a:lvl1pPr>
          </a:lstStyle>
          <a:p>
            <a:r>
              <a:rPr lang="ru-RU" dirty="0"/>
              <a:t>ПРОИЗВОДСТВО</a:t>
            </a:r>
            <a:endParaRPr dirty="0"/>
          </a:p>
        </p:txBody>
      </p:sp>
      <p:sp>
        <p:nvSpPr>
          <p:cNvPr id="7" name="TextBox 6"/>
          <p:cNvSpPr txBox="1"/>
          <p:nvPr/>
        </p:nvSpPr>
        <p:spPr bwMode="auto">
          <a:xfrm>
            <a:off x="8778372" y="2828833"/>
            <a:ext cx="2699381" cy="1200329"/>
          </a:xfrm>
          <a:prstGeom prst="rect">
            <a:avLst/>
          </a:prstGeom>
          <a:noFill/>
          <a:ln w="28575">
            <a:solidFill>
              <a:schemeClr val="tx1"/>
            </a:solidFill>
          </a:ln>
        </p:spPr>
        <p:txBody>
          <a:bodyPr wrap="square" rtlCol="0">
            <a:spAutoFit/>
          </a:bodyPr>
          <a:lstStyle>
            <a:defPPr>
              <a:defRPr/>
            </a:defPPr>
            <a:lvl1pPr algn="ctr">
              <a:defRPr sz="3600" b="1">
                <a:latin typeface="Aptos" panose="020B0004020202020204" pitchFamily="34" charset="0"/>
              </a:defRPr>
            </a:lvl1pPr>
          </a:lstStyle>
          <a:p>
            <a:r>
              <a:rPr lang="ru-RU" dirty="0"/>
              <a:t>ТОВАРЫ/</a:t>
            </a:r>
          </a:p>
          <a:p>
            <a:r>
              <a:rPr lang="ru-RU" dirty="0"/>
              <a:t>УСЛУГИ</a:t>
            </a:r>
            <a:endParaRPr dirty="0"/>
          </a:p>
        </p:txBody>
      </p:sp>
      <p:sp>
        <p:nvSpPr>
          <p:cNvPr id="10" name="TextBox 9"/>
          <p:cNvSpPr txBox="1"/>
          <p:nvPr/>
        </p:nvSpPr>
        <p:spPr bwMode="auto">
          <a:xfrm>
            <a:off x="175537" y="5011031"/>
            <a:ext cx="3725237" cy="1200329"/>
          </a:xfrm>
          <a:prstGeom prst="rect">
            <a:avLst/>
          </a:prstGeom>
          <a:noFill/>
        </p:spPr>
        <p:txBody>
          <a:bodyPr wrap="square" rtlCol="0">
            <a:spAutoFit/>
          </a:bodyPr>
          <a:lstStyle/>
          <a:p>
            <a:pPr algn="ctr">
              <a:defRPr/>
            </a:pPr>
            <a:r>
              <a:rPr lang="ru-RU" sz="2400" dirty="0">
                <a:latin typeface="Aptos" panose="020B0004020202020204" pitchFamily="34" charset="0"/>
              </a:rPr>
              <a:t>ЗАТРАТЫ ФИРМЫ</a:t>
            </a:r>
            <a:r>
              <a:rPr lang="en-US" sz="2400" dirty="0">
                <a:latin typeface="Aptos" panose="020B0004020202020204" pitchFamily="34" charset="0"/>
              </a:rPr>
              <a:t> </a:t>
            </a:r>
            <a:r>
              <a:rPr lang="ru-RU" sz="2400" dirty="0">
                <a:latin typeface="Aptos" panose="020B0004020202020204" pitchFamily="34" charset="0"/>
              </a:rPr>
              <a:t>НА НАЙМ/ПРИОБЕРЕНИЕ РЕСУРСОВ</a:t>
            </a:r>
            <a:endParaRPr dirty="0">
              <a:latin typeface="Aptos" panose="020B0004020202020204" pitchFamily="34" charset="0"/>
            </a:endParaRPr>
          </a:p>
        </p:txBody>
      </p:sp>
      <p:sp>
        <p:nvSpPr>
          <p:cNvPr id="13" name="TextBox 12"/>
          <p:cNvSpPr txBox="1"/>
          <p:nvPr/>
        </p:nvSpPr>
        <p:spPr bwMode="auto">
          <a:xfrm>
            <a:off x="4106521" y="4767602"/>
            <a:ext cx="3725240" cy="1569660"/>
          </a:xfrm>
          <a:prstGeom prst="rect">
            <a:avLst/>
          </a:prstGeom>
          <a:noFill/>
        </p:spPr>
        <p:txBody>
          <a:bodyPr wrap="square" rtlCol="0">
            <a:spAutoFit/>
          </a:bodyPr>
          <a:lstStyle/>
          <a:p>
            <a:pPr algn="ctr">
              <a:defRPr/>
            </a:pPr>
            <a:r>
              <a:rPr lang="ru-RU" sz="2400" dirty="0">
                <a:latin typeface="Aptos" panose="020B0004020202020204" pitchFamily="34" charset="0"/>
              </a:rPr>
              <a:t>ВЫБОР ТЕХНОЛОГИИ ПРОИЗВОДСТВА</a:t>
            </a:r>
            <a:endParaRPr dirty="0">
              <a:latin typeface="Aptos" panose="020B0004020202020204" pitchFamily="34" charset="0"/>
            </a:endParaRPr>
          </a:p>
          <a:p>
            <a:pPr algn="ctr">
              <a:defRPr/>
            </a:pPr>
            <a:r>
              <a:rPr lang="ru-RU" sz="2400" dirty="0">
                <a:latin typeface="Aptos" panose="020B0004020202020204" pitchFamily="34" charset="0"/>
              </a:rPr>
              <a:t>И ОПРЕДЕЛЕНИЕ ОБЪЕМА ВЫПУСКА</a:t>
            </a:r>
            <a:endParaRPr dirty="0">
              <a:latin typeface="Aptos" panose="020B0004020202020204" pitchFamily="34" charset="0"/>
            </a:endParaRPr>
          </a:p>
        </p:txBody>
      </p:sp>
      <p:sp>
        <p:nvSpPr>
          <p:cNvPr id="14" name="TextBox 13"/>
          <p:cNvSpPr txBox="1"/>
          <p:nvPr/>
        </p:nvSpPr>
        <p:spPr bwMode="auto">
          <a:xfrm>
            <a:off x="8661539" y="4952267"/>
            <a:ext cx="3039180" cy="1200329"/>
          </a:xfrm>
          <a:prstGeom prst="rect">
            <a:avLst/>
          </a:prstGeom>
          <a:noFill/>
        </p:spPr>
        <p:txBody>
          <a:bodyPr wrap="square" rtlCol="0">
            <a:spAutoFit/>
          </a:bodyPr>
          <a:lstStyle/>
          <a:p>
            <a:pPr algn="ctr">
              <a:defRPr/>
            </a:pPr>
            <a:r>
              <a:rPr lang="ru-RU" sz="2400" dirty="0">
                <a:latin typeface="Aptos" panose="020B0004020202020204" pitchFamily="34" charset="0"/>
              </a:rPr>
              <a:t>ПОЛУЧЕНИЕ ВЫРУЧКИ И РАСЧЕТ</a:t>
            </a:r>
            <a:endParaRPr dirty="0">
              <a:latin typeface="Aptos" panose="020B0004020202020204" pitchFamily="34" charset="0"/>
            </a:endParaRPr>
          </a:p>
          <a:p>
            <a:pPr algn="ctr">
              <a:defRPr/>
            </a:pPr>
            <a:r>
              <a:rPr lang="ru-RU" sz="2400" dirty="0">
                <a:latin typeface="Aptos" panose="020B0004020202020204" pitchFamily="34" charset="0"/>
              </a:rPr>
              <a:t>ПРИБЫЛИ</a:t>
            </a:r>
            <a:endParaRPr dirty="0">
              <a:latin typeface="Aptos" panose="020B0004020202020204" pitchFamily="34" charset="0"/>
            </a:endParaRPr>
          </a:p>
        </p:txBody>
      </p:sp>
      <p:cxnSp>
        <p:nvCxnSpPr>
          <p:cNvPr id="16" name="Прямая со стрелкой 15"/>
          <p:cNvCxnSpPr>
            <a:cxnSpLocks/>
          </p:cNvCxnSpPr>
          <p:nvPr/>
        </p:nvCxnSpPr>
        <p:spPr bwMode="auto">
          <a:xfrm>
            <a:off x="10181129" y="4020912"/>
            <a:ext cx="0" cy="6528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bwMode="auto">
          <a:xfrm>
            <a:off x="0" y="1231160"/>
            <a:ext cx="12192000" cy="1384995"/>
          </a:xfrm>
          <a:prstGeom prst="rect">
            <a:avLst/>
          </a:prstGeom>
          <a:noFill/>
        </p:spPr>
        <p:txBody>
          <a:bodyPr wrap="square" rtlCol="0">
            <a:spAutoFit/>
          </a:bodyPr>
          <a:lstStyle/>
          <a:p>
            <a:pPr algn="ctr">
              <a:defRPr/>
            </a:pPr>
            <a:r>
              <a:rPr lang="ru-RU" sz="4400" b="1" u="sng" dirty="0">
                <a:solidFill>
                  <a:srgbClr val="FF00EE"/>
                </a:solidFill>
                <a:latin typeface="Aptos" panose="020B0004020202020204" pitchFamily="34" charset="0"/>
              </a:rPr>
              <a:t>ФИРМА</a:t>
            </a:r>
            <a:endParaRPr lang="en-GB" sz="4400" b="1" u="sng" dirty="0">
              <a:solidFill>
                <a:srgbClr val="FF00EE"/>
              </a:solidFill>
              <a:latin typeface="Aptos" panose="020B0004020202020204" pitchFamily="34" charset="0"/>
            </a:endParaRPr>
          </a:p>
          <a:p>
            <a:pPr algn="ctr">
              <a:defRPr/>
            </a:pPr>
            <a:endParaRPr sz="1200" dirty="0">
              <a:latin typeface="Aptos" panose="020B0004020202020204" pitchFamily="34" charset="0"/>
            </a:endParaRPr>
          </a:p>
          <a:p>
            <a:pPr algn="ctr">
              <a:defRPr/>
            </a:pPr>
            <a:r>
              <a:rPr lang="ru-RU" sz="2800" b="1" u="sng" dirty="0">
                <a:latin typeface="Aptos" panose="020B0004020202020204" pitchFamily="34" charset="0"/>
              </a:rPr>
              <a:t>ЦЕЛЬ ФИРМЫ </a:t>
            </a:r>
            <a:r>
              <a:rPr lang="ru-RU" sz="2800" b="1" dirty="0">
                <a:latin typeface="Aptos" panose="020B0004020202020204" pitchFamily="34" charset="0"/>
              </a:rPr>
              <a:t>– ПОЛУЧЕНИЕ ПРИБЫЛИ</a:t>
            </a:r>
            <a:endParaRPr sz="1200" dirty="0">
              <a:latin typeface="Aptos" panose="020B0004020202020204" pitchFamily="34" charset="0"/>
            </a:endParaRPr>
          </a:p>
        </p:txBody>
      </p:sp>
      <p:cxnSp>
        <p:nvCxnSpPr>
          <p:cNvPr id="19" name="Прямая со стрелкой 18"/>
          <p:cNvCxnSpPr>
            <a:cxnSpLocks/>
            <a:stCxn id="5" idx="3"/>
            <a:endCxn id="6" idx="1"/>
          </p:cNvCxnSpPr>
          <p:nvPr/>
        </p:nvCxnSpPr>
        <p:spPr bwMode="auto">
          <a:xfrm>
            <a:off x="2980965" y="3428999"/>
            <a:ext cx="94661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18">
            <a:extLst>
              <a:ext uri="{FF2B5EF4-FFF2-40B4-BE49-F238E27FC236}">
                <a16:creationId xmlns:a16="http://schemas.microsoft.com/office/drawing/2014/main" id="{AEC57BB9-5A2F-AF78-9402-C792D91F6F2D}"/>
              </a:ext>
            </a:extLst>
          </p:cNvPr>
          <p:cNvCxnSpPr>
            <a:cxnSpLocks/>
          </p:cNvCxnSpPr>
          <p:nvPr/>
        </p:nvCxnSpPr>
        <p:spPr bwMode="auto">
          <a:xfrm>
            <a:off x="7831761" y="3446927"/>
            <a:ext cx="94661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15">
            <a:extLst>
              <a:ext uri="{FF2B5EF4-FFF2-40B4-BE49-F238E27FC236}">
                <a16:creationId xmlns:a16="http://schemas.microsoft.com/office/drawing/2014/main" id="{F83427B0-292F-74EA-C7A5-F40000E49C4C}"/>
              </a:ext>
            </a:extLst>
          </p:cNvPr>
          <p:cNvCxnSpPr>
            <a:cxnSpLocks/>
          </p:cNvCxnSpPr>
          <p:nvPr/>
        </p:nvCxnSpPr>
        <p:spPr bwMode="auto">
          <a:xfrm>
            <a:off x="5879668" y="3752164"/>
            <a:ext cx="0" cy="9081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15">
            <a:extLst>
              <a:ext uri="{FF2B5EF4-FFF2-40B4-BE49-F238E27FC236}">
                <a16:creationId xmlns:a16="http://schemas.microsoft.com/office/drawing/2014/main" id="{D14D7D74-C712-4570-9E89-AC6C93EDEF41}"/>
              </a:ext>
            </a:extLst>
          </p:cNvPr>
          <p:cNvCxnSpPr>
            <a:cxnSpLocks/>
          </p:cNvCxnSpPr>
          <p:nvPr/>
        </p:nvCxnSpPr>
        <p:spPr bwMode="auto">
          <a:xfrm>
            <a:off x="1757156" y="3738716"/>
            <a:ext cx="0" cy="9081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3124253"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mc:AlternateContent xmlns:mc="http://schemas.openxmlformats.org/markup-compatibility/2006" xmlns:a14="http://schemas.microsoft.com/office/drawing/2010/main">
        <mc:Choice Requires="a14">
          <p:sp>
            <p:nvSpPr>
              <p:cNvPr id="9" name="TextBox 8"/>
              <p:cNvSpPr txBox="1"/>
              <p:nvPr/>
            </p:nvSpPr>
            <p:spPr bwMode="auto">
              <a:xfrm>
                <a:off x="401259" y="1503642"/>
                <a:ext cx="11389482" cy="4585871"/>
              </a:xfrm>
              <a:prstGeom prst="rect">
                <a:avLst/>
              </a:prstGeom>
              <a:noFill/>
            </p:spPr>
            <p:txBody>
              <a:bodyPr wrap="square" rtlCol="0">
                <a:spAutoFit/>
              </a:bodyPr>
              <a:lstStyle/>
              <a:p>
                <a:pPr algn="ctr">
                  <a:defRPr/>
                </a:pPr>
                <a:endParaRPr lang="ru-RU" sz="2400" b="1" dirty="0">
                  <a:latin typeface="Aptos" panose="020B0004020202020204" pitchFamily="34" charset="0"/>
                  <a:cs typeface="Arial"/>
                </a:endParaRPr>
              </a:p>
              <a:p>
                <a:pPr algn="ctr">
                  <a:defRPr/>
                </a:pPr>
                <a:r>
                  <a:rPr lang="ru-RU" sz="2400" b="1" u="sng" dirty="0">
                    <a:latin typeface="Aptos" panose="020B0004020202020204" pitchFamily="34" charset="0"/>
                    <a:cs typeface="Arial"/>
                  </a:rPr>
                  <a:t>ПРИБЫЛЬ ФИРМЫ</a:t>
                </a:r>
                <a:r>
                  <a:rPr lang="ru-RU" sz="2400" b="1" dirty="0">
                    <a:latin typeface="Aptos" panose="020B0004020202020204" pitchFamily="34" charset="0"/>
                    <a:cs typeface="Arial"/>
                  </a:rPr>
                  <a:t> </a:t>
                </a:r>
                <a:r>
                  <a:rPr lang="ru-RU" sz="2400" dirty="0">
                    <a:latin typeface="Aptos" panose="020B0004020202020204" pitchFamily="34" charset="0"/>
                  </a:rPr>
                  <a:t>–</a:t>
                </a:r>
                <a:r>
                  <a:rPr lang="ru-RU" sz="2400" b="1" dirty="0">
                    <a:latin typeface="Aptos" panose="020B0004020202020204" pitchFamily="34" charset="0"/>
                    <a:cs typeface="Arial"/>
                  </a:rPr>
                  <a:t> </a:t>
                </a:r>
                <a:r>
                  <a:rPr lang="ru-RU" sz="2400" dirty="0">
                    <a:latin typeface="Aptos" panose="020B0004020202020204" pitchFamily="34" charset="0"/>
                    <a:cs typeface="Arial"/>
                  </a:rPr>
                  <a:t>это разница между выручкой и издержками фирмы.</a:t>
                </a:r>
                <a:endParaRPr dirty="0">
                  <a:latin typeface="Aptos" panose="020B0004020202020204" pitchFamily="34" charset="0"/>
                </a:endParaRPr>
              </a:p>
              <a:p>
                <a:pPr algn="ctr">
                  <a:defRPr/>
                </a:pPr>
                <a:endParaRPr lang="ru-RU" sz="2000" b="1" u="sng" dirty="0">
                  <a:latin typeface="Aptos" panose="020B0004020202020204" pitchFamily="34" charset="0"/>
                  <a:cs typeface="Arial"/>
                </a:endParaRPr>
              </a:p>
              <a:p>
                <a:pPr algn="ctr">
                  <a:defRPr/>
                </a:pPr>
                <a14:m>
                  <m:oMath xmlns:m="http://schemas.openxmlformats.org/officeDocument/2006/math">
                    <m:r>
                      <a:rPr lang="ru-RU" sz="2400" b="1" i="1" smtClean="0">
                        <a:latin typeface="Cambria Math" panose="02040503050406030204" pitchFamily="18" charset="0"/>
                        <a:ea typeface="Cambria Math" panose="02040503050406030204" pitchFamily="18" charset="0"/>
                        <a:cs typeface="Arial"/>
                      </a:rPr>
                      <m:t>𝝅</m:t>
                    </m:r>
                  </m:oMath>
                </a14:m>
                <a:r>
                  <a:rPr lang="ru-RU" sz="2400" b="1" dirty="0">
                    <a:latin typeface="Aptos" panose="020B0004020202020204" pitchFamily="34" charset="0"/>
                    <a:cs typeface="Arial"/>
                  </a:rPr>
                  <a:t>(</a:t>
                </a:r>
                <a:r>
                  <a:rPr lang="en-US" sz="2400" b="1" dirty="0">
                    <a:latin typeface="Aptos" panose="020B0004020202020204" pitchFamily="34" charset="0"/>
                    <a:cs typeface="Arial"/>
                  </a:rPr>
                  <a:t>Q</a:t>
                </a:r>
                <a:r>
                  <a:rPr lang="ru-RU" sz="2400" b="1" dirty="0">
                    <a:latin typeface="Aptos" panose="020B0004020202020204" pitchFamily="34" charset="0"/>
                    <a:cs typeface="Arial"/>
                  </a:rPr>
                  <a:t>) = </a:t>
                </a:r>
                <a:r>
                  <a:rPr lang="en-US" sz="2400" b="1" dirty="0">
                    <a:latin typeface="Aptos" panose="020B0004020202020204" pitchFamily="34" charset="0"/>
                    <a:cs typeface="Arial"/>
                  </a:rPr>
                  <a:t>TR(Q) – TC (Q)</a:t>
                </a:r>
              </a:p>
              <a:p>
                <a:pPr algn="ctr">
                  <a:defRPr/>
                </a:pPr>
                <a:endParaRPr lang="en-US" sz="2000" b="1" dirty="0">
                  <a:latin typeface="Aptos" panose="020B0004020202020204" pitchFamily="34" charset="0"/>
                  <a:cs typeface="Arial"/>
                </a:endParaRPr>
              </a:p>
              <a:p>
                <a:pPr algn="ctr">
                  <a:defRPr/>
                </a:pPr>
                <a:r>
                  <a:rPr lang="ru-RU" sz="2400" b="1" u="sng" dirty="0">
                    <a:latin typeface="Aptos" panose="020B0004020202020204" pitchFamily="34" charset="0"/>
                    <a:cs typeface="Arial"/>
                  </a:rPr>
                  <a:t>ВЫРУЧКА ФИРМЫ = СОВОКУПНЫЙ ДОХОД (</a:t>
                </a:r>
                <a:r>
                  <a:rPr lang="en-US" sz="2400" b="1" u="sng" dirty="0">
                    <a:latin typeface="Aptos" panose="020B0004020202020204" pitchFamily="34" charset="0"/>
                  </a:rPr>
                  <a:t>TR - total  revenue)</a:t>
                </a:r>
                <a:r>
                  <a:rPr lang="ru-RU" sz="2400" b="1" dirty="0">
                    <a:latin typeface="Aptos" panose="020B0004020202020204" pitchFamily="34" charset="0"/>
                  </a:rPr>
                  <a:t> </a:t>
                </a:r>
                <a:r>
                  <a:rPr lang="ru-RU" sz="2400" dirty="0">
                    <a:latin typeface="Aptos" panose="020B0004020202020204" pitchFamily="34" charset="0"/>
                    <a:cs typeface="Arial"/>
                  </a:rPr>
                  <a:t>– это денежная сумма, которую фирма получает от реализации произведенного товара.</a:t>
                </a:r>
                <a:endParaRPr lang="en-GB" sz="2400" dirty="0">
                  <a:latin typeface="Aptos" panose="020B0004020202020204" pitchFamily="34" charset="0"/>
                  <a:cs typeface="Arial"/>
                </a:endParaRPr>
              </a:p>
              <a:p>
                <a:pPr algn="ctr">
                  <a:defRPr/>
                </a:pPr>
                <a:endParaRPr sz="2000" dirty="0">
                  <a:latin typeface="Aptos" panose="020B0004020202020204" pitchFamily="34" charset="0"/>
                </a:endParaRPr>
              </a:p>
              <a:p>
                <a:pPr algn="ctr">
                  <a:defRPr/>
                </a:pPr>
                <a:r>
                  <a:rPr lang="en-US" sz="2400" b="1" dirty="0">
                    <a:latin typeface="Aptos" panose="020B0004020202020204" pitchFamily="34" charset="0"/>
                    <a:cs typeface="Arial"/>
                  </a:rPr>
                  <a:t>TR(Q) = P(Q) </a:t>
                </a:r>
                <a:r>
                  <a:rPr lang="ru-RU" sz="2400" b="1" dirty="0">
                    <a:latin typeface="Aptos" panose="020B0004020202020204" pitchFamily="34" charset="0"/>
                    <a:cs typeface="Arial"/>
                  </a:rPr>
                  <a:t>* </a:t>
                </a:r>
                <a:r>
                  <a:rPr lang="en-US" sz="2400" b="1" dirty="0">
                    <a:latin typeface="Aptos" panose="020B0004020202020204" pitchFamily="34" charset="0"/>
                    <a:cs typeface="Arial"/>
                  </a:rPr>
                  <a:t>Q</a:t>
                </a:r>
                <a:endParaRPr lang="ru-RU" sz="2400" b="1" dirty="0">
                  <a:latin typeface="Aptos" panose="020B0004020202020204" pitchFamily="34" charset="0"/>
                  <a:cs typeface="Arial"/>
                </a:endParaRPr>
              </a:p>
              <a:p>
                <a:pPr algn="ctr">
                  <a:defRPr/>
                </a:pPr>
                <a:endParaRPr lang="ru-RU" sz="2000" b="1" dirty="0">
                  <a:latin typeface="Aptos" panose="020B0004020202020204" pitchFamily="34" charset="0"/>
                  <a:cs typeface="Arial"/>
                </a:endParaRPr>
              </a:p>
              <a:p>
                <a:pPr algn="ctr">
                  <a:defRPr/>
                </a:pPr>
                <a:r>
                  <a:rPr lang="ru-RU" sz="2400" b="1" u="sng" dirty="0">
                    <a:latin typeface="Aptos" panose="020B0004020202020204" pitchFamily="34" charset="0"/>
                    <a:cs typeface="Arial"/>
                  </a:rPr>
                  <a:t>ОБЩИЕ ИЗДЕРЖКИ (ТС) </a:t>
                </a:r>
                <a:r>
                  <a:rPr lang="en-US" sz="2400" b="1" u="sng" dirty="0">
                    <a:latin typeface="Aptos" panose="020B0004020202020204" pitchFamily="34" charset="0"/>
                    <a:cs typeface="Arial"/>
                  </a:rPr>
                  <a:t>total cost</a:t>
                </a:r>
                <a:r>
                  <a:rPr lang="en-US" sz="2400" b="1" dirty="0">
                    <a:latin typeface="Aptos" panose="020B0004020202020204" pitchFamily="34" charset="0"/>
                    <a:cs typeface="Arial"/>
                  </a:rPr>
                  <a:t> </a:t>
                </a:r>
                <a:r>
                  <a:rPr lang="ru-RU" sz="2000" dirty="0">
                    <a:latin typeface="Aptos" panose="020B0004020202020204" pitchFamily="34" charset="0"/>
                  </a:rPr>
                  <a:t>– </a:t>
                </a:r>
                <a:r>
                  <a:rPr lang="ru-RU" sz="2400" dirty="0">
                    <a:latin typeface="Aptos" panose="020B0004020202020204" pitchFamily="34" charset="0"/>
                    <a:cs typeface="Arial"/>
                  </a:rPr>
                  <a:t>издержки, связанные с выпуском всей продукции фирмы.</a:t>
                </a:r>
                <a:endParaRPr lang="en-US" sz="2400" dirty="0">
                  <a:latin typeface="Aptos" panose="020B0004020202020204" pitchFamily="34" charset="0"/>
                  <a:cs typeface="Arial"/>
                </a:endParaRPr>
              </a:p>
              <a:p>
                <a:pPr algn="ctr">
                  <a:defRPr/>
                </a:pPr>
                <a:endParaRPr lang="en-US" sz="2000" dirty="0">
                  <a:latin typeface="Aptos" panose="020B00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bwMode="auto">
              <a:xfrm>
                <a:off x="401259" y="1503642"/>
                <a:ext cx="11389482" cy="4585871"/>
              </a:xfrm>
              <a:prstGeom prst="rect">
                <a:avLst/>
              </a:prstGeom>
              <a:blipFill>
                <a:blip r:embed="rId2"/>
                <a:stretch>
                  <a:fillRect l="-223" r="-780"/>
                </a:stretch>
              </a:blipFill>
            </p:spPr>
            <p:txBody>
              <a:bodyPr/>
              <a:lstStyle/>
              <a:p>
                <a:r>
                  <a:rPr lang="en-RU">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3124253"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6" name="TextBox 5"/>
          <p:cNvSpPr txBox="1"/>
          <p:nvPr/>
        </p:nvSpPr>
        <p:spPr bwMode="auto">
          <a:xfrm>
            <a:off x="1238247" y="1358813"/>
            <a:ext cx="9526052" cy="584775"/>
          </a:xfrm>
          <a:prstGeom prst="rect">
            <a:avLst/>
          </a:prstGeom>
          <a:noFill/>
        </p:spPr>
        <p:txBody>
          <a:bodyPr wrap="square">
            <a:spAutoFit/>
          </a:bodyPr>
          <a:lstStyle/>
          <a:p>
            <a:pPr algn="ctr">
              <a:defRPr/>
            </a:pPr>
            <a:r>
              <a:rPr lang="ru-RU" sz="3200" b="1" u="sng" dirty="0">
                <a:solidFill>
                  <a:srgbClr val="FF00EE"/>
                </a:solidFill>
                <a:latin typeface="Aptos" panose="020B0004020202020204" pitchFamily="34" charset="0"/>
              </a:rPr>
              <a:t>Бухгалтерские </a:t>
            </a:r>
            <a:r>
              <a:rPr lang="en-GB" sz="3200" b="1" u="sng" dirty="0">
                <a:solidFill>
                  <a:srgbClr val="FF00EE"/>
                </a:solidFill>
                <a:latin typeface="Aptos" panose="020B0004020202020204" pitchFamily="34" charset="0"/>
              </a:rPr>
              <a:t>vs </a:t>
            </a:r>
            <a:r>
              <a:rPr lang="ru-RU" sz="3200" b="1" u="sng" dirty="0">
                <a:solidFill>
                  <a:srgbClr val="FF00EE"/>
                </a:solidFill>
                <a:latin typeface="Aptos" panose="020B0004020202020204" pitchFamily="34" charset="0"/>
              </a:rPr>
              <a:t>экономические издержки</a:t>
            </a:r>
          </a:p>
        </p:txBody>
      </p:sp>
      <p:sp>
        <p:nvSpPr>
          <p:cNvPr id="8" name="TextBox 7"/>
          <p:cNvSpPr txBox="1"/>
          <p:nvPr/>
        </p:nvSpPr>
        <p:spPr bwMode="auto">
          <a:xfrm>
            <a:off x="401257" y="2117288"/>
            <a:ext cx="4981705" cy="1708160"/>
          </a:xfrm>
          <a:prstGeom prst="rect">
            <a:avLst/>
          </a:prstGeom>
          <a:noFill/>
        </p:spPr>
        <p:txBody>
          <a:bodyPr wrap="square">
            <a:spAutoFit/>
          </a:bodyPr>
          <a:lstStyle/>
          <a:p>
            <a:pPr>
              <a:defRPr/>
            </a:pPr>
            <a:r>
              <a:rPr lang="ru-RU" sz="2100" b="1" u="sng" dirty="0">
                <a:latin typeface="Aptos" panose="020B0004020202020204" pitchFamily="34" charset="0"/>
              </a:rPr>
              <a:t>Бухгалтерские издержки</a:t>
            </a:r>
            <a:r>
              <a:rPr lang="ru-RU" sz="2100" b="1" dirty="0">
                <a:latin typeface="Aptos" panose="020B0004020202020204" pitchFamily="34" charset="0"/>
              </a:rPr>
              <a:t> </a:t>
            </a:r>
            <a:r>
              <a:rPr lang="ru-RU" sz="2100" dirty="0">
                <a:latin typeface="Aptos" panose="020B0004020202020204" pitchFamily="34" charset="0"/>
              </a:rPr>
              <a:t>– затраты на применяемые предприятием ресурсы. При расчетах фигурируют фактические цены, по которым были куплены ресурсы.</a:t>
            </a:r>
            <a:endParaRPr sz="2100" dirty="0">
              <a:latin typeface="Aptos" panose="020B0004020202020204" pitchFamily="34" charset="0"/>
            </a:endParaRPr>
          </a:p>
        </p:txBody>
      </p:sp>
      <p:sp>
        <p:nvSpPr>
          <p:cNvPr id="10" name="TextBox 9"/>
          <p:cNvSpPr txBox="1"/>
          <p:nvPr/>
        </p:nvSpPr>
        <p:spPr bwMode="auto">
          <a:xfrm>
            <a:off x="6281334" y="2117288"/>
            <a:ext cx="5509409" cy="1708160"/>
          </a:xfrm>
          <a:prstGeom prst="rect">
            <a:avLst/>
          </a:prstGeom>
          <a:noFill/>
        </p:spPr>
        <p:txBody>
          <a:bodyPr wrap="square">
            <a:spAutoFit/>
          </a:bodyPr>
          <a:lstStyle/>
          <a:p>
            <a:pPr>
              <a:defRPr/>
            </a:pPr>
            <a:r>
              <a:rPr lang="ru-RU" sz="2100" b="1" u="sng" dirty="0">
                <a:latin typeface="Aptos" panose="020B0004020202020204" pitchFamily="34" charset="0"/>
              </a:rPr>
              <a:t>Экономические издержки</a:t>
            </a:r>
            <a:r>
              <a:rPr lang="ru-RU" sz="2100" b="1" dirty="0">
                <a:latin typeface="Aptos" panose="020B0004020202020204" pitchFamily="34" charset="0"/>
              </a:rPr>
              <a:t> </a:t>
            </a:r>
            <a:r>
              <a:rPr lang="ru-RU" sz="2100" dirty="0">
                <a:latin typeface="Aptos" panose="020B0004020202020204" pitchFamily="34" charset="0"/>
              </a:rPr>
              <a:t>– это стоимость ресурсов, сформированная при наиболее оптимальном альтернативном применении ресурсов. Экономические издержки равны сумме явных и неявных издержек. </a:t>
            </a:r>
            <a:endParaRPr sz="2100" dirty="0">
              <a:latin typeface="Aptos" panose="020B0004020202020204" pitchFamily="34" charset="0"/>
            </a:endParaRPr>
          </a:p>
        </p:txBody>
      </p:sp>
      <mc:AlternateContent xmlns:mc="http://schemas.openxmlformats.org/markup-compatibility/2006" xmlns:a14="http://schemas.microsoft.com/office/drawing/2010/main">
        <mc:Choice Requires="a14">
          <p:sp>
            <p:nvSpPr>
              <p:cNvPr id="13" name="TextBox 12"/>
              <p:cNvSpPr txBox="1"/>
              <p:nvPr/>
            </p:nvSpPr>
            <p:spPr bwMode="auto">
              <a:xfrm>
                <a:off x="2094601" y="4525578"/>
                <a:ext cx="7462519" cy="461665"/>
              </a:xfrm>
              <a:prstGeom prst="rect">
                <a:avLst/>
              </a:prstGeom>
              <a:noFill/>
            </p:spPr>
            <p:txBody>
              <a:bodyPr wrap="square">
                <a:spAutoFit/>
              </a:bodyPr>
              <a:lstStyle/>
              <a:p>
                <a:pPr algn="ctr">
                  <a:defRPr/>
                </a:pPr>
                <a14:m>
                  <m:oMath xmlns:m="http://schemas.openxmlformats.org/officeDocument/2006/math">
                    <m:r>
                      <a:rPr lang="ru-RU" sz="2400" b="1" i="1">
                        <a:latin typeface="Cambria Math" panose="02040503050406030204" pitchFamily="18" charset="0"/>
                        <a:ea typeface="Cambria Math" panose="02040503050406030204" pitchFamily="18" charset="0"/>
                      </a:rPr>
                      <m:t>𝝅</m:t>
                    </m:r>
                  </m:oMath>
                </a14:m>
                <a:r>
                  <a:rPr lang="ru-RU" sz="2400" b="1" dirty="0">
                    <a:latin typeface="Aptos" panose="020B0004020202020204" pitchFamily="34" charset="0"/>
                    <a:cs typeface="Arial"/>
                  </a:rPr>
                  <a:t>(бухгалтерская) = </a:t>
                </a:r>
                <a:r>
                  <a:rPr lang="en-US" sz="2400" b="1" dirty="0">
                    <a:latin typeface="Aptos" panose="020B0004020202020204" pitchFamily="34" charset="0"/>
                    <a:cs typeface="Arial"/>
                  </a:rPr>
                  <a:t>TR – TC </a:t>
                </a:r>
                <a:r>
                  <a:rPr lang="ru-RU" sz="2400" b="1" dirty="0">
                    <a:latin typeface="Aptos" panose="020B0004020202020204" pitchFamily="34" charset="0"/>
                    <a:cs typeface="Arial"/>
                  </a:rPr>
                  <a:t>бухгалтерские (явные)</a:t>
                </a:r>
                <a:endParaRPr lang="en-US" sz="2400" b="1" dirty="0">
                  <a:latin typeface="Aptos" panose="020B0004020202020204" pitchFamily="34" charset="0"/>
                  <a:cs typeface="Arial"/>
                </a:endParaRPr>
              </a:p>
            </p:txBody>
          </p:sp>
        </mc:Choice>
        <mc:Fallback xmlns="">
          <p:sp>
            <p:nvSpPr>
              <p:cNvPr id="13" name="TextBox 12"/>
              <p:cNvSpPr txBox="1">
                <a:spLocks noRot="1" noChangeAspect="1" noMove="1" noResize="1" noEditPoints="1" noAdjustHandles="1" noChangeArrowheads="1" noChangeShapeType="1" noTextEdit="1"/>
              </p:cNvSpPr>
              <p:nvPr/>
            </p:nvSpPr>
            <p:spPr bwMode="auto">
              <a:xfrm>
                <a:off x="2094601" y="4525578"/>
                <a:ext cx="7462519" cy="461665"/>
              </a:xfrm>
              <a:prstGeom prst="rect">
                <a:avLst/>
              </a:prstGeom>
              <a:blipFill>
                <a:blip r:embed="rId2"/>
                <a:stretch>
                  <a:fillRect t="-10811" b="-29730"/>
                </a:stretch>
              </a:blipFill>
            </p:spPr>
            <p:txBody>
              <a:bodyPr/>
              <a:lstStyle/>
              <a:p>
                <a:r>
                  <a:rPr lang="en-RU">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bwMode="auto">
              <a:xfrm>
                <a:off x="1270607" y="3994663"/>
                <a:ext cx="10021454" cy="461665"/>
              </a:xfrm>
              <a:prstGeom prst="rect">
                <a:avLst/>
              </a:prstGeom>
              <a:noFill/>
            </p:spPr>
            <p:txBody>
              <a:bodyPr wrap="square">
                <a:spAutoFit/>
              </a:bodyPr>
              <a:lstStyle/>
              <a:p>
                <a:pPr algn="ctr">
                  <a:defRPr/>
                </a:pPr>
                <a14:m>
                  <m:oMath xmlns:m="http://schemas.openxmlformats.org/officeDocument/2006/math">
                    <m:r>
                      <a:rPr lang="ru-RU" sz="2400" b="1" i="1">
                        <a:latin typeface="Cambria Math" panose="02040503050406030204" pitchFamily="18" charset="0"/>
                        <a:ea typeface="Cambria Math" panose="02040503050406030204" pitchFamily="18" charset="0"/>
                      </a:rPr>
                      <m:t>𝝅</m:t>
                    </m:r>
                  </m:oMath>
                </a14:m>
                <a:r>
                  <a:rPr lang="ru-RU" sz="2400" b="1" dirty="0">
                    <a:latin typeface="Aptos" panose="020B0004020202020204" pitchFamily="34" charset="0"/>
                  </a:rPr>
                  <a:t>(</a:t>
                </a:r>
                <a:r>
                  <a:rPr lang="ru-RU" sz="2400" b="1" dirty="0">
                    <a:latin typeface="Aptos" panose="020B0004020202020204" pitchFamily="34" charset="0"/>
                    <a:cs typeface="Arial"/>
                  </a:rPr>
                  <a:t>экономическая) = </a:t>
                </a:r>
                <a:r>
                  <a:rPr lang="en-US" sz="2400" b="1" dirty="0">
                    <a:latin typeface="Aptos" panose="020B0004020202020204" pitchFamily="34" charset="0"/>
                    <a:cs typeface="Arial"/>
                  </a:rPr>
                  <a:t>TR – TC </a:t>
                </a:r>
                <a:r>
                  <a:rPr lang="ru-RU" sz="2400" b="1" dirty="0">
                    <a:latin typeface="Aptos" panose="020B0004020202020204" pitchFamily="34" charset="0"/>
                    <a:cs typeface="Arial"/>
                  </a:rPr>
                  <a:t>экономические (</a:t>
                </a:r>
                <a:r>
                  <a:rPr lang="ru-RU" sz="2400" b="1" dirty="0" err="1">
                    <a:latin typeface="Aptos" panose="020B0004020202020204" pitchFamily="34" charset="0"/>
                    <a:cs typeface="Arial"/>
                  </a:rPr>
                  <a:t>явные+неявные</a:t>
                </a:r>
                <a:r>
                  <a:rPr lang="ru-RU" sz="2400" b="1" dirty="0">
                    <a:latin typeface="Aptos" panose="020B0004020202020204" pitchFamily="34" charset="0"/>
                    <a:cs typeface="Arial"/>
                  </a:rPr>
                  <a:t>)</a:t>
                </a:r>
                <a:endParaRPr lang="en-US" sz="2400" b="1" dirty="0">
                  <a:latin typeface="Aptos" panose="020B0004020202020204" pitchFamily="34" charset="0"/>
                  <a:cs typeface="Arial"/>
                </a:endParaRPr>
              </a:p>
            </p:txBody>
          </p:sp>
        </mc:Choice>
        <mc:Fallback xmlns="">
          <p:sp>
            <p:nvSpPr>
              <p:cNvPr id="15" name="TextBox 14"/>
              <p:cNvSpPr txBox="1">
                <a:spLocks noRot="1" noChangeAspect="1" noMove="1" noResize="1" noEditPoints="1" noAdjustHandles="1" noChangeArrowheads="1" noChangeShapeType="1" noTextEdit="1"/>
              </p:cNvSpPr>
              <p:nvPr/>
            </p:nvSpPr>
            <p:spPr bwMode="auto">
              <a:xfrm>
                <a:off x="1270607" y="3994663"/>
                <a:ext cx="10021454" cy="461665"/>
              </a:xfrm>
              <a:prstGeom prst="rect">
                <a:avLst/>
              </a:prstGeom>
              <a:blipFill>
                <a:blip r:embed="rId3"/>
                <a:stretch>
                  <a:fillRect t="-10811" b="-29730"/>
                </a:stretch>
              </a:blipFill>
            </p:spPr>
            <p:txBody>
              <a:bodyPr/>
              <a:lstStyle/>
              <a:p>
                <a:r>
                  <a:rPr lang="en-RU">
                    <a:noFill/>
                  </a:rPr>
                  <a:t> </a:t>
                </a:r>
              </a:p>
            </p:txBody>
          </p:sp>
        </mc:Fallback>
      </mc:AlternateContent>
      <p:sp>
        <p:nvSpPr>
          <p:cNvPr id="17" name="TextBox 16"/>
          <p:cNvSpPr txBox="1"/>
          <p:nvPr/>
        </p:nvSpPr>
        <p:spPr bwMode="auto">
          <a:xfrm>
            <a:off x="318036" y="5156459"/>
            <a:ext cx="11366473" cy="1460143"/>
          </a:xfrm>
          <a:prstGeom prst="rect">
            <a:avLst/>
          </a:prstGeom>
          <a:noFill/>
        </p:spPr>
        <p:txBody>
          <a:bodyPr wrap="square">
            <a:spAutoFit/>
          </a:bodyPr>
          <a:lstStyle/>
          <a:p>
            <a:pPr algn="ctr">
              <a:lnSpc>
                <a:spcPct val="107000"/>
              </a:lnSpc>
              <a:spcAft>
                <a:spcPts val="800"/>
              </a:spcAft>
              <a:defRPr/>
            </a:pPr>
            <a:r>
              <a:rPr lang="ru-RU" sz="2100" b="1" dirty="0">
                <a:latin typeface="Aptos" panose="020B0004020202020204" pitchFamily="34" charset="0"/>
                <a:ea typeface="Calibri"/>
                <a:cs typeface="Times New Roman"/>
              </a:rPr>
              <a:t>Неявные издержки</a:t>
            </a:r>
            <a:r>
              <a:rPr lang="ru-RU" sz="2100" dirty="0">
                <a:solidFill>
                  <a:srgbClr val="333333"/>
                </a:solidFill>
                <a:latin typeface="Aptos" panose="020B0004020202020204" pitchFamily="34" charset="0"/>
                <a:ea typeface="Calibri"/>
                <a:cs typeface="Times New Roman"/>
              </a:rPr>
              <a:t> </a:t>
            </a:r>
            <a:r>
              <a:rPr lang="ru-RU" sz="2100" dirty="0">
                <a:latin typeface="Aptos" panose="020B0004020202020204" pitchFamily="34" charset="0"/>
                <a:ea typeface="Calibri"/>
                <a:cs typeface="Times New Roman"/>
              </a:rPr>
              <a:t>– это стоимость услуг факторов производства, которые используются в процессе производства, но не являются покупными. Неявные издержки равны тем денежным доходам, которые могли бы быть получены их владельцем при наилучшем из всех возможных альтернативных способов их применения.</a:t>
            </a:r>
            <a:endParaRPr sz="2100" dirty="0">
              <a:latin typeface="Aptos"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3124253"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10" name="TextBox 9"/>
          <p:cNvSpPr txBox="1"/>
          <p:nvPr/>
        </p:nvSpPr>
        <p:spPr bwMode="auto">
          <a:xfrm>
            <a:off x="398508" y="1271855"/>
            <a:ext cx="11394983" cy="5586145"/>
          </a:xfrm>
          <a:prstGeom prst="rect">
            <a:avLst/>
          </a:prstGeom>
          <a:noFill/>
        </p:spPr>
        <p:txBody>
          <a:bodyPr wrap="square">
            <a:spAutoFit/>
          </a:bodyPr>
          <a:lstStyle/>
          <a:p>
            <a:pPr algn="l">
              <a:defRPr/>
            </a:pPr>
            <a:r>
              <a:rPr lang="ru-RU" sz="2100" b="1" u="sng" dirty="0">
                <a:latin typeface="Aptos" panose="020B0004020202020204" pitchFamily="34" charset="0"/>
              </a:rPr>
              <a:t>Задача 1. </a:t>
            </a:r>
            <a:endParaRPr sz="2100" dirty="0">
              <a:latin typeface="Aptos" panose="020B0004020202020204" pitchFamily="34" charset="0"/>
            </a:endParaRPr>
          </a:p>
          <a:p>
            <a:pPr algn="l">
              <a:defRPr/>
            </a:pPr>
            <a:r>
              <a:rPr lang="ru-RU" sz="2100" dirty="0">
                <a:latin typeface="Aptos" panose="020B0004020202020204" pitchFamily="34" charset="0"/>
              </a:rPr>
              <a:t>Цена единицы продукции равна 100 </a:t>
            </a:r>
            <a:r>
              <a:rPr lang="ru-RU" sz="2100" dirty="0" err="1">
                <a:latin typeface="Aptos" panose="020B0004020202020204" pitchFamily="34" charset="0"/>
              </a:rPr>
              <a:t>ден.ед</a:t>
            </a:r>
            <a:r>
              <a:rPr lang="ru-RU" sz="2100" dirty="0">
                <a:latin typeface="Aptos" panose="020B0004020202020204" pitchFamily="34" charset="0"/>
              </a:rPr>
              <a:t>. Фирма произвела и продала 50 ед. продукции в месяц. Для производства 50 единицы продукции фирма потратила 2000 </a:t>
            </a:r>
            <a:r>
              <a:rPr lang="ru-RU" sz="2100" dirty="0" err="1">
                <a:latin typeface="Aptos" panose="020B0004020202020204" pitchFamily="34" charset="0"/>
              </a:rPr>
              <a:t>ден.ед</a:t>
            </a:r>
            <a:r>
              <a:rPr lang="ru-RU" sz="2100" dirty="0">
                <a:latin typeface="Aptos" panose="020B0004020202020204" pitchFamily="34" charset="0"/>
              </a:rPr>
              <a:t>. </a:t>
            </a:r>
            <a:endParaRPr lang="en-US" sz="2100" dirty="0">
              <a:latin typeface="Aptos" panose="020B0004020202020204" pitchFamily="34" charset="0"/>
            </a:endParaRPr>
          </a:p>
          <a:p>
            <a:pPr marL="342900" indent="-342900" algn="l">
              <a:buFont typeface="+mj-lt"/>
              <a:buAutoNum type="arabicPeriod"/>
              <a:defRPr/>
            </a:pPr>
            <a:r>
              <a:rPr lang="ru-RU" sz="2100" dirty="0">
                <a:latin typeface="Aptos" panose="020B0004020202020204" pitchFamily="34" charset="0"/>
              </a:rPr>
              <a:t>Определите величину прибыли?</a:t>
            </a:r>
            <a:endParaRPr sz="2100" dirty="0">
              <a:latin typeface="Aptos" panose="020B0004020202020204" pitchFamily="34" charset="0"/>
            </a:endParaRPr>
          </a:p>
          <a:p>
            <a:pPr marL="342900" indent="-342900">
              <a:buFont typeface="+mj-lt"/>
              <a:buAutoNum type="arabicPeriod"/>
              <a:defRPr/>
            </a:pPr>
            <a:r>
              <a:rPr lang="ru-RU" sz="2100" dirty="0">
                <a:latin typeface="Aptos" panose="020B0004020202020204" pitchFamily="34" charset="0"/>
              </a:rPr>
              <a:t>Определите величину экономической прибыли при условии, что при производстве продукции предприниматель использовал собственное оборудование, которое мог сдать в аренду за 3000 </a:t>
            </a:r>
            <a:r>
              <a:rPr lang="ru-RU" sz="2100" dirty="0" err="1">
                <a:latin typeface="Aptos" panose="020B0004020202020204" pitchFamily="34" charset="0"/>
              </a:rPr>
              <a:t>ден.ед</a:t>
            </a:r>
            <a:r>
              <a:rPr lang="ru-RU" sz="2100" dirty="0">
                <a:latin typeface="Aptos" panose="020B0004020202020204" pitchFamily="34" charset="0"/>
              </a:rPr>
              <a:t>. в месяц и потерял заработную плату как наемный работник в размере 1000 </a:t>
            </a:r>
            <a:r>
              <a:rPr lang="ru-RU" sz="2100" dirty="0" err="1">
                <a:latin typeface="Aptos" panose="020B0004020202020204" pitchFamily="34" charset="0"/>
              </a:rPr>
              <a:t>ден.ед</a:t>
            </a:r>
            <a:r>
              <a:rPr lang="ru-RU" sz="2100" dirty="0">
                <a:latin typeface="Aptos" panose="020B0004020202020204" pitchFamily="34" charset="0"/>
              </a:rPr>
              <a:t>?</a:t>
            </a:r>
            <a:endParaRPr sz="2100" dirty="0">
              <a:latin typeface="Aptos" panose="020B0004020202020204" pitchFamily="34" charset="0"/>
            </a:endParaRPr>
          </a:p>
          <a:p>
            <a:pPr marL="342900" indent="-342900">
              <a:buFont typeface="+mj-lt"/>
              <a:buAutoNum type="arabicPeriod"/>
              <a:defRPr/>
            </a:pPr>
            <a:r>
              <a:rPr lang="ru-RU" sz="2100" dirty="0">
                <a:latin typeface="Aptos" panose="020B0004020202020204" pitchFamily="34" charset="0"/>
              </a:rPr>
              <a:t>Определите величину экономической прибыли при условии, что при производстве продукции предприниматель использовал собственное оборудование, которое мог сдать в аренду за 1000 </a:t>
            </a:r>
            <a:r>
              <a:rPr lang="ru-RU" sz="2100" dirty="0" err="1">
                <a:latin typeface="Aptos" panose="020B0004020202020204" pitchFamily="34" charset="0"/>
              </a:rPr>
              <a:t>ден.ед</a:t>
            </a:r>
            <a:r>
              <a:rPr lang="ru-RU" sz="2100" dirty="0">
                <a:latin typeface="Aptos" panose="020B0004020202020204" pitchFamily="34" charset="0"/>
              </a:rPr>
              <a:t>. в месяц и потерял заработную плату как наемный работник в размере 1000 </a:t>
            </a:r>
            <a:r>
              <a:rPr lang="ru-RU" sz="2100" dirty="0" err="1">
                <a:latin typeface="Aptos" panose="020B0004020202020204" pitchFamily="34" charset="0"/>
              </a:rPr>
              <a:t>ден.ед</a:t>
            </a:r>
            <a:r>
              <a:rPr lang="ru-RU" sz="2100" dirty="0">
                <a:latin typeface="Aptos" panose="020B0004020202020204" pitchFamily="34" charset="0"/>
              </a:rPr>
              <a:t>?</a:t>
            </a:r>
            <a:endParaRPr sz="2100" dirty="0">
              <a:latin typeface="Aptos" panose="020B0004020202020204" pitchFamily="34" charset="0"/>
            </a:endParaRPr>
          </a:p>
          <a:p>
            <a:pPr marL="342900" indent="-342900" algn="l">
              <a:buFont typeface="+mj-lt"/>
              <a:buAutoNum type="arabicPeriod"/>
              <a:defRPr/>
            </a:pPr>
            <a:r>
              <a:rPr lang="ru-RU" sz="2100" dirty="0">
                <a:latin typeface="Aptos" panose="020B0004020202020204" pitchFamily="34" charset="0"/>
              </a:rPr>
              <a:t>Определите величину экономической прибыли при условии, что при производстве продукции предприниматель использовал собственное оборудование, которое мог сдать в аренду за 2000 </a:t>
            </a:r>
            <a:r>
              <a:rPr lang="ru-RU" sz="2100" dirty="0" err="1">
                <a:latin typeface="Aptos" panose="020B0004020202020204" pitchFamily="34" charset="0"/>
              </a:rPr>
              <a:t>ден.ед</a:t>
            </a:r>
            <a:r>
              <a:rPr lang="ru-RU" sz="2100" dirty="0">
                <a:latin typeface="Aptos" panose="020B0004020202020204" pitchFamily="34" charset="0"/>
              </a:rPr>
              <a:t>. в месяц и потерял заработную плату как наемный работник в размере 1000 </a:t>
            </a:r>
            <a:r>
              <a:rPr lang="ru-RU" sz="2100" dirty="0" err="1">
                <a:latin typeface="Aptos" panose="020B0004020202020204" pitchFamily="34" charset="0"/>
              </a:rPr>
              <a:t>ден.ед</a:t>
            </a:r>
            <a:r>
              <a:rPr lang="ru-RU" sz="2100" dirty="0">
                <a:latin typeface="Aptos" panose="020B0004020202020204" pitchFamily="34" charset="0"/>
              </a:rPr>
              <a:t>?</a:t>
            </a:r>
            <a:endParaRPr sz="2100" dirty="0">
              <a:latin typeface="Aptos" panose="020B0004020202020204" pitchFamily="34" charset="0"/>
            </a:endParaRPr>
          </a:p>
          <a:p>
            <a:pPr marL="457200" indent="-457200" algn="l">
              <a:buAutoNum type="arabicPeriod"/>
              <a:defRPr/>
            </a:pPr>
            <a:endParaRPr lang="ru-RU" sz="2100" dirty="0">
              <a:latin typeface="Aptos" panose="020B0004020202020204" pitchFamily="34" charset="0"/>
            </a:endParaRPr>
          </a:p>
        </p:txBody>
      </p:sp>
      <p:pic>
        <p:nvPicPr>
          <p:cNvPr id="269" name="Рукописный ввод 268"/>
          <p:cNvPicPr/>
          <p:nvPr/>
        </p:nvPicPr>
        <p:blipFill>
          <a:blip r:embed="rId2"/>
          <a:stretch/>
        </p:blipFill>
        <p:spPr bwMode="auto">
          <a:xfrm>
            <a:off x="7323094" y="865678"/>
            <a:ext cx="35280" cy="33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3124253"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pic>
        <p:nvPicPr>
          <p:cNvPr id="269" name="Рукописный ввод 268"/>
          <p:cNvPicPr/>
          <p:nvPr/>
        </p:nvPicPr>
        <p:blipFill>
          <a:blip r:embed="rId2"/>
          <a:stretch/>
        </p:blipFill>
        <p:spPr bwMode="auto">
          <a:xfrm>
            <a:off x="7323274" y="865318"/>
            <a:ext cx="34927" cy="33480"/>
          </a:xfrm>
          <a:prstGeom prst="rect">
            <a:avLst/>
          </a:prstGeom>
        </p:spPr>
      </p:pic>
      <mc:AlternateContent xmlns:mc="http://schemas.openxmlformats.org/markup-compatibility/2006" xmlns:a14="http://schemas.microsoft.com/office/drawing/2010/main">
        <mc:Choice Requires="a14">
          <p:sp>
            <p:nvSpPr>
              <p:cNvPr id="6" name="TextBox 5"/>
              <p:cNvSpPr txBox="1"/>
              <p:nvPr/>
            </p:nvSpPr>
            <p:spPr bwMode="auto">
              <a:xfrm>
                <a:off x="351980" y="2274082"/>
                <a:ext cx="10944519" cy="1015663"/>
              </a:xfrm>
              <a:prstGeom prst="rect">
                <a:avLst/>
              </a:prstGeom>
              <a:noFill/>
            </p:spPr>
            <p:txBody>
              <a:bodyPr wrap="square">
                <a:spAutoFit/>
              </a:bodyPr>
              <a:lstStyle/>
              <a:p>
                <a:pPr algn="ctr">
                  <a:defRPr/>
                </a:pPr>
                <a14:m>
                  <m:oMath xmlns:m="http://schemas.openxmlformats.org/officeDocument/2006/math">
                    <m:r>
                      <a:rPr lang="ru-RU" sz="6000" b="1" i="1">
                        <a:latin typeface="Cambria Math" panose="02040503050406030204" pitchFamily="18" charset="0"/>
                        <a:ea typeface="Cambria Math" panose="02040503050406030204" pitchFamily="18" charset="0"/>
                      </a:rPr>
                      <m:t>𝝅</m:t>
                    </m:r>
                  </m:oMath>
                </a14:m>
                <a:r>
                  <a:rPr lang="ru-RU" sz="6000" b="1" dirty="0">
                    <a:latin typeface="Aptos" panose="020B0004020202020204" pitchFamily="34" charset="0"/>
                    <a:cs typeface="Arial"/>
                  </a:rPr>
                  <a:t>(</a:t>
                </a:r>
                <a:r>
                  <a:rPr lang="en-US" sz="6000" b="1" dirty="0">
                    <a:latin typeface="Aptos" panose="020B0004020202020204" pitchFamily="34" charset="0"/>
                    <a:cs typeface="Arial"/>
                  </a:rPr>
                  <a:t>Q)</a:t>
                </a:r>
                <a:r>
                  <a:rPr lang="ru-RU" sz="6000" b="1" dirty="0">
                    <a:latin typeface="Aptos" panose="020B0004020202020204" pitchFamily="34" charset="0"/>
                    <a:cs typeface="Arial"/>
                  </a:rPr>
                  <a:t> = </a:t>
                </a:r>
                <a:r>
                  <a:rPr lang="en-US" sz="6000" b="1" dirty="0">
                    <a:latin typeface="Aptos" panose="020B0004020202020204" pitchFamily="34" charset="0"/>
                    <a:cs typeface="Arial"/>
                  </a:rPr>
                  <a:t>P(Q)*Q – TC(Q)</a:t>
                </a:r>
                <a:r>
                  <a:rPr lang="ru-RU" sz="6000" b="1" dirty="0">
                    <a:latin typeface="Aptos" panose="020B0004020202020204" pitchFamily="34" charset="0"/>
                    <a:cs typeface="Arial"/>
                  </a:rPr>
                  <a:t>    	</a:t>
                </a:r>
                <a:r>
                  <a:rPr lang="en-US" sz="6000" b="1" dirty="0">
                    <a:latin typeface="Aptos" panose="020B0004020202020204" pitchFamily="34" charset="0"/>
                    <a:cs typeface="Arial"/>
                  </a:rPr>
                  <a:t>max</a:t>
                </a:r>
                <a:r>
                  <a:rPr lang="en-US" sz="4000" b="1" dirty="0">
                    <a:latin typeface="Aptos" panose="020B0004020202020204" pitchFamily="34" charset="0"/>
                    <a:cs typeface="Arial"/>
                  </a:rPr>
                  <a:t> </a:t>
                </a:r>
              </a:p>
            </p:txBody>
          </p:sp>
        </mc:Choice>
        <mc:Fallback xmlns="">
          <p:sp>
            <p:nvSpPr>
              <p:cNvPr id="6" name="TextBox 5"/>
              <p:cNvSpPr txBox="1">
                <a:spLocks noRot="1" noChangeAspect="1" noMove="1" noResize="1" noEditPoints="1" noAdjustHandles="1" noChangeArrowheads="1" noChangeShapeType="1" noTextEdit="1"/>
              </p:cNvSpPr>
              <p:nvPr/>
            </p:nvSpPr>
            <p:spPr bwMode="auto">
              <a:xfrm>
                <a:off x="351980" y="2274082"/>
                <a:ext cx="10944519" cy="1015663"/>
              </a:xfrm>
              <a:prstGeom prst="rect">
                <a:avLst/>
              </a:prstGeom>
              <a:blipFill>
                <a:blip r:embed="rId3"/>
                <a:stretch>
                  <a:fillRect t="-17284" b="-39506"/>
                </a:stretch>
              </a:blipFill>
            </p:spPr>
            <p:txBody>
              <a:bodyPr/>
              <a:lstStyle/>
              <a:p>
                <a:r>
                  <a:rPr lang="en-RU">
                    <a:noFill/>
                  </a:rPr>
                  <a:t> </a:t>
                </a:r>
              </a:p>
            </p:txBody>
          </p:sp>
        </mc:Fallback>
      </mc:AlternateContent>
      <p:cxnSp>
        <p:nvCxnSpPr>
          <p:cNvPr id="275" name="Прямая со стрелкой 274"/>
          <p:cNvCxnSpPr>
            <a:cxnSpLocks/>
          </p:cNvCxnSpPr>
          <p:nvPr/>
        </p:nvCxnSpPr>
        <p:spPr bwMode="auto">
          <a:xfrm>
            <a:off x="8337176" y="2850766"/>
            <a:ext cx="75303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7" name="TextBox 276"/>
          <p:cNvSpPr txBox="1"/>
          <p:nvPr/>
        </p:nvSpPr>
        <p:spPr bwMode="auto">
          <a:xfrm>
            <a:off x="1398129" y="3879876"/>
            <a:ext cx="9395742" cy="1754326"/>
          </a:xfrm>
          <a:prstGeom prst="rect">
            <a:avLst/>
          </a:prstGeom>
          <a:noFill/>
        </p:spPr>
        <p:txBody>
          <a:bodyPr wrap="square" rtlCol="0">
            <a:spAutoFit/>
          </a:bodyPr>
          <a:lstStyle/>
          <a:p>
            <a:pPr algn="ctr">
              <a:defRPr/>
            </a:pPr>
            <a:r>
              <a:rPr lang="ru-RU" sz="5400" dirty="0">
                <a:latin typeface="Aptos" panose="020B0004020202020204" pitchFamily="34" charset="0"/>
              </a:rPr>
              <a:t>Как производителю можно повлиять на прибыль?</a:t>
            </a:r>
            <a:endParaRPr dirty="0">
              <a:latin typeface="Aptos" panose="020B00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2" y="548720"/>
            <a:ext cx="3031890"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6" name="Rectangle 2"/>
          <p:cNvSpPr>
            <a:spLocks noChangeArrowheads="1"/>
          </p:cNvSpPr>
          <p:nvPr/>
        </p:nvSpPr>
        <p:spPr bwMode="auto">
          <a:xfrm>
            <a:off x="646546" y="1995117"/>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ptos" panose="020B0004020202020204" pitchFamily="34" charset="0"/>
            </a:endParaRPr>
          </a:p>
        </p:txBody>
      </p:sp>
      <p:sp>
        <p:nvSpPr>
          <p:cNvPr id="5" name="TextBox 4"/>
          <p:cNvSpPr txBox="1"/>
          <p:nvPr/>
        </p:nvSpPr>
        <p:spPr bwMode="auto">
          <a:xfrm>
            <a:off x="384395" y="1471897"/>
            <a:ext cx="3854041" cy="523220"/>
          </a:xfrm>
          <a:prstGeom prst="rect">
            <a:avLst/>
          </a:prstGeom>
          <a:noFill/>
        </p:spPr>
        <p:txBody>
          <a:bodyPr wrap="square">
            <a:spAutoFit/>
          </a:bodyPr>
          <a:lstStyle/>
          <a:p>
            <a:pPr marL="0" lvl="7">
              <a:defRPr/>
            </a:pPr>
            <a:r>
              <a:rPr lang="ru-RU" sz="2800" b="1" u="sng" dirty="0">
                <a:latin typeface="Aptos" panose="020B0004020202020204" pitchFamily="34" charset="0"/>
                <a:cs typeface="Arial"/>
              </a:rPr>
              <a:t>ПРОИЗВОДСТВО</a:t>
            </a:r>
            <a:endParaRPr dirty="0">
              <a:latin typeface="Aptos" panose="020B0004020202020204" pitchFamily="34" charset="0"/>
            </a:endParaRPr>
          </a:p>
        </p:txBody>
      </p:sp>
      <p:sp>
        <p:nvSpPr>
          <p:cNvPr id="14" name="TextBox 13"/>
          <p:cNvSpPr txBox="1"/>
          <p:nvPr/>
        </p:nvSpPr>
        <p:spPr bwMode="auto">
          <a:xfrm>
            <a:off x="384395" y="2364449"/>
            <a:ext cx="11161059" cy="3862596"/>
          </a:xfrm>
          <a:prstGeom prst="rect">
            <a:avLst/>
          </a:prstGeom>
          <a:noFill/>
        </p:spPr>
        <p:txBody>
          <a:bodyPr wrap="square">
            <a:spAutoFit/>
          </a:bodyPr>
          <a:lstStyle/>
          <a:p>
            <a:pPr algn="just">
              <a:defRPr/>
            </a:pPr>
            <a:r>
              <a:rPr lang="ru-RU" sz="2300" b="1" u="sng" dirty="0">
                <a:latin typeface="Aptos" panose="020B0004020202020204" pitchFamily="34" charset="0"/>
                <a:cs typeface="Arial"/>
              </a:rPr>
              <a:t>Производство</a:t>
            </a:r>
            <a:r>
              <a:rPr lang="ru-RU" sz="2300" b="1" dirty="0">
                <a:latin typeface="Aptos" panose="020B0004020202020204" pitchFamily="34" charset="0"/>
                <a:cs typeface="Arial"/>
              </a:rPr>
              <a:t> </a:t>
            </a:r>
            <a:r>
              <a:rPr lang="ru-RU" sz="2300" dirty="0">
                <a:latin typeface="Aptos" panose="020B0004020202020204" pitchFamily="34" charset="0"/>
              </a:rPr>
              <a:t>– </a:t>
            </a:r>
            <a:r>
              <a:rPr lang="ru-RU" sz="2300" dirty="0">
                <a:latin typeface="Aptos" panose="020B0004020202020204" pitchFamily="34" charset="0"/>
                <a:cs typeface="Arial"/>
              </a:rPr>
              <a:t>процесс преобразования ресурсов в блага, прямо или косвенно служащих удовлетворению человеческих потребностей.</a:t>
            </a:r>
            <a:endParaRPr sz="2300" dirty="0">
              <a:latin typeface="Aptos" panose="020B0004020202020204" pitchFamily="34" charset="0"/>
            </a:endParaRPr>
          </a:p>
          <a:p>
            <a:pPr algn="just">
              <a:defRPr/>
            </a:pPr>
            <a:endParaRPr lang="ru-RU" sz="2300" dirty="0">
              <a:latin typeface="Aptos" panose="020B0004020202020204" pitchFamily="34" charset="0"/>
              <a:cs typeface="Arial"/>
            </a:endParaRPr>
          </a:p>
          <a:p>
            <a:pPr algn="just">
              <a:defRPr/>
            </a:pPr>
            <a:r>
              <a:rPr lang="ru-RU" sz="2300" b="1" u="sng" dirty="0">
                <a:latin typeface="Aptos" panose="020B0004020202020204" pitchFamily="34" charset="0"/>
                <a:cs typeface="Arial"/>
              </a:rPr>
              <a:t>Производственная функция</a:t>
            </a:r>
            <a:r>
              <a:rPr lang="ru-RU" sz="2300" b="1" dirty="0">
                <a:latin typeface="Aptos" panose="020B0004020202020204" pitchFamily="34" charset="0"/>
                <a:cs typeface="Arial"/>
              </a:rPr>
              <a:t> </a:t>
            </a:r>
            <a:r>
              <a:rPr lang="ru-RU" sz="2300" dirty="0">
                <a:latin typeface="Aptos" panose="020B0004020202020204" pitchFamily="34" charset="0"/>
              </a:rPr>
              <a:t>– </a:t>
            </a:r>
            <a:r>
              <a:rPr lang="ru-RU" sz="2300" dirty="0">
                <a:latin typeface="Aptos" panose="020B0004020202020204" pitchFamily="34" charset="0"/>
                <a:cs typeface="Arial"/>
              </a:rPr>
              <a:t>функциональная взаимозависимость, отражающая зависимость между вводимой комбинацией факторов производства и объемом выпуска продукции.</a:t>
            </a:r>
            <a:endParaRPr lang="en-GB" sz="2300" dirty="0">
              <a:latin typeface="Aptos" panose="020B0004020202020204" pitchFamily="34" charset="0"/>
              <a:cs typeface="Arial"/>
            </a:endParaRPr>
          </a:p>
          <a:p>
            <a:pPr algn="just">
              <a:defRPr/>
            </a:pPr>
            <a:endParaRPr sz="500" dirty="0">
              <a:latin typeface="Aptos" panose="020B0004020202020204" pitchFamily="34" charset="0"/>
            </a:endParaRPr>
          </a:p>
          <a:p>
            <a:pPr algn="ctr">
              <a:defRPr/>
            </a:pPr>
            <a:r>
              <a:rPr lang="en-US" sz="2800" b="1" u="sng" dirty="0">
                <a:latin typeface="Aptos" panose="020B0004020202020204" pitchFamily="34" charset="0"/>
                <a:cs typeface="Arial"/>
              </a:rPr>
              <a:t>Q = f(X1, X2, …,</a:t>
            </a:r>
            <a:r>
              <a:rPr lang="en-US" sz="2800" b="1" u="sng" dirty="0" err="1">
                <a:latin typeface="Aptos" panose="020B0004020202020204" pitchFamily="34" charset="0"/>
                <a:cs typeface="Arial"/>
              </a:rPr>
              <a:t>Xn</a:t>
            </a:r>
            <a:r>
              <a:rPr lang="en-US" sz="2800" b="1" u="sng" dirty="0">
                <a:latin typeface="Aptos" panose="020B0004020202020204" pitchFamily="34" charset="0"/>
                <a:cs typeface="Arial"/>
              </a:rPr>
              <a:t>)</a:t>
            </a:r>
          </a:p>
          <a:p>
            <a:pPr algn="just">
              <a:defRPr/>
            </a:pPr>
            <a:endParaRPr lang="ru-RU" sz="500" b="1" u="sng" dirty="0">
              <a:latin typeface="Aptos" panose="020B0004020202020204" pitchFamily="34" charset="0"/>
              <a:cs typeface="Arial"/>
            </a:endParaRPr>
          </a:p>
          <a:p>
            <a:pPr algn="ctr">
              <a:defRPr/>
            </a:pPr>
            <a:r>
              <a:rPr lang="en-US" sz="2300" i="1" dirty="0">
                <a:latin typeface="Aptos" panose="020B0004020202020204" pitchFamily="34" charset="0"/>
                <a:cs typeface="Arial"/>
              </a:rPr>
              <a:t>Q </a:t>
            </a:r>
            <a:r>
              <a:rPr lang="ru-RU" sz="2300" i="1" dirty="0">
                <a:latin typeface="Aptos" panose="020B0004020202020204" pitchFamily="34" charset="0"/>
                <a:cs typeface="Arial"/>
              </a:rPr>
              <a:t>- максимальный объем выпуска при заданной технологии и данном количестве ресурсов</a:t>
            </a:r>
            <a:r>
              <a:rPr lang="en-GB" sz="2300" i="1" dirty="0">
                <a:latin typeface="Aptos" panose="020B0004020202020204" pitchFamily="34" charset="0"/>
              </a:rPr>
              <a:t>, </a:t>
            </a:r>
            <a:r>
              <a:rPr lang="en-US" sz="2300" i="1" dirty="0">
                <a:latin typeface="Aptos" panose="020B0004020202020204" pitchFamily="34" charset="0"/>
                <a:cs typeface="Arial"/>
              </a:rPr>
              <a:t>X1, X2…</a:t>
            </a:r>
            <a:r>
              <a:rPr lang="en-US" sz="2300" i="1" dirty="0" err="1">
                <a:latin typeface="Aptos" panose="020B0004020202020204" pitchFamily="34" charset="0"/>
                <a:cs typeface="Arial"/>
              </a:rPr>
              <a:t>Xn</a:t>
            </a:r>
            <a:r>
              <a:rPr lang="en-US" sz="2300" i="1" dirty="0">
                <a:latin typeface="Aptos" panose="020B0004020202020204" pitchFamily="34" charset="0"/>
                <a:cs typeface="Arial"/>
              </a:rPr>
              <a:t> - </a:t>
            </a:r>
            <a:r>
              <a:rPr lang="ru-RU" sz="2300" i="1" dirty="0">
                <a:latin typeface="Aptos" panose="020B0004020202020204" pitchFamily="34" charset="0"/>
                <a:cs typeface="Arial"/>
              </a:rPr>
              <a:t> количество единиц используемых факторов производства</a:t>
            </a:r>
            <a:endParaRPr sz="2300" i="1" dirty="0">
              <a:latin typeface="Aptos"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A131040-991C-EF1F-90C5-AB4562257C59}"/>
            </a:ext>
          </a:extLst>
        </p:cNvPr>
        <p:cNvGrpSpPr/>
        <p:nvPr/>
      </p:nvGrpSpPr>
      <p:grpSpPr bwMode="auto">
        <a:xfrm>
          <a:off x="0" y="0"/>
          <a:ext cx="0" cy="0"/>
          <a:chOff x="0" y="0"/>
          <a:chExt cx="0" cy="0"/>
        </a:xfrm>
      </p:grpSpPr>
      <p:sp>
        <p:nvSpPr>
          <p:cNvPr id="2" name="Текст 1">
            <a:extLst>
              <a:ext uri="{FF2B5EF4-FFF2-40B4-BE49-F238E27FC236}">
                <a16:creationId xmlns:a16="http://schemas.microsoft.com/office/drawing/2014/main" id="{7EB21D61-D4D6-6206-8906-A1A239977C8C}"/>
              </a:ext>
            </a:extLst>
          </p:cNvPr>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a:extLst>
              <a:ext uri="{FF2B5EF4-FFF2-40B4-BE49-F238E27FC236}">
                <a16:creationId xmlns:a16="http://schemas.microsoft.com/office/drawing/2014/main" id="{BE9D90E5-58FB-B400-E130-6DD21DEB910A}"/>
              </a:ext>
            </a:extLst>
          </p:cNvPr>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a:extLst>
              <a:ext uri="{FF2B5EF4-FFF2-40B4-BE49-F238E27FC236}">
                <a16:creationId xmlns:a16="http://schemas.microsoft.com/office/drawing/2014/main" id="{243D98D2-D40D-ECE6-322D-07B83BE99F37}"/>
              </a:ext>
            </a:extLst>
          </p:cNvPr>
          <p:cNvSpPr>
            <a:spLocks noGrp="1"/>
          </p:cNvSpPr>
          <p:nvPr>
            <p:ph type="body" sz="quarter" idx="15"/>
          </p:nvPr>
        </p:nvSpPr>
        <p:spPr bwMode="auto">
          <a:xfrm>
            <a:off x="6259892" y="548720"/>
            <a:ext cx="3031890"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6" name="Rectangle 2">
            <a:extLst>
              <a:ext uri="{FF2B5EF4-FFF2-40B4-BE49-F238E27FC236}">
                <a16:creationId xmlns:a16="http://schemas.microsoft.com/office/drawing/2014/main" id="{C71EAE67-8570-C377-0F69-BF4125E709E9}"/>
              </a:ext>
            </a:extLst>
          </p:cNvPr>
          <p:cNvSpPr>
            <a:spLocks noChangeArrowheads="1"/>
          </p:cNvSpPr>
          <p:nvPr/>
        </p:nvSpPr>
        <p:spPr bwMode="auto">
          <a:xfrm>
            <a:off x="646546" y="1995117"/>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a:lnSpc>
                <a:spcPct val="100000"/>
              </a:lnSpc>
              <a:spcBef>
                <a:spcPts val="0"/>
              </a:spcBef>
              <a:spcAft>
                <a:spcPts val="0"/>
              </a:spcAft>
              <a:buClrTx/>
              <a:buSzTx/>
              <a:buFontTx/>
              <a:buNone/>
              <a:defRPr/>
            </a:pPr>
            <a:endParaRPr lang="ru-RU" sz="1800" b="0" i="0" u="none" strike="noStrike" cap="none">
              <a:ln>
                <a:noFill/>
              </a:ln>
              <a:solidFill>
                <a:schemeClr val="tx1"/>
              </a:solidFill>
              <a:latin typeface="Aptos" panose="020B0004020202020204" pitchFamily="34" charset="0"/>
            </a:endParaRPr>
          </a:p>
        </p:txBody>
      </p:sp>
      <p:sp>
        <p:nvSpPr>
          <p:cNvPr id="14" name="TextBox 13">
            <a:extLst>
              <a:ext uri="{FF2B5EF4-FFF2-40B4-BE49-F238E27FC236}">
                <a16:creationId xmlns:a16="http://schemas.microsoft.com/office/drawing/2014/main" id="{68868973-F75C-9A63-C6C6-0F0CC043BFF5}"/>
              </a:ext>
            </a:extLst>
          </p:cNvPr>
          <p:cNvSpPr txBox="1"/>
          <p:nvPr/>
        </p:nvSpPr>
        <p:spPr bwMode="auto">
          <a:xfrm>
            <a:off x="263250" y="2719761"/>
            <a:ext cx="11529821" cy="2308324"/>
          </a:xfrm>
          <a:prstGeom prst="rect">
            <a:avLst/>
          </a:prstGeom>
          <a:noFill/>
        </p:spPr>
        <p:txBody>
          <a:bodyPr wrap="square">
            <a:spAutoFit/>
          </a:bodyPr>
          <a:lstStyle/>
          <a:p>
            <a:pPr algn="ctr">
              <a:defRPr/>
            </a:pPr>
            <a:r>
              <a:rPr lang="ru-RU" sz="2400" b="1" u="sng" dirty="0">
                <a:latin typeface="Aptos" panose="020B0004020202020204" pitchFamily="34" charset="0"/>
              </a:rPr>
              <a:t>Способ производства является технологически эффективным</a:t>
            </a:r>
            <a:r>
              <a:rPr lang="ru-RU" sz="2400" dirty="0">
                <a:latin typeface="Aptos" panose="020B0004020202020204" pitchFamily="34" charset="0"/>
              </a:rPr>
              <a:t>, если произведенный объем продукции является максимально возможным при использовании определенных объемов ресурсов.</a:t>
            </a:r>
            <a:endParaRPr sz="2400" dirty="0">
              <a:latin typeface="Aptos" panose="020B0004020202020204" pitchFamily="34" charset="0"/>
            </a:endParaRPr>
          </a:p>
          <a:p>
            <a:pPr algn="ctr">
              <a:defRPr/>
            </a:pPr>
            <a:endParaRPr lang="ru-RU" sz="2400" dirty="0">
              <a:latin typeface="Aptos" panose="020B0004020202020204" pitchFamily="34" charset="0"/>
              <a:cs typeface="Arial"/>
            </a:endParaRPr>
          </a:p>
          <a:p>
            <a:pPr algn="ctr">
              <a:defRPr/>
            </a:pPr>
            <a:r>
              <a:rPr lang="ru-RU" sz="2400" b="1" u="sng" dirty="0">
                <a:latin typeface="Aptos" panose="020B0004020202020204" pitchFamily="34" charset="0"/>
              </a:rPr>
              <a:t>Способ производства является экономически эффективным</a:t>
            </a:r>
            <a:r>
              <a:rPr lang="ru-RU" sz="2400" dirty="0">
                <a:latin typeface="Aptos" panose="020B0004020202020204" pitchFamily="34" charset="0"/>
              </a:rPr>
              <a:t>, если производство данного объема благ обеспечено с минимальными затратами.</a:t>
            </a:r>
            <a:endParaRPr sz="2400" dirty="0">
              <a:latin typeface="Aptos" panose="020B0004020202020204" pitchFamily="34" charset="0"/>
            </a:endParaRPr>
          </a:p>
        </p:txBody>
      </p:sp>
    </p:spTree>
    <p:extLst>
      <p:ext uri="{BB962C8B-B14F-4D97-AF65-F5344CB8AC3E}">
        <p14:creationId xmlns:p14="http://schemas.microsoft.com/office/powerpoint/2010/main" val="1623813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2" y="548720"/>
            <a:ext cx="3031890"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6" name="Rectangle 2"/>
          <p:cNvSpPr>
            <a:spLocks noChangeArrowheads="1"/>
          </p:cNvSpPr>
          <p:nvPr/>
        </p:nvSpPr>
        <p:spPr bwMode="auto">
          <a:xfrm>
            <a:off x="646546" y="1995117"/>
            <a:ext cx="184731" cy="369332"/>
          </a:xfrm>
          <a:prstGeom prst="rect">
            <a:avLst/>
          </a:prstGeom>
          <a:solidFill>
            <a:srgbClr val="FFFFFF"/>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a:lnSpc>
                <a:spcPct val="100000"/>
              </a:lnSpc>
              <a:spcBef>
                <a:spcPts val="0"/>
              </a:spcBef>
              <a:spcAft>
                <a:spcPts val="0"/>
              </a:spcAft>
              <a:buClrTx/>
              <a:buSzTx/>
              <a:buFontTx/>
              <a:buNone/>
              <a:defRPr/>
            </a:pPr>
            <a:endParaRPr lang="ru-RU" b="0" i="0" u="none" strike="noStrike" cap="none">
              <a:ln>
                <a:noFill/>
              </a:ln>
              <a:solidFill>
                <a:schemeClr val="tx1"/>
              </a:solidFill>
              <a:latin typeface="Aptos" panose="020B0004020202020204" pitchFamily="34" charset="0"/>
            </a:endParaRPr>
          </a:p>
        </p:txBody>
      </p:sp>
      <p:sp>
        <p:nvSpPr>
          <p:cNvPr id="5" name="TextBox 4"/>
          <p:cNvSpPr txBox="1"/>
          <p:nvPr/>
        </p:nvSpPr>
        <p:spPr bwMode="auto">
          <a:xfrm>
            <a:off x="3697208" y="956829"/>
            <a:ext cx="5080000" cy="646331"/>
          </a:xfrm>
          <a:prstGeom prst="rect">
            <a:avLst/>
          </a:prstGeom>
          <a:noFill/>
        </p:spPr>
        <p:txBody>
          <a:bodyPr wrap="square">
            <a:spAutoFit/>
          </a:bodyPr>
          <a:lstStyle/>
          <a:p>
            <a:pPr marL="0" lvl="7" algn="ctr">
              <a:defRPr/>
            </a:pPr>
            <a:r>
              <a:rPr lang="ru-RU" sz="3600" b="1" u="sng">
                <a:latin typeface="Aptos" panose="020B0004020202020204" pitchFamily="34" charset="0"/>
                <a:cs typeface="Arial"/>
              </a:rPr>
              <a:t>Производство</a:t>
            </a:r>
            <a:endParaRPr>
              <a:latin typeface="Aptos" panose="020B0004020202020204" pitchFamily="34" charset="0"/>
            </a:endParaRPr>
          </a:p>
        </p:txBody>
      </p:sp>
      <p:sp>
        <p:nvSpPr>
          <p:cNvPr id="7" name="TextBox 6"/>
          <p:cNvSpPr txBox="1"/>
          <p:nvPr/>
        </p:nvSpPr>
        <p:spPr bwMode="auto">
          <a:xfrm>
            <a:off x="303811" y="1921875"/>
            <a:ext cx="5464977" cy="2677656"/>
          </a:xfrm>
          <a:prstGeom prst="rect">
            <a:avLst/>
          </a:prstGeom>
          <a:noFill/>
        </p:spPr>
        <p:txBody>
          <a:bodyPr wrap="square">
            <a:spAutoFit/>
          </a:bodyPr>
          <a:lstStyle/>
          <a:p>
            <a:pPr algn="ctr">
              <a:defRPr/>
            </a:pPr>
            <a:r>
              <a:rPr lang="ru-RU" sz="2400" b="1" i="1" u="sng" dirty="0">
                <a:solidFill>
                  <a:schemeClr val="accent1">
                    <a:lumMod val="50000"/>
                  </a:schemeClr>
                </a:solidFill>
                <a:latin typeface="Aptos" panose="020B0004020202020204" pitchFamily="34" charset="0"/>
              </a:rPr>
              <a:t>Краткосрочный период (</a:t>
            </a:r>
            <a:r>
              <a:rPr lang="ru-RU" sz="2400" b="1" i="1" u="sng" dirty="0" err="1">
                <a:solidFill>
                  <a:schemeClr val="accent1">
                    <a:lumMod val="50000"/>
                  </a:schemeClr>
                </a:solidFill>
                <a:latin typeface="Aptos" panose="020B0004020202020204" pitchFamily="34" charset="0"/>
              </a:rPr>
              <a:t>short-run</a:t>
            </a:r>
            <a:r>
              <a:rPr lang="ru-RU" sz="2400" b="1" i="1" u="sng" dirty="0">
                <a:solidFill>
                  <a:schemeClr val="accent1">
                    <a:lumMod val="50000"/>
                  </a:schemeClr>
                </a:solidFill>
                <a:latin typeface="Aptos" panose="020B0004020202020204" pitchFamily="34" charset="0"/>
              </a:rPr>
              <a:t>)</a:t>
            </a:r>
            <a:endParaRPr sz="2400" dirty="0">
              <a:latin typeface="Aptos" panose="020B0004020202020204" pitchFamily="34" charset="0"/>
            </a:endParaRPr>
          </a:p>
          <a:p>
            <a:pPr algn="ctr">
              <a:defRPr/>
            </a:pPr>
            <a:endParaRPr lang="ru-RU" sz="2400" i="1" dirty="0">
              <a:solidFill>
                <a:schemeClr val="accent1">
                  <a:lumMod val="50000"/>
                </a:schemeClr>
              </a:solidFill>
              <a:latin typeface="Aptos" panose="020B0004020202020204" pitchFamily="34" charset="0"/>
            </a:endParaRPr>
          </a:p>
          <a:p>
            <a:pPr algn="ctr">
              <a:defRPr/>
            </a:pPr>
            <a:r>
              <a:rPr lang="ru-RU" sz="2400" i="1" dirty="0">
                <a:solidFill>
                  <a:schemeClr val="accent1">
                    <a:lumMod val="50000"/>
                  </a:schemeClr>
                </a:solidFill>
                <a:latin typeface="Aptos" panose="020B0004020202020204" pitchFamily="34" charset="0"/>
              </a:rPr>
              <a:t>Краткосрочный период </a:t>
            </a:r>
            <a:r>
              <a:rPr lang="en-GB" sz="2400" i="1" dirty="0">
                <a:solidFill>
                  <a:schemeClr val="accent1">
                    <a:lumMod val="50000"/>
                  </a:schemeClr>
                </a:solidFill>
                <a:latin typeface="Aptos" panose="020B0004020202020204" pitchFamily="34" charset="0"/>
              </a:rPr>
              <a:t>-</a:t>
            </a:r>
            <a:r>
              <a:rPr lang="ru-RU" sz="2400" dirty="0">
                <a:solidFill>
                  <a:schemeClr val="accent1">
                    <a:lumMod val="50000"/>
                  </a:schemeClr>
                </a:solidFill>
                <a:latin typeface="Aptos" panose="020B0004020202020204" pitchFamily="34" charset="0"/>
              </a:rPr>
              <a:t> это период времени, в течение которого одни факторы производства являются постоянными, а другие</a:t>
            </a:r>
            <a:r>
              <a:rPr lang="en-GB" sz="2400" dirty="0">
                <a:solidFill>
                  <a:schemeClr val="accent1">
                    <a:lumMod val="50000"/>
                  </a:schemeClr>
                </a:solidFill>
                <a:latin typeface="Aptos" panose="020B0004020202020204" pitchFamily="34" charset="0"/>
              </a:rPr>
              <a:t> -</a:t>
            </a:r>
            <a:r>
              <a:rPr lang="ru-RU" sz="2400" dirty="0">
                <a:solidFill>
                  <a:schemeClr val="accent1">
                    <a:lumMod val="50000"/>
                  </a:schemeClr>
                </a:solidFill>
                <a:latin typeface="Aptos" panose="020B0004020202020204" pitchFamily="34" charset="0"/>
              </a:rPr>
              <a:t> переменными.</a:t>
            </a:r>
            <a:endParaRPr sz="2400" dirty="0">
              <a:latin typeface="Aptos" panose="020B0004020202020204" pitchFamily="34" charset="0"/>
            </a:endParaRPr>
          </a:p>
        </p:txBody>
      </p:sp>
      <p:sp>
        <p:nvSpPr>
          <p:cNvPr id="8" name="TextBox 7"/>
          <p:cNvSpPr txBox="1"/>
          <p:nvPr/>
        </p:nvSpPr>
        <p:spPr bwMode="auto">
          <a:xfrm>
            <a:off x="6176832" y="1921875"/>
            <a:ext cx="5711357" cy="1938992"/>
          </a:xfrm>
          <a:prstGeom prst="rect">
            <a:avLst/>
          </a:prstGeom>
          <a:noFill/>
        </p:spPr>
        <p:txBody>
          <a:bodyPr wrap="square">
            <a:spAutoFit/>
          </a:bodyPr>
          <a:lstStyle/>
          <a:p>
            <a:pPr algn="ctr">
              <a:defRPr/>
            </a:pPr>
            <a:r>
              <a:rPr lang="ru-RU" sz="2400" b="1" i="1" u="sng" dirty="0">
                <a:solidFill>
                  <a:schemeClr val="accent1">
                    <a:lumMod val="50000"/>
                  </a:schemeClr>
                </a:solidFill>
                <a:latin typeface="Aptos" panose="020B0004020202020204" pitchFamily="34" charset="0"/>
              </a:rPr>
              <a:t>Долгосрочный период  (</a:t>
            </a:r>
            <a:r>
              <a:rPr lang="ru-RU" sz="2400" b="1" i="1" u="sng" dirty="0" err="1">
                <a:solidFill>
                  <a:schemeClr val="accent1">
                    <a:lumMod val="50000"/>
                  </a:schemeClr>
                </a:solidFill>
                <a:latin typeface="Aptos" panose="020B0004020202020204" pitchFamily="34" charset="0"/>
              </a:rPr>
              <a:t>long-run</a:t>
            </a:r>
            <a:r>
              <a:rPr lang="ru-RU" sz="2400" b="1" i="1" u="sng" dirty="0">
                <a:solidFill>
                  <a:schemeClr val="accent1">
                    <a:lumMod val="50000"/>
                  </a:schemeClr>
                </a:solidFill>
                <a:latin typeface="Aptos" panose="020B0004020202020204" pitchFamily="34" charset="0"/>
              </a:rPr>
              <a:t>)</a:t>
            </a:r>
            <a:endParaRPr sz="2400" dirty="0">
              <a:latin typeface="Aptos" panose="020B0004020202020204" pitchFamily="34" charset="0"/>
            </a:endParaRPr>
          </a:p>
          <a:p>
            <a:pPr algn="ctr">
              <a:defRPr/>
            </a:pPr>
            <a:endParaRPr lang="ru-RU" sz="2400" b="1" dirty="0">
              <a:solidFill>
                <a:schemeClr val="accent1">
                  <a:lumMod val="50000"/>
                </a:schemeClr>
              </a:solidFill>
              <a:latin typeface="Aptos" panose="020B0004020202020204" pitchFamily="34" charset="0"/>
            </a:endParaRPr>
          </a:p>
          <a:p>
            <a:pPr algn="ctr">
              <a:defRPr/>
            </a:pPr>
            <a:r>
              <a:rPr lang="ru-RU" sz="2400" dirty="0">
                <a:solidFill>
                  <a:schemeClr val="accent1">
                    <a:lumMod val="50000"/>
                  </a:schemeClr>
                </a:solidFill>
                <a:latin typeface="Aptos" panose="020B0004020202020204" pitchFamily="34" charset="0"/>
              </a:rPr>
              <a:t>Долгосрочный период </a:t>
            </a:r>
            <a:r>
              <a:rPr lang="en-GB" sz="2400" dirty="0">
                <a:solidFill>
                  <a:schemeClr val="accent1">
                    <a:lumMod val="50000"/>
                  </a:schemeClr>
                </a:solidFill>
                <a:latin typeface="Aptos" panose="020B0004020202020204" pitchFamily="34" charset="0"/>
              </a:rPr>
              <a:t>-</a:t>
            </a:r>
            <a:r>
              <a:rPr lang="ru-RU" sz="2400" dirty="0">
                <a:solidFill>
                  <a:schemeClr val="accent1">
                    <a:lumMod val="50000"/>
                  </a:schemeClr>
                </a:solidFill>
                <a:latin typeface="Aptos" panose="020B0004020202020204" pitchFamily="34" charset="0"/>
              </a:rPr>
              <a:t> это отрезок времени, в течение которого все факторы являются переменными. </a:t>
            </a:r>
            <a:endParaRPr sz="2400" dirty="0">
              <a:latin typeface="Aptos" panose="020B0004020202020204" pitchFamily="34" charset="0"/>
            </a:endParaRPr>
          </a:p>
        </p:txBody>
      </p:sp>
      <mc:AlternateContent xmlns:mc="http://schemas.openxmlformats.org/markup-compatibility/2006" xmlns:a14="http://schemas.microsoft.com/office/drawing/2010/main">
        <mc:Choice Requires="a14">
          <p:sp>
            <p:nvSpPr>
              <p:cNvPr id="10" name="TextBox 9"/>
              <p:cNvSpPr txBox="1"/>
              <p:nvPr/>
            </p:nvSpPr>
            <p:spPr bwMode="auto">
              <a:xfrm>
                <a:off x="915228" y="4985708"/>
                <a:ext cx="3922845" cy="830997"/>
              </a:xfrm>
              <a:prstGeom prst="rect">
                <a:avLst/>
              </a:prstGeom>
              <a:noFill/>
            </p:spPr>
            <p:txBody>
              <a:bodyPr wrap="square">
                <a:spAutoFit/>
              </a:bodyPr>
              <a:lstStyle/>
              <a:p>
                <a:pPr algn="ctr">
                  <a:defRPr/>
                </a:pPr>
                <a:r>
                  <a:rPr lang="en-US" sz="4800" b="1">
                    <a:latin typeface="Aptos" panose="020B0004020202020204" pitchFamily="34" charset="0"/>
                    <a:cs typeface="Arial"/>
                  </a:rPr>
                  <a:t>Q = f(</a:t>
                </a:r>
                <a14:m>
                  <m:oMath xmlns:m="http://schemas.openxmlformats.org/officeDocument/2006/math">
                    <m:acc>
                      <m:accPr>
                        <m:chr m:val="̅"/>
                        <m:ctrlPr>
                          <a:rPr lang="ru-RU" sz="4800" b="1" i="1">
                            <a:latin typeface="Cambria Math" panose="02040503050406030204" pitchFamily="18" charset="0"/>
                            <a:ea typeface="Cambria Math"/>
                            <a:cs typeface="Arial"/>
                          </a:rPr>
                        </m:ctrlPr>
                      </m:accPr>
                      <m:e>
                        <m:r>
                          <a:rPr lang="ru-RU" sz="4800" b="1">
                            <a:latin typeface="Cambria Math"/>
                            <a:cs typeface="Arial"/>
                          </a:rPr>
                          <m:t>𝑲</m:t>
                        </m:r>
                      </m:e>
                    </m:acc>
                  </m:oMath>
                </a14:m>
                <a:r>
                  <a:rPr lang="ru-RU" sz="4800" b="1">
                    <a:latin typeface="Aptos" panose="020B0004020202020204" pitchFamily="34" charset="0"/>
                    <a:cs typeface="Arial"/>
                  </a:rPr>
                  <a:t>,</a:t>
                </a:r>
                <a:r>
                  <a:rPr lang="en-US" sz="4800" b="1">
                    <a:latin typeface="Aptos" panose="020B0004020202020204" pitchFamily="34" charset="0"/>
                    <a:cs typeface="Arial"/>
                  </a:rPr>
                  <a:t>L)</a:t>
                </a:r>
                <a:endParaRPr lang="ru-RU" sz="4800" b="1">
                  <a:latin typeface="Aptos" panose="020B0004020202020204" pitchFamily="34" charset="0"/>
                  <a:cs typeface="Arial"/>
                </a:endParaRPr>
              </a:p>
            </p:txBody>
          </p:sp>
        </mc:Choice>
        <mc:Fallback xmlns="">
          <p:sp>
            <p:nvSpPr>
              <p:cNvPr id="10" name="TextBox 9"/>
              <p:cNvSpPr txBox="1">
                <a:spLocks noRot="1" noChangeAspect="1" noMove="1" noResize="1" noEditPoints="1" noAdjustHandles="1" noChangeArrowheads="1" noChangeShapeType="1" noTextEdit="1"/>
              </p:cNvSpPr>
              <p:nvPr/>
            </p:nvSpPr>
            <p:spPr bwMode="auto">
              <a:xfrm>
                <a:off x="915228" y="4985708"/>
                <a:ext cx="3922845" cy="830997"/>
              </a:xfrm>
              <a:prstGeom prst="rect">
                <a:avLst/>
              </a:prstGeom>
              <a:blipFill>
                <a:blip r:embed="rId2"/>
                <a:stretch>
                  <a:fillRect t="-15152" b="-39394"/>
                </a:stretch>
              </a:blipFill>
            </p:spPr>
            <p:txBody>
              <a:bodyPr/>
              <a:lstStyle/>
              <a:p>
                <a:r>
                  <a:rPr lang="en-RU">
                    <a:noFill/>
                  </a:rPr>
                  <a:t> </a:t>
                </a:r>
              </a:p>
            </p:txBody>
          </p:sp>
        </mc:Fallback>
      </mc:AlternateContent>
      <p:sp>
        <p:nvSpPr>
          <p:cNvPr id="15" name="TextBox 14"/>
          <p:cNvSpPr txBox="1"/>
          <p:nvPr/>
        </p:nvSpPr>
        <p:spPr bwMode="auto">
          <a:xfrm>
            <a:off x="7180472" y="4985707"/>
            <a:ext cx="3193472" cy="830997"/>
          </a:xfrm>
          <a:prstGeom prst="rect">
            <a:avLst/>
          </a:prstGeom>
          <a:noFill/>
        </p:spPr>
        <p:txBody>
          <a:bodyPr wrap="square">
            <a:spAutoFit/>
          </a:bodyPr>
          <a:lstStyle/>
          <a:p>
            <a:pPr algn="ctr">
              <a:defRPr/>
            </a:pPr>
            <a:r>
              <a:rPr lang="en-US" sz="4800" b="1" dirty="0">
                <a:latin typeface="Aptos" panose="020B0004020202020204" pitchFamily="34" charset="0"/>
                <a:cs typeface="Arial"/>
              </a:rPr>
              <a:t>Q = f(K</a:t>
            </a:r>
            <a:r>
              <a:rPr lang="ru-RU" sz="4800" b="1" dirty="0">
                <a:latin typeface="Aptos" panose="020B0004020202020204" pitchFamily="34" charset="0"/>
                <a:cs typeface="Arial"/>
              </a:rPr>
              <a:t>,</a:t>
            </a:r>
            <a:r>
              <a:rPr lang="en-US" sz="4800" b="1" dirty="0">
                <a:latin typeface="Aptos" panose="020B0004020202020204" pitchFamily="34" charset="0"/>
                <a:cs typeface="Arial"/>
              </a:rPr>
              <a:t>L)</a:t>
            </a:r>
            <a:endParaRPr lang="ru-RU" sz="4800" b="1" dirty="0">
              <a:latin typeface="Aptos" panose="020B0004020202020204" pitchFamily="34" charset="0"/>
              <a:cs typeface="Arial"/>
            </a:endParaRPr>
          </a:p>
        </p:txBody>
      </p:sp>
      <p:cxnSp>
        <p:nvCxnSpPr>
          <p:cNvPr id="22" name="Прямая соединительная линия 21"/>
          <p:cNvCxnSpPr>
            <a:cxnSpLocks/>
          </p:cNvCxnSpPr>
          <p:nvPr/>
        </p:nvCxnSpPr>
        <p:spPr bwMode="auto">
          <a:xfrm>
            <a:off x="6176832" y="1828800"/>
            <a:ext cx="0" cy="4647414"/>
          </a:xfrm>
          <a:prstGeom prst="line">
            <a:avLst/>
          </a:prstGeom>
          <a:ln w="28575">
            <a:solidFill>
              <a:schemeClr val="tx1">
                <a:lumMod val="75000"/>
              </a:schemeClr>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B33889E-129D-F089-1F71-C9D5A46552B3}"/>
            </a:ext>
          </a:extLst>
        </p:cNvPr>
        <p:cNvGrpSpPr/>
        <p:nvPr/>
      </p:nvGrpSpPr>
      <p:grpSpPr bwMode="auto">
        <a:xfrm>
          <a:off x="0" y="0"/>
          <a:ext cx="0" cy="0"/>
          <a:chOff x="0" y="0"/>
          <a:chExt cx="0" cy="0"/>
        </a:xfrm>
      </p:grpSpPr>
      <p:sp>
        <p:nvSpPr>
          <p:cNvPr id="2" name="Текст 1">
            <a:extLst>
              <a:ext uri="{FF2B5EF4-FFF2-40B4-BE49-F238E27FC236}">
                <a16:creationId xmlns:a16="http://schemas.microsoft.com/office/drawing/2014/main" id="{75A0F48F-9597-CD69-C360-661879D90DA1}"/>
              </a:ext>
            </a:extLst>
          </p:cNvPr>
          <p:cNvSpPr>
            <a:spLocks noGrp="1"/>
          </p:cNvSpPr>
          <p:nvPr>
            <p:ph type="body" sz="quarter" idx="13"/>
          </p:nvPr>
        </p:nvSpPr>
        <p:spPr bwMode="auto">
          <a:xfrm>
            <a:off x="1143689" y="542633"/>
            <a:ext cx="1901825" cy="415925"/>
          </a:xfrm>
        </p:spPr>
        <p:txBody>
          <a:bodyPr/>
          <a:lstStyle/>
          <a:p>
            <a:pPr>
              <a:defRPr/>
            </a:pPr>
            <a:r>
              <a:rPr lang="ru-RU" dirty="0">
                <a:latin typeface="Aptos" panose="020B0004020202020204" pitchFamily="34" charset="0"/>
              </a:rPr>
              <a:t>НИУ ВШЭ</a:t>
            </a:r>
            <a:endParaRPr dirty="0">
              <a:latin typeface="Aptos" panose="020B0004020202020204" pitchFamily="34" charset="0"/>
            </a:endParaRPr>
          </a:p>
        </p:txBody>
      </p:sp>
      <p:sp>
        <p:nvSpPr>
          <p:cNvPr id="3" name="Текст 2">
            <a:extLst>
              <a:ext uri="{FF2B5EF4-FFF2-40B4-BE49-F238E27FC236}">
                <a16:creationId xmlns:a16="http://schemas.microsoft.com/office/drawing/2014/main" id="{FD650C05-09C7-D1A6-7FD4-9731E5E29E3D}"/>
              </a:ext>
            </a:extLst>
          </p:cNvPr>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a:extLst>
              <a:ext uri="{FF2B5EF4-FFF2-40B4-BE49-F238E27FC236}">
                <a16:creationId xmlns:a16="http://schemas.microsoft.com/office/drawing/2014/main" id="{88B71855-FD10-6C62-CDB7-9B8955DD1FE2}"/>
              </a:ext>
            </a:extLst>
          </p:cNvPr>
          <p:cNvSpPr>
            <a:spLocks noGrp="1"/>
          </p:cNvSpPr>
          <p:nvPr>
            <p:ph type="body" sz="quarter" idx="15"/>
          </p:nvPr>
        </p:nvSpPr>
        <p:spPr bwMode="auto">
          <a:xfrm>
            <a:off x="6259892" y="548720"/>
            <a:ext cx="3290508"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9" name="TextBox 8">
            <a:extLst>
              <a:ext uri="{FF2B5EF4-FFF2-40B4-BE49-F238E27FC236}">
                <a16:creationId xmlns:a16="http://schemas.microsoft.com/office/drawing/2014/main" id="{B9CF9D6B-F762-FB2C-E735-70A525170202}"/>
              </a:ext>
            </a:extLst>
          </p:cNvPr>
          <p:cNvSpPr txBox="1"/>
          <p:nvPr/>
        </p:nvSpPr>
        <p:spPr bwMode="auto">
          <a:xfrm>
            <a:off x="401912" y="1188129"/>
            <a:ext cx="11388175" cy="1692771"/>
          </a:xfrm>
          <a:prstGeom prst="rect">
            <a:avLst/>
          </a:prstGeom>
          <a:noFill/>
        </p:spPr>
        <p:txBody>
          <a:bodyPr wrap="square" rtlCol="0">
            <a:spAutoFit/>
          </a:bodyPr>
          <a:lstStyle/>
          <a:p>
            <a:pPr algn="ctr">
              <a:defRPr/>
            </a:pPr>
            <a:r>
              <a:rPr lang="ru-RU" sz="2800" b="1" u="sng" dirty="0">
                <a:latin typeface="Aptos" panose="020B0004020202020204" pitchFamily="34" charset="0"/>
                <a:cs typeface="Arial"/>
              </a:rPr>
              <a:t>Пусть фирма использует два фактора производства: труд и капитал</a:t>
            </a:r>
            <a:endParaRPr dirty="0">
              <a:latin typeface="Aptos" panose="020B0004020202020204" pitchFamily="34" charset="0"/>
            </a:endParaRPr>
          </a:p>
          <a:p>
            <a:pPr algn="ctr">
              <a:defRPr/>
            </a:pPr>
            <a:r>
              <a:rPr lang="en-US" sz="2000" b="1" u="sng" dirty="0">
                <a:latin typeface="Aptos" panose="020B0004020202020204" pitchFamily="34" charset="0"/>
                <a:cs typeface="Arial"/>
              </a:rPr>
              <a:t> </a:t>
            </a:r>
            <a:endParaRPr dirty="0">
              <a:latin typeface="Aptos" panose="020B0004020202020204" pitchFamily="34" charset="0"/>
            </a:endParaRPr>
          </a:p>
          <a:p>
            <a:pPr algn="ctr">
              <a:defRPr/>
            </a:pPr>
            <a:r>
              <a:rPr lang="en-US" sz="2800" b="1" dirty="0">
                <a:latin typeface="Aptos" panose="020B0004020202020204" pitchFamily="34" charset="0"/>
                <a:cs typeface="Arial"/>
              </a:rPr>
              <a:t>Q = f(L,K) </a:t>
            </a:r>
            <a:r>
              <a:rPr lang="ru-RU" sz="2800" b="1" dirty="0">
                <a:latin typeface="Aptos" panose="020B0004020202020204" pitchFamily="34" charset="0"/>
                <a:cs typeface="Arial"/>
              </a:rPr>
              <a:t>– производственная функция</a:t>
            </a:r>
            <a:endParaRPr dirty="0">
              <a:latin typeface="Aptos" panose="020B0004020202020204" pitchFamily="34" charset="0"/>
            </a:endParaRPr>
          </a:p>
        </p:txBody>
      </p:sp>
      <p:sp>
        <p:nvSpPr>
          <p:cNvPr id="10" name="TextBox 9">
            <a:extLst>
              <a:ext uri="{FF2B5EF4-FFF2-40B4-BE49-F238E27FC236}">
                <a16:creationId xmlns:a16="http://schemas.microsoft.com/office/drawing/2014/main" id="{FB6EB356-952E-106F-B175-D3EF95101B3E}"/>
              </a:ext>
            </a:extLst>
          </p:cNvPr>
          <p:cNvSpPr txBox="1"/>
          <p:nvPr/>
        </p:nvSpPr>
        <p:spPr bwMode="auto">
          <a:xfrm>
            <a:off x="286236" y="3137365"/>
            <a:ext cx="11388175" cy="800219"/>
          </a:xfrm>
          <a:prstGeom prst="rect">
            <a:avLst/>
          </a:prstGeom>
          <a:noFill/>
        </p:spPr>
        <p:txBody>
          <a:bodyPr wrap="square">
            <a:spAutoFit/>
          </a:bodyPr>
          <a:lstStyle/>
          <a:p>
            <a:pPr algn="just">
              <a:defRPr/>
            </a:pPr>
            <a:r>
              <a:rPr lang="ru-RU" sz="2300" b="1" i="1" dirty="0">
                <a:latin typeface="Aptos" panose="020B0004020202020204" pitchFamily="34" charset="0"/>
              </a:rPr>
              <a:t>ОБЩИЙ ПРОДУКТ</a:t>
            </a:r>
            <a:r>
              <a:rPr lang="en-GB" sz="2300" b="1" i="1" dirty="0">
                <a:latin typeface="Aptos" panose="020B0004020202020204" pitchFamily="34" charset="0"/>
              </a:rPr>
              <a:t> </a:t>
            </a:r>
            <a:r>
              <a:rPr lang="ru-RU" sz="2300" b="1" i="1" dirty="0">
                <a:latin typeface="Aptos" panose="020B0004020202020204" pitchFamily="34" charset="0"/>
              </a:rPr>
              <a:t>(</a:t>
            </a:r>
            <a:r>
              <a:rPr lang="en-US" sz="2300" b="1" i="1" dirty="0">
                <a:latin typeface="Aptos" panose="020B0004020202020204" pitchFamily="34" charset="0"/>
              </a:rPr>
              <a:t>TP – total product</a:t>
            </a:r>
            <a:r>
              <a:rPr lang="ru-RU" sz="2300" b="1" i="1" dirty="0">
                <a:latin typeface="Aptos" panose="020B0004020202020204" pitchFamily="34" charset="0"/>
              </a:rPr>
              <a:t>) </a:t>
            </a:r>
            <a:r>
              <a:rPr lang="en-GB" sz="2300" b="1" i="1" dirty="0">
                <a:latin typeface="Aptos" panose="020B0004020202020204" pitchFamily="34" charset="0"/>
              </a:rPr>
              <a:t>- </a:t>
            </a:r>
            <a:r>
              <a:rPr lang="ru-RU" sz="2300" b="1" i="1" dirty="0">
                <a:latin typeface="Aptos" panose="020B0004020202020204" pitchFamily="34" charset="0"/>
              </a:rPr>
              <a:t> </a:t>
            </a:r>
            <a:r>
              <a:rPr lang="ru-RU" sz="2300" dirty="0">
                <a:latin typeface="Aptos" panose="020B0004020202020204" pitchFamily="34" charset="0"/>
                <a:cs typeface="Arial"/>
              </a:rPr>
              <a:t>это объем продукции, произведенный фирмой за определенный период времени</a:t>
            </a:r>
            <a:r>
              <a:rPr lang="en-US" sz="2300" dirty="0">
                <a:latin typeface="Aptos" panose="020B0004020202020204" pitchFamily="34" charset="0"/>
                <a:cs typeface="Arial"/>
              </a:rPr>
              <a:t>.</a:t>
            </a:r>
            <a:endParaRPr lang="ru-RU" sz="2300" dirty="0">
              <a:latin typeface="Aptos" panose="020B0004020202020204" pitchFamily="34" charset="0"/>
              <a:cs typeface="Aria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3277AFF-DD72-AC3A-B0C8-72BC08900A9F}"/>
                  </a:ext>
                </a:extLst>
              </p:cNvPr>
              <p:cNvSpPr txBox="1"/>
              <p:nvPr/>
            </p:nvSpPr>
            <p:spPr bwMode="auto">
              <a:xfrm>
                <a:off x="592527" y="4222984"/>
                <a:ext cx="4989864" cy="2319674"/>
              </a:xfrm>
              <a:prstGeom prst="rect">
                <a:avLst/>
              </a:prstGeom>
              <a:noFill/>
            </p:spPr>
            <p:txBody>
              <a:bodyPr wrap="square">
                <a:spAutoFit/>
              </a:bodyPr>
              <a:lstStyle/>
              <a:p>
                <a:pPr algn="ctr">
                  <a:defRPr/>
                </a:pPr>
                <a:r>
                  <a:rPr lang="ru-RU" sz="2300" b="1" i="1" dirty="0">
                    <a:latin typeface="Aptos" panose="020B0004020202020204" pitchFamily="34" charset="0"/>
                  </a:rPr>
                  <a:t>СРЕДНИЙ ПРОДУКТ ТРУДА </a:t>
                </a:r>
                <a:endParaRPr sz="2300" dirty="0">
                  <a:latin typeface="Aptos" panose="020B0004020202020204" pitchFamily="34" charset="0"/>
                </a:endParaRPr>
              </a:p>
              <a:p>
                <a:pPr algn="ctr">
                  <a:defRPr/>
                </a:pPr>
                <a:r>
                  <a:rPr lang="ru-RU" sz="2300" b="1" i="1" dirty="0">
                    <a:latin typeface="Aptos" panose="020B0004020202020204" pitchFamily="34" charset="0"/>
                  </a:rPr>
                  <a:t>(</a:t>
                </a:r>
                <a14:m>
                  <m:oMath xmlns:m="http://schemas.openxmlformats.org/officeDocument/2006/math">
                    <m:sSub>
                      <m:sSubPr>
                        <m:ctrlPr>
                          <a:rPr lang="ru-RU" sz="2300" b="1" i="1">
                            <a:latin typeface="Cambria Math" panose="02040503050406030204" pitchFamily="18" charset="0"/>
                            <a:ea typeface="Calibri"/>
                            <a:cs typeface="Times New Roman"/>
                          </a:rPr>
                        </m:ctrlPr>
                      </m:sSubPr>
                      <m:e>
                        <m:r>
                          <a:rPr lang="ru-RU" sz="2300" b="1" i="1">
                            <a:latin typeface="Cambria Math"/>
                            <a:ea typeface="Calibri"/>
                            <a:cs typeface="Times New Roman"/>
                          </a:rPr>
                          <m:t>𝑨𝑷</m:t>
                        </m:r>
                      </m:e>
                      <m:sub>
                        <m:r>
                          <a:rPr lang="ru-RU" sz="2300" b="1" i="1">
                            <a:latin typeface="Cambria Math"/>
                            <a:ea typeface="Calibri"/>
                            <a:cs typeface="Times New Roman"/>
                          </a:rPr>
                          <m:t>𝑳</m:t>
                        </m:r>
                      </m:sub>
                    </m:sSub>
                  </m:oMath>
                </a14:m>
                <a:r>
                  <a:rPr lang="ru-RU" sz="2300" b="1" i="1" dirty="0">
                    <a:latin typeface="Aptos" panose="020B0004020202020204" pitchFamily="34" charset="0"/>
                  </a:rPr>
                  <a:t> </a:t>
                </a:r>
                <a:r>
                  <a:rPr lang="en-US" sz="2300" b="1" i="1" dirty="0">
                    <a:latin typeface="Aptos" panose="020B0004020202020204" pitchFamily="34" charset="0"/>
                  </a:rPr>
                  <a:t>- average product of labor)</a:t>
                </a:r>
                <a:r>
                  <a:rPr lang="ru-RU" sz="2300" b="1" i="1" dirty="0">
                    <a:latin typeface="Aptos" panose="020B0004020202020204" pitchFamily="34" charset="0"/>
                  </a:rPr>
                  <a:t> </a:t>
                </a:r>
                <a:r>
                  <a:rPr lang="en-GB" sz="2300" dirty="0">
                    <a:latin typeface="Aptos" panose="020B0004020202020204" pitchFamily="34" charset="0"/>
                  </a:rPr>
                  <a:t>-</a:t>
                </a:r>
                <a:r>
                  <a:rPr lang="ru-RU" sz="2300" dirty="0">
                    <a:latin typeface="Aptos" panose="020B0004020202020204" pitchFamily="34" charset="0"/>
                  </a:rPr>
                  <a:t> </a:t>
                </a:r>
                <a:r>
                  <a:rPr lang="ru-RU" sz="2300" dirty="0">
                    <a:latin typeface="Aptos" panose="020B0004020202020204" pitchFamily="34" charset="0"/>
                    <a:cs typeface="Arial"/>
                  </a:rPr>
                  <a:t>количество общего продукта, приходящегося на единицу труда</a:t>
                </a:r>
                <a:endParaRPr sz="2300" dirty="0">
                  <a:latin typeface="Aptos" panose="020B0004020202020204" pitchFamily="34" charset="0"/>
                </a:endParaRPr>
              </a:p>
              <a:p>
                <a:pPr algn="ctr">
                  <a:lnSpc>
                    <a:spcPct val="107000"/>
                  </a:lnSpc>
                  <a:spcAft>
                    <a:spcPts val="800"/>
                  </a:spcAft>
                  <a:defRPr/>
                </a:pPr>
                <a14:m>
                  <m:oMathPara xmlns:m="http://schemas.openxmlformats.org/officeDocument/2006/math">
                    <m:oMathParaPr>
                      <m:jc m:val="centerGroup"/>
                    </m:oMathParaPr>
                    <m:oMath xmlns:m="http://schemas.openxmlformats.org/officeDocument/2006/math">
                      <m:sSub>
                        <m:sSubPr>
                          <m:ctrlPr>
                            <a:rPr lang="ru-RU" sz="2300" b="1" i="1">
                              <a:latin typeface="Cambria Math" panose="02040503050406030204" pitchFamily="18" charset="0"/>
                              <a:ea typeface="Calibri"/>
                              <a:cs typeface="Times New Roman"/>
                            </a:rPr>
                          </m:ctrlPr>
                        </m:sSubPr>
                        <m:e>
                          <m:r>
                            <a:rPr lang="ru-RU" sz="2300" b="1" i="1">
                              <a:latin typeface="Cambria Math"/>
                              <a:ea typeface="Calibri"/>
                              <a:cs typeface="Times New Roman"/>
                            </a:rPr>
                            <m:t>𝑨𝑷</m:t>
                          </m:r>
                        </m:e>
                        <m:sub>
                          <m:r>
                            <a:rPr lang="ru-RU" sz="2300" b="1" i="1">
                              <a:latin typeface="Cambria Math"/>
                              <a:ea typeface="Calibri"/>
                              <a:cs typeface="Times New Roman"/>
                            </a:rPr>
                            <m:t>𝑳</m:t>
                          </m:r>
                        </m:sub>
                      </m:sSub>
                      <m:r>
                        <a:rPr lang="ru-RU" sz="2300" b="1" i="1">
                          <a:latin typeface="Cambria Math"/>
                          <a:ea typeface="Calibri"/>
                          <a:cs typeface="Times New Roman"/>
                        </a:rPr>
                        <m:t>=</m:t>
                      </m:r>
                      <m:f>
                        <m:fPr>
                          <m:ctrlPr>
                            <a:rPr lang="ru-RU" sz="2300" b="1" i="1">
                              <a:latin typeface="Cambria Math" panose="02040503050406030204" pitchFamily="18" charset="0"/>
                              <a:ea typeface="Calibri"/>
                              <a:cs typeface="Times New Roman"/>
                            </a:rPr>
                          </m:ctrlPr>
                        </m:fPr>
                        <m:num>
                          <m:r>
                            <a:rPr lang="ru-RU" sz="2300" b="1" i="1">
                              <a:latin typeface="Cambria Math"/>
                              <a:ea typeface="Calibri"/>
                              <a:cs typeface="Times New Roman"/>
                            </a:rPr>
                            <m:t>𝑸</m:t>
                          </m:r>
                        </m:num>
                        <m:den>
                          <m:r>
                            <a:rPr lang="ru-RU" sz="2300" b="1" i="1">
                              <a:latin typeface="Cambria Math"/>
                              <a:ea typeface="Calibri"/>
                              <a:cs typeface="Times New Roman"/>
                            </a:rPr>
                            <m:t>𝑳</m:t>
                          </m:r>
                        </m:den>
                      </m:f>
                    </m:oMath>
                  </m:oMathPara>
                </a14:m>
                <a:endParaRPr lang="ru-RU" sz="2300" dirty="0">
                  <a:latin typeface="Aptos" panose="020B0004020202020204" pitchFamily="34" charset="0"/>
                </a:endParaRPr>
              </a:p>
            </p:txBody>
          </p:sp>
        </mc:Choice>
        <mc:Fallback xmlns="">
          <p:sp>
            <p:nvSpPr>
              <p:cNvPr id="11" name="TextBox 10">
                <a:extLst>
                  <a:ext uri="{FF2B5EF4-FFF2-40B4-BE49-F238E27FC236}">
                    <a16:creationId xmlns:a16="http://schemas.microsoft.com/office/drawing/2014/main" id="{53277AFF-DD72-AC3A-B0C8-72BC08900A9F}"/>
                  </a:ext>
                </a:extLst>
              </p:cNvPr>
              <p:cNvSpPr txBox="1">
                <a:spLocks noRot="1" noChangeAspect="1" noMove="1" noResize="1" noEditPoints="1" noAdjustHandles="1" noChangeArrowheads="1" noChangeShapeType="1" noTextEdit="1"/>
              </p:cNvSpPr>
              <p:nvPr/>
            </p:nvSpPr>
            <p:spPr bwMode="auto">
              <a:xfrm>
                <a:off x="592527" y="4222984"/>
                <a:ext cx="4989864" cy="2319674"/>
              </a:xfrm>
              <a:prstGeom prst="rect">
                <a:avLst/>
              </a:prstGeom>
              <a:blipFill>
                <a:blip r:embed="rId2"/>
                <a:stretch>
                  <a:fillRect t="-2174"/>
                </a:stretch>
              </a:blipFill>
            </p:spPr>
            <p:txBody>
              <a:bodyPr/>
              <a:lstStyle/>
              <a:p>
                <a:r>
                  <a:rPr lang="en-R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A2FFEB5-6C37-DAE5-D11E-F1766BA23C52}"/>
                  </a:ext>
                </a:extLst>
              </p:cNvPr>
              <p:cNvSpPr txBox="1"/>
              <p:nvPr/>
            </p:nvSpPr>
            <p:spPr bwMode="auto">
              <a:xfrm>
                <a:off x="6095999" y="4222984"/>
                <a:ext cx="5503474" cy="2319674"/>
              </a:xfrm>
              <a:prstGeom prst="rect">
                <a:avLst/>
              </a:prstGeom>
              <a:noFill/>
            </p:spPr>
            <p:txBody>
              <a:bodyPr wrap="square">
                <a:spAutoFit/>
              </a:bodyPr>
              <a:lstStyle/>
              <a:p>
                <a:pPr algn="ctr">
                  <a:defRPr/>
                </a:pPr>
                <a:r>
                  <a:rPr lang="ru-RU" sz="2300" b="1" i="1" dirty="0">
                    <a:latin typeface="Aptos" panose="020B0004020202020204" pitchFamily="34" charset="0"/>
                  </a:rPr>
                  <a:t>СРЕДНИЙ ПРОДУКТ КАПИТАЛА </a:t>
                </a:r>
                <a:endParaRPr sz="2300" dirty="0">
                  <a:latin typeface="Aptos" panose="020B0004020202020204" pitchFamily="34" charset="0"/>
                </a:endParaRPr>
              </a:p>
              <a:p>
                <a:pPr algn="ctr">
                  <a:defRPr/>
                </a:pPr>
                <a:r>
                  <a:rPr lang="ru-RU" sz="2300" b="1" i="1" dirty="0">
                    <a:latin typeface="Aptos" panose="020B0004020202020204" pitchFamily="34" charset="0"/>
                  </a:rPr>
                  <a:t>(</a:t>
                </a:r>
                <a14:m>
                  <m:oMath xmlns:m="http://schemas.openxmlformats.org/officeDocument/2006/math">
                    <m:sSub>
                      <m:sSubPr>
                        <m:ctrlPr>
                          <a:rPr lang="ru-RU" sz="2300" b="1" i="1">
                            <a:latin typeface="Cambria Math" panose="02040503050406030204" pitchFamily="18" charset="0"/>
                            <a:ea typeface="Calibri"/>
                            <a:cs typeface="Times New Roman"/>
                          </a:rPr>
                        </m:ctrlPr>
                      </m:sSubPr>
                      <m:e>
                        <m:r>
                          <a:rPr lang="ru-RU" sz="2300" b="1" i="1">
                            <a:latin typeface="Cambria Math"/>
                            <a:ea typeface="Calibri"/>
                            <a:cs typeface="Times New Roman"/>
                          </a:rPr>
                          <m:t>𝑨𝑷</m:t>
                        </m:r>
                      </m:e>
                      <m:sub>
                        <m:r>
                          <a:rPr lang="en-US" sz="2300" b="1" i="1">
                            <a:latin typeface="Cambria Math"/>
                            <a:ea typeface="Calibri"/>
                            <a:cs typeface="Times New Roman"/>
                          </a:rPr>
                          <m:t>𝑲</m:t>
                        </m:r>
                      </m:sub>
                    </m:sSub>
                  </m:oMath>
                </a14:m>
                <a:r>
                  <a:rPr lang="ru-RU" sz="2300" b="1" i="1" dirty="0">
                    <a:latin typeface="Aptos" panose="020B0004020202020204" pitchFamily="34" charset="0"/>
                  </a:rPr>
                  <a:t> </a:t>
                </a:r>
                <a:r>
                  <a:rPr lang="en-US" sz="2300" b="1" i="1" dirty="0">
                    <a:latin typeface="Aptos" panose="020B0004020202020204" pitchFamily="34" charset="0"/>
                  </a:rPr>
                  <a:t>- average product of capital)</a:t>
                </a:r>
                <a:r>
                  <a:rPr lang="ru-RU" sz="2300" b="1" i="1" dirty="0">
                    <a:latin typeface="Aptos" panose="020B0004020202020204" pitchFamily="34" charset="0"/>
                  </a:rPr>
                  <a:t> </a:t>
                </a:r>
                <a:r>
                  <a:rPr lang="en-GB" sz="2300" dirty="0">
                    <a:latin typeface="Aptos" panose="020B0004020202020204" pitchFamily="34" charset="0"/>
                  </a:rPr>
                  <a:t>-</a:t>
                </a:r>
                <a:r>
                  <a:rPr lang="ru-RU" sz="2300" dirty="0">
                    <a:latin typeface="Aptos" panose="020B0004020202020204" pitchFamily="34" charset="0"/>
                  </a:rPr>
                  <a:t> </a:t>
                </a:r>
                <a:r>
                  <a:rPr lang="ru-RU" sz="2300" dirty="0">
                    <a:latin typeface="Aptos" panose="020B0004020202020204" pitchFamily="34" charset="0"/>
                    <a:cs typeface="Arial"/>
                  </a:rPr>
                  <a:t>количество общего продукта, приходящегося на единицу капитала</a:t>
                </a:r>
                <a:endParaRPr sz="2300" dirty="0">
                  <a:latin typeface="Aptos" panose="020B0004020202020204" pitchFamily="34" charset="0"/>
                </a:endParaRPr>
              </a:p>
              <a:p>
                <a:pPr algn="ctr">
                  <a:lnSpc>
                    <a:spcPct val="107000"/>
                  </a:lnSpc>
                  <a:spcAft>
                    <a:spcPts val="800"/>
                  </a:spcAft>
                  <a:defRPr/>
                </a:pPr>
                <a14:m>
                  <m:oMathPara xmlns:m="http://schemas.openxmlformats.org/officeDocument/2006/math">
                    <m:oMathParaPr>
                      <m:jc m:val="centerGroup"/>
                    </m:oMathParaPr>
                    <m:oMath xmlns:m="http://schemas.openxmlformats.org/officeDocument/2006/math">
                      <m:sSub>
                        <m:sSubPr>
                          <m:ctrlPr>
                            <a:rPr lang="ru-RU" sz="2300" b="1" i="1">
                              <a:latin typeface="Cambria Math" panose="02040503050406030204" pitchFamily="18" charset="0"/>
                              <a:ea typeface="Calibri"/>
                              <a:cs typeface="Times New Roman"/>
                            </a:rPr>
                          </m:ctrlPr>
                        </m:sSubPr>
                        <m:e>
                          <m:r>
                            <a:rPr lang="ru-RU" sz="2300" b="1" i="1">
                              <a:latin typeface="Cambria Math"/>
                              <a:ea typeface="Calibri"/>
                              <a:cs typeface="Times New Roman"/>
                            </a:rPr>
                            <m:t>𝑨𝑷</m:t>
                          </m:r>
                        </m:e>
                        <m:sub>
                          <m:r>
                            <a:rPr lang="en-US" sz="2300" b="1" i="1">
                              <a:latin typeface="Cambria Math"/>
                              <a:ea typeface="Calibri"/>
                              <a:cs typeface="Times New Roman"/>
                            </a:rPr>
                            <m:t>𝑲</m:t>
                          </m:r>
                        </m:sub>
                      </m:sSub>
                      <m:r>
                        <a:rPr lang="ru-RU" sz="2300" b="1" i="1">
                          <a:latin typeface="Cambria Math"/>
                          <a:ea typeface="Calibri"/>
                          <a:cs typeface="Times New Roman"/>
                        </a:rPr>
                        <m:t>=</m:t>
                      </m:r>
                      <m:f>
                        <m:fPr>
                          <m:ctrlPr>
                            <a:rPr lang="ru-RU" sz="2300" b="1" i="1">
                              <a:latin typeface="Cambria Math" panose="02040503050406030204" pitchFamily="18" charset="0"/>
                              <a:ea typeface="Calibri"/>
                              <a:cs typeface="Times New Roman"/>
                            </a:rPr>
                          </m:ctrlPr>
                        </m:fPr>
                        <m:num>
                          <m:r>
                            <a:rPr lang="ru-RU" sz="2300" b="1" i="1">
                              <a:latin typeface="Cambria Math"/>
                              <a:ea typeface="Calibri"/>
                              <a:cs typeface="Times New Roman"/>
                            </a:rPr>
                            <m:t>𝑸</m:t>
                          </m:r>
                        </m:num>
                        <m:den>
                          <m:r>
                            <a:rPr lang="en-US" sz="2300" b="1" i="1">
                              <a:latin typeface="Cambria Math"/>
                              <a:ea typeface="Calibri"/>
                              <a:cs typeface="Times New Roman"/>
                            </a:rPr>
                            <m:t>𝑲</m:t>
                          </m:r>
                        </m:den>
                      </m:f>
                    </m:oMath>
                  </m:oMathPara>
                </a14:m>
                <a:endParaRPr lang="ru-RU" sz="2300" dirty="0">
                  <a:latin typeface="Aptos" panose="020B0004020202020204" pitchFamily="34" charset="0"/>
                </a:endParaRPr>
              </a:p>
            </p:txBody>
          </p:sp>
        </mc:Choice>
        <mc:Fallback xmlns="">
          <p:sp>
            <p:nvSpPr>
              <p:cNvPr id="14" name="TextBox 13">
                <a:extLst>
                  <a:ext uri="{FF2B5EF4-FFF2-40B4-BE49-F238E27FC236}">
                    <a16:creationId xmlns:a16="http://schemas.microsoft.com/office/drawing/2014/main" id="{7A2FFEB5-6C37-DAE5-D11E-F1766BA23C52}"/>
                  </a:ext>
                </a:extLst>
              </p:cNvPr>
              <p:cNvSpPr txBox="1">
                <a:spLocks noRot="1" noChangeAspect="1" noMove="1" noResize="1" noEditPoints="1" noAdjustHandles="1" noChangeArrowheads="1" noChangeShapeType="1" noTextEdit="1"/>
              </p:cNvSpPr>
              <p:nvPr/>
            </p:nvSpPr>
            <p:spPr bwMode="auto">
              <a:xfrm>
                <a:off x="6095999" y="4222984"/>
                <a:ext cx="5503474" cy="2319674"/>
              </a:xfrm>
              <a:prstGeom prst="rect">
                <a:avLst/>
              </a:prstGeom>
              <a:blipFill>
                <a:blip r:embed="rId3"/>
                <a:stretch>
                  <a:fillRect t="-2174"/>
                </a:stretch>
              </a:blipFill>
            </p:spPr>
            <p:txBody>
              <a:bodyPr/>
              <a:lstStyle/>
              <a:p>
                <a:r>
                  <a:rPr lang="en-RU">
                    <a:noFill/>
                  </a:rPr>
                  <a:t> </a:t>
                </a:r>
              </a:p>
            </p:txBody>
          </p:sp>
        </mc:Fallback>
      </mc:AlternateContent>
    </p:spTree>
    <p:extLst>
      <p:ext uri="{BB962C8B-B14F-4D97-AF65-F5344CB8AC3E}">
        <p14:creationId xmlns:p14="http://schemas.microsoft.com/office/powerpoint/2010/main" val="2844407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11C51A3-8732-D99E-0538-4AFF8E69F94C}"/>
            </a:ext>
          </a:extLst>
        </p:cNvPr>
        <p:cNvGrpSpPr/>
        <p:nvPr/>
      </p:nvGrpSpPr>
      <p:grpSpPr bwMode="auto">
        <a:xfrm>
          <a:off x="0" y="0"/>
          <a:ext cx="0" cy="0"/>
          <a:chOff x="0" y="0"/>
          <a:chExt cx="0" cy="0"/>
        </a:xfrm>
      </p:grpSpPr>
      <p:sp>
        <p:nvSpPr>
          <p:cNvPr id="2" name="Текст 1">
            <a:extLst>
              <a:ext uri="{FF2B5EF4-FFF2-40B4-BE49-F238E27FC236}">
                <a16:creationId xmlns:a16="http://schemas.microsoft.com/office/drawing/2014/main" id="{D6C57FD8-77F2-3371-F904-B977364CF07F}"/>
              </a:ext>
            </a:extLst>
          </p:cNvPr>
          <p:cNvSpPr>
            <a:spLocks noGrp="1"/>
          </p:cNvSpPr>
          <p:nvPr>
            <p:ph type="body" sz="quarter" idx="13"/>
          </p:nvPr>
        </p:nvSpPr>
        <p:spPr bwMode="auto">
          <a:xfrm>
            <a:off x="1143689" y="515739"/>
            <a:ext cx="1901825" cy="415925"/>
          </a:xfrm>
        </p:spPr>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a:extLst>
              <a:ext uri="{FF2B5EF4-FFF2-40B4-BE49-F238E27FC236}">
                <a16:creationId xmlns:a16="http://schemas.microsoft.com/office/drawing/2014/main" id="{E8947242-7C44-0B94-5CE4-6A8262716039}"/>
              </a:ext>
            </a:extLst>
          </p:cNvPr>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a:extLst>
              <a:ext uri="{FF2B5EF4-FFF2-40B4-BE49-F238E27FC236}">
                <a16:creationId xmlns:a16="http://schemas.microsoft.com/office/drawing/2014/main" id="{CF62C4DC-615C-483B-1235-B24AA9E0A665}"/>
              </a:ext>
            </a:extLst>
          </p:cNvPr>
          <p:cNvSpPr>
            <a:spLocks noGrp="1"/>
          </p:cNvSpPr>
          <p:nvPr>
            <p:ph type="body" sz="quarter" idx="15"/>
          </p:nvPr>
        </p:nvSpPr>
        <p:spPr bwMode="auto">
          <a:xfrm>
            <a:off x="6259892" y="548720"/>
            <a:ext cx="3290508"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9" name="TextBox 8">
            <a:extLst>
              <a:ext uri="{FF2B5EF4-FFF2-40B4-BE49-F238E27FC236}">
                <a16:creationId xmlns:a16="http://schemas.microsoft.com/office/drawing/2014/main" id="{3FFA7C46-D01E-3BD2-5DC0-3CE21BB7539C}"/>
              </a:ext>
            </a:extLst>
          </p:cNvPr>
          <p:cNvSpPr txBox="1"/>
          <p:nvPr/>
        </p:nvSpPr>
        <p:spPr bwMode="auto">
          <a:xfrm>
            <a:off x="401912" y="1188129"/>
            <a:ext cx="11388175" cy="1692771"/>
          </a:xfrm>
          <a:prstGeom prst="rect">
            <a:avLst/>
          </a:prstGeom>
          <a:noFill/>
        </p:spPr>
        <p:txBody>
          <a:bodyPr wrap="square" rtlCol="0">
            <a:spAutoFit/>
          </a:bodyPr>
          <a:lstStyle/>
          <a:p>
            <a:pPr algn="ctr">
              <a:defRPr/>
            </a:pPr>
            <a:r>
              <a:rPr lang="ru-RU" sz="2800" b="1" u="sng" dirty="0">
                <a:latin typeface="Aptos" panose="020B0004020202020204" pitchFamily="34" charset="0"/>
                <a:cs typeface="Arial"/>
              </a:rPr>
              <a:t>Пусть фирма использует два фактора производства: труд и капитал</a:t>
            </a:r>
            <a:endParaRPr dirty="0">
              <a:latin typeface="Aptos" panose="020B0004020202020204" pitchFamily="34" charset="0"/>
            </a:endParaRPr>
          </a:p>
          <a:p>
            <a:pPr algn="ctr">
              <a:defRPr/>
            </a:pPr>
            <a:r>
              <a:rPr lang="en-US" sz="2000" b="1" u="sng" dirty="0">
                <a:latin typeface="Aptos" panose="020B0004020202020204" pitchFamily="34" charset="0"/>
                <a:cs typeface="Arial"/>
              </a:rPr>
              <a:t> </a:t>
            </a:r>
            <a:endParaRPr dirty="0">
              <a:latin typeface="Aptos" panose="020B0004020202020204" pitchFamily="34" charset="0"/>
            </a:endParaRPr>
          </a:p>
          <a:p>
            <a:pPr algn="ctr">
              <a:defRPr/>
            </a:pPr>
            <a:r>
              <a:rPr lang="en-US" sz="2800" b="1" dirty="0">
                <a:latin typeface="Aptos" panose="020B0004020202020204" pitchFamily="34" charset="0"/>
                <a:cs typeface="Arial"/>
              </a:rPr>
              <a:t>Q = f(L,K) </a:t>
            </a:r>
            <a:r>
              <a:rPr lang="ru-RU" sz="2800" b="1" dirty="0">
                <a:latin typeface="Aptos" panose="020B0004020202020204" pitchFamily="34" charset="0"/>
                <a:cs typeface="Arial"/>
              </a:rPr>
              <a:t>– производственная функция</a:t>
            </a:r>
            <a:endParaRPr dirty="0">
              <a:latin typeface="Aptos" panose="020B0004020202020204" pitchFamily="34" charset="0"/>
            </a:endParaRPr>
          </a:p>
        </p:txBody>
      </p:sp>
      <p:sp>
        <p:nvSpPr>
          <p:cNvPr id="10" name="TextBox 9">
            <a:extLst>
              <a:ext uri="{FF2B5EF4-FFF2-40B4-BE49-F238E27FC236}">
                <a16:creationId xmlns:a16="http://schemas.microsoft.com/office/drawing/2014/main" id="{C5204784-42AB-F63D-25EC-166B1C55EC38}"/>
              </a:ext>
            </a:extLst>
          </p:cNvPr>
          <p:cNvSpPr txBox="1"/>
          <p:nvPr/>
        </p:nvSpPr>
        <p:spPr bwMode="auto">
          <a:xfrm>
            <a:off x="286236" y="3137365"/>
            <a:ext cx="11388175" cy="800219"/>
          </a:xfrm>
          <a:prstGeom prst="rect">
            <a:avLst/>
          </a:prstGeom>
          <a:noFill/>
        </p:spPr>
        <p:txBody>
          <a:bodyPr wrap="square">
            <a:spAutoFit/>
          </a:bodyPr>
          <a:lstStyle/>
          <a:p>
            <a:pPr algn="just">
              <a:defRPr/>
            </a:pPr>
            <a:r>
              <a:rPr lang="ru-RU" sz="2300" b="1" i="1" dirty="0">
                <a:latin typeface="Aptos" panose="020B0004020202020204" pitchFamily="34" charset="0"/>
              </a:rPr>
              <a:t>ОБЩИЙ ПРОДУКТ</a:t>
            </a:r>
            <a:r>
              <a:rPr lang="en-GB" sz="2300" b="1" i="1" dirty="0">
                <a:latin typeface="Aptos" panose="020B0004020202020204" pitchFamily="34" charset="0"/>
              </a:rPr>
              <a:t> </a:t>
            </a:r>
            <a:r>
              <a:rPr lang="ru-RU" sz="2300" b="1" i="1" dirty="0">
                <a:latin typeface="Aptos" panose="020B0004020202020204" pitchFamily="34" charset="0"/>
              </a:rPr>
              <a:t>(</a:t>
            </a:r>
            <a:r>
              <a:rPr lang="en-US" sz="2300" b="1" i="1" dirty="0">
                <a:latin typeface="Aptos" panose="020B0004020202020204" pitchFamily="34" charset="0"/>
              </a:rPr>
              <a:t>TP – total product</a:t>
            </a:r>
            <a:r>
              <a:rPr lang="ru-RU" sz="2300" b="1" i="1" dirty="0">
                <a:latin typeface="Aptos" panose="020B0004020202020204" pitchFamily="34" charset="0"/>
              </a:rPr>
              <a:t>) </a:t>
            </a:r>
            <a:r>
              <a:rPr lang="en-GB" sz="2300" b="1" i="1" dirty="0">
                <a:latin typeface="Aptos" panose="020B0004020202020204" pitchFamily="34" charset="0"/>
              </a:rPr>
              <a:t>- </a:t>
            </a:r>
            <a:r>
              <a:rPr lang="ru-RU" sz="2300" b="1" i="1" dirty="0">
                <a:latin typeface="Aptos" panose="020B0004020202020204" pitchFamily="34" charset="0"/>
              </a:rPr>
              <a:t> </a:t>
            </a:r>
            <a:r>
              <a:rPr lang="ru-RU" sz="2300" dirty="0">
                <a:latin typeface="Aptos" panose="020B0004020202020204" pitchFamily="34" charset="0"/>
                <a:cs typeface="Arial"/>
              </a:rPr>
              <a:t>это объем продукции, произведенный фирмой за определенный период времени</a:t>
            </a:r>
            <a:r>
              <a:rPr lang="en-US" sz="2300" dirty="0">
                <a:latin typeface="Aptos" panose="020B0004020202020204" pitchFamily="34" charset="0"/>
                <a:cs typeface="Arial"/>
              </a:rPr>
              <a:t> (Q).</a:t>
            </a:r>
            <a:endParaRPr lang="ru-RU" sz="2300" dirty="0">
              <a:latin typeface="Aptos" panose="020B0004020202020204" pitchFamily="34" charset="0"/>
              <a:cs typeface="Aria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9047252-63FE-D76E-91C7-1B1A2E6535A1}"/>
                  </a:ext>
                </a:extLst>
              </p:cNvPr>
              <p:cNvSpPr txBox="1"/>
              <p:nvPr/>
            </p:nvSpPr>
            <p:spPr bwMode="auto">
              <a:xfrm>
                <a:off x="401912" y="4169700"/>
                <a:ext cx="5503472" cy="2426242"/>
              </a:xfrm>
              <a:prstGeom prst="rect">
                <a:avLst/>
              </a:prstGeom>
              <a:noFill/>
            </p:spPr>
            <p:txBody>
              <a:bodyPr wrap="square">
                <a:spAutoFit/>
              </a:bodyPr>
              <a:lstStyle/>
              <a:p>
                <a:pPr algn="ctr">
                  <a:defRPr/>
                </a:pPr>
                <a:r>
                  <a:rPr lang="ru-RU" sz="2300" b="1" i="1" dirty="0">
                    <a:latin typeface="Aptos" panose="020B0004020202020204" pitchFamily="34" charset="0"/>
                  </a:rPr>
                  <a:t>ПРЕДЕЛЬНЫЙ ПРОДУКТ ТРУДА </a:t>
                </a:r>
                <a:endParaRPr lang="ru-RU" sz="2300" dirty="0">
                  <a:latin typeface="Aptos" panose="020B0004020202020204" pitchFamily="34" charset="0"/>
                </a:endParaRPr>
              </a:p>
              <a:p>
                <a:pPr algn="ctr">
                  <a:defRPr/>
                </a:pPr>
                <a:r>
                  <a:rPr lang="ru-RU" sz="2300" b="1" i="1" dirty="0">
                    <a:latin typeface="Aptos" panose="020B0004020202020204" pitchFamily="34" charset="0"/>
                  </a:rPr>
                  <a:t>(</a:t>
                </a:r>
                <a14:m>
                  <m:oMath xmlns:m="http://schemas.openxmlformats.org/officeDocument/2006/math">
                    <m:sSub>
                      <m:sSubPr>
                        <m:ctrlPr>
                          <a:rPr lang="ar-AE" sz="2300" b="1" i="1">
                            <a:latin typeface="Cambria Math" panose="02040503050406030204" pitchFamily="18" charset="0"/>
                            <a:ea typeface="Cambria Math"/>
                            <a:cs typeface="Cambria Math"/>
                          </a:rPr>
                        </m:ctrlPr>
                      </m:sSubPr>
                      <m:e>
                        <m:r>
                          <a:rPr lang="ar-AE" sz="2300" b="1" i="1">
                            <a:latin typeface="Cambria Math"/>
                          </a:rPr>
                          <m:t>𝑴𝑷</m:t>
                        </m:r>
                      </m:e>
                      <m:sub>
                        <m:r>
                          <a:rPr lang="ar-AE" sz="2300" b="1" i="1">
                            <a:latin typeface="Cambria Math"/>
                          </a:rPr>
                          <m:t>𝑳</m:t>
                        </m:r>
                      </m:sub>
                    </m:sSub>
                  </m:oMath>
                </a14:m>
                <a:r>
                  <a:rPr lang="ar-AE" sz="2300" b="1" i="1" dirty="0">
                    <a:latin typeface="Aptos" panose="020B0004020202020204" pitchFamily="34" charset="0"/>
                  </a:rPr>
                  <a:t> -  </a:t>
                </a:r>
                <a:r>
                  <a:rPr lang="en-GB" sz="2300" b="1" i="1" dirty="0">
                    <a:latin typeface="Aptos" panose="020B0004020202020204" pitchFamily="34" charset="0"/>
                  </a:rPr>
                  <a:t>marginal product of labor) </a:t>
                </a:r>
                <a:r>
                  <a:rPr lang="en-GB" sz="2300" dirty="0">
                    <a:latin typeface="Aptos" panose="020B0004020202020204" pitchFamily="34" charset="0"/>
                  </a:rPr>
                  <a:t>-</a:t>
                </a:r>
                <a:r>
                  <a:rPr lang="ru-RU" sz="2300" dirty="0">
                    <a:latin typeface="Aptos" panose="020B0004020202020204" pitchFamily="34" charset="0"/>
                  </a:rPr>
                  <a:t> прирост общего продукта в результате применения дополнительной единицы  труда</a:t>
                </a:r>
              </a:p>
              <a:p>
                <a:pPr algn="ctr">
                  <a:lnSpc>
                    <a:spcPct val="107000"/>
                  </a:lnSpc>
                  <a:spcAft>
                    <a:spcPts val="800"/>
                  </a:spcAft>
                  <a:defRPr/>
                </a:pPr>
                <a14:m>
                  <m:oMath xmlns:m="http://schemas.openxmlformats.org/officeDocument/2006/math">
                    <m:sSub>
                      <m:sSubPr>
                        <m:ctrlPr>
                          <a:rPr lang="ar-AE" sz="2300" b="1" i="1">
                            <a:latin typeface="Cambria Math" panose="02040503050406030204" pitchFamily="18" charset="0"/>
                            <a:ea typeface="Cambria Math"/>
                          </a:rPr>
                        </m:ctrlPr>
                      </m:sSubPr>
                      <m:e>
                        <m:r>
                          <a:rPr lang="ar-AE" sz="2300" b="1" i="1">
                            <a:latin typeface="Cambria Math"/>
                          </a:rPr>
                          <m:t>𝑴𝑷</m:t>
                        </m:r>
                      </m:e>
                      <m:sub>
                        <m:r>
                          <a:rPr lang="ar-AE" sz="2300" b="1" i="1">
                            <a:latin typeface="Cambria Math"/>
                          </a:rPr>
                          <m:t>𝑳</m:t>
                        </m:r>
                      </m:sub>
                    </m:sSub>
                    <m:r>
                      <a:rPr lang="ar-AE" sz="2300" b="1" i="1">
                        <a:latin typeface="Cambria Math"/>
                      </a:rPr>
                      <m:t>=</m:t>
                    </m:r>
                    <m:f>
                      <m:fPr>
                        <m:ctrlPr>
                          <a:rPr lang="ar-AE" sz="2300" b="1" i="1">
                            <a:latin typeface="Cambria Math" panose="02040503050406030204" pitchFamily="18" charset="0"/>
                            <a:ea typeface="Cambria Math"/>
                          </a:rPr>
                        </m:ctrlPr>
                      </m:fPr>
                      <m:num>
                        <m:r>
                          <a:rPr lang="ar-AE" sz="2300" b="1" i="1">
                            <a:latin typeface="Cambria Math"/>
                          </a:rPr>
                          <m:t>𝜟</m:t>
                        </m:r>
                        <m:r>
                          <a:rPr lang="ar-AE" sz="2300" b="1" i="1">
                            <a:latin typeface="Cambria Math"/>
                          </a:rPr>
                          <m:t>𝑸</m:t>
                        </m:r>
                      </m:num>
                      <m:den>
                        <m:r>
                          <a:rPr lang="ar-AE" sz="2300" b="1" i="1">
                            <a:latin typeface="Cambria Math"/>
                          </a:rPr>
                          <m:t>𝜟</m:t>
                        </m:r>
                        <m:r>
                          <a:rPr lang="ar-AE" sz="2300" b="1" i="1">
                            <a:latin typeface="Cambria Math"/>
                          </a:rPr>
                          <m:t>𝑳</m:t>
                        </m:r>
                      </m:den>
                    </m:f>
                  </m:oMath>
                </a14:m>
                <a:r>
                  <a:rPr lang="ar-AE" sz="2300" b="1" i="1" dirty="0">
                    <a:latin typeface="Aptos" panose="020B0004020202020204" pitchFamily="34" charset="0"/>
                  </a:rPr>
                  <a:t> 	</a:t>
                </a:r>
                <a:r>
                  <a:rPr lang="ar-AE" sz="2300" b="1" dirty="0">
                    <a:solidFill>
                      <a:srgbClr val="836967"/>
                    </a:solidFill>
                    <a:latin typeface="Aptos" panose="020B0004020202020204" pitchFamily="34" charset="0"/>
                  </a:rPr>
                  <a:t> </a:t>
                </a:r>
                <a14:m>
                  <m:oMath xmlns:m="http://schemas.openxmlformats.org/officeDocument/2006/math">
                    <m:sSub>
                      <m:sSubPr>
                        <m:ctrlPr>
                          <a:rPr lang="ar-AE" sz="2300" b="1" i="1">
                            <a:solidFill>
                              <a:srgbClr val="836967"/>
                            </a:solidFill>
                            <a:latin typeface="Cambria Math" panose="02040503050406030204" pitchFamily="18" charset="0"/>
                            <a:ea typeface="Cambria Math"/>
                            <a:cs typeface="Cambria Math"/>
                          </a:rPr>
                        </m:ctrlPr>
                      </m:sSubPr>
                      <m:e>
                        <m:r>
                          <a:rPr lang="ar-AE" sz="2300" b="1" i="1">
                            <a:latin typeface="Cambria Math"/>
                          </a:rPr>
                          <m:t>𝑴𝑷</m:t>
                        </m:r>
                      </m:e>
                      <m:sub>
                        <m:r>
                          <a:rPr lang="ar-AE" sz="2300" b="1" i="1">
                            <a:latin typeface="Cambria Math"/>
                          </a:rPr>
                          <m:t>𝑳</m:t>
                        </m:r>
                      </m:sub>
                    </m:sSub>
                    <m:r>
                      <a:rPr lang="ar-AE" sz="2300">
                        <a:latin typeface="Cambria Math"/>
                      </a:rPr>
                      <m:t>=</m:t>
                    </m:r>
                    <m:f>
                      <m:fPr>
                        <m:ctrlPr>
                          <a:rPr lang="ar-AE" sz="2300" i="1">
                            <a:solidFill>
                              <a:srgbClr val="836967"/>
                            </a:solidFill>
                            <a:latin typeface="Cambria Math" panose="02040503050406030204" pitchFamily="18" charset="0"/>
                            <a:ea typeface="Cambria Math"/>
                            <a:cs typeface="Cambria Math"/>
                          </a:rPr>
                        </m:ctrlPr>
                      </m:fPr>
                      <m:num>
                        <m:r>
                          <a:rPr lang="ar-AE" sz="2300">
                            <a:latin typeface="Cambria Math"/>
                          </a:rPr>
                          <m:t>𝜕</m:t>
                        </m:r>
                        <m:r>
                          <a:rPr lang="ar-AE" sz="2300" b="1" i="1">
                            <a:latin typeface="Cambria Math"/>
                          </a:rPr>
                          <m:t>𝑸</m:t>
                        </m:r>
                        <m:d>
                          <m:dPr>
                            <m:ctrlPr>
                              <a:rPr lang="ar-AE" sz="2300" b="1" i="1">
                                <a:latin typeface="Cambria Math" panose="02040503050406030204" pitchFamily="18" charset="0"/>
                                <a:ea typeface="Cambria Math"/>
                                <a:cs typeface="Cambria Math"/>
                              </a:rPr>
                            </m:ctrlPr>
                          </m:dPr>
                          <m:e>
                            <m:r>
                              <a:rPr lang="ar-AE" sz="2300" b="1" i="1">
                                <a:latin typeface="Cambria Math"/>
                              </a:rPr>
                              <m:t>𝑳𝑲</m:t>
                            </m:r>
                          </m:e>
                        </m:d>
                      </m:num>
                      <m:den>
                        <m:r>
                          <a:rPr lang="ar-AE" sz="2300">
                            <a:latin typeface="Cambria Math"/>
                          </a:rPr>
                          <m:t>𝜕</m:t>
                        </m:r>
                        <m:r>
                          <a:rPr lang="ar-AE" sz="2300" b="1" i="1">
                            <a:latin typeface="Cambria Math"/>
                          </a:rPr>
                          <m:t>𝑳</m:t>
                        </m:r>
                      </m:den>
                    </m:f>
                  </m:oMath>
                </a14:m>
                <a:endParaRPr lang="ar-AE" sz="2300" b="1" i="1" dirty="0">
                  <a:latin typeface="Aptos" panose="020B0004020202020204" pitchFamily="34" charset="0"/>
                </a:endParaRPr>
              </a:p>
            </p:txBody>
          </p:sp>
        </mc:Choice>
        <mc:Fallback xmlns="">
          <p:sp>
            <p:nvSpPr>
              <p:cNvPr id="11" name="TextBox 10">
                <a:extLst>
                  <a:ext uri="{FF2B5EF4-FFF2-40B4-BE49-F238E27FC236}">
                    <a16:creationId xmlns:a16="http://schemas.microsoft.com/office/drawing/2014/main" id="{49047252-63FE-D76E-91C7-1B1A2E6535A1}"/>
                  </a:ext>
                </a:extLst>
              </p:cNvPr>
              <p:cNvSpPr txBox="1">
                <a:spLocks noRot="1" noChangeAspect="1" noMove="1" noResize="1" noEditPoints="1" noAdjustHandles="1" noChangeArrowheads="1" noChangeShapeType="1" noTextEdit="1"/>
              </p:cNvSpPr>
              <p:nvPr/>
            </p:nvSpPr>
            <p:spPr bwMode="auto">
              <a:xfrm>
                <a:off x="401912" y="4169700"/>
                <a:ext cx="5503472" cy="2426242"/>
              </a:xfrm>
              <a:prstGeom prst="rect">
                <a:avLst/>
              </a:prstGeom>
              <a:blipFill>
                <a:blip r:embed="rId2"/>
                <a:stretch>
                  <a:fillRect t="-2083" r="-2069" b="-1042"/>
                </a:stretch>
              </a:blipFill>
            </p:spPr>
            <p:txBody>
              <a:bodyPr/>
              <a:lstStyle/>
              <a:p>
                <a:r>
                  <a:rPr lang="en-R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804008B-4C8A-46B0-94F0-A19DCCFE21FD}"/>
                  </a:ext>
                </a:extLst>
              </p:cNvPr>
              <p:cNvSpPr txBox="1"/>
              <p:nvPr/>
            </p:nvSpPr>
            <p:spPr bwMode="auto">
              <a:xfrm>
                <a:off x="6096000" y="4169700"/>
                <a:ext cx="5578411" cy="2426242"/>
              </a:xfrm>
              <a:prstGeom prst="rect">
                <a:avLst/>
              </a:prstGeom>
              <a:noFill/>
            </p:spPr>
            <p:txBody>
              <a:bodyPr wrap="square">
                <a:spAutoFit/>
              </a:bodyPr>
              <a:lstStyle/>
              <a:p>
                <a:pPr algn="ctr">
                  <a:defRPr/>
                </a:pPr>
                <a:r>
                  <a:rPr lang="ru-RU" sz="2300" b="1" i="1" dirty="0">
                    <a:latin typeface="Aptos" panose="020B0004020202020204" pitchFamily="34" charset="0"/>
                  </a:rPr>
                  <a:t>ПРЕДЕЛЬНЫЙ ПРОДУКТ КАПИТАЛА </a:t>
                </a:r>
                <a:endParaRPr lang="ru-RU" sz="2300" dirty="0">
                  <a:latin typeface="Aptos" panose="020B0004020202020204" pitchFamily="34" charset="0"/>
                </a:endParaRPr>
              </a:p>
              <a:p>
                <a:pPr algn="ctr">
                  <a:defRPr/>
                </a:pPr>
                <a:r>
                  <a:rPr lang="ru-RU" sz="2300" b="1" i="1" dirty="0">
                    <a:latin typeface="Aptos" panose="020B0004020202020204" pitchFamily="34" charset="0"/>
                  </a:rPr>
                  <a:t>(</a:t>
                </a:r>
                <a14:m>
                  <m:oMath xmlns:m="http://schemas.openxmlformats.org/officeDocument/2006/math">
                    <m:sSub>
                      <m:sSubPr>
                        <m:ctrlPr>
                          <a:rPr lang="ar-AE" sz="2300" b="1" i="1">
                            <a:latin typeface="Cambria Math" panose="02040503050406030204" pitchFamily="18" charset="0"/>
                            <a:ea typeface="Cambria Math"/>
                            <a:cs typeface="Cambria Math"/>
                          </a:rPr>
                        </m:ctrlPr>
                      </m:sSubPr>
                      <m:e>
                        <m:r>
                          <a:rPr lang="ar-AE" sz="2300" b="1" i="1">
                            <a:latin typeface="Cambria Math"/>
                          </a:rPr>
                          <m:t>𝑴𝑷</m:t>
                        </m:r>
                      </m:e>
                      <m:sub>
                        <m:r>
                          <a:rPr lang="ar-AE" sz="2300" b="1" i="1">
                            <a:latin typeface="Cambria Math"/>
                          </a:rPr>
                          <m:t>𝑲</m:t>
                        </m:r>
                      </m:sub>
                    </m:sSub>
                  </m:oMath>
                </a14:m>
                <a:r>
                  <a:rPr lang="ar-AE" sz="2300" b="1" i="1" dirty="0">
                    <a:latin typeface="Aptos" panose="020B0004020202020204" pitchFamily="34" charset="0"/>
                  </a:rPr>
                  <a:t> -  </a:t>
                </a:r>
                <a:r>
                  <a:rPr lang="en-GB" sz="2300" b="1" i="1" dirty="0">
                    <a:latin typeface="Aptos" panose="020B0004020202020204" pitchFamily="34" charset="0"/>
                  </a:rPr>
                  <a:t>marginal product of capital) </a:t>
                </a:r>
                <a:r>
                  <a:rPr lang="en-GB" sz="2300" dirty="0">
                    <a:latin typeface="Aptos" panose="020B0004020202020204" pitchFamily="34" charset="0"/>
                  </a:rPr>
                  <a:t>- </a:t>
                </a:r>
                <a:r>
                  <a:rPr lang="ru-RU" sz="2300" dirty="0">
                    <a:latin typeface="Aptos" panose="020B0004020202020204" pitchFamily="34" charset="0"/>
                  </a:rPr>
                  <a:t>прирост общего продукта в результате применения дополнительной единицы  труда</a:t>
                </a:r>
              </a:p>
              <a:p>
                <a:pPr algn="ctr">
                  <a:lnSpc>
                    <a:spcPct val="107000"/>
                  </a:lnSpc>
                  <a:spcAft>
                    <a:spcPts val="800"/>
                  </a:spcAft>
                  <a:defRPr/>
                </a:pPr>
                <a14:m>
                  <m:oMath xmlns:m="http://schemas.openxmlformats.org/officeDocument/2006/math">
                    <m:sSub>
                      <m:sSubPr>
                        <m:ctrlPr>
                          <a:rPr lang="ar-AE" sz="2300" b="1" i="1">
                            <a:latin typeface="Cambria Math" panose="02040503050406030204" pitchFamily="18" charset="0"/>
                            <a:ea typeface="Cambria Math"/>
                          </a:rPr>
                        </m:ctrlPr>
                      </m:sSubPr>
                      <m:e>
                        <m:r>
                          <a:rPr lang="ar-AE" sz="2300" b="1" i="1">
                            <a:latin typeface="Cambria Math"/>
                          </a:rPr>
                          <m:t>𝑴𝑷</m:t>
                        </m:r>
                      </m:e>
                      <m:sub>
                        <m:r>
                          <a:rPr lang="ar-AE" sz="2300" b="1" i="1">
                            <a:latin typeface="Cambria Math"/>
                          </a:rPr>
                          <m:t>𝑲</m:t>
                        </m:r>
                      </m:sub>
                    </m:sSub>
                    <m:r>
                      <a:rPr lang="ar-AE" sz="2300" b="1" i="1">
                        <a:latin typeface="Cambria Math"/>
                      </a:rPr>
                      <m:t>=</m:t>
                    </m:r>
                    <m:f>
                      <m:fPr>
                        <m:ctrlPr>
                          <a:rPr lang="ar-AE" sz="2300" b="1" i="1">
                            <a:latin typeface="Cambria Math" panose="02040503050406030204" pitchFamily="18" charset="0"/>
                            <a:ea typeface="Cambria Math"/>
                          </a:rPr>
                        </m:ctrlPr>
                      </m:fPr>
                      <m:num>
                        <m:r>
                          <a:rPr lang="ar-AE" sz="2300" b="1" i="1">
                            <a:latin typeface="Cambria Math"/>
                          </a:rPr>
                          <m:t>𝜟</m:t>
                        </m:r>
                        <m:r>
                          <a:rPr lang="ar-AE" sz="2300" b="1" i="1">
                            <a:latin typeface="Cambria Math"/>
                          </a:rPr>
                          <m:t>𝑸</m:t>
                        </m:r>
                      </m:num>
                      <m:den>
                        <m:r>
                          <a:rPr lang="ar-AE" sz="2300" b="1" i="1">
                            <a:latin typeface="Cambria Math"/>
                          </a:rPr>
                          <m:t>𝜟</m:t>
                        </m:r>
                        <m:r>
                          <a:rPr lang="ar-AE" sz="2300" b="1" i="1">
                            <a:latin typeface="Cambria Math"/>
                          </a:rPr>
                          <m:t>𝑲</m:t>
                        </m:r>
                      </m:den>
                    </m:f>
                  </m:oMath>
                </a14:m>
                <a:r>
                  <a:rPr lang="ar-AE" sz="2300" b="1" i="1" dirty="0">
                    <a:latin typeface="Aptos" panose="020B0004020202020204" pitchFamily="34" charset="0"/>
                  </a:rPr>
                  <a:t>	</a:t>
                </a:r>
                <a:r>
                  <a:rPr lang="ar-AE" sz="2300" b="1" dirty="0">
                    <a:solidFill>
                      <a:srgbClr val="836967"/>
                    </a:solidFill>
                    <a:latin typeface="Aptos" panose="020B0004020202020204" pitchFamily="34" charset="0"/>
                  </a:rPr>
                  <a:t> </a:t>
                </a:r>
                <a14:m>
                  <m:oMath xmlns:m="http://schemas.openxmlformats.org/officeDocument/2006/math">
                    <m:sSub>
                      <m:sSubPr>
                        <m:ctrlPr>
                          <a:rPr lang="ar-AE" sz="2300" b="1" i="1">
                            <a:solidFill>
                              <a:srgbClr val="836967"/>
                            </a:solidFill>
                            <a:latin typeface="Cambria Math" panose="02040503050406030204" pitchFamily="18" charset="0"/>
                            <a:ea typeface="Cambria Math"/>
                            <a:cs typeface="Cambria Math"/>
                          </a:rPr>
                        </m:ctrlPr>
                      </m:sSubPr>
                      <m:e>
                        <m:r>
                          <a:rPr lang="ar-AE" sz="2300" b="1" i="1">
                            <a:latin typeface="Cambria Math"/>
                          </a:rPr>
                          <m:t>𝑴𝑷</m:t>
                        </m:r>
                      </m:e>
                      <m:sub>
                        <m:r>
                          <a:rPr lang="ar-AE" sz="2300" b="1" i="1">
                            <a:latin typeface="Cambria Math"/>
                          </a:rPr>
                          <m:t>𝑲</m:t>
                        </m:r>
                      </m:sub>
                    </m:sSub>
                    <m:r>
                      <a:rPr lang="ar-AE" sz="2300">
                        <a:latin typeface="Cambria Math"/>
                      </a:rPr>
                      <m:t>=</m:t>
                    </m:r>
                    <m:f>
                      <m:fPr>
                        <m:ctrlPr>
                          <a:rPr lang="ar-AE" sz="2300" i="1">
                            <a:solidFill>
                              <a:srgbClr val="836967"/>
                            </a:solidFill>
                            <a:latin typeface="Cambria Math" panose="02040503050406030204" pitchFamily="18" charset="0"/>
                            <a:ea typeface="Cambria Math"/>
                            <a:cs typeface="Cambria Math"/>
                          </a:rPr>
                        </m:ctrlPr>
                      </m:fPr>
                      <m:num>
                        <m:r>
                          <a:rPr lang="ar-AE" sz="2300">
                            <a:latin typeface="Cambria Math"/>
                          </a:rPr>
                          <m:t>𝜕</m:t>
                        </m:r>
                        <m:r>
                          <a:rPr lang="ar-AE" sz="2300" b="1" i="1">
                            <a:latin typeface="Cambria Math"/>
                          </a:rPr>
                          <m:t>𝑸</m:t>
                        </m:r>
                        <m:d>
                          <m:dPr>
                            <m:ctrlPr>
                              <a:rPr lang="ar-AE" sz="2300" b="1" i="1">
                                <a:latin typeface="Cambria Math" panose="02040503050406030204" pitchFamily="18" charset="0"/>
                                <a:ea typeface="Cambria Math"/>
                                <a:cs typeface="Cambria Math"/>
                              </a:rPr>
                            </m:ctrlPr>
                          </m:dPr>
                          <m:e>
                            <m:r>
                              <a:rPr lang="ar-AE" sz="2300" b="1" i="1">
                                <a:latin typeface="Cambria Math"/>
                              </a:rPr>
                              <m:t>𝑳𝑲</m:t>
                            </m:r>
                          </m:e>
                        </m:d>
                      </m:num>
                      <m:den>
                        <m:r>
                          <a:rPr lang="ar-AE" sz="2300">
                            <a:latin typeface="Cambria Math"/>
                          </a:rPr>
                          <m:t>𝜕</m:t>
                        </m:r>
                        <m:r>
                          <a:rPr lang="ar-AE" sz="2300" b="1" i="1">
                            <a:latin typeface="Cambria Math"/>
                          </a:rPr>
                          <m:t>𝑲</m:t>
                        </m:r>
                      </m:den>
                    </m:f>
                  </m:oMath>
                </a14:m>
                <a:endParaRPr lang="ar-AE" sz="2300" b="1" i="1" dirty="0">
                  <a:latin typeface="Aptos" panose="020B0004020202020204" pitchFamily="34" charset="0"/>
                </a:endParaRPr>
              </a:p>
            </p:txBody>
          </p:sp>
        </mc:Choice>
        <mc:Fallback xmlns="">
          <p:sp>
            <p:nvSpPr>
              <p:cNvPr id="14" name="TextBox 13">
                <a:extLst>
                  <a:ext uri="{FF2B5EF4-FFF2-40B4-BE49-F238E27FC236}">
                    <a16:creationId xmlns:a16="http://schemas.microsoft.com/office/drawing/2014/main" id="{7804008B-4C8A-46B0-94F0-A19DCCFE21FD}"/>
                  </a:ext>
                </a:extLst>
              </p:cNvPr>
              <p:cNvSpPr txBox="1">
                <a:spLocks noRot="1" noChangeAspect="1" noMove="1" noResize="1" noEditPoints="1" noAdjustHandles="1" noChangeArrowheads="1" noChangeShapeType="1" noTextEdit="1"/>
              </p:cNvSpPr>
              <p:nvPr/>
            </p:nvSpPr>
            <p:spPr bwMode="auto">
              <a:xfrm>
                <a:off x="6096000" y="4169700"/>
                <a:ext cx="5578411" cy="2426242"/>
              </a:xfrm>
              <a:prstGeom prst="rect">
                <a:avLst/>
              </a:prstGeom>
              <a:blipFill>
                <a:blip r:embed="rId3"/>
                <a:stretch>
                  <a:fillRect t="-2083" r="-1364" b="-1042"/>
                </a:stretch>
              </a:blipFill>
            </p:spPr>
            <p:txBody>
              <a:bodyPr/>
              <a:lstStyle/>
              <a:p>
                <a:r>
                  <a:rPr lang="en-RU">
                    <a:noFill/>
                  </a:rPr>
                  <a:t> </a:t>
                </a:r>
              </a:p>
            </p:txBody>
          </p:sp>
        </mc:Fallback>
      </mc:AlternateContent>
    </p:spTree>
    <p:extLst>
      <p:ext uri="{BB962C8B-B14F-4D97-AF65-F5344CB8AC3E}">
        <p14:creationId xmlns:p14="http://schemas.microsoft.com/office/powerpoint/2010/main" val="1799709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2902581"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9" name="TextBox 8"/>
          <p:cNvSpPr txBox="1"/>
          <p:nvPr/>
        </p:nvSpPr>
        <p:spPr bwMode="auto">
          <a:xfrm>
            <a:off x="0" y="1256796"/>
            <a:ext cx="11674168" cy="2548455"/>
          </a:xfrm>
          <a:prstGeom prst="rect">
            <a:avLst/>
          </a:prstGeom>
          <a:noFill/>
        </p:spPr>
        <p:txBody>
          <a:bodyPr wrap="square" rtlCol="0">
            <a:spAutoFit/>
          </a:bodyPr>
          <a:lstStyle/>
          <a:p>
            <a:pPr marL="457200" algn="just">
              <a:lnSpc>
                <a:spcPct val="107000"/>
              </a:lnSpc>
              <a:spcAft>
                <a:spcPts val="800"/>
              </a:spcAft>
              <a:defRPr/>
            </a:pPr>
            <a:r>
              <a:rPr lang="ru-RU" sz="2400" b="1" dirty="0">
                <a:latin typeface="Aptos" panose="020B0004020202020204" pitchFamily="34" charset="0"/>
              </a:rPr>
              <a:t>Задача 2.</a:t>
            </a:r>
            <a:r>
              <a:rPr lang="ru-RU" sz="2400" dirty="0">
                <a:latin typeface="Aptos" panose="020B0004020202020204" pitchFamily="34" charset="0"/>
              </a:rPr>
              <a:t> У Игоря, мастера по дереву, есть небольшая оборудованная мастерская, в которой он делает столы. Предположим, что ежедневно Игорь может нанять разное количество работников, при неизменном количестве оборудования (К=3) и сырья (</a:t>
            </a:r>
            <a:r>
              <a:rPr lang="en-US" sz="2400" dirty="0">
                <a:latin typeface="Aptos" panose="020B0004020202020204" pitchFamily="34" charset="0"/>
              </a:rPr>
              <a:t>N=3)</a:t>
            </a:r>
            <a:r>
              <a:rPr lang="ru-RU" sz="2400" dirty="0">
                <a:latin typeface="Aptos" panose="020B0004020202020204" pitchFamily="34" charset="0"/>
              </a:rPr>
              <a:t>. </a:t>
            </a:r>
            <a:endParaRPr dirty="0">
              <a:latin typeface="Aptos" panose="020B0004020202020204" pitchFamily="34" charset="0"/>
            </a:endParaRPr>
          </a:p>
          <a:p>
            <a:pPr marL="457200" algn="just">
              <a:lnSpc>
                <a:spcPct val="107000"/>
              </a:lnSpc>
              <a:spcAft>
                <a:spcPts val="800"/>
              </a:spcAft>
              <a:defRPr/>
            </a:pPr>
            <a:r>
              <a:rPr lang="ru-RU" sz="2400" dirty="0">
                <a:latin typeface="Aptos" panose="020B0004020202020204" pitchFamily="34" charset="0"/>
              </a:rPr>
              <a:t>Рассчитайте средний продукт труда и предельный продукт труда? Попробуйте объяснить динамику этих показателей?</a:t>
            </a:r>
            <a:endParaRPr dirty="0">
              <a:latin typeface="Aptos" panose="020B0004020202020204" pitchFamily="34" charset="0"/>
            </a:endParaRPr>
          </a:p>
        </p:txBody>
      </p:sp>
      <p:graphicFrame>
        <p:nvGraphicFramePr>
          <p:cNvPr id="6" name="Таблица 5"/>
          <p:cNvGraphicFramePr>
            <a:graphicFrameLocks noGrp="1"/>
          </p:cNvGraphicFramePr>
          <p:nvPr>
            <p:extLst>
              <p:ext uri="{D42A27DB-BD31-4B8C-83A1-F6EECF244321}">
                <p14:modId xmlns:p14="http://schemas.microsoft.com/office/powerpoint/2010/main" val="3559872787"/>
              </p:ext>
            </p:extLst>
          </p:nvPr>
        </p:nvGraphicFramePr>
        <p:xfrm>
          <a:off x="1143688" y="4084240"/>
          <a:ext cx="9950136" cy="2424138"/>
        </p:xfrm>
        <a:graphic>
          <a:graphicData uri="http://schemas.openxmlformats.org/drawingml/2006/table">
            <a:tbl>
              <a:tblPr firstRow="1" bandRow="1">
                <a:tableStyleId>{5C22544A-7EE6-4342-B048-85BDC9FD1C3A}</a:tableStyleId>
              </a:tblPr>
              <a:tblGrid>
                <a:gridCol w="2487534">
                  <a:extLst>
                    <a:ext uri="{9D8B030D-6E8A-4147-A177-3AD203B41FA5}">
                      <a16:colId xmlns:a16="http://schemas.microsoft.com/office/drawing/2014/main" val="20000"/>
                    </a:ext>
                  </a:extLst>
                </a:gridCol>
                <a:gridCol w="2487534">
                  <a:extLst>
                    <a:ext uri="{9D8B030D-6E8A-4147-A177-3AD203B41FA5}">
                      <a16:colId xmlns:a16="http://schemas.microsoft.com/office/drawing/2014/main" val="20001"/>
                    </a:ext>
                  </a:extLst>
                </a:gridCol>
                <a:gridCol w="2487534">
                  <a:extLst>
                    <a:ext uri="{9D8B030D-6E8A-4147-A177-3AD203B41FA5}">
                      <a16:colId xmlns:a16="http://schemas.microsoft.com/office/drawing/2014/main" val="20002"/>
                    </a:ext>
                  </a:extLst>
                </a:gridCol>
                <a:gridCol w="2487534">
                  <a:extLst>
                    <a:ext uri="{9D8B030D-6E8A-4147-A177-3AD203B41FA5}">
                      <a16:colId xmlns:a16="http://schemas.microsoft.com/office/drawing/2014/main" val="20003"/>
                    </a:ext>
                  </a:extLst>
                </a:gridCol>
              </a:tblGrid>
              <a:tr h="404023">
                <a:tc>
                  <a:txBody>
                    <a:bodyPr/>
                    <a:lstStyle/>
                    <a:p>
                      <a:pPr algn="ctr">
                        <a:defRPr/>
                      </a:pPr>
                      <a:r>
                        <a:rPr lang="en-US">
                          <a:solidFill>
                            <a:schemeClr val="tx1"/>
                          </a:solidFill>
                        </a:rPr>
                        <a:t>L</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rPr>
                        <a:t>Q</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rPr>
                        <a:t>AP</a:t>
                      </a:r>
                      <a:r>
                        <a:rPr lang="en-US" sz="1200">
                          <a:solidFill>
                            <a:schemeClr val="tx1"/>
                          </a:solidFill>
                        </a:rPr>
                        <a:t>L</a:t>
                      </a:r>
                      <a:endParaRPr lang="ru-RU"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rPr>
                        <a:t>MP</a:t>
                      </a:r>
                      <a:r>
                        <a:rPr lang="en-US" sz="1200">
                          <a:solidFill>
                            <a:schemeClr val="tx1"/>
                          </a:solidFill>
                        </a:rPr>
                        <a:t>L</a:t>
                      </a:r>
                      <a:endParaRPr lang="ru-RU"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4023">
                <a:tc>
                  <a:txBody>
                    <a:bodyPr/>
                    <a:lstStyle/>
                    <a:p>
                      <a:pPr algn="ctr">
                        <a:defRPr/>
                      </a:pPr>
                      <a:r>
                        <a:rPr lang="en-US">
                          <a:solidFill>
                            <a:schemeClr val="tx1"/>
                          </a:solidFill>
                        </a:rPr>
                        <a:t>1</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a:solidFill>
                            <a:schemeClr val="tx1"/>
                          </a:solidFill>
                        </a:rPr>
                        <a:t>5</a:t>
                      </a:r>
                      <a:endParaRPr>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4023">
                <a:tc>
                  <a:txBody>
                    <a:bodyPr/>
                    <a:lstStyle/>
                    <a:p>
                      <a:pPr algn="ctr">
                        <a:defRPr/>
                      </a:pPr>
                      <a:r>
                        <a:rPr lang="en-US" dirty="0">
                          <a:solidFill>
                            <a:schemeClr val="tx1"/>
                          </a:solidFill>
                        </a:rPr>
                        <a:t>2</a:t>
                      </a:r>
                      <a:endParaRPr lang="ru-R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a:solidFill>
                            <a:schemeClr val="tx1"/>
                          </a:solidFill>
                        </a:rPr>
                        <a:t>12</a:t>
                      </a:r>
                      <a:endParaRPr>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4023">
                <a:tc>
                  <a:txBody>
                    <a:bodyPr/>
                    <a:lstStyle/>
                    <a:p>
                      <a:pPr algn="ctr">
                        <a:defRPr/>
                      </a:pPr>
                      <a:r>
                        <a:rPr lang="en-US">
                          <a:solidFill>
                            <a:schemeClr val="tx1"/>
                          </a:solidFill>
                        </a:rPr>
                        <a:t>3</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a:solidFill>
                            <a:schemeClr val="tx1"/>
                          </a:solidFill>
                        </a:rPr>
                        <a:t>21</a:t>
                      </a:r>
                      <a:endParaRPr>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04023">
                <a:tc>
                  <a:txBody>
                    <a:bodyPr/>
                    <a:lstStyle/>
                    <a:p>
                      <a:pPr algn="ctr">
                        <a:defRPr/>
                      </a:pPr>
                      <a:r>
                        <a:rPr lang="en-US">
                          <a:solidFill>
                            <a:schemeClr val="tx1"/>
                          </a:solidFill>
                        </a:rPr>
                        <a:t>4</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a:solidFill>
                            <a:schemeClr val="tx1"/>
                          </a:solidFill>
                        </a:rPr>
                        <a:t>24</a:t>
                      </a:r>
                      <a:endParaRPr>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04023">
                <a:tc>
                  <a:txBody>
                    <a:bodyPr/>
                    <a:lstStyle/>
                    <a:p>
                      <a:pPr algn="ctr">
                        <a:defRPr/>
                      </a:pPr>
                      <a:r>
                        <a:rPr lang="en-US">
                          <a:solidFill>
                            <a:schemeClr val="tx1"/>
                          </a:solidFill>
                        </a:rPr>
                        <a:t>5</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a:solidFill>
                            <a:schemeClr val="tx1"/>
                          </a:solidFill>
                        </a:rPr>
                        <a:t>25</a:t>
                      </a:r>
                      <a:endParaRPr>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pic>
        <p:nvPicPr>
          <p:cNvPr id="56" name="Рукописный ввод 55"/>
          <p:cNvPicPr/>
          <p:nvPr/>
        </p:nvPicPr>
        <p:blipFill>
          <a:blip r:embed="rId2"/>
          <a:stretch/>
        </p:blipFill>
        <p:spPr bwMode="auto">
          <a:xfrm>
            <a:off x="3840703" y="5308438"/>
            <a:ext cx="21600" cy="219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BE5E42D-E54F-6C64-CDA5-6014A451827A}"/>
            </a:ext>
          </a:extLst>
        </p:cNvPr>
        <p:cNvGrpSpPr/>
        <p:nvPr/>
      </p:nvGrpSpPr>
      <p:grpSpPr bwMode="auto">
        <a:xfrm>
          <a:off x="0" y="0"/>
          <a:ext cx="0" cy="0"/>
          <a:chOff x="0" y="0"/>
          <a:chExt cx="0" cy="0"/>
        </a:xfrm>
      </p:grpSpPr>
      <p:sp>
        <p:nvSpPr>
          <p:cNvPr id="2" name="Текст 1">
            <a:extLst>
              <a:ext uri="{FF2B5EF4-FFF2-40B4-BE49-F238E27FC236}">
                <a16:creationId xmlns:a16="http://schemas.microsoft.com/office/drawing/2014/main" id="{68ED0760-4675-8696-E33E-91DE4742E7F2}"/>
              </a:ext>
            </a:extLst>
          </p:cNvPr>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a:extLst>
              <a:ext uri="{FF2B5EF4-FFF2-40B4-BE49-F238E27FC236}">
                <a16:creationId xmlns:a16="http://schemas.microsoft.com/office/drawing/2014/main" id="{2F1B225C-3C23-8694-FF7E-7A23214ADC93}"/>
              </a:ext>
            </a:extLst>
          </p:cNvPr>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a:extLst>
              <a:ext uri="{FF2B5EF4-FFF2-40B4-BE49-F238E27FC236}">
                <a16:creationId xmlns:a16="http://schemas.microsoft.com/office/drawing/2014/main" id="{606F2543-0CC7-000F-138A-A82DB629F501}"/>
              </a:ext>
            </a:extLst>
          </p:cNvPr>
          <p:cNvSpPr>
            <a:spLocks noGrp="1"/>
          </p:cNvSpPr>
          <p:nvPr>
            <p:ph type="body" sz="quarter" idx="15"/>
          </p:nvPr>
        </p:nvSpPr>
        <p:spPr bwMode="auto">
          <a:xfrm>
            <a:off x="6259890" y="548720"/>
            <a:ext cx="2902581"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9" name="TextBox 8">
            <a:extLst>
              <a:ext uri="{FF2B5EF4-FFF2-40B4-BE49-F238E27FC236}">
                <a16:creationId xmlns:a16="http://schemas.microsoft.com/office/drawing/2014/main" id="{469ECFAD-6EFB-AC55-7DD2-325BFE0FA85D}"/>
              </a:ext>
            </a:extLst>
          </p:cNvPr>
          <p:cNvSpPr txBox="1"/>
          <p:nvPr/>
        </p:nvSpPr>
        <p:spPr bwMode="auto">
          <a:xfrm>
            <a:off x="0" y="1256796"/>
            <a:ext cx="11674168" cy="2548455"/>
          </a:xfrm>
          <a:prstGeom prst="rect">
            <a:avLst/>
          </a:prstGeom>
          <a:noFill/>
        </p:spPr>
        <p:txBody>
          <a:bodyPr wrap="square" rtlCol="0">
            <a:spAutoFit/>
          </a:bodyPr>
          <a:lstStyle/>
          <a:p>
            <a:pPr marL="457200" algn="just">
              <a:lnSpc>
                <a:spcPct val="107000"/>
              </a:lnSpc>
              <a:spcAft>
                <a:spcPts val="800"/>
              </a:spcAft>
              <a:defRPr/>
            </a:pPr>
            <a:r>
              <a:rPr lang="ru-RU" sz="2400" b="1" dirty="0">
                <a:latin typeface="Aptos" panose="020B0004020202020204" pitchFamily="34" charset="0"/>
              </a:rPr>
              <a:t>Задача 2.</a:t>
            </a:r>
            <a:r>
              <a:rPr lang="ru-RU" sz="2400" dirty="0">
                <a:latin typeface="Aptos" panose="020B0004020202020204" pitchFamily="34" charset="0"/>
              </a:rPr>
              <a:t> У Игоря, мастера по дереву, есть небольшая оборудованная мастерская, в которой он делает столы. Предположим, что ежедневно Игорь может нанять разное количество работников, при неизменном количестве оборудования (К=3) и сырья (</a:t>
            </a:r>
            <a:r>
              <a:rPr lang="en-US" sz="2400" dirty="0">
                <a:latin typeface="Aptos" panose="020B0004020202020204" pitchFamily="34" charset="0"/>
              </a:rPr>
              <a:t>N=3)</a:t>
            </a:r>
            <a:r>
              <a:rPr lang="ru-RU" sz="2400" dirty="0">
                <a:latin typeface="Aptos" panose="020B0004020202020204" pitchFamily="34" charset="0"/>
              </a:rPr>
              <a:t>. </a:t>
            </a:r>
            <a:endParaRPr dirty="0">
              <a:latin typeface="Aptos" panose="020B0004020202020204" pitchFamily="34" charset="0"/>
            </a:endParaRPr>
          </a:p>
          <a:p>
            <a:pPr marL="457200" algn="just">
              <a:lnSpc>
                <a:spcPct val="107000"/>
              </a:lnSpc>
              <a:spcAft>
                <a:spcPts val="800"/>
              </a:spcAft>
              <a:defRPr/>
            </a:pPr>
            <a:r>
              <a:rPr lang="ru-RU" sz="2400" dirty="0">
                <a:latin typeface="Aptos" panose="020B0004020202020204" pitchFamily="34" charset="0"/>
              </a:rPr>
              <a:t>Рассчитайте средний продукт труда и предельный продукт труда? Попробуйте объяснить динамику этих показателей?</a:t>
            </a:r>
            <a:endParaRPr dirty="0">
              <a:latin typeface="Aptos" panose="020B0004020202020204" pitchFamily="34" charset="0"/>
            </a:endParaRPr>
          </a:p>
        </p:txBody>
      </p:sp>
      <p:graphicFrame>
        <p:nvGraphicFramePr>
          <p:cNvPr id="6" name="Таблица 5">
            <a:extLst>
              <a:ext uri="{FF2B5EF4-FFF2-40B4-BE49-F238E27FC236}">
                <a16:creationId xmlns:a16="http://schemas.microsoft.com/office/drawing/2014/main" id="{49F484B7-7899-D700-ECB6-70315F810F32}"/>
              </a:ext>
            </a:extLst>
          </p:cNvPr>
          <p:cNvGraphicFramePr>
            <a:graphicFrameLocks noGrp="1"/>
          </p:cNvGraphicFramePr>
          <p:nvPr>
            <p:extLst>
              <p:ext uri="{D42A27DB-BD31-4B8C-83A1-F6EECF244321}">
                <p14:modId xmlns:p14="http://schemas.microsoft.com/office/powerpoint/2010/main" val="2126843930"/>
              </p:ext>
            </p:extLst>
          </p:nvPr>
        </p:nvGraphicFramePr>
        <p:xfrm>
          <a:off x="1143688" y="4084240"/>
          <a:ext cx="9950136" cy="2424138"/>
        </p:xfrm>
        <a:graphic>
          <a:graphicData uri="http://schemas.openxmlformats.org/drawingml/2006/table">
            <a:tbl>
              <a:tblPr firstRow="1" bandRow="1">
                <a:tableStyleId>{5C22544A-7EE6-4342-B048-85BDC9FD1C3A}</a:tableStyleId>
              </a:tblPr>
              <a:tblGrid>
                <a:gridCol w="2487534">
                  <a:extLst>
                    <a:ext uri="{9D8B030D-6E8A-4147-A177-3AD203B41FA5}">
                      <a16:colId xmlns:a16="http://schemas.microsoft.com/office/drawing/2014/main" val="20000"/>
                    </a:ext>
                  </a:extLst>
                </a:gridCol>
                <a:gridCol w="2487534">
                  <a:extLst>
                    <a:ext uri="{9D8B030D-6E8A-4147-A177-3AD203B41FA5}">
                      <a16:colId xmlns:a16="http://schemas.microsoft.com/office/drawing/2014/main" val="20001"/>
                    </a:ext>
                  </a:extLst>
                </a:gridCol>
                <a:gridCol w="2487534">
                  <a:extLst>
                    <a:ext uri="{9D8B030D-6E8A-4147-A177-3AD203B41FA5}">
                      <a16:colId xmlns:a16="http://schemas.microsoft.com/office/drawing/2014/main" val="20002"/>
                    </a:ext>
                  </a:extLst>
                </a:gridCol>
                <a:gridCol w="2487534">
                  <a:extLst>
                    <a:ext uri="{9D8B030D-6E8A-4147-A177-3AD203B41FA5}">
                      <a16:colId xmlns:a16="http://schemas.microsoft.com/office/drawing/2014/main" val="20003"/>
                    </a:ext>
                  </a:extLst>
                </a:gridCol>
              </a:tblGrid>
              <a:tr h="404023">
                <a:tc>
                  <a:txBody>
                    <a:bodyPr/>
                    <a:lstStyle/>
                    <a:p>
                      <a:pPr algn="ctr">
                        <a:defRPr/>
                      </a:pPr>
                      <a:r>
                        <a:rPr lang="en-US">
                          <a:solidFill>
                            <a:schemeClr val="tx1"/>
                          </a:solidFill>
                        </a:rPr>
                        <a:t>L</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rPr>
                        <a:t>Q</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rPr>
                        <a:t>AP</a:t>
                      </a:r>
                      <a:r>
                        <a:rPr lang="en-US" sz="1200">
                          <a:solidFill>
                            <a:schemeClr val="tx1"/>
                          </a:solidFill>
                        </a:rPr>
                        <a:t>L</a:t>
                      </a:r>
                      <a:endParaRPr lang="ru-RU"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rPr>
                        <a:t>MP</a:t>
                      </a:r>
                      <a:r>
                        <a:rPr lang="en-US" sz="1200">
                          <a:solidFill>
                            <a:schemeClr val="tx1"/>
                          </a:solidFill>
                        </a:rPr>
                        <a:t>L</a:t>
                      </a:r>
                      <a:endParaRPr lang="ru-RU"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4023">
                <a:tc>
                  <a:txBody>
                    <a:bodyPr/>
                    <a:lstStyle/>
                    <a:p>
                      <a:pPr algn="ctr">
                        <a:defRPr/>
                      </a:pPr>
                      <a:r>
                        <a:rPr lang="en-US">
                          <a:solidFill>
                            <a:schemeClr val="tx1"/>
                          </a:solidFill>
                        </a:rPr>
                        <a:t>1</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a:solidFill>
                            <a:schemeClr val="tx1"/>
                          </a:solidFill>
                        </a:rPr>
                        <a:t>5</a:t>
                      </a:r>
                      <a:endParaRPr>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4023">
                <a:tc>
                  <a:txBody>
                    <a:bodyPr/>
                    <a:lstStyle/>
                    <a:p>
                      <a:pPr algn="ctr">
                        <a:defRPr/>
                      </a:pPr>
                      <a:r>
                        <a:rPr lang="en-US" dirty="0">
                          <a:solidFill>
                            <a:schemeClr val="tx1"/>
                          </a:solidFill>
                        </a:rPr>
                        <a:t>2</a:t>
                      </a:r>
                      <a:endParaRPr lang="ru-R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a:solidFill>
                            <a:schemeClr val="tx1"/>
                          </a:solidFill>
                        </a:rPr>
                        <a:t>12</a:t>
                      </a:r>
                      <a:endParaRPr>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4023">
                <a:tc>
                  <a:txBody>
                    <a:bodyPr/>
                    <a:lstStyle/>
                    <a:p>
                      <a:pPr algn="ctr">
                        <a:defRPr/>
                      </a:pPr>
                      <a:r>
                        <a:rPr lang="en-US">
                          <a:solidFill>
                            <a:schemeClr val="tx1"/>
                          </a:solidFill>
                        </a:rPr>
                        <a:t>3</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a:solidFill>
                            <a:schemeClr val="tx1"/>
                          </a:solidFill>
                        </a:rPr>
                        <a:t>21</a:t>
                      </a:r>
                      <a:endParaRPr>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04023">
                <a:tc>
                  <a:txBody>
                    <a:bodyPr/>
                    <a:lstStyle/>
                    <a:p>
                      <a:pPr algn="ctr">
                        <a:defRPr/>
                      </a:pPr>
                      <a:r>
                        <a:rPr lang="en-US">
                          <a:solidFill>
                            <a:schemeClr val="tx1"/>
                          </a:solidFill>
                        </a:rPr>
                        <a:t>4</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a:solidFill>
                            <a:schemeClr val="tx1"/>
                          </a:solidFill>
                        </a:rPr>
                        <a:t>24</a:t>
                      </a:r>
                      <a:endParaRPr>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04023">
                <a:tc>
                  <a:txBody>
                    <a:bodyPr/>
                    <a:lstStyle/>
                    <a:p>
                      <a:pPr algn="ctr">
                        <a:defRPr/>
                      </a:pPr>
                      <a:r>
                        <a:rPr lang="en-US">
                          <a:solidFill>
                            <a:schemeClr val="tx1"/>
                          </a:solidFill>
                        </a:rPr>
                        <a:t>5</a:t>
                      </a:r>
                      <a:endParaRPr lang="ru-RU">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a:solidFill>
                            <a:schemeClr val="tx1"/>
                          </a:solidFill>
                        </a:rPr>
                        <a:t>25</a:t>
                      </a:r>
                      <a:endParaRPr>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pic>
        <p:nvPicPr>
          <p:cNvPr id="56" name="Рукописный ввод 55">
            <a:extLst>
              <a:ext uri="{FF2B5EF4-FFF2-40B4-BE49-F238E27FC236}">
                <a16:creationId xmlns:a16="http://schemas.microsoft.com/office/drawing/2014/main" id="{E760A18E-4395-B78A-9840-4D5DFF29FCFF}"/>
              </a:ext>
            </a:extLst>
          </p:cNvPr>
          <p:cNvPicPr/>
          <p:nvPr/>
        </p:nvPicPr>
        <p:blipFill>
          <a:blip r:embed="rId2"/>
          <a:stretch/>
        </p:blipFill>
        <p:spPr bwMode="auto">
          <a:xfrm>
            <a:off x="3840703" y="5308438"/>
            <a:ext cx="21600" cy="21960"/>
          </a:xfrm>
          <a:prstGeom prst="rect">
            <a:avLst/>
          </a:prstGeom>
        </p:spPr>
      </p:pic>
    </p:spTree>
    <p:extLst>
      <p:ext uri="{BB962C8B-B14F-4D97-AF65-F5344CB8AC3E}">
        <p14:creationId xmlns:p14="http://schemas.microsoft.com/office/powerpoint/2010/main" val="2018195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72ECB59-1B4E-D371-5B0E-598F2A125528}"/>
            </a:ext>
          </a:extLst>
        </p:cNvPr>
        <p:cNvGrpSpPr/>
        <p:nvPr/>
      </p:nvGrpSpPr>
      <p:grpSpPr bwMode="auto">
        <a:xfrm>
          <a:off x="0" y="0"/>
          <a:ext cx="0" cy="0"/>
          <a:chOff x="0" y="0"/>
          <a:chExt cx="0" cy="0"/>
        </a:xfrm>
      </p:grpSpPr>
      <p:sp>
        <p:nvSpPr>
          <p:cNvPr id="2" name="Текст 1">
            <a:extLst>
              <a:ext uri="{FF2B5EF4-FFF2-40B4-BE49-F238E27FC236}">
                <a16:creationId xmlns:a16="http://schemas.microsoft.com/office/drawing/2014/main" id="{4BFD6722-C797-F1FC-219A-E836972A80A8}"/>
              </a:ext>
            </a:extLst>
          </p:cNvPr>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a:extLst>
              <a:ext uri="{FF2B5EF4-FFF2-40B4-BE49-F238E27FC236}">
                <a16:creationId xmlns:a16="http://schemas.microsoft.com/office/drawing/2014/main" id="{144BF26D-44B6-5280-C4F7-574B26BD5581}"/>
              </a:ext>
            </a:extLst>
          </p:cNvPr>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a:extLst>
              <a:ext uri="{FF2B5EF4-FFF2-40B4-BE49-F238E27FC236}">
                <a16:creationId xmlns:a16="http://schemas.microsoft.com/office/drawing/2014/main" id="{6DCE772E-3FFC-740F-6CAC-3874A6CD6A40}"/>
              </a:ext>
            </a:extLst>
          </p:cNvPr>
          <p:cNvSpPr>
            <a:spLocks noGrp="1"/>
          </p:cNvSpPr>
          <p:nvPr>
            <p:ph type="body" sz="quarter" idx="15"/>
          </p:nvPr>
        </p:nvSpPr>
        <p:spPr bwMode="auto">
          <a:xfrm>
            <a:off x="6259890" y="548720"/>
            <a:ext cx="2902581"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9" name="TextBox 8">
            <a:extLst>
              <a:ext uri="{FF2B5EF4-FFF2-40B4-BE49-F238E27FC236}">
                <a16:creationId xmlns:a16="http://schemas.microsoft.com/office/drawing/2014/main" id="{8CABBCD8-E82E-E233-A643-57F09C3B872D}"/>
              </a:ext>
            </a:extLst>
          </p:cNvPr>
          <p:cNvSpPr txBox="1"/>
          <p:nvPr/>
        </p:nvSpPr>
        <p:spPr bwMode="auto">
          <a:xfrm>
            <a:off x="0" y="1256796"/>
            <a:ext cx="11674168" cy="2548455"/>
          </a:xfrm>
          <a:prstGeom prst="rect">
            <a:avLst/>
          </a:prstGeom>
          <a:noFill/>
        </p:spPr>
        <p:txBody>
          <a:bodyPr wrap="square" rtlCol="0">
            <a:spAutoFit/>
          </a:bodyPr>
          <a:lstStyle/>
          <a:p>
            <a:pPr marL="457200" algn="just">
              <a:lnSpc>
                <a:spcPct val="107000"/>
              </a:lnSpc>
              <a:spcAft>
                <a:spcPts val="800"/>
              </a:spcAft>
              <a:defRPr/>
            </a:pPr>
            <a:r>
              <a:rPr lang="ru-RU" sz="2400" b="1" dirty="0">
                <a:latin typeface="Aptos" panose="020B0004020202020204" pitchFamily="34" charset="0"/>
              </a:rPr>
              <a:t>Задача 2.</a:t>
            </a:r>
            <a:r>
              <a:rPr lang="ru-RU" sz="2400" dirty="0">
                <a:latin typeface="Aptos" panose="020B0004020202020204" pitchFamily="34" charset="0"/>
              </a:rPr>
              <a:t> У Игоря, мастера по дереву, есть небольшая оборудованная мастерская, в которой он делает столы. Предположим, что ежедневно Игорь может нанять разное количество работников, при неизменном количестве оборудования (К=3) и сырья (</a:t>
            </a:r>
            <a:r>
              <a:rPr lang="en-US" sz="2400" dirty="0">
                <a:latin typeface="Aptos" panose="020B0004020202020204" pitchFamily="34" charset="0"/>
              </a:rPr>
              <a:t>N=3)</a:t>
            </a:r>
            <a:r>
              <a:rPr lang="ru-RU" sz="2400" dirty="0">
                <a:latin typeface="Aptos" panose="020B0004020202020204" pitchFamily="34" charset="0"/>
              </a:rPr>
              <a:t>. </a:t>
            </a:r>
            <a:endParaRPr dirty="0">
              <a:latin typeface="Aptos" panose="020B0004020202020204" pitchFamily="34" charset="0"/>
            </a:endParaRPr>
          </a:p>
          <a:p>
            <a:pPr marL="457200" algn="just">
              <a:lnSpc>
                <a:spcPct val="107000"/>
              </a:lnSpc>
              <a:spcAft>
                <a:spcPts val="800"/>
              </a:spcAft>
              <a:defRPr/>
            </a:pPr>
            <a:r>
              <a:rPr lang="ru-RU" sz="2400" dirty="0">
                <a:latin typeface="Aptos" panose="020B0004020202020204" pitchFamily="34" charset="0"/>
              </a:rPr>
              <a:t>Рассчитайте средний продукт труда и предельный продукт труда? Попробуйте объяснить динамику этих показателей?</a:t>
            </a:r>
            <a:endParaRPr dirty="0">
              <a:latin typeface="Aptos" panose="020B0004020202020204" pitchFamily="34" charset="0"/>
            </a:endParaRPr>
          </a:p>
        </p:txBody>
      </p:sp>
      <p:pic>
        <p:nvPicPr>
          <p:cNvPr id="56" name="Рукописный ввод 55">
            <a:extLst>
              <a:ext uri="{FF2B5EF4-FFF2-40B4-BE49-F238E27FC236}">
                <a16:creationId xmlns:a16="http://schemas.microsoft.com/office/drawing/2014/main" id="{0E24211C-36F8-85AF-367B-E867F15820D0}"/>
              </a:ext>
            </a:extLst>
          </p:cNvPr>
          <p:cNvPicPr/>
          <p:nvPr/>
        </p:nvPicPr>
        <p:blipFill>
          <a:blip r:embed="rId2"/>
          <a:stretch/>
        </p:blipFill>
        <p:spPr bwMode="auto">
          <a:xfrm>
            <a:off x="3840703" y="5308438"/>
            <a:ext cx="21600" cy="21960"/>
          </a:xfrm>
          <a:prstGeom prst="rect">
            <a:avLst/>
          </a:prstGeom>
        </p:spPr>
      </p:pic>
      <p:graphicFrame>
        <p:nvGraphicFramePr>
          <p:cNvPr id="5" name="Chart 4">
            <a:extLst>
              <a:ext uri="{FF2B5EF4-FFF2-40B4-BE49-F238E27FC236}">
                <a16:creationId xmlns:a16="http://schemas.microsoft.com/office/drawing/2014/main" id="{6B8FD413-0B72-C357-85CD-533741E5DF02}"/>
              </a:ext>
            </a:extLst>
          </p:cNvPr>
          <p:cNvGraphicFramePr>
            <a:graphicFrameLocks/>
          </p:cNvGraphicFramePr>
          <p:nvPr>
            <p:extLst>
              <p:ext uri="{D42A27DB-BD31-4B8C-83A1-F6EECF244321}">
                <p14:modId xmlns:p14="http://schemas.microsoft.com/office/powerpoint/2010/main" val="1072217914"/>
              </p:ext>
            </p:extLst>
          </p:nvPr>
        </p:nvGraphicFramePr>
        <p:xfrm>
          <a:off x="1452566" y="3805251"/>
          <a:ext cx="9614647" cy="285104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07068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2902581"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110" name="TextBox 109"/>
          <p:cNvSpPr txBox="1"/>
          <p:nvPr/>
        </p:nvSpPr>
        <p:spPr bwMode="auto">
          <a:xfrm>
            <a:off x="252719" y="1406249"/>
            <a:ext cx="4824960" cy="3785652"/>
          </a:xfrm>
          <a:prstGeom prst="rect">
            <a:avLst/>
          </a:prstGeom>
          <a:noFill/>
        </p:spPr>
        <p:txBody>
          <a:bodyPr wrap="square">
            <a:spAutoFit/>
          </a:bodyPr>
          <a:lstStyle/>
          <a:p>
            <a:pPr>
              <a:defRPr/>
            </a:pPr>
            <a:r>
              <a:rPr lang="ru-RU" sz="2000" b="1" i="1" dirty="0">
                <a:latin typeface="Aptos" panose="020B0004020202020204" pitchFamily="34" charset="0"/>
                <a:cs typeface="Arial"/>
              </a:rPr>
              <a:t>Закон убывающей предельной производительности (убывающей отдачи) </a:t>
            </a:r>
            <a:r>
              <a:rPr lang="ru-RU" sz="2000" i="1" dirty="0">
                <a:latin typeface="Aptos" panose="020B0004020202020204" pitchFamily="34" charset="0"/>
                <a:cs typeface="Arial"/>
              </a:rPr>
              <a:t>утверждает, что с ростом использования какого-либо производственного фактора (при неизменности остальных) рано или поздно достигается объем переменного фактора, при котором дополнительное его применение ведет к снижению относительного и далее абсолютного объема выпуска продукции.</a:t>
            </a:r>
            <a:endParaRPr dirty="0">
              <a:latin typeface="Aptos" panose="020B0004020202020204" pitchFamily="34" charset="0"/>
            </a:endParaRPr>
          </a:p>
        </p:txBody>
      </p:sp>
      <p:sp>
        <p:nvSpPr>
          <p:cNvPr id="6" name="TextBox 5"/>
          <p:cNvSpPr txBox="1"/>
          <p:nvPr/>
        </p:nvSpPr>
        <p:spPr bwMode="auto">
          <a:xfrm>
            <a:off x="520149" y="5318593"/>
            <a:ext cx="4256969" cy="1015663"/>
          </a:xfrm>
          <a:prstGeom prst="rect">
            <a:avLst/>
          </a:prstGeom>
          <a:noFill/>
        </p:spPr>
        <p:txBody>
          <a:bodyPr wrap="square">
            <a:spAutoFit/>
          </a:bodyPr>
          <a:lstStyle/>
          <a:p>
            <a:pPr algn="ctr">
              <a:defRPr/>
            </a:pPr>
            <a:r>
              <a:rPr lang="ru-RU" sz="2000" b="1" i="1" dirty="0">
                <a:solidFill>
                  <a:srgbClr val="FF00EE"/>
                </a:solidFill>
                <a:latin typeface="Aptos" panose="020B0004020202020204" pitchFamily="34" charset="0"/>
                <a:cs typeface="Arial"/>
              </a:rPr>
              <a:t>Не все технологии отражают закон убывающей предельной производительности!</a:t>
            </a:r>
            <a:endParaRPr lang="ru-RU" sz="2000" dirty="0">
              <a:solidFill>
                <a:srgbClr val="FF00EE"/>
              </a:solidFill>
              <a:latin typeface="Aptos" panose="020B0004020202020204" pitchFamily="34" charset="0"/>
            </a:endParaRPr>
          </a:p>
        </p:txBody>
      </p:sp>
      <p:sp>
        <p:nvSpPr>
          <p:cNvPr id="9" name="TextBox 8"/>
          <p:cNvSpPr txBox="1"/>
          <p:nvPr/>
        </p:nvSpPr>
        <p:spPr bwMode="auto">
          <a:xfrm>
            <a:off x="5311828" y="3224649"/>
            <a:ext cx="6440129" cy="3539430"/>
          </a:xfrm>
          <a:prstGeom prst="rect">
            <a:avLst/>
          </a:prstGeom>
          <a:noFill/>
        </p:spPr>
        <p:txBody>
          <a:bodyPr wrap="square" rtlCol="0">
            <a:spAutoFit/>
          </a:bodyPr>
          <a:lstStyle/>
          <a:p>
            <a:pPr algn="just">
              <a:defRPr/>
            </a:pPr>
            <a:r>
              <a:rPr lang="ru-RU" sz="1600" dirty="0">
                <a:latin typeface="Aptos" panose="020B0004020202020204" pitchFamily="34" charset="0"/>
              </a:rPr>
              <a:t>Научная работа «Теория нравственных чувств» (1759) и книга «Исследование о природе и причинах богатства народов» (1776).</a:t>
            </a:r>
            <a:endParaRPr dirty="0">
              <a:latin typeface="Aptos" panose="020B0004020202020204" pitchFamily="34" charset="0"/>
            </a:endParaRPr>
          </a:p>
          <a:p>
            <a:pPr algn="just">
              <a:defRPr/>
            </a:pPr>
            <a:endParaRPr lang="ru-RU" sz="1600" b="0" i="0" dirty="0">
              <a:solidFill>
                <a:srgbClr val="000000"/>
              </a:solidFill>
              <a:latin typeface="Aptos" panose="020B0004020202020204" pitchFamily="34" charset="0"/>
            </a:endParaRPr>
          </a:p>
          <a:p>
            <a:pPr algn="just">
              <a:defRPr/>
            </a:pPr>
            <a:r>
              <a:rPr lang="ru-RU" sz="1600" b="0" i="0" dirty="0">
                <a:latin typeface="Aptos" panose="020B0004020202020204" pitchFamily="34" charset="0"/>
              </a:rPr>
              <a:t>«Таким образом, изготовление булавки распадается на 18 отдельных операций … Я видел небольшую мануфактуру, в которой работало всего </a:t>
            </a:r>
            <a:r>
              <a:rPr lang="ru-RU" sz="1600" b="0" i="0" dirty="0">
                <a:solidFill>
                  <a:srgbClr val="FF00EE"/>
                </a:solidFill>
                <a:latin typeface="Aptos" panose="020B0004020202020204" pitchFamily="34" charset="0"/>
              </a:rPr>
              <a:t>10 человек</a:t>
            </a:r>
            <a:r>
              <a:rPr lang="ru-RU" sz="1600" b="0" i="0" dirty="0">
                <a:latin typeface="Aptos" panose="020B0004020202020204" pitchFamily="34" charset="0"/>
              </a:rPr>
              <a:t>, способных произвести за день 12 фунтов булавок. Четыре тысячи булавок весят около фунта. Таким образом, это 10 рабочих способны произвести за день более </a:t>
            </a:r>
            <a:r>
              <a:rPr lang="ru-RU" sz="1600" b="0" i="0" dirty="0">
                <a:solidFill>
                  <a:srgbClr val="FF00EE"/>
                </a:solidFill>
                <a:latin typeface="Aptos" panose="020B0004020202020204" pitchFamily="34" charset="0"/>
              </a:rPr>
              <a:t>48 000 булавок</a:t>
            </a:r>
            <a:r>
              <a:rPr lang="ru-RU" sz="1600" b="0" i="0" dirty="0">
                <a:latin typeface="Aptos" panose="020B0004020202020204" pitchFamily="34" charset="0"/>
              </a:rPr>
              <a:t>. Если же они стали бы </a:t>
            </a:r>
            <a:r>
              <a:rPr lang="ru-RU" sz="1600" dirty="0">
                <a:solidFill>
                  <a:srgbClr val="FF00EE"/>
                </a:solidFill>
                <a:latin typeface="Aptos" panose="020B0004020202020204" pitchFamily="34" charset="0"/>
              </a:rPr>
              <a:t>работать отдельно </a:t>
            </a:r>
            <a:r>
              <a:rPr lang="ru-RU" sz="1600" b="0" i="0" dirty="0">
                <a:latin typeface="Aptos" panose="020B0004020202020204" pitchFamily="34" charset="0"/>
              </a:rPr>
              <a:t>и независимо друг от друга, не </a:t>
            </a:r>
            <a:r>
              <a:rPr lang="ru-RU" sz="1600" dirty="0">
                <a:latin typeface="Aptos" panose="020B0004020202020204" pitchFamily="34" charset="0"/>
              </a:rPr>
              <a:t>каждый из них не смог бы изготовить за день и </a:t>
            </a:r>
            <a:r>
              <a:rPr lang="ru-RU" sz="1600" b="0" i="0" dirty="0">
                <a:latin typeface="Aptos" panose="020B0004020202020204" pitchFamily="34" charset="0"/>
              </a:rPr>
              <a:t>будучи научены такой специальной работе, возможно, </a:t>
            </a:r>
            <a:r>
              <a:rPr lang="ru-RU" sz="1600" b="0" i="0" dirty="0">
                <a:solidFill>
                  <a:srgbClr val="FF00EE"/>
                </a:solidFill>
                <a:latin typeface="Aptos" panose="020B0004020202020204" pitchFamily="34" charset="0"/>
              </a:rPr>
              <a:t>двести булавок.</a:t>
            </a:r>
            <a:r>
              <a:rPr lang="ru-RU" sz="1600" b="0" i="0" dirty="0">
                <a:solidFill>
                  <a:srgbClr val="FF0000"/>
                </a:solidFill>
                <a:latin typeface="Aptos" panose="020B0004020202020204" pitchFamily="34" charset="0"/>
              </a:rPr>
              <a:t> </a:t>
            </a:r>
            <a:r>
              <a:rPr lang="ru-RU" sz="1600" b="1" i="0" dirty="0">
                <a:solidFill>
                  <a:srgbClr val="00B050"/>
                </a:solidFill>
                <a:latin typeface="Aptos" panose="020B0004020202020204" pitchFamily="34" charset="0"/>
              </a:rPr>
              <a:t>В любом другом ремесле и производстве разделение труда приводит к такому же эффекту …»</a:t>
            </a:r>
            <a:endParaRPr dirty="0">
              <a:solidFill>
                <a:srgbClr val="00B050"/>
              </a:solidFill>
              <a:latin typeface="Aptos" panose="020B0004020202020204" pitchFamily="34" charset="0"/>
            </a:endParaRPr>
          </a:p>
          <a:p>
            <a:pPr algn="r">
              <a:defRPr/>
            </a:pPr>
            <a:r>
              <a:rPr lang="ru-RU" sz="1600" dirty="0" err="1">
                <a:latin typeface="Aptos" panose="020B0004020202020204" pitchFamily="34" charset="0"/>
              </a:rPr>
              <a:t>А.Смит</a:t>
            </a:r>
            <a:endParaRPr lang="ru-RU" sz="1600" dirty="0">
              <a:latin typeface="Aptos" panose="020B0004020202020204" pitchFamily="34" charset="0"/>
            </a:endParaRPr>
          </a:p>
        </p:txBody>
      </p:sp>
      <p:pic>
        <p:nvPicPr>
          <p:cNvPr id="5" name="Picture 2"/>
          <p:cNvPicPr>
            <a:picLocks noChangeAspect="1" noChangeArrowheads="1"/>
          </p:cNvPicPr>
          <p:nvPr/>
        </p:nvPicPr>
        <p:blipFill>
          <a:blip r:embed="rId2"/>
          <a:stretch/>
        </p:blipFill>
        <p:spPr bwMode="auto">
          <a:xfrm>
            <a:off x="5418588" y="1144616"/>
            <a:ext cx="2238108" cy="1919140"/>
          </a:xfrm>
          <a:prstGeom prst="rect">
            <a:avLst/>
          </a:prstGeom>
          <a:noFill/>
        </p:spPr>
      </p:pic>
      <p:sp>
        <p:nvSpPr>
          <p:cNvPr id="7" name="TextBox 6"/>
          <p:cNvSpPr txBox="1"/>
          <p:nvPr/>
        </p:nvSpPr>
        <p:spPr bwMode="auto">
          <a:xfrm>
            <a:off x="7751890" y="1611598"/>
            <a:ext cx="4187391" cy="1200329"/>
          </a:xfrm>
          <a:prstGeom prst="rect">
            <a:avLst/>
          </a:prstGeom>
          <a:noFill/>
        </p:spPr>
        <p:txBody>
          <a:bodyPr wrap="square">
            <a:spAutoFit/>
          </a:bodyPr>
          <a:lstStyle/>
          <a:p>
            <a:pPr algn="ctr">
              <a:defRPr/>
            </a:pPr>
            <a:r>
              <a:rPr lang="ru-RU" dirty="0">
                <a:latin typeface="Aptos" panose="020B0004020202020204" pitchFamily="34" charset="0"/>
              </a:rPr>
              <a:t>Адам Смит (1723-1790) – известный шотландский экономист и философ, основоположник классической школы политэкономии. </a:t>
            </a:r>
            <a:endParaRPr dirty="0">
              <a:latin typeface="Aptos" panose="020B0004020202020204" pitchFamily="34" charset="0"/>
            </a:endParaRPr>
          </a:p>
        </p:txBody>
      </p:sp>
      <p:cxnSp>
        <p:nvCxnSpPr>
          <p:cNvPr id="10" name="Прямая соединительная линия 9"/>
          <p:cNvCxnSpPr>
            <a:cxnSpLocks/>
          </p:cNvCxnSpPr>
          <p:nvPr/>
        </p:nvCxnSpPr>
        <p:spPr bwMode="auto">
          <a:xfrm>
            <a:off x="5077682" y="1056276"/>
            <a:ext cx="0" cy="5493132"/>
          </a:xfrm>
          <a:prstGeom prst="line">
            <a:avLst/>
          </a:prstGeom>
          <a:ln w="12700">
            <a:solidFill>
              <a:schemeClr val="tx1">
                <a:lumMod val="50000"/>
              </a:schemeClr>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2902581"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7" name="TextBox 6"/>
          <p:cNvSpPr txBox="1"/>
          <p:nvPr/>
        </p:nvSpPr>
        <p:spPr bwMode="auto">
          <a:xfrm>
            <a:off x="346019" y="1243555"/>
            <a:ext cx="11285687" cy="5350439"/>
          </a:xfrm>
          <a:prstGeom prst="rect">
            <a:avLst/>
          </a:prstGeom>
          <a:noFill/>
        </p:spPr>
        <p:txBody>
          <a:bodyPr wrap="square">
            <a:spAutoFit/>
          </a:bodyPr>
          <a:lstStyle/>
          <a:p>
            <a:pPr algn="just">
              <a:defRPr/>
            </a:pPr>
            <a:r>
              <a:rPr lang="ru-RU" sz="2300" b="1" u="sng" dirty="0">
                <a:latin typeface="Aptos" panose="020B0004020202020204" pitchFamily="34" charset="0"/>
              </a:rPr>
              <a:t>Долгосрочный период </a:t>
            </a:r>
            <a:r>
              <a:rPr lang="ru-RU" sz="2300" b="1" u="sng" dirty="0">
                <a:latin typeface="Aptos" panose="020B0004020202020204" pitchFamily="34" charset="0"/>
                <a:cs typeface="Arial"/>
              </a:rPr>
              <a:t>(</a:t>
            </a:r>
            <a:r>
              <a:rPr lang="ru-RU" sz="2300" b="1" u="sng" dirty="0" err="1">
                <a:latin typeface="Aptos" panose="020B0004020202020204" pitchFamily="34" charset="0"/>
                <a:cs typeface="Arial"/>
              </a:rPr>
              <a:t>long-run</a:t>
            </a:r>
            <a:r>
              <a:rPr lang="ru-RU" sz="2300" b="1" u="sng" dirty="0">
                <a:latin typeface="Aptos" panose="020B0004020202020204" pitchFamily="34" charset="0"/>
                <a:cs typeface="Arial"/>
              </a:rPr>
              <a:t>) </a:t>
            </a:r>
            <a:endParaRPr sz="2300" dirty="0">
              <a:latin typeface="Aptos" panose="020B0004020202020204" pitchFamily="34" charset="0"/>
            </a:endParaRPr>
          </a:p>
          <a:p>
            <a:pPr algn="just">
              <a:defRPr/>
            </a:pPr>
            <a:endParaRPr lang="ru-RU" sz="2300" b="1" dirty="0">
              <a:latin typeface="Aptos" panose="020B0004020202020204" pitchFamily="34" charset="0"/>
            </a:endParaRPr>
          </a:p>
          <a:p>
            <a:pPr algn="just">
              <a:defRPr/>
            </a:pPr>
            <a:r>
              <a:rPr lang="ru-RU" sz="2300" b="1" dirty="0">
                <a:latin typeface="Aptos" panose="020B0004020202020204" pitchFamily="34" charset="0"/>
              </a:rPr>
              <a:t>Отдача от масштаба -</a:t>
            </a:r>
            <a:r>
              <a:rPr lang="ru-RU" sz="2300" dirty="0">
                <a:latin typeface="Aptos" panose="020B0004020202020204" pitchFamily="34" charset="0"/>
              </a:rPr>
              <a:t> это реакция объёма производства продукции на пропорциональное изменение количества всех факторов производства.</a:t>
            </a:r>
            <a:endParaRPr sz="2300" dirty="0">
              <a:latin typeface="Aptos" panose="020B0004020202020204" pitchFamily="34" charset="0"/>
            </a:endParaRPr>
          </a:p>
          <a:p>
            <a:pPr algn="just">
              <a:defRPr/>
            </a:pPr>
            <a:endParaRPr lang="ru-RU" sz="2300" dirty="0">
              <a:latin typeface="Aptos" panose="020B0004020202020204" pitchFamily="34" charset="0"/>
            </a:endParaRPr>
          </a:p>
          <a:p>
            <a:pPr algn="just">
              <a:lnSpc>
                <a:spcPct val="110000"/>
              </a:lnSpc>
              <a:defRPr/>
            </a:pPr>
            <a:r>
              <a:rPr lang="ru-RU" sz="2300" dirty="0">
                <a:latin typeface="Aptos" panose="020B0004020202020204" pitchFamily="34" charset="0"/>
              </a:rPr>
              <a:t>Различают три положения отдачи от масштаба:</a:t>
            </a:r>
            <a:endParaRPr sz="2300" dirty="0">
              <a:latin typeface="Aptos" panose="020B0004020202020204" pitchFamily="34" charset="0"/>
            </a:endParaRPr>
          </a:p>
          <a:p>
            <a:pPr algn="just">
              <a:lnSpc>
                <a:spcPct val="110000"/>
              </a:lnSpc>
              <a:buFont typeface="+mj-lt"/>
              <a:buAutoNum type="arabicPeriod"/>
              <a:defRPr/>
            </a:pPr>
            <a:r>
              <a:rPr lang="ru-RU" sz="2300" b="1" i="1" dirty="0">
                <a:latin typeface="Aptos" panose="020B0004020202020204" pitchFamily="34" charset="0"/>
              </a:rPr>
              <a:t>Возрастающая отдача от масштаба. </a:t>
            </a:r>
            <a:r>
              <a:rPr lang="ru-RU" sz="2300" dirty="0">
                <a:latin typeface="Aptos" panose="020B0004020202020204" pitchFamily="34" charset="0"/>
              </a:rPr>
              <a:t>Пропорциональное увеличение всех факторов производства приводит ко всё большему увеличению объёма выпуска продукта.</a:t>
            </a:r>
            <a:endParaRPr sz="2300" dirty="0">
              <a:latin typeface="Aptos" panose="020B0004020202020204" pitchFamily="34" charset="0"/>
            </a:endParaRPr>
          </a:p>
          <a:p>
            <a:pPr algn="just">
              <a:lnSpc>
                <a:spcPct val="110000"/>
              </a:lnSpc>
              <a:buFont typeface="+mj-lt"/>
              <a:buAutoNum type="arabicPeriod"/>
              <a:defRPr/>
            </a:pPr>
            <a:r>
              <a:rPr lang="ru-RU" sz="2300" b="1" i="1" dirty="0">
                <a:latin typeface="Aptos" panose="020B0004020202020204" pitchFamily="34" charset="0"/>
              </a:rPr>
              <a:t>Постоянная отдача от масштаба. </a:t>
            </a:r>
            <a:r>
              <a:rPr lang="ru-RU" sz="2300" dirty="0">
                <a:latin typeface="Aptos" panose="020B0004020202020204" pitchFamily="34" charset="0"/>
              </a:rPr>
              <a:t>Изменение количества всех факторов производства вызывает пропорциональное изменение объёма выпуска продукта.</a:t>
            </a:r>
            <a:endParaRPr sz="2300" dirty="0">
              <a:latin typeface="Aptos" panose="020B0004020202020204" pitchFamily="34" charset="0"/>
            </a:endParaRPr>
          </a:p>
          <a:p>
            <a:pPr algn="just">
              <a:lnSpc>
                <a:spcPct val="110000"/>
              </a:lnSpc>
              <a:buFont typeface="+mj-lt"/>
              <a:buAutoNum type="arabicPeriod"/>
              <a:defRPr/>
            </a:pPr>
            <a:r>
              <a:rPr lang="ru-RU" sz="2300" b="1" i="1" dirty="0">
                <a:latin typeface="Aptos" panose="020B0004020202020204" pitchFamily="34" charset="0"/>
              </a:rPr>
              <a:t>Убывающая отдача от масштаба. </a:t>
            </a:r>
            <a:r>
              <a:rPr lang="ru-RU" sz="2300" dirty="0">
                <a:latin typeface="Aptos" panose="020B0004020202020204" pitchFamily="34" charset="0"/>
              </a:rPr>
              <a:t>Сбалансированный рост объёма всех факторов производства приводит ко всё меньшему росту объёма выпуска продукта.</a:t>
            </a:r>
            <a:endParaRPr lang="ru-RU" sz="2300" i="1" dirty="0">
              <a:latin typeface="Aptos" panose="020B0004020202020204" pitchFamily="34" charset="0"/>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2902581"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mc:AlternateContent xmlns:mc="http://schemas.openxmlformats.org/markup-compatibility/2006" xmlns:a14="http://schemas.microsoft.com/office/drawing/2010/main">
        <mc:Choice Requires="a14">
          <p:sp>
            <p:nvSpPr>
              <p:cNvPr id="5" name="TextBox 4"/>
              <p:cNvSpPr txBox="1"/>
              <p:nvPr/>
            </p:nvSpPr>
            <p:spPr bwMode="auto">
              <a:xfrm>
                <a:off x="382195" y="1564817"/>
                <a:ext cx="11427609" cy="4616648"/>
              </a:xfrm>
              <a:prstGeom prst="rect">
                <a:avLst/>
              </a:prstGeom>
              <a:noFill/>
            </p:spPr>
            <p:txBody>
              <a:bodyPr wrap="square" rtlCol="0">
                <a:spAutoFit/>
              </a:bodyPr>
              <a:lstStyle/>
              <a:p>
                <a:pPr algn="ctr">
                  <a:defRPr/>
                </a:pPr>
                <a:r>
                  <a:rPr lang="ru-RU" sz="2100" b="1" u="sng" dirty="0">
                    <a:latin typeface="Aptos" panose="020B0004020202020204" pitchFamily="34" charset="0"/>
                  </a:rPr>
                  <a:t>ИЗДЕРЖКИ ФИРМЫ В КРАТКОСРОЧНОМ ПЕРИОДЕ (</a:t>
                </a:r>
                <a:r>
                  <a:rPr lang="en-US" sz="2100" b="1" u="sng" dirty="0">
                    <a:latin typeface="Aptos" panose="020B0004020202020204" pitchFamily="34" charset="0"/>
                  </a:rPr>
                  <a:t>SR)</a:t>
                </a:r>
                <a:endParaRPr sz="2100" dirty="0">
                  <a:latin typeface="Aptos" panose="020B0004020202020204" pitchFamily="34" charset="0"/>
                </a:endParaRPr>
              </a:p>
              <a:p>
                <a:pPr algn="ctr">
                  <a:defRPr/>
                </a:pPr>
                <a:endParaRPr lang="ru-RU" sz="2100" dirty="0">
                  <a:latin typeface="Aptos" panose="020B0004020202020204" pitchFamily="34" charset="0"/>
                </a:endParaRPr>
              </a:p>
              <a:p>
                <a:pPr algn="ctr">
                  <a:defRPr/>
                </a:pPr>
                <a:r>
                  <a:rPr lang="en-US" sz="2100" b="1" dirty="0">
                    <a:latin typeface="Aptos" panose="020B0004020202020204" pitchFamily="34" charset="0"/>
                  </a:rPr>
                  <a:t>TC</a:t>
                </a:r>
                <a:r>
                  <a:rPr lang="ru-RU" sz="2100" b="1" dirty="0">
                    <a:latin typeface="Aptos" panose="020B0004020202020204" pitchFamily="34" charset="0"/>
                  </a:rPr>
                  <a:t> (</a:t>
                </a:r>
                <a:r>
                  <a:rPr lang="en-US" sz="2100" b="1" dirty="0">
                    <a:latin typeface="Aptos" panose="020B0004020202020204" pitchFamily="34" charset="0"/>
                  </a:rPr>
                  <a:t>Q) = PL </a:t>
                </a:r>
                <a:r>
                  <a:rPr lang="ru-RU" sz="2100" b="1" dirty="0">
                    <a:latin typeface="Aptos" panose="020B0004020202020204" pitchFamily="34" charset="0"/>
                  </a:rPr>
                  <a:t>*</a:t>
                </a:r>
                <a:r>
                  <a:rPr lang="en-US" sz="2100" b="1" dirty="0">
                    <a:latin typeface="Aptos" panose="020B0004020202020204" pitchFamily="34" charset="0"/>
                  </a:rPr>
                  <a:t>L</a:t>
                </a:r>
                <a:r>
                  <a:rPr lang="ru-RU" sz="2100" b="1" dirty="0">
                    <a:latin typeface="Aptos" panose="020B0004020202020204" pitchFamily="34" charset="0"/>
                  </a:rPr>
                  <a:t> (</a:t>
                </a:r>
                <a:r>
                  <a:rPr lang="en-US" sz="2100" b="1" dirty="0">
                    <a:latin typeface="Aptos" panose="020B0004020202020204" pitchFamily="34" charset="0"/>
                  </a:rPr>
                  <a:t>Q) + PK </a:t>
                </a:r>
                <a:r>
                  <a:rPr lang="ru-RU" sz="2100" b="1" dirty="0">
                    <a:latin typeface="Aptos" panose="020B0004020202020204" pitchFamily="34" charset="0"/>
                  </a:rPr>
                  <a:t>*</a:t>
                </a:r>
                <a14:m>
                  <m:oMath xmlns:m="http://schemas.openxmlformats.org/officeDocument/2006/math">
                    <m:acc>
                      <m:accPr>
                        <m:chr m:val="̅"/>
                        <m:ctrlPr>
                          <a:rPr lang="en-US" sz="2100" b="1" i="1">
                            <a:latin typeface="Cambria Math" panose="02040503050406030204" pitchFamily="18" charset="0"/>
                            <a:ea typeface="Cambria Math"/>
                            <a:cs typeface="Cambria Math"/>
                          </a:rPr>
                        </m:ctrlPr>
                      </m:accPr>
                      <m:e>
                        <m:r>
                          <a:rPr lang="en-US" sz="2100" b="1" i="0">
                            <a:latin typeface="Cambria Math"/>
                          </a:rPr>
                          <m:t>𝐊</m:t>
                        </m:r>
                      </m:e>
                    </m:acc>
                  </m:oMath>
                </a14:m>
                <a:endParaRPr lang="en-US" sz="2100" b="1" dirty="0">
                  <a:latin typeface="Aptos" panose="020B0004020202020204" pitchFamily="34" charset="0"/>
                </a:endParaRPr>
              </a:p>
              <a:p>
                <a:pPr>
                  <a:defRPr/>
                </a:pPr>
                <a:r>
                  <a:rPr lang="ru-RU" sz="2100" b="1" dirty="0">
                    <a:latin typeface="Aptos" panose="020B0004020202020204" pitchFamily="34" charset="0"/>
                  </a:rPr>
                  <a:t>ОБЩИЕ ИЗДЕРЖКИ (ТС) </a:t>
                </a:r>
                <a:r>
                  <a:rPr lang="en-US" sz="2100" b="1" dirty="0">
                    <a:latin typeface="Aptos" panose="020B0004020202020204" pitchFamily="34" charset="0"/>
                  </a:rPr>
                  <a:t>total cost </a:t>
                </a:r>
                <a:r>
                  <a:rPr lang="ru-RU" sz="2100" dirty="0">
                    <a:latin typeface="Aptos" panose="020B0004020202020204" pitchFamily="34" charset="0"/>
                  </a:rPr>
                  <a:t>- издержки, связанные с выпуском всей продукции фирмы.</a:t>
                </a:r>
                <a:endParaRPr lang="en-US" sz="2100" dirty="0">
                  <a:latin typeface="Aptos" panose="020B0004020202020204" pitchFamily="34" charset="0"/>
                </a:endParaRPr>
              </a:p>
              <a:p>
                <a:pPr algn="ctr">
                  <a:defRPr/>
                </a:pPr>
                <a:r>
                  <a:rPr lang="ru-RU" sz="2100" b="1" dirty="0">
                    <a:latin typeface="Aptos" panose="020B0004020202020204" pitchFamily="34" charset="0"/>
                  </a:rPr>
                  <a:t>ТС(</a:t>
                </a:r>
                <a:r>
                  <a:rPr lang="en-US" sz="2100" b="1" dirty="0">
                    <a:latin typeface="Aptos" panose="020B0004020202020204" pitchFamily="34" charset="0"/>
                  </a:rPr>
                  <a:t>Q)</a:t>
                </a:r>
                <a:r>
                  <a:rPr lang="ru-RU" sz="2100" b="1" dirty="0">
                    <a:latin typeface="Aptos" panose="020B0004020202020204" pitchFamily="34" charset="0"/>
                  </a:rPr>
                  <a:t> = </a:t>
                </a:r>
                <a:r>
                  <a:rPr lang="en-US" sz="2100" b="1" dirty="0">
                    <a:latin typeface="Aptos" panose="020B0004020202020204" pitchFamily="34" charset="0"/>
                  </a:rPr>
                  <a:t>FC + VC</a:t>
                </a:r>
                <a:r>
                  <a:rPr lang="ru-RU" sz="2100" b="1" dirty="0">
                    <a:latin typeface="Aptos" panose="020B0004020202020204" pitchFamily="34" charset="0"/>
                  </a:rPr>
                  <a:t> (</a:t>
                </a:r>
                <a:r>
                  <a:rPr lang="en-US" sz="2100" b="1" dirty="0">
                    <a:latin typeface="Aptos" panose="020B0004020202020204" pitchFamily="34" charset="0"/>
                  </a:rPr>
                  <a:t>Q)</a:t>
                </a:r>
                <a:endParaRPr sz="2100" dirty="0">
                  <a:latin typeface="Aptos" panose="020B0004020202020204" pitchFamily="34" charset="0"/>
                </a:endParaRPr>
              </a:p>
              <a:p>
                <a:pPr>
                  <a:defRPr/>
                </a:pPr>
                <a:endParaRPr lang="en-US" sz="2100" dirty="0">
                  <a:latin typeface="Aptos" panose="020B0004020202020204" pitchFamily="34" charset="0"/>
                </a:endParaRPr>
              </a:p>
              <a:p>
                <a:pPr>
                  <a:defRPr/>
                </a:pPr>
                <a:r>
                  <a:rPr lang="ru-RU" sz="2100" b="1" dirty="0">
                    <a:latin typeface="Aptos" panose="020B0004020202020204" pitchFamily="34" charset="0"/>
                  </a:rPr>
                  <a:t>ПОСТОЯННЫЕ ИЗДЕРЖКИ (</a:t>
                </a:r>
                <a:r>
                  <a:rPr lang="en-US" sz="2100" b="1" dirty="0">
                    <a:latin typeface="Aptos" panose="020B0004020202020204" pitchFamily="34" charset="0"/>
                  </a:rPr>
                  <a:t>FC</a:t>
                </a:r>
                <a:r>
                  <a:rPr lang="ru-RU" sz="2100" b="1" dirty="0">
                    <a:latin typeface="Aptos" panose="020B0004020202020204" pitchFamily="34" charset="0"/>
                  </a:rPr>
                  <a:t>) </a:t>
                </a:r>
                <a:r>
                  <a:rPr lang="en-US" sz="2100" b="1" dirty="0">
                    <a:latin typeface="Aptos" panose="020B0004020202020204" pitchFamily="34" charset="0"/>
                  </a:rPr>
                  <a:t>fixed cost</a:t>
                </a:r>
                <a:r>
                  <a:rPr lang="ru-RU" sz="2100" dirty="0">
                    <a:latin typeface="Aptos" panose="020B0004020202020204" pitchFamily="34" charset="0"/>
                  </a:rPr>
                  <a:t>- это та часть общих издержек фирмы, которая не зависит от объема производимой продукции.</a:t>
                </a:r>
                <a:endParaRPr lang="en-US" sz="2100" dirty="0">
                  <a:latin typeface="Aptos" panose="020B0004020202020204" pitchFamily="34" charset="0"/>
                </a:endParaRPr>
              </a:p>
              <a:p>
                <a:pPr algn="ctr">
                  <a:defRPr/>
                </a:pPr>
                <a:r>
                  <a:rPr lang="en-US" sz="2100" b="1" dirty="0">
                    <a:latin typeface="Aptos" panose="020B0004020202020204" pitchFamily="34" charset="0"/>
                  </a:rPr>
                  <a:t>FC = PK </a:t>
                </a:r>
                <a:r>
                  <a:rPr lang="ru-RU" sz="2100" b="1" dirty="0">
                    <a:latin typeface="Aptos" panose="020B0004020202020204" pitchFamily="34" charset="0"/>
                  </a:rPr>
                  <a:t>*</a:t>
                </a:r>
                <a:r>
                  <a:rPr lang="en-US" sz="2100" b="1" dirty="0">
                    <a:latin typeface="Aptos" panose="020B0004020202020204" pitchFamily="34" charset="0"/>
                  </a:rPr>
                  <a:t>K</a:t>
                </a:r>
                <a:endParaRPr sz="2100" dirty="0">
                  <a:latin typeface="Aptos" panose="020B0004020202020204" pitchFamily="34" charset="0"/>
                </a:endParaRPr>
              </a:p>
              <a:p>
                <a:pPr>
                  <a:defRPr/>
                </a:pPr>
                <a:endParaRPr lang="ru-RU" sz="2100" dirty="0">
                  <a:latin typeface="Aptos" panose="020B0004020202020204" pitchFamily="34" charset="0"/>
                </a:endParaRPr>
              </a:p>
              <a:p>
                <a:pPr>
                  <a:defRPr/>
                </a:pPr>
                <a:r>
                  <a:rPr lang="ru-RU" sz="2100" b="1" dirty="0">
                    <a:latin typeface="Aptos" panose="020B0004020202020204" pitchFamily="34" charset="0"/>
                  </a:rPr>
                  <a:t>ПЕРЕМЕННЫЕ ИЗДЕРЖКИ (</a:t>
                </a:r>
                <a:r>
                  <a:rPr lang="en-US" sz="2100" b="1" dirty="0">
                    <a:latin typeface="Aptos" panose="020B0004020202020204" pitchFamily="34" charset="0"/>
                  </a:rPr>
                  <a:t>VC</a:t>
                </a:r>
                <a:r>
                  <a:rPr lang="ru-RU" sz="2100" b="1" dirty="0">
                    <a:latin typeface="Aptos" panose="020B0004020202020204" pitchFamily="34" charset="0"/>
                  </a:rPr>
                  <a:t>) </a:t>
                </a:r>
                <a:r>
                  <a:rPr lang="en-US" sz="2100" b="1" dirty="0">
                    <a:latin typeface="Aptos" panose="020B0004020202020204" pitchFamily="34" charset="0"/>
                  </a:rPr>
                  <a:t>variable cost</a:t>
                </a:r>
                <a:r>
                  <a:rPr lang="ru-RU" sz="2100" dirty="0">
                    <a:latin typeface="Aptos" panose="020B0004020202020204" pitchFamily="34" charset="0"/>
                  </a:rPr>
                  <a:t>- это часть общих издержек фирмы, величина которых находится в прямой зависимости от выпуска продукции.</a:t>
                </a:r>
                <a:endParaRPr lang="en-US" sz="2100" dirty="0">
                  <a:latin typeface="Aptos" panose="020B0004020202020204" pitchFamily="34" charset="0"/>
                </a:endParaRPr>
              </a:p>
              <a:p>
                <a:pPr algn="ctr">
                  <a:defRPr/>
                </a:pPr>
                <a:r>
                  <a:rPr lang="en-US" sz="2100" b="1" dirty="0">
                    <a:latin typeface="Aptos" panose="020B0004020202020204" pitchFamily="34" charset="0"/>
                  </a:rPr>
                  <a:t>VC</a:t>
                </a:r>
                <a:r>
                  <a:rPr lang="ru-RU" sz="2100" b="1" dirty="0">
                    <a:latin typeface="Aptos" panose="020B0004020202020204" pitchFamily="34" charset="0"/>
                  </a:rPr>
                  <a:t> (</a:t>
                </a:r>
                <a:r>
                  <a:rPr lang="en-US" sz="2100" b="1" dirty="0">
                    <a:latin typeface="Aptos" panose="020B0004020202020204" pitchFamily="34" charset="0"/>
                  </a:rPr>
                  <a:t>Q) = PL </a:t>
                </a:r>
                <a:r>
                  <a:rPr lang="ru-RU" sz="2100" b="1" dirty="0">
                    <a:latin typeface="Aptos" panose="020B0004020202020204" pitchFamily="34" charset="0"/>
                  </a:rPr>
                  <a:t>*</a:t>
                </a:r>
                <a:r>
                  <a:rPr lang="en-US" sz="2100" b="1" dirty="0">
                    <a:latin typeface="Aptos" panose="020B0004020202020204" pitchFamily="34" charset="0"/>
                  </a:rPr>
                  <a:t>L</a:t>
                </a:r>
                <a:r>
                  <a:rPr lang="ru-RU" sz="2100" b="1" dirty="0">
                    <a:latin typeface="Aptos" panose="020B0004020202020204" pitchFamily="34" charset="0"/>
                  </a:rPr>
                  <a:t> (</a:t>
                </a:r>
                <a:r>
                  <a:rPr lang="en-US" sz="2100" b="1" dirty="0">
                    <a:latin typeface="Aptos" panose="020B0004020202020204" pitchFamily="34" charset="0"/>
                  </a:rPr>
                  <a:t>Q)</a:t>
                </a:r>
                <a:endParaRPr sz="2100" dirty="0">
                  <a:latin typeface="Aptos" panose="020B0004020202020204"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bwMode="auto">
              <a:xfrm>
                <a:off x="382195" y="1564817"/>
                <a:ext cx="11427609" cy="4616648"/>
              </a:xfrm>
              <a:prstGeom prst="rect">
                <a:avLst/>
              </a:prstGeom>
              <a:blipFill>
                <a:blip r:embed="rId2"/>
                <a:stretch>
                  <a:fillRect l="-667" t="-824" r="-111" b="-1648"/>
                </a:stretch>
              </a:blipFill>
            </p:spPr>
            <p:txBody>
              <a:bodyPr/>
              <a:lstStyle/>
              <a:p>
                <a:r>
                  <a:rPr lang="en-RU">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2902581"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5" name="TextBox 4"/>
          <p:cNvSpPr txBox="1"/>
          <p:nvPr/>
        </p:nvSpPr>
        <p:spPr bwMode="auto">
          <a:xfrm>
            <a:off x="557586" y="1371700"/>
            <a:ext cx="11076827" cy="5016758"/>
          </a:xfrm>
          <a:prstGeom prst="rect">
            <a:avLst/>
          </a:prstGeom>
          <a:noFill/>
        </p:spPr>
        <p:txBody>
          <a:bodyPr wrap="square" rtlCol="0">
            <a:spAutoFit/>
          </a:bodyPr>
          <a:lstStyle/>
          <a:p>
            <a:pPr>
              <a:defRPr/>
            </a:pPr>
            <a:r>
              <a:rPr lang="ru-RU" sz="2000" b="1" u="sng" dirty="0">
                <a:latin typeface="Aptos" panose="020B0004020202020204" pitchFamily="34" charset="0"/>
              </a:rPr>
              <a:t>СРЕДНИЕ ОБЩИЕ ИЗДЕРЖКИ (</a:t>
            </a:r>
            <a:r>
              <a:rPr lang="en-US" sz="2000" b="1" u="sng" dirty="0">
                <a:latin typeface="Aptos" panose="020B0004020202020204" pitchFamily="34" charset="0"/>
              </a:rPr>
              <a:t>ATC</a:t>
            </a:r>
            <a:r>
              <a:rPr lang="ru-RU" sz="2000" b="1" u="sng" dirty="0">
                <a:latin typeface="Aptos" panose="020B0004020202020204" pitchFamily="34" charset="0"/>
              </a:rPr>
              <a:t>)</a:t>
            </a:r>
            <a:r>
              <a:rPr lang="ru-RU" sz="2000" b="1" dirty="0">
                <a:latin typeface="Aptos" panose="020B0004020202020204" pitchFamily="34" charset="0"/>
              </a:rPr>
              <a:t> </a:t>
            </a:r>
            <a:r>
              <a:rPr lang="ru-RU" sz="2000" dirty="0">
                <a:latin typeface="Aptos" panose="020B0004020202020204" pitchFamily="34" charset="0"/>
              </a:rPr>
              <a:t>- это общие издержки в расчете на единицу продукции					</a:t>
            </a:r>
            <a:endParaRPr lang="en-GB" sz="2000" dirty="0">
              <a:latin typeface="Aptos" panose="020B0004020202020204" pitchFamily="34" charset="0"/>
            </a:endParaRPr>
          </a:p>
          <a:p>
            <a:pPr algn="ctr">
              <a:defRPr/>
            </a:pPr>
            <a:r>
              <a:rPr lang="en-US" sz="2000" b="1" dirty="0">
                <a:latin typeface="Aptos" panose="020B0004020202020204" pitchFamily="34" charset="0"/>
              </a:rPr>
              <a:t>AC</a:t>
            </a:r>
            <a:r>
              <a:rPr lang="ru-RU" sz="2000" b="1" dirty="0">
                <a:latin typeface="Aptos" panose="020B0004020202020204" pitchFamily="34" charset="0"/>
              </a:rPr>
              <a:t> (</a:t>
            </a:r>
            <a:r>
              <a:rPr lang="en-US" sz="2000" b="1" dirty="0">
                <a:latin typeface="Aptos" panose="020B0004020202020204" pitchFamily="34" charset="0"/>
              </a:rPr>
              <a:t>Q) </a:t>
            </a:r>
            <a:r>
              <a:rPr lang="ru-RU" sz="2000" b="1" dirty="0">
                <a:latin typeface="Aptos" panose="020B0004020202020204" pitchFamily="34" charset="0"/>
              </a:rPr>
              <a:t>=</a:t>
            </a:r>
            <a:r>
              <a:rPr lang="en-US" sz="2000" b="1" dirty="0">
                <a:latin typeface="Aptos" panose="020B0004020202020204" pitchFamily="34" charset="0"/>
              </a:rPr>
              <a:t>TC</a:t>
            </a:r>
            <a:r>
              <a:rPr lang="ru-RU" sz="2000" b="1" dirty="0">
                <a:latin typeface="Aptos" panose="020B0004020202020204" pitchFamily="34" charset="0"/>
              </a:rPr>
              <a:t>(</a:t>
            </a:r>
            <a:r>
              <a:rPr lang="en-US" sz="2000" b="1" dirty="0">
                <a:latin typeface="Aptos" panose="020B0004020202020204" pitchFamily="34" charset="0"/>
              </a:rPr>
              <a:t>Q)</a:t>
            </a:r>
            <a:r>
              <a:rPr lang="ru-RU" sz="2000" b="1" dirty="0">
                <a:latin typeface="Aptos" panose="020B0004020202020204" pitchFamily="34" charset="0"/>
              </a:rPr>
              <a:t>/</a:t>
            </a:r>
            <a:r>
              <a:rPr lang="en-US" sz="2000" b="1" dirty="0">
                <a:latin typeface="Aptos" panose="020B0004020202020204" pitchFamily="34" charset="0"/>
              </a:rPr>
              <a:t>Q</a:t>
            </a:r>
            <a:r>
              <a:rPr lang="ru-RU" sz="2000" b="1" dirty="0">
                <a:latin typeface="Aptos" panose="020B0004020202020204" pitchFamily="34" charset="0"/>
              </a:rPr>
              <a:t>=</a:t>
            </a:r>
            <a:r>
              <a:rPr lang="en-US" sz="2000" b="1" dirty="0">
                <a:latin typeface="Aptos" panose="020B0004020202020204" pitchFamily="34" charset="0"/>
              </a:rPr>
              <a:t>AFC</a:t>
            </a:r>
            <a:r>
              <a:rPr lang="ru-RU" sz="2000" b="1" dirty="0">
                <a:latin typeface="Aptos" panose="020B0004020202020204" pitchFamily="34" charset="0"/>
              </a:rPr>
              <a:t> (</a:t>
            </a:r>
            <a:r>
              <a:rPr lang="en-US" sz="2000" b="1" dirty="0">
                <a:latin typeface="Aptos" panose="020B0004020202020204" pitchFamily="34" charset="0"/>
              </a:rPr>
              <a:t>Q) </a:t>
            </a:r>
            <a:r>
              <a:rPr lang="ru-RU" sz="2000" b="1" dirty="0">
                <a:latin typeface="Aptos" panose="020B0004020202020204" pitchFamily="34" charset="0"/>
              </a:rPr>
              <a:t>+</a:t>
            </a:r>
            <a:r>
              <a:rPr lang="en-US" sz="2000" b="1" dirty="0">
                <a:latin typeface="Aptos" panose="020B0004020202020204" pitchFamily="34" charset="0"/>
              </a:rPr>
              <a:t>AVC</a:t>
            </a:r>
            <a:r>
              <a:rPr lang="ru-RU" sz="2000" b="1" dirty="0">
                <a:latin typeface="Aptos" panose="020B0004020202020204" pitchFamily="34" charset="0"/>
              </a:rPr>
              <a:t> (</a:t>
            </a:r>
            <a:r>
              <a:rPr lang="en-US" sz="2000" b="1" dirty="0">
                <a:latin typeface="Aptos" panose="020B0004020202020204" pitchFamily="34" charset="0"/>
              </a:rPr>
              <a:t>Q)</a:t>
            </a:r>
            <a:endParaRPr lang="ru-RU" sz="2000" b="1" dirty="0">
              <a:latin typeface="Aptos" panose="020B0004020202020204" pitchFamily="34" charset="0"/>
            </a:endParaRPr>
          </a:p>
          <a:p>
            <a:pPr>
              <a:defRPr/>
            </a:pPr>
            <a:endParaRPr lang="ru-RU" sz="2000" dirty="0">
              <a:latin typeface="Aptos" panose="020B0004020202020204" pitchFamily="34" charset="0"/>
            </a:endParaRPr>
          </a:p>
          <a:p>
            <a:pPr>
              <a:defRPr/>
            </a:pPr>
            <a:r>
              <a:rPr lang="ru-RU" sz="2000" b="1" u="sng" dirty="0">
                <a:latin typeface="Aptos" panose="020B0004020202020204" pitchFamily="34" charset="0"/>
              </a:rPr>
              <a:t>СРЕДНИЕ ПОСТОЯННЫЕ ИЗДЕРЖКИ (А</a:t>
            </a:r>
            <a:r>
              <a:rPr lang="en-US" sz="2000" b="1" u="sng" dirty="0">
                <a:latin typeface="Aptos" panose="020B0004020202020204" pitchFamily="34" charset="0"/>
              </a:rPr>
              <a:t>F</a:t>
            </a:r>
            <a:r>
              <a:rPr lang="ru-RU" sz="2000" b="1" u="sng" dirty="0">
                <a:latin typeface="Aptos" panose="020B0004020202020204" pitchFamily="34" charset="0"/>
              </a:rPr>
              <a:t>С)</a:t>
            </a:r>
            <a:r>
              <a:rPr lang="en-GB" sz="2000" b="1" dirty="0">
                <a:latin typeface="Aptos" panose="020B0004020202020204" pitchFamily="34" charset="0"/>
              </a:rPr>
              <a:t> </a:t>
            </a:r>
            <a:r>
              <a:rPr lang="ru-RU" sz="2000" b="1" dirty="0">
                <a:latin typeface="Aptos" panose="020B0004020202020204" pitchFamily="34" charset="0"/>
              </a:rPr>
              <a:t>- </a:t>
            </a:r>
            <a:r>
              <a:rPr lang="ru-RU" sz="2000" dirty="0">
                <a:latin typeface="Aptos" panose="020B0004020202020204" pitchFamily="34" charset="0"/>
              </a:rPr>
              <a:t>это общие постоянные издержки в расчете на единицу продукции   	</a:t>
            </a:r>
            <a:endParaRPr dirty="0">
              <a:latin typeface="Aptos" panose="020B0004020202020204" pitchFamily="34" charset="0"/>
            </a:endParaRPr>
          </a:p>
          <a:p>
            <a:pPr>
              <a:defRPr/>
            </a:pPr>
            <a:r>
              <a:rPr lang="ru-RU" sz="2000" dirty="0">
                <a:latin typeface="Aptos" panose="020B0004020202020204" pitchFamily="34" charset="0"/>
              </a:rPr>
              <a:t>					</a:t>
            </a:r>
            <a:r>
              <a:rPr lang="en-US" sz="2000" b="1" dirty="0">
                <a:latin typeface="Aptos" panose="020B0004020202020204" pitchFamily="34" charset="0"/>
              </a:rPr>
              <a:t>AFC</a:t>
            </a:r>
            <a:r>
              <a:rPr lang="ru-RU" sz="2000" b="1" dirty="0">
                <a:latin typeface="Aptos" panose="020B0004020202020204" pitchFamily="34" charset="0"/>
              </a:rPr>
              <a:t> (</a:t>
            </a:r>
            <a:r>
              <a:rPr lang="en-US" sz="2000" b="1" dirty="0">
                <a:latin typeface="Aptos" panose="020B0004020202020204" pitchFamily="34" charset="0"/>
              </a:rPr>
              <a:t>Q) </a:t>
            </a:r>
            <a:r>
              <a:rPr lang="ru-RU" sz="2000" b="1" dirty="0">
                <a:latin typeface="Aptos" panose="020B0004020202020204" pitchFamily="34" charset="0"/>
              </a:rPr>
              <a:t>=</a:t>
            </a:r>
            <a:r>
              <a:rPr lang="en-US" sz="2000" b="1" dirty="0">
                <a:latin typeface="Aptos" panose="020B0004020202020204" pitchFamily="34" charset="0"/>
              </a:rPr>
              <a:t>FC</a:t>
            </a:r>
            <a:r>
              <a:rPr lang="ru-RU" sz="2000" b="1" dirty="0">
                <a:latin typeface="Aptos" panose="020B0004020202020204" pitchFamily="34" charset="0"/>
              </a:rPr>
              <a:t>/</a:t>
            </a:r>
            <a:r>
              <a:rPr lang="en-US" sz="2000" b="1" dirty="0">
                <a:latin typeface="Aptos" panose="020B0004020202020204" pitchFamily="34" charset="0"/>
              </a:rPr>
              <a:t>Q</a:t>
            </a:r>
            <a:endParaRPr lang="ru-RU" sz="2000" b="1" dirty="0">
              <a:latin typeface="Aptos" panose="020B0004020202020204" pitchFamily="34" charset="0"/>
            </a:endParaRPr>
          </a:p>
          <a:p>
            <a:pPr>
              <a:defRPr/>
            </a:pPr>
            <a:endParaRPr lang="ru-RU" sz="2000" dirty="0">
              <a:latin typeface="Aptos" panose="020B0004020202020204" pitchFamily="34" charset="0"/>
            </a:endParaRPr>
          </a:p>
          <a:p>
            <a:pPr>
              <a:defRPr/>
            </a:pPr>
            <a:r>
              <a:rPr lang="ru-RU" sz="2000" b="1" u="sng" dirty="0">
                <a:latin typeface="Aptos" panose="020B0004020202020204" pitchFamily="34" charset="0"/>
              </a:rPr>
              <a:t>СРЕДНИЕ ПЕРЕМЕННЫЕ ИЗДЕРЖКИ (</a:t>
            </a:r>
            <a:r>
              <a:rPr lang="en-US" sz="2000" b="1" u="sng" dirty="0">
                <a:latin typeface="Aptos" panose="020B0004020202020204" pitchFamily="34" charset="0"/>
              </a:rPr>
              <a:t>AVC</a:t>
            </a:r>
            <a:r>
              <a:rPr lang="ru-RU" sz="2000" b="1" u="sng" dirty="0">
                <a:latin typeface="Aptos" panose="020B0004020202020204" pitchFamily="34" charset="0"/>
              </a:rPr>
              <a:t>)</a:t>
            </a:r>
            <a:r>
              <a:rPr lang="en-US" sz="2000" b="1" dirty="0">
                <a:latin typeface="Aptos" panose="020B0004020202020204" pitchFamily="34" charset="0"/>
              </a:rPr>
              <a:t> </a:t>
            </a:r>
            <a:r>
              <a:rPr lang="ru-RU" sz="2000" dirty="0">
                <a:latin typeface="Aptos" panose="020B0004020202020204" pitchFamily="34" charset="0"/>
              </a:rPr>
              <a:t>- это общие переменные издержки в расчете на единицу продукции</a:t>
            </a:r>
            <a:endParaRPr dirty="0">
              <a:latin typeface="Aptos" panose="020B0004020202020204" pitchFamily="34" charset="0"/>
            </a:endParaRPr>
          </a:p>
          <a:p>
            <a:pPr>
              <a:defRPr/>
            </a:pPr>
            <a:r>
              <a:rPr lang="ru-RU" sz="2000" dirty="0">
                <a:latin typeface="Aptos" panose="020B0004020202020204" pitchFamily="34" charset="0"/>
              </a:rPr>
              <a:t>					</a:t>
            </a:r>
            <a:r>
              <a:rPr lang="en-US" sz="2000" b="1" dirty="0">
                <a:latin typeface="Aptos" panose="020B0004020202020204" pitchFamily="34" charset="0"/>
              </a:rPr>
              <a:t>AVC</a:t>
            </a:r>
            <a:r>
              <a:rPr lang="ru-RU" sz="2000" b="1" dirty="0">
                <a:latin typeface="Aptos" panose="020B0004020202020204" pitchFamily="34" charset="0"/>
              </a:rPr>
              <a:t> (</a:t>
            </a:r>
            <a:r>
              <a:rPr lang="en-US" sz="2000" b="1" dirty="0">
                <a:latin typeface="Aptos" panose="020B0004020202020204" pitchFamily="34" charset="0"/>
              </a:rPr>
              <a:t>Q) </a:t>
            </a:r>
            <a:r>
              <a:rPr lang="ru-RU" sz="2000" b="1" dirty="0">
                <a:latin typeface="Aptos" panose="020B0004020202020204" pitchFamily="34" charset="0"/>
              </a:rPr>
              <a:t>=</a:t>
            </a:r>
            <a:r>
              <a:rPr lang="en-US" sz="2000" b="1" dirty="0">
                <a:latin typeface="Aptos" panose="020B0004020202020204" pitchFamily="34" charset="0"/>
              </a:rPr>
              <a:t>VC</a:t>
            </a:r>
            <a:r>
              <a:rPr lang="ru-RU" sz="2000" b="1" dirty="0">
                <a:latin typeface="Aptos" panose="020B0004020202020204" pitchFamily="34" charset="0"/>
              </a:rPr>
              <a:t> (</a:t>
            </a:r>
            <a:r>
              <a:rPr lang="en-US" sz="2000" b="1" dirty="0">
                <a:latin typeface="Aptos" panose="020B0004020202020204" pitchFamily="34" charset="0"/>
              </a:rPr>
              <a:t>Q)</a:t>
            </a:r>
            <a:r>
              <a:rPr lang="ru-RU" sz="2000" b="1" dirty="0">
                <a:latin typeface="Aptos" panose="020B0004020202020204" pitchFamily="34" charset="0"/>
              </a:rPr>
              <a:t>/</a:t>
            </a:r>
            <a:r>
              <a:rPr lang="en-US" sz="2000" b="1" dirty="0">
                <a:latin typeface="Aptos" panose="020B0004020202020204" pitchFamily="34" charset="0"/>
              </a:rPr>
              <a:t>Q</a:t>
            </a:r>
            <a:endParaRPr lang="ru-RU" sz="2000" b="1" dirty="0">
              <a:latin typeface="Aptos" panose="020B0004020202020204" pitchFamily="34" charset="0"/>
            </a:endParaRPr>
          </a:p>
          <a:p>
            <a:pPr>
              <a:defRPr/>
            </a:pPr>
            <a:endParaRPr lang="ru-RU" sz="2000" dirty="0">
              <a:latin typeface="Aptos" panose="020B0004020202020204" pitchFamily="34" charset="0"/>
            </a:endParaRPr>
          </a:p>
          <a:p>
            <a:pPr>
              <a:defRPr/>
            </a:pPr>
            <a:r>
              <a:rPr lang="ru-RU" sz="2000" b="1" u="sng" dirty="0">
                <a:latin typeface="Aptos" panose="020B0004020202020204" pitchFamily="34" charset="0"/>
              </a:rPr>
              <a:t>ПРЕДЕЛЬНЫЕ ИЗДЕРЖКИ (МС) </a:t>
            </a:r>
            <a:r>
              <a:rPr lang="ru-RU" sz="2000" dirty="0">
                <a:latin typeface="Aptos" panose="020B0004020202020204" pitchFamily="34" charset="0"/>
              </a:rPr>
              <a:t>- это прирост общих издержек, связанный с выпуском дополнительной единицы продукта</a:t>
            </a:r>
            <a:endParaRPr dirty="0">
              <a:latin typeface="Aptos" panose="020B0004020202020204" pitchFamily="34" charset="0"/>
            </a:endParaRPr>
          </a:p>
          <a:p>
            <a:pPr>
              <a:defRPr/>
            </a:pPr>
            <a:r>
              <a:rPr lang="ru-RU" sz="2000" dirty="0">
                <a:latin typeface="Aptos" panose="020B0004020202020204" pitchFamily="34" charset="0"/>
              </a:rPr>
              <a:t>					</a:t>
            </a:r>
            <a:r>
              <a:rPr lang="en-US" sz="2000" b="1" dirty="0">
                <a:latin typeface="Aptos" panose="020B0004020202020204" pitchFamily="34" charset="0"/>
              </a:rPr>
              <a:t>MC</a:t>
            </a:r>
            <a:r>
              <a:rPr lang="ru-RU" sz="2000" b="1" dirty="0">
                <a:latin typeface="Aptos" panose="020B0004020202020204" pitchFamily="34" charset="0"/>
              </a:rPr>
              <a:t> (</a:t>
            </a:r>
            <a:r>
              <a:rPr lang="en-US" sz="2000" b="1" dirty="0">
                <a:latin typeface="Aptos" panose="020B0004020202020204" pitchFamily="34" charset="0"/>
              </a:rPr>
              <a:t>Q) </a:t>
            </a:r>
            <a:r>
              <a:rPr lang="ru-RU" sz="2000" b="1" dirty="0">
                <a:latin typeface="Aptos" panose="020B0004020202020204" pitchFamily="34" charset="0"/>
              </a:rPr>
              <a:t>=∆</a:t>
            </a:r>
            <a:r>
              <a:rPr lang="en-US" sz="2000" b="1" dirty="0">
                <a:latin typeface="Aptos" panose="020B0004020202020204" pitchFamily="34" charset="0"/>
              </a:rPr>
              <a:t>TC</a:t>
            </a:r>
            <a:r>
              <a:rPr lang="ru-RU" sz="2000" b="1" dirty="0">
                <a:latin typeface="Aptos" panose="020B0004020202020204" pitchFamily="34" charset="0"/>
              </a:rPr>
              <a:t> (</a:t>
            </a:r>
            <a:r>
              <a:rPr lang="en-US" sz="2000" b="1" dirty="0">
                <a:latin typeface="Aptos" panose="020B0004020202020204" pitchFamily="34" charset="0"/>
              </a:rPr>
              <a:t>Q) </a:t>
            </a:r>
            <a:r>
              <a:rPr lang="ru-RU" sz="2000" b="1" dirty="0">
                <a:latin typeface="Aptos" panose="020B0004020202020204" pitchFamily="34" charset="0"/>
              </a:rPr>
              <a:t>/∆</a:t>
            </a:r>
            <a:r>
              <a:rPr lang="en-US" sz="2000" b="1" dirty="0">
                <a:latin typeface="Aptos" panose="020B0004020202020204" pitchFamily="34" charset="0"/>
              </a:rPr>
              <a:t>Q</a:t>
            </a:r>
            <a:endParaRPr lang="ru-RU" sz="2000" b="1" dirty="0">
              <a:latin typeface="Aptos" panose="020B0004020202020204" pitchFamily="34" charset="0"/>
            </a:endParaRPr>
          </a:p>
          <a:p>
            <a:pPr algn="ctr">
              <a:defRPr/>
            </a:pPr>
            <a:r>
              <a:rPr lang="ru-RU" sz="2000" b="1" dirty="0">
                <a:latin typeface="Aptos" panose="020B0004020202020204" pitchFamily="34" charset="0"/>
              </a:rPr>
              <a:t>МС (</a:t>
            </a:r>
            <a:r>
              <a:rPr lang="en-US" sz="2000" b="1" dirty="0">
                <a:latin typeface="Aptos" panose="020B0004020202020204" pitchFamily="34" charset="0"/>
              </a:rPr>
              <a:t>Q) </a:t>
            </a:r>
            <a:r>
              <a:rPr lang="ru-RU" sz="2000" b="1" dirty="0">
                <a:latin typeface="Aptos" panose="020B0004020202020204" pitchFamily="34" charset="0"/>
              </a:rPr>
              <a:t>=∆</a:t>
            </a:r>
            <a:r>
              <a:rPr lang="en-US" sz="2000" b="1" dirty="0">
                <a:latin typeface="Aptos" panose="020B0004020202020204" pitchFamily="34" charset="0"/>
              </a:rPr>
              <a:t>VC</a:t>
            </a:r>
            <a:r>
              <a:rPr lang="ru-RU" sz="2000" b="1" dirty="0">
                <a:latin typeface="Aptos" panose="020B0004020202020204" pitchFamily="34" charset="0"/>
              </a:rPr>
              <a:t> (</a:t>
            </a:r>
            <a:r>
              <a:rPr lang="en-US" sz="2000" b="1" dirty="0">
                <a:latin typeface="Aptos" panose="020B0004020202020204" pitchFamily="34" charset="0"/>
              </a:rPr>
              <a:t>Q) </a:t>
            </a:r>
            <a:r>
              <a:rPr lang="ru-RU" sz="2000" b="1" dirty="0">
                <a:latin typeface="Aptos" panose="020B0004020202020204" pitchFamily="34" charset="0"/>
              </a:rPr>
              <a:t>/∆</a:t>
            </a:r>
            <a:r>
              <a:rPr lang="en-US" sz="2000" b="1" dirty="0">
                <a:latin typeface="Aptos" panose="020B0004020202020204" pitchFamily="34" charset="0"/>
              </a:rPr>
              <a:t>Q</a:t>
            </a:r>
            <a:r>
              <a:rPr lang="ru-RU" sz="2000" b="1" dirty="0">
                <a:latin typeface="Aptos" panose="020B0004020202020204" pitchFamily="34" charset="0"/>
              </a:rPr>
              <a:t> (так как ∆</a:t>
            </a:r>
            <a:r>
              <a:rPr lang="en-US" sz="2000" b="1" dirty="0">
                <a:latin typeface="Aptos" panose="020B0004020202020204" pitchFamily="34" charset="0"/>
              </a:rPr>
              <a:t>FC</a:t>
            </a:r>
            <a:r>
              <a:rPr lang="ru-RU" sz="2000" b="1" dirty="0">
                <a:latin typeface="Aptos" panose="020B0004020202020204" pitchFamily="34" charset="0"/>
              </a:rPr>
              <a:t>=0) </a:t>
            </a:r>
            <a:endParaRPr dirty="0">
              <a:latin typeface="Aptos" panose="020B00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2902581"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graphicFrame>
        <p:nvGraphicFramePr>
          <p:cNvPr id="297" name="Таблица 296"/>
          <p:cNvGraphicFramePr>
            <a:graphicFrameLocks noGrp="1"/>
          </p:cNvGraphicFramePr>
          <p:nvPr>
            <p:extLst>
              <p:ext uri="{D42A27DB-BD31-4B8C-83A1-F6EECF244321}">
                <p14:modId xmlns:p14="http://schemas.microsoft.com/office/powerpoint/2010/main" val="1752256065"/>
              </p:ext>
            </p:extLst>
          </p:nvPr>
        </p:nvGraphicFramePr>
        <p:xfrm>
          <a:off x="1143689" y="2272430"/>
          <a:ext cx="9896348" cy="3484159"/>
        </p:xfrm>
        <a:graphic>
          <a:graphicData uri="http://schemas.openxmlformats.org/drawingml/2006/table">
            <a:tbl>
              <a:tblPr firstRow="1" bandRow="1">
                <a:tableStyleId>{5C22544A-7EE6-4342-B048-85BDC9FD1C3A}</a:tableStyleId>
              </a:tblPr>
              <a:tblGrid>
                <a:gridCol w="1413764">
                  <a:extLst>
                    <a:ext uri="{9D8B030D-6E8A-4147-A177-3AD203B41FA5}">
                      <a16:colId xmlns:a16="http://schemas.microsoft.com/office/drawing/2014/main" val="20000"/>
                    </a:ext>
                  </a:extLst>
                </a:gridCol>
                <a:gridCol w="1413764">
                  <a:extLst>
                    <a:ext uri="{9D8B030D-6E8A-4147-A177-3AD203B41FA5}">
                      <a16:colId xmlns:a16="http://schemas.microsoft.com/office/drawing/2014/main" val="20001"/>
                    </a:ext>
                  </a:extLst>
                </a:gridCol>
                <a:gridCol w="1413764">
                  <a:extLst>
                    <a:ext uri="{9D8B030D-6E8A-4147-A177-3AD203B41FA5}">
                      <a16:colId xmlns:a16="http://schemas.microsoft.com/office/drawing/2014/main" val="20002"/>
                    </a:ext>
                  </a:extLst>
                </a:gridCol>
                <a:gridCol w="1413764">
                  <a:extLst>
                    <a:ext uri="{9D8B030D-6E8A-4147-A177-3AD203B41FA5}">
                      <a16:colId xmlns:a16="http://schemas.microsoft.com/office/drawing/2014/main" val="20003"/>
                    </a:ext>
                  </a:extLst>
                </a:gridCol>
                <a:gridCol w="1413764">
                  <a:extLst>
                    <a:ext uri="{9D8B030D-6E8A-4147-A177-3AD203B41FA5}">
                      <a16:colId xmlns:a16="http://schemas.microsoft.com/office/drawing/2014/main" val="20004"/>
                    </a:ext>
                  </a:extLst>
                </a:gridCol>
                <a:gridCol w="1413764">
                  <a:extLst>
                    <a:ext uri="{9D8B030D-6E8A-4147-A177-3AD203B41FA5}">
                      <a16:colId xmlns:a16="http://schemas.microsoft.com/office/drawing/2014/main" val="20005"/>
                    </a:ext>
                  </a:extLst>
                </a:gridCol>
                <a:gridCol w="1413764">
                  <a:extLst>
                    <a:ext uri="{9D8B030D-6E8A-4147-A177-3AD203B41FA5}">
                      <a16:colId xmlns:a16="http://schemas.microsoft.com/office/drawing/2014/main" val="20006"/>
                    </a:ext>
                  </a:extLst>
                </a:gridCol>
              </a:tblGrid>
              <a:tr h="497737">
                <a:tc>
                  <a:txBody>
                    <a:bodyPr/>
                    <a:lstStyle/>
                    <a:p>
                      <a:pPr algn="ctr">
                        <a:defRPr/>
                      </a:pPr>
                      <a:r>
                        <a:rPr lang="en-US">
                          <a:solidFill>
                            <a:schemeClr val="tx1"/>
                          </a:solidFill>
                          <a:latin typeface="Aptos" panose="020B0004020202020204" pitchFamily="34" charset="0"/>
                        </a:rPr>
                        <a:t>Q</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AFC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VC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AC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MC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TC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FC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97737">
                <a:tc>
                  <a:txBody>
                    <a:bodyPr/>
                    <a:lstStyle/>
                    <a:p>
                      <a:pPr algn="ctr">
                        <a:defRPr/>
                      </a:pPr>
                      <a:r>
                        <a:rPr lang="en-US">
                          <a:solidFill>
                            <a:schemeClr val="tx1"/>
                          </a:solidFill>
                          <a:latin typeface="Aptos" panose="020B0004020202020204" pitchFamily="34" charset="0"/>
                        </a:rPr>
                        <a:t>0</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97737">
                <a:tc>
                  <a:txBody>
                    <a:bodyPr/>
                    <a:lstStyle/>
                    <a:p>
                      <a:pPr algn="ctr">
                        <a:defRPr/>
                      </a:pPr>
                      <a:r>
                        <a:rPr lang="en-US">
                          <a:solidFill>
                            <a:schemeClr val="tx1"/>
                          </a:solidFill>
                          <a:latin typeface="Aptos" panose="020B0004020202020204" pitchFamily="34" charset="0"/>
                        </a:rPr>
                        <a:t>1</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130</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97737">
                <a:tc>
                  <a:txBody>
                    <a:bodyPr/>
                    <a:lstStyle/>
                    <a:p>
                      <a:pPr algn="ctr">
                        <a:defRPr/>
                      </a:pPr>
                      <a:r>
                        <a:rPr lang="en-US">
                          <a:solidFill>
                            <a:schemeClr val="tx1"/>
                          </a:solidFill>
                          <a:latin typeface="Aptos" panose="020B0004020202020204" pitchFamily="34" charset="0"/>
                        </a:rPr>
                        <a:t>2</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26</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97737">
                <a:tc>
                  <a:txBody>
                    <a:bodyPr/>
                    <a:lstStyle/>
                    <a:p>
                      <a:pPr algn="ctr">
                        <a:defRPr/>
                      </a:pPr>
                      <a:r>
                        <a:rPr lang="en-US">
                          <a:solidFill>
                            <a:schemeClr val="tx1"/>
                          </a:solidFill>
                          <a:latin typeface="Aptos" panose="020B0004020202020204" pitchFamily="34" charset="0"/>
                        </a:rPr>
                        <a:t>3</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20</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97737">
                <a:tc>
                  <a:txBody>
                    <a:bodyPr/>
                    <a:lstStyle/>
                    <a:p>
                      <a:pPr algn="ctr">
                        <a:defRPr/>
                      </a:pPr>
                      <a:r>
                        <a:rPr lang="en-US">
                          <a:solidFill>
                            <a:schemeClr val="tx1"/>
                          </a:solidFill>
                          <a:latin typeface="Aptos" panose="020B0004020202020204" pitchFamily="34" charset="0"/>
                        </a:rPr>
                        <a:t>4</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90</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97737">
                <a:tc>
                  <a:txBody>
                    <a:bodyPr/>
                    <a:lstStyle/>
                    <a:p>
                      <a:pPr algn="ctr">
                        <a:defRPr/>
                      </a:pPr>
                      <a:r>
                        <a:rPr lang="en-US" dirty="0">
                          <a:solidFill>
                            <a:schemeClr val="tx1"/>
                          </a:solidFill>
                          <a:latin typeface="Aptos" panose="020B0004020202020204" pitchFamily="34" charset="0"/>
                        </a:rPr>
                        <a:t>5</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dirty="0">
                          <a:solidFill>
                            <a:schemeClr val="tx1"/>
                          </a:solidFill>
                          <a:latin typeface="Aptos" panose="020B0004020202020204" pitchFamily="34" charset="0"/>
                        </a:rPr>
                        <a:t>20</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200</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98" name="TextBox 297"/>
          <p:cNvSpPr txBox="1"/>
          <p:nvPr/>
        </p:nvSpPr>
        <p:spPr bwMode="auto">
          <a:xfrm>
            <a:off x="514285" y="1289668"/>
            <a:ext cx="5745606" cy="461665"/>
          </a:xfrm>
          <a:prstGeom prst="rect">
            <a:avLst/>
          </a:prstGeom>
          <a:noFill/>
        </p:spPr>
        <p:txBody>
          <a:bodyPr wrap="square" rtlCol="0">
            <a:spAutoFit/>
          </a:bodyPr>
          <a:lstStyle/>
          <a:p>
            <a:pPr algn="l">
              <a:defRPr/>
            </a:pPr>
            <a:r>
              <a:rPr lang="ru-RU" sz="2400">
                <a:latin typeface="Aptos" panose="020B0004020202020204" pitchFamily="34" charset="0"/>
              </a:rPr>
              <a:t>Задача 3. Заполните таблицу</a:t>
            </a:r>
            <a:endParaRPr>
              <a:latin typeface="Aptos" panose="020B00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BDEF92A-2A72-2F49-130B-1C7286BF044B}"/>
            </a:ext>
          </a:extLst>
        </p:cNvPr>
        <p:cNvGrpSpPr/>
        <p:nvPr/>
      </p:nvGrpSpPr>
      <p:grpSpPr bwMode="auto">
        <a:xfrm>
          <a:off x="0" y="0"/>
          <a:ext cx="0" cy="0"/>
          <a:chOff x="0" y="0"/>
          <a:chExt cx="0" cy="0"/>
        </a:xfrm>
      </p:grpSpPr>
      <p:sp>
        <p:nvSpPr>
          <p:cNvPr id="2" name="Текст 1">
            <a:extLst>
              <a:ext uri="{FF2B5EF4-FFF2-40B4-BE49-F238E27FC236}">
                <a16:creationId xmlns:a16="http://schemas.microsoft.com/office/drawing/2014/main" id="{2704FEB9-4747-AD6E-23D4-BDFD50155A4D}"/>
              </a:ext>
            </a:extLst>
          </p:cNvPr>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a:extLst>
              <a:ext uri="{FF2B5EF4-FFF2-40B4-BE49-F238E27FC236}">
                <a16:creationId xmlns:a16="http://schemas.microsoft.com/office/drawing/2014/main" id="{BCA5FF31-9931-0237-2DEF-B8F4DF8EBC56}"/>
              </a:ext>
            </a:extLst>
          </p:cNvPr>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a:extLst>
              <a:ext uri="{FF2B5EF4-FFF2-40B4-BE49-F238E27FC236}">
                <a16:creationId xmlns:a16="http://schemas.microsoft.com/office/drawing/2014/main" id="{759ACFDD-9836-64FA-C890-DF125218C191}"/>
              </a:ext>
            </a:extLst>
          </p:cNvPr>
          <p:cNvSpPr>
            <a:spLocks noGrp="1"/>
          </p:cNvSpPr>
          <p:nvPr>
            <p:ph type="body" sz="quarter" idx="15"/>
          </p:nvPr>
        </p:nvSpPr>
        <p:spPr bwMode="auto">
          <a:xfrm>
            <a:off x="6259890" y="548720"/>
            <a:ext cx="2902581"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graphicFrame>
        <p:nvGraphicFramePr>
          <p:cNvPr id="297" name="Таблица 296">
            <a:extLst>
              <a:ext uri="{FF2B5EF4-FFF2-40B4-BE49-F238E27FC236}">
                <a16:creationId xmlns:a16="http://schemas.microsoft.com/office/drawing/2014/main" id="{DAEC6017-37BB-B645-52D3-CA4656BDDFB8}"/>
              </a:ext>
            </a:extLst>
          </p:cNvPr>
          <p:cNvGraphicFramePr>
            <a:graphicFrameLocks noGrp="1"/>
          </p:cNvGraphicFramePr>
          <p:nvPr>
            <p:extLst>
              <p:ext uri="{D42A27DB-BD31-4B8C-83A1-F6EECF244321}">
                <p14:modId xmlns:p14="http://schemas.microsoft.com/office/powerpoint/2010/main" val="697780304"/>
              </p:ext>
            </p:extLst>
          </p:nvPr>
        </p:nvGraphicFramePr>
        <p:xfrm>
          <a:off x="1143689" y="2272430"/>
          <a:ext cx="9896348" cy="3484159"/>
        </p:xfrm>
        <a:graphic>
          <a:graphicData uri="http://schemas.openxmlformats.org/drawingml/2006/table">
            <a:tbl>
              <a:tblPr firstRow="1" bandRow="1">
                <a:tableStyleId>{5C22544A-7EE6-4342-B048-85BDC9FD1C3A}</a:tableStyleId>
              </a:tblPr>
              <a:tblGrid>
                <a:gridCol w="1413764">
                  <a:extLst>
                    <a:ext uri="{9D8B030D-6E8A-4147-A177-3AD203B41FA5}">
                      <a16:colId xmlns:a16="http://schemas.microsoft.com/office/drawing/2014/main" val="20000"/>
                    </a:ext>
                  </a:extLst>
                </a:gridCol>
                <a:gridCol w="1413764">
                  <a:extLst>
                    <a:ext uri="{9D8B030D-6E8A-4147-A177-3AD203B41FA5}">
                      <a16:colId xmlns:a16="http://schemas.microsoft.com/office/drawing/2014/main" val="20001"/>
                    </a:ext>
                  </a:extLst>
                </a:gridCol>
                <a:gridCol w="1413764">
                  <a:extLst>
                    <a:ext uri="{9D8B030D-6E8A-4147-A177-3AD203B41FA5}">
                      <a16:colId xmlns:a16="http://schemas.microsoft.com/office/drawing/2014/main" val="20002"/>
                    </a:ext>
                  </a:extLst>
                </a:gridCol>
                <a:gridCol w="1413764">
                  <a:extLst>
                    <a:ext uri="{9D8B030D-6E8A-4147-A177-3AD203B41FA5}">
                      <a16:colId xmlns:a16="http://schemas.microsoft.com/office/drawing/2014/main" val="20003"/>
                    </a:ext>
                  </a:extLst>
                </a:gridCol>
                <a:gridCol w="1413764">
                  <a:extLst>
                    <a:ext uri="{9D8B030D-6E8A-4147-A177-3AD203B41FA5}">
                      <a16:colId xmlns:a16="http://schemas.microsoft.com/office/drawing/2014/main" val="20004"/>
                    </a:ext>
                  </a:extLst>
                </a:gridCol>
                <a:gridCol w="1413764">
                  <a:extLst>
                    <a:ext uri="{9D8B030D-6E8A-4147-A177-3AD203B41FA5}">
                      <a16:colId xmlns:a16="http://schemas.microsoft.com/office/drawing/2014/main" val="20005"/>
                    </a:ext>
                  </a:extLst>
                </a:gridCol>
                <a:gridCol w="1413764">
                  <a:extLst>
                    <a:ext uri="{9D8B030D-6E8A-4147-A177-3AD203B41FA5}">
                      <a16:colId xmlns:a16="http://schemas.microsoft.com/office/drawing/2014/main" val="20006"/>
                    </a:ext>
                  </a:extLst>
                </a:gridCol>
              </a:tblGrid>
              <a:tr h="497737">
                <a:tc>
                  <a:txBody>
                    <a:bodyPr/>
                    <a:lstStyle/>
                    <a:p>
                      <a:pPr algn="ctr">
                        <a:defRPr/>
                      </a:pPr>
                      <a:r>
                        <a:rPr lang="en-US">
                          <a:solidFill>
                            <a:schemeClr val="tx1"/>
                          </a:solidFill>
                          <a:latin typeface="Aptos" panose="020B0004020202020204" pitchFamily="34" charset="0"/>
                        </a:rPr>
                        <a:t>Q</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AFC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VC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AC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MC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TC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FC</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97737">
                <a:tc>
                  <a:txBody>
                    <a:bodyPr/>
                    <a:lstStyle/>
                    <a:p>
                      <a:pPr algn="ctr">
                        <a:defRPr/>
                      </a:pPr>
                      <a:r>
                        <a:rPr lang="en-US">
                          <a:solidFill>
                            <a:schemeClr val="tx1"/>
                          </a:solidFill>
                          <a:latin typeface="Aptos" panose="020B0004020202020204" pitchFamily="34" charset="0"/>
                        </a:rPr>
                        <a:t>0</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97737">
                <a:tc>
                  <a:txBody>
                    <a:bodyPr/>
                    <a:lstStyle/>
                    <a:p>
                      <a:pPr algn="ctr">
                        <a:defRPr/>
                      </a:pPr>
                      <a:r>
                        <a:rPr lang="en-US">
                          <a:solidFill>
                            <a:schemeClr val="tx1"/>
                          </a:solidFill>
                          <a:latin typeface="Aptos" panose="020B0004020202020204" pitchFamily="34" charset="0"/>
                        </a:rPr>
                        <a:t>1</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30</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130</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30</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130</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97737">
                <a:tc>
                  <a:txBody>
                    <a:bodyPr/>
                    <a:lstStyle/>
                    <a:p>
                      <a:pPr algn="ctr">
                        <a:defRPr/>
                      </a:pPr>
                      <a:r>
                        <a:rPr lang="en-US">
                          <a:solidFill>
                            <a:schemeClr val="tx1"/>
                          </a:solidFill>
                          <a:latin typeface="Aptos" panose="020B0004020202020204" pitchFamily="34" charset="0"/>
                        </a:rPr>
                        <a:t>2</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56</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78</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26</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156</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97737">
                <a:tc>
                  <a:txBody>
                    <a:bodyPr/>
                    <a:lstStyle/>
                    <a:p>
                      <a:pPr algn="ctr">
                        <a:defRPr/>
                      </a:pPr>
                      <a:r>
                        <a:rPr lang="en-US">
                          <a:solidFill>
                            <a:schemeClr val="tx1"/>
                          </a:solidFill>
                          <a:latin typeface="Aptos" panose="020B0004020202020204" pitchFamily="34" charset="0"/>
                        </a:rPr>
                        <a:t>3</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33.</a:t>
                      </a:r>
                      <a:r>
                        <a:rPr lang="en-GB" dirty="0">
                          <a:solidFill>
                            <a:schemeClr val="tx1"/>
                          </a:solidFill>
                          <a:latin typeface="Aptos" panose="020B0004020202020204" pitchFamily="34" charset="0"/>
                        </a:rPr>
                        <a:t>33</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76</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58.67</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20</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176</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97737">
                <a:tc>
                  <a:txBody>
                    <a:bodyPr/>
                    <a:lstStyle/>
                    <a:p>
                      <a:pPr algn="ctr">
                        <a:defRPr/>
                      </a:pPr>
                      <a:r>
                        <a:rPr lang="en-US">
                          <a:solidFill>
                            <a:schemeClr val="tx1"/>
                          </a:solidFill>
                          <a:latin typeface="Aptos" panose="020B0004020202020204" pitchFamily="34" charset="0"/>
                        </a:rPr>
                        <a:t>4</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25</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90</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47.5</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14</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190</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97737">
                <a:tc>
                  <a:txBody>
                    <a:bodyPr/>
                    <a:lstStyle/>
                    <a:p>
                      <a:pPr algn="ctr">
                        <a:defRPr/>
                      </a:pPr>
                      <a:r>
                        <a:rPr lang="en-US" dirty="0">
                          <a:solidFill>
                            <a:schemeClr val="tx1"/>
                          </a:solidFill>
                          <a:latin typeface="Aptos" panose="020B0004020202020204" pitchFamily="34" charset="0"/>
                        </a:rPr>
                        <a:t>5</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dirty="0">
                          <a:solidFill>
                            <a:schemeClr val="tx1"/>
                          </a:solidFill>
                          <a:latin typeface="Aptos" panose="020B0004020202020204" pitchFamily="34" charset="0"/>
                        </a:rPr>
                        <a:t>20</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100</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40</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GB" dirty="0">
                          <a:solidFill>
                            <a:schemeClr val="tx1"/>
                          </a:solidFill>
                          <a:latin typeface="Aptos" panose="020B0004020202020204" pitchFamily="34" charset="0"/>
                        </a:rPr>
                        <a:t>10</a:t>
                      </a:r>
                      <a:endParaRPr lang="ru-RU" dirty="0">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en-US">
                          <a:solidFill>
                            <a:schemeClr val="tx1"/>
                          </a:solidFill>
                          <a:latin typeface="Aptos" panose="020B0004020202020204" pitchFamily="34" charset="0"/>
                        </a:rPr>
                        <a:t>200</a:t>
                      </a:r>
                      <a:endParaRPr lang="ru-RU">
                        <a:solidFill>
                          <a:schemeClr val="tx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defRPr/>
                      </a:pPr>
                      <a:r>
                        <a:rPr lang="ru-RU" dirty="0">
                          <a:solidFill>
                            <a:schemeClr val="tx1"/>
                          </a:solidFill>
                          <a:latin typeface="Aptos" panose="020B000402020202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98" name="TextBox 297">
            <a:extLst>
              <a:ext uri="{FF2B5EF4-FFF2-40B4-BE49-F238E27FC236}">
                <a16:creationId xmlns:a16="http://schemas.microsoft.com/office/drawing/2014/main" id="{A6DD8A38-9092-3D48-A24A-35DE0E545515}"/>
              </a:ext>
            </a:extLst>
          </p:cNvPr>
          <p:cNvSpPr txBox="1"/>
          <p:nvPr/>
        </p:nvSpPr>
        <p:spPr bwMode="auto">
          <a:xfrm>
            <a:off x="514285" y="1289668"/>
            <a:ext cx="5745606" cy="461665"/>
          </a:xfrm>
          <a:prstGeom prst="rect">
            <a:avLst/>
          </a:prstGeom>
          <a:noFill/>
        </p:spPr>
        <p:txBody>
          <a:bodyPr wrap="square" rtlCol="0">
            <a:spAutoFit/>
          </a:bodyPr>
          <a:lstStyle/>
          <a:p>
            <a:pPr algn="l">
              <a:defRPr/>
            </a:pPr>
            <a:r>
              <a:rPr lang="ru-RU" sz="2400">
                <a:latin typeface="Aptos" panose="020B0004020202020204" pitchFamily="34" charset="0"/>
              </a:rPr>
              <a:t>Задача 3. Заполните таблицу</a:t>
            </a:r>
            <a:endParaRPr>
              <a:latin typeface="Aptos" panose="020B0004020202020204" pitchFamily="34" charset="0"/>
            </a:endParaRPr>
          </a:p>
        </p:txBody>
      </p:sp>
    </p:spTree>
    <p:extLst>
      <p:ext uri="{BB962C8B-B14F-4D97-AF65-F5344CB8AC3E}">
        <p14:creationId xmlns:p14="http://schemas.microsoft.com/office/powerpoint/2010/main" val="3704363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Текст 1"/>
          <p:cNvSpPr>
            <a:spLocks noGrp="1"/>
          </p:cNvSpPr>
          <p:nvPr>
            <p:ph type="body" sz="quarter" idx="13"/>
          </p:nvPr>
        </p:nvSpPr>
        <p:spPr bwMode="auto"/>
        <p:txBody>
          <a:bodyPr/>
          <a:lstStyle/>
          <a:p>
            <a:pPr>
              <a:defRPr/>
            </a:pPr>
            <a:r>
              <a:rPr lang="ru-RU">
                <a:latin typeface="Aptos" panose="020B0004020202020204" pitchFamily="34" charset="0"/>
              </a:rPr>
              <a:t>НИУ ВШЭ</a:t>
            </a:r>
            <a:endParaRPr>
              <a:latin typeface="Aptos" panose="020B0004020202020204" pitchFamily="34" charset="0"/>
            </a:endParaRPr>
          </a:p>
        </p:txBody>
      </p:sp>
      <p:sp>
        <p:nvSpPr>
          <p:cNvPr id="3" name="Текст 2"/>
          <p:cNvSpPr>
            <a:spLocks noGrp="1"/>
          </p:cNvSpPr>
          <p:nvPr>
            <p:ph type="body" sz="quarter" idx="14"/>
          </p:nvPr>
        </p:nvSpPr>
        <p:spPr bwMode="auto"/>
        <p:txBody>
          <a:bodyPr/>
          <a:lstStyle/>
          <a:p>
            <a:pPr>
              <a:defRPr/>
            </a:pPr>
            <a:r>
              <a:rPr lang="ru-RU">
                <a:latin typeface="Aptos" panose="020B0004020202020204" pitchFamily="34" charset="0"/>
              </a:rPr>
              <a:t>Факультет экономических наук</a:t>
            </a:r>
            <a:endParaRPr>
              <a:latin typeface="Aptos" panose="020B0004020202020204" pitchFamily="34" charset="0"/>
            </a:endParaRPr>
          </a:p>
        </p:txBody>
      </p:sp>
      <p:sp>
        <p:nvSpPr>
          <p:cNvPr id="4" name="Текст 3"/>
          <p:cNvSpPr>
            <a:spLocks noGrp="1"/>
          </p:cNvSpPr>
          <p:nvPr>
            <p:ph type="body" sz="quarter" idx="15"/>
          </p:nvPr>
        </p:nvSpPr>
        <p:spPr bwMode="auto">
          <a:xfrm>
            <a:off x="6259890" y="548720"/>
            <a:ext cx="2967235" cy="408109"/>
          </a:xfrm>
        </p:spPr>
        <p:txBody>
          <a:bodyPr/>
          <a:lstStyle/>
          <a:p>
            <a:pPr>
              <a:defRPr/>
            </a:pPr>
            <a:r>
              <a:rPr lang="ru-RU">
                <a:latin typeface="Aptos" panose="020B0004020202020204" pitchFamily="34" charset="0"/>
              </a:rPr>
              <a:t>Департамент теоретической экономики</a:t>
            </a:r>
            <a:endParaRPr>
              <a:latin typeface="Aptos" panose="020B0004020202020204" pitchFamily="34" charset="0"/>
            </a:endParaRPr>
          </a:p>
        </p:txBody>
      </p:sp>
      <p:sp>
        <p:nvSpPr>
          <p:cNvPr id="8" name="TextBox 7"/>
          <p:cNvSpPr txBox="1"/>
          <p:nvPr/>
        </p:nvSpPr>
        <p:spPr bwMode="auto">
          <a:xfrm>
            <a:off x="726053" y="2415646"/>
            <a:ext cx="10739893" cy="2215991"/>
          </a:xfrm>
          <a:prstGeom prst="rect">
            <a:avLst/>
          </a:prstGeom>
          <a:noFill/>
        </p:spPr>
        <p:txBody>
          <a:bodyPr wrap="square">
            <a:spAutoFit/>
          </a:bodyPr>
          <a:lstStyle/>
          <a:p>
            <a:pPr marL="0" marR="0" indent="0" algn="just">
              <a:lnSpc>
                <a:spcPct val="100000"/>
              </a:lnSpc>
              <a:spcBef>
                <a:spcPts val="0"/>
              </a:spcBef>
              <a:spcAft>
                <a:spcPts val="0"/>
              </a:spcAft>
              <a:defRPr/>
            </a:pPr>
            <a:r>
              <a:rPr lang="ru-RU" sz="2300" b="1" i="0" u="none" strike="noStrike" cap="none" spc="0" dirty="0">
                <a:solidFill>
                  <a:schemeClr val="tx1"/>
                </a:solidFill>
                <a:latin typeface="Aptos" panose="020B0004020202020204" pitchFamily="34" charset="0"/>
                <a:ea typeface="Calibri"/>
                <a:cs typeface="Calibri"/>
              </a:rPr>
              <a:t>Домашнее задание к семинару 6.</a:t>
            </a:r>
            <a:endParaRPr sz="2300" b="1" i="0" u="none" strike="noStrike" cap="none" spc="0" dirty="0">
              <a:solidFill>
                <a:schemeClr val="tx1"/>
              </a:solidFill>
              <a:latin typeface="Aptos" panose="020B0004020202020204" pitchFamily="34" charset="0"/>
              <a:cs typeface="Calibri"/>
            </a:endParaRPr>
          </a:p>
          <a:p>
            <a:pPr marL="0" marR="0" indent="0" algn="just">
              <a:lnSpc>
                <a:spcPct val="100000"/>
              </a:lnSpc>
              <a:spcBef>
                <a:spcPts val="0"/>
              </a:spcBef>
              <a:spcAft>
                <a:spcPts val="0"/>
              </a:spcAft>
              <a:defRPr/>
            </a:pPr>
            <a:r>
              <a:rPr lang="ru-RU" sz="2300" b="0" i="0" u="none" strike="noStrike" cap="none" spc="0" dirty="0">
                <a:solidFill>
                  <a:schemeClr val="tx1"/>
                </a:solidFill>
                <a:latin typeface="Aptos" panose="020B0004020202020204" pitchFamily="34" charset="0"/>
                <a:ea typeface="Calibri"/>
                <a:cs typeface="Calibri"/>
              </a:rPr>
              <a:t>1.Посмотрите онлайн курс Экономика. Неделя 5. Максимизация прибыли и рыночные структуры.</a:t>
            </a:r>
            <a:endParaRPr lang="ru-RU" sz="2300" b="0" i="0" u="none" strike="noStrike" cap="none" spc="0" dirty="0">
              <a:solidFill>
                <a:schemeClr val="tx1"/>
              </a:solidFill>
              <a:latin typeface="Aptos" panose="020B0004020202020204" pitchFamily="34" charset="0"/>
              <a:cs typeface="Calibri"/>
            </a:endParaRPr>
          </a:p>
          <a:p>
            <a:pPr marL="0" marR="0" indent="0" algn="just">
              <a:lnSpc>
                <a:spcPct val="100000"/>
              </a:lnSpc>
              <a:spcBef>
                <a:spcPts val="0"/>
              </a:spcBef>
              <a:spcAft>
                <a:spcPts val="0"/>
              </a:spcAft>
              <a:defRPr/>
            </a:pPr>
            <a:r>
              <a:rPr lang="ru-RU" sz="2300" b="0" i="0" u="none" strike="noStrike" cap="none" spc="0" dirty="0">
                <a:solidFill>
                  <a:schemeClr val="tx1"/>
                </a:solidFill>
                <a:latin typeface="Aptos" panose="020B0004020202020204" pitchFamily="34" charset="0"/>
                <a:ea typeface="Calibri"/>
                <a:cs typeface="Calibri"/>
              </a:rPr>
              <a:t>2.Решите тренировочные задания по теме 3.1 Фирма и конкуренция</a:t>
            </a:r>
            <a:endParaRPr lang="ru-RU" sz="2300" b="0" i="0" u="none" strike="noStrike" cap="none" spc="0" dirty="0">
              <a:solidFill>
                <a:schemeClr val="tx1"/>
              </a:solidFill>
              <a:latin typeface="Aptos" panose="020B0004020202020204" pitchFamily="34" charset="0"/>
              <a:cs typeface="Calibri"/>
            </a:endParaRPr>
          </a:p>
          <a:p>
            <a:pPr marL="0" marR="0" indent="0" algn="just">
              <a:lnSpc>
                <a:spcPct val="100000"/>
              </a:lnSpc>
              <a:spcBef>
                <a:spcPts val="0"/>
              </a:spcBef>
              <a:spcAft>
                <a:spcPts val="0"/>
              </a:spcAft>
              <a:defRPr/>
            </a:pPr>
            <a:r>
              <a:rPr lang="ru-RU" sz="2300" b="0" i="0" u="none" strike="noStrike" cap="none" spc="0" dirty="0">
                <a:solidFill>
                  <a:schemeClr val="tx1"/>
                </a:solidFill>
                <a:latin typeface="Aptos" panose="020B0004020202020204" pitchFamily="34" charset="0"/>
                <a:ea typeface="Calibri"/>
                <a:cs typeface="Calibri"/>
              </a:rPr>
              <a:t> </a:t>
            </a:r>
            <a:endParaRPr lang="ru-RU" sz="2300" b="0" i="0" u="none" strike="noStrike" cap="none" spc="0" dirty="0">
              <a:solidFill>
                <a:schemeClr val="tx1"/>
              </a:solidFill>
              <a:latin typeface="Aptos" panose="020B0004020202020204" pitchFamily="34" charset="0"/>
              <a:cs typeface="Calibri"/>
            </a:endParaRPr>
          </a:p>
          <a:p>
            <a:pPr marL="0" marR="0" indent="0" algn="just">
              <a:lnSpc>
                <a:spcPct val="100000"/>
              </a:lnSpc>
              <a:spcBef>
                <a:spcPts val="0"/>
              </a:spcBef>
              <a:spcAft>
                <a:spcPts val="0"/>
              </a:spcAft>
              <a:defRPr/>
            </a:pPr>
            <a:r>
              <a:rPr lang="ru-RU" sz="2300" dirty="0">
                <a:latin typeface="Aptos" panose="020B0004020202020204" pitchFamily="34" charset="0"/>
                <a:ea typeface="Calibri"/>
                <a:cs typeface="Calibri"/>
              </a:rPr>
              <a:t>В</a:t>
            </a:r>
            <a:r>
              <a:rPr lang="ru-RU" sz="2300" b="0" i="0" u="none" strike="noStrike" cap="none" spc="0" dirty="0">
                <a:solidFill>
                  <a:schemeClr val="tx1"/>
                </a:solidFill>
                <a:latin typeface="Aptos" panose="020B0004020202020204" pitchFamily="34" charset="0"/>
                <a:ea typeface="Calibri"/>
                <a:cs typeface="Calibri"/>
              </a:rPr>
              <a:t> начале семинара 7 будет проведена МКР3 по теме 2. Фирма и конкуренция.</a:t>
            </a:r>
            <a:endParaRPr sz="2300" dirty="0">
              <a:latin typeface="Aptos" panose="020B00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prstGeom prst="rect">
          <a:avLst/>
        </a:prstGeom>
        <a:noFill/>
      </a:spPr>
      <a:bodyPr/>
      <a:lstStyle/>
    </a:txDef>
  </a:objectDefaults>
  <a:extraClrSchemeLst/>
</a:theme>
</file>

<file path=docProps/app.xml><?xml version="1.0" encoding="utf-8"?>
<Properties xmlns="http://schemas.openxmlformats.org/officeDocument/2006/extended-properties" xmlns:vt="http://schemas.openxmlformats.org/officeDocument/2006/docPropsVTypes">
  <Template/>
  <TotalTime>654</TotalTime>
  <Words>1885</Words>
  <Application>Microsoft Macintosh PowerPoint</Application>
  <DocSecurity>0</DocSecurity>
  <PresentationFormat>Widescreen</PresentationFormat>
  <Paragraphs>299</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Calibri Light</vt:lpstr>
      <vt:lpstr>Cambria Math</vt:lpstr>
      <vt:lpstr>HSE Sans</vt:lpstr>
      <vt:lpstr>Office Theme</vt:lpstr>
      <vt:lpstr>ДОЦ «Экономика»  Семинар 3.1 Фирма и конкуренция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Кутьков Юрий Юрьевич</dc:creator>
  <cp:keywords/>
  <dc:description/>
  <cp:lastModifiedBy>Анна Иванова</cp:lastModifiedBy>
  <cp:revision>162</cp:revision>
  <dcterms:created xsi:type="dcterms:W3CDTF">2021-11-11T08:52:47Z</dcterms:created>
  <dcterms:modified xsi:type="dcterms:W3CDTF">2026-02-14T07:50:02Z</dcterms:modified>
  <cp:category/>
  <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