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1" r:id="rId5"/>
    <p:sldId id="333" r:id="rId6"/>
    <p:sldId id="352" r:id="rId7"/>
    <p:sldId id="331" r:id="rId8"/>
    <p:sldId id="355" r:id="rId9"/>
    <p:sldId id="356" r:id="rId10"/>
    <p:sldId id="357" r:id="rId11"/>
    <p:sldId id="340" r:id="rId12"/>
    <p:sldId id="339" r:id="rId13"/>
    <p:sldId id="298" r:id="rId14"/>
    <p:sldId id="358" r:id="rId15"/>
    <p:sldId id="342" r:id="rId16"/>
    <p:sldId id="349" r:id="rId17"/>
    <p:sldId id="285" r:id="rId1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1" autoAdjust="0"/>
    <p:restoredTop sz="94752"/>
  </p:normalViewPr>
  <p:slideViewPr>
    <p:cSldViewPr snapToGrid="0" snapToObjects="1">
      <p:cViewPr varScale="1">
        <p:scale>
          <a:sx n="111" d="100"/>
          <a:sy n="111" d="100"/>
        </p:scale>
        <p:origin x="512" y="20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t>31.05.2026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x-none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t>31.05.2026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746779"/>
            <a:ext cx="9021197" cy="1364442"/>
          </a:xfrm>
        </p:spPr>
        <p:txBody>
          <a:bodyPr/>
          <a:lstStyle/>
          <a:p>
            <a:r>
              <a:rPr lang="ru-RU" b="1" dirty="0">
                <a:latin typeface="Aptos" panose="020B0004020202020204" pitchFamily="34" charset="0"/>
              </a:rPr>
              <a:t>Семинар 15.Государственные политики (продолжение)</a:t>
            </a:r>
            <a:endParaRPr lang="ru-RU" b="1" i="1" dirty="0">
              <a:latin typeface="Aptos" panose="020B00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Москва 2026</a:t>
            </a:r>
          </a:p>
          <a:p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Приглашенный преподаватель департамента теоретической экономики</a:t>
            </a:r>
          </a:p>
          <a:p>
            <a:r>
              <a:rPr lang="ru-RU" dirty="0">
                <a:latin typeface="Aptos" panose="020B0004020202020204" pitchFamily="34" charset="0"/>
              </a:rPr>
              <a:t>Иванова Анна Павловна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8C26-8F57-3DCA-7F7B-379D828A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E2E6A1E-8C0D-D65A-AE47-2F49E8767F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930C7-6AC3-D3DA-0872-13596949BB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DC059E-04AA-423D-156A-D28A672C6C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6105E-FED1-B8B9-F593-886484BE64C1}"/>
              </a:ext>
            </a:extLst>
          </p:cNvPr>
          <p:cNvSpPr txBox="1"/>
          <p:nvPr/>
        </p:nvSpPr>
        <p:spPr>
          <a:xfrm>
            <a:off x="457199" y="1335455"/>
            <a:ext cx="838571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Макроэкономические цели:</a:t>
            </a:r>
          </a:p>
          <a:p>
            <a:endParaRPr lang="ru-RU" sz="1000" b="1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Экономический рост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инфляции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безработицы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платёжного баланса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Сглаживание экономического неравенства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Защита окружающей среды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государственного долга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51976-01A9-D583-E11C-30527B2BD273}"/>
              </a:ext>
            </a:extLst>
          </p:cNvPr>
          <p:cNvSpPr txBox="1"/>
          <p:nvPr/>
        </p:nvSpPr>
        <p:spPr>
          <a:xfrm>
            <a:off x="457199" y="4668736"/>
            <a:ext cx="1067171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Способы достижения макроэкономических целей:</a:t>
            </a:r>
          </a:p>
          <a:p>
            <a:endParaRPr lang="ru-RU" sz="1000" b="1" dirty="0">
              <a:latin typeface="Aptos" panose="020B0004020202020204" pitchFamily="34" charset="0"/>
            </a:endParaRP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Фискальная политика</a:t>
            </a:r>
            <a:r>
              <a:rPr lang="en-GB" sz="2200" dirty="0">
                <a:latin typeface="Aptos" panose="020B0004020202020204" pitchFamily="34" charset="0"/>
              </a:rPr>
              <a:t> (</a:t>
            </a:r>
            <a:r>
              <a:rPr lang="ru-RU" sz="2200" dirty="0">
                <a:latin typeface="Aptos" panose="020B0004020202020204" pitchFamily="34" charset="0"/>
              </a:rPr>
              <a:t>БНП)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ru-RU" sz="2200" b="1" dirty="0">
                <a:solidFill>
                  <a:srgbClr val="FF0000"/>
                </a:solidFill>
                <a:latin typeface="Aptos" panose="020B0004020202020204" pitchFamily="34" charset="0"/>
              </a:rPr>
              <a:t>Монетарная политика (ДКП)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Структурная политика (политика предложения)</a:t>
            </a:r>
          </a:p>
        </p:txBody>
      </p:sp>
    </p:spTree>
    <p:extLst>
      <p:ext uri="{BB962C8B-B14F-4D97-AF65-F5344CB8AC3E}">
        <p14:creationId xmlns:p14="http://schemas.microsoft.com/office/powerpoint/2010/main" val="113614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40BB8-6626-A3CC-FD6E-53625A15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283DA2D-6791-DCBA-007A-1902142E69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F26C79-7A22-8BFF-06C3-11B492310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767A0B-2719-A53C-B6C8-C1880B453D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F36B4-C272-40E7-DEEC-CA0635FB0855}"/>
              </a:ext>
            </a:extLst>
          </p:cNvPr>
          <p:cNvSpPr txBox="1"/>
          <p:nvPr/>
        </p:nvSpPr>
        <p:spPr>
          <a:xfrm>
            <a:off x="431609" y="1509982"/>
            <a:ext cx="1132878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>
                <a:latin typeface="Aptos" panose="020B0004020202020204" pitchFamily="34" charset="0"/>
              </a:rPr>
              <a:t>Монетарная (денежно-кредитная) политика</a:t>
            </a:r>
          </a:p>
          <a:p>
            <a:pPr algn="just"/>
            <a:endParaRPr lang="ru-RU" sz="2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Монетарная политика -</a:t>
            </a:r>
            <a:r>
              <a:rPr lang="ru-RU" sz="2000" dirty="0">
                <a:latin typeface="Aptos" panose="020B0004020202020204" pitchFamily="34" charset="0"/>
              </a:rPr>
              <a:t> это действия центрального банка (ЦБ), направленные на регулирование денежного рынка и стабилизацию экономики в краткосрочном периоде.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Цель Банка России -</a:t>
            </a:r>
            <a:r>
              <a:rPr lang="ru-RU" sz="2000" dirty="0">
                <a:latin typeface="Aptos" panose="020B0004020202020204" pitchFamily="34" charset="0"/>
              </a:rPr>
              <a:t> защита и обеспечение устойчивости рубля, развитие и укрепление банковской системы РФ, обеспечение стабильности и развитие национальной платежной системы, развитие и обеспечение финансового рынка РФ.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Объект регулирования </a:t>
            </a:r>
            <a:r>
              <a:rPr lang="ru-RU" sz="2000" dirty="0">
                <a:latin typeface="Aptos" panose="020B0004020202020204" pitchFamily="34" charset="0"/>
              </a:rPr>
              <a:t>- </a:t>
            </a:r>
            <a:r>
              <a:rPr lang="ru-RU" sz="2000" dirty="0">
                <a:solidFill>
                  <a:srgbClr val="FF0000"/>
                </a:solidFill>
                <a:latin typeface="Aptos" panose="020B0004020202020204" pitchFamily="34" charset="0"/>
              </a:rPr>
              <a:t>денежный рынок (рынок денег ЦБ)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Реализует монетарную политику ЦБ РФ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Инструменты монетарной политики:</a:t>
            </a:r>
          </a:p>
          <a:p>
            <a:pPr marL="171450" indent="-171450" algn="just">
              <a:buFontTx/>
              <a:buChar char="-"/>
            </a:pPr>
            <a:r>
              <a:rPr lang="ru-RU" sz="2000" dirty="0">
                <a:latin typeface="Aptos" panose="020B0004020202020204" pitchFamily="34" charset="0"/>
              </a:rPr>
              <a:t>Изменение нормы обязательных резервов</a:t>
            </a:r>
          </a:p>
          <a:p>
            <a:pPr marL="171450" indent="-171450" algn="just">
              <a:buFontTx/>
              <a:buChar char="-"/>
            </a:pPr>
            <a:r>
              <a:rPr lang="ru-RU" sz="2000" dirty="0">
                <a:latin typeface="Aptos" panose="020B0004020202020204" pitchFamily="34" charset="0"/>
              </a:rPr>
              <a:t>Изменение ключевой ставки процента</a:t>
            </a:r>
          </a:p>
          <a:p>
            <a:pPr marL="171450" indent="-171450" algn="just">
              <a:buFontTx/>
              <a:buChar char="-"/>
            </a:pPr>
            <a:r>
              <a:rPr lang="ru-RU" sz="2000" dirty="0">
                <a:latin typeface="Aptos" panose="020B0004020202020204" pitchFamily="34" charset="0"/>
              </a:rPr>
              <a:t>Операции на открытом рынке</a:t>
            </a:r>
          </a:p>
        </p:txBody>
      </p:sp>
    </p:spTree>
    <p:extLst>
      <p:ext uri="{BB962C8B-B14F-4D97-AF65-F5344CB8AC3E}">
        <p14:creationId xmlns:p14="http://schemas.microsoft.com/office/powerpoint/2010/main" val="361697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EDF1-5B86-89C2-9340-FB20B0887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25E0C5C-3948-D3C6-F156-BECEBB288A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273274"/>
            <a:ext cx="1901825" cy="415925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E73581-B788-4535-0CCE-D65E0C7988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281090"/>
            <a:ext cx="2070100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0E8E36-B686-0D97-CC6B-AE741F057A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281090"/>
            <a:ext cx="2070100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112779D-E450-39BE-99A6-D310155EA443}"/>
              </a:ext>
            </a:extLst>
          </p:cNvPr>
          <p:cNvSpPr/>
          <p:nvPr/>
        </p:nvSpPr>
        <p:spPr>
          <a:xfrm>
            <a:off x="554354" y="1435375"/>
            <a:ext cx="11083291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Aptos" panose="020B0004020202020204" pitchFamily="34" charset="0"/>
              </a:rPr>
              <a:t>Норма обязательных резервов</a:t>
            </a:r>
            <a:r>
              <a:rPr lang="ru-RU" sz="2000" dirty="0">
                <a:latin typeface="Aptos" panose="020B0004020202020204" pitchFamily="34" charset="0"/>
              </a:rPr>
              <a:t> - установленная законом доля обязательств коммерческого банка по привлечённым депозитам, которую банк должен держать в резерве в виде депозита в ЦБ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Обязательные резервы коммерческих банков -</a:t>
            </a:r>
            <a:r>
              <a:rPr lang="ru-RU" sz="2000" dirty="0">
                <a:latin typeface="Aptos" panose="020B0004020202020204" pitchFamily="34" charset="0"/>
              </a:rPr>
              <a:t> средства кредитных организаций, которые они должны хранить в качестве обязательного резерва на корреспондентском счете в центральных банках.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000" dirty="0">
                <a:latin typeface="Aptos" panose="020B0004020202020204" pitchFamily="34" charset="0"/>
              </a:rPr>
              <a:t>Под </a:t>
            </a:r>
            <a:r>
              <a:rPr lang="ru-RU" sz="2000" b="1" dirty="0">
                <a:latin typeface="Aptos" panose="020B0004020202020204" pitchFamily="34" charset="0"/>
              </a:rPr>
              <a:t>ключевой ставкой </a:t>
            </a:r>
            <a:r>
              <a:rPr lang="ru-RU" sz="2000" dirty="0">
                <a:latin typeface="Aptos" panose="020B0004020202020204" pitchFamily="34" charset="0"/>
              </a:rPr>
              <a:t>понимается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ru-RU" sz="2000" dirty="0">
                <a:latin typeface="Aptos" panose="020B0004020202020204" pitchFamily="34" charset="0"/>
              </a:rPr>
              <a:t>процентная ставка, по которой Центральный банк  страны предоставляет кредиты коммерческим банкам. Чем выше ставка Центрального банка, тем более высокий процент взимают затем коммерческие банки за предоставляемый ими клиентам кредит и наоборот.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Операции на открытом рынке -</a:t>
            </a:r>
            <a:r>
              <a:rPr lang="ru-RU" sz="2000" dirty="0">
                <a:latin typeface="Aptos" panose="020B0004020202020204" pitchFamily="34" charset="0"/>
              </a:rPr>
              <a:t> деятельность Центрального банка по купле и продаже ценных бумаг (обычно государственных облигаций) на открытом рынке. Центральные банки используют операции на открытом рынке как основной инструмент при проведении монетарной политики. </a:t>
            </a:r>
          </a:p>
        </p:txBody>
      </p:sp>
    </p:spTree>
    <p:extLst>
      <p:ext uri="{BB962C8B-B14F-4D97-AF65-F5344CB8AC3E}">
        <p14:creationId xmlns:p14="http://schemas.microsoft.com/office/powerpoint/2010/main" val="278395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06DE-23F7-AE4C-5AD2-35B80650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91D4456-1F85-8F96-FD78-A1240B6B60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F4FDF2-9F66-4C46-6A74-6C1D29776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BA9F66-B73D-0C45-E43C-79A0522AB5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DB8389-4C54-B317-2E8F-EC2658AB807A}"/>
              </a:ext>
            </a:extLst>
          </p:cNvPr>
          <p:cNvSpPr/>
          <p:nvPr/>
        </p:nvSpPr>
        <p:spPr>
          <a:xfrm>
            <a:off x="554354" y="2036197"/>
            <a:ext cx="1108329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RU" sz="2200" b="1" dirty="0">
                <a:latin typeface="Aptos" panose="020B0004020202020204" pitchFamily="34" charset="0"/>
              </a:rPr>
              <a:t>Какие сейчас бывают деньги?</a:t>
            </a:r>
          </a:p>
          <a:p>
            <a:endParaRPr lang="en-RU" sz="2200" b="1" dirty="0">
              <a:latin typeface="Aptos" panose="020B0004020202020204" pitchFamily="34" charset="0"/>
            </a:endParaRPr>
          </a:p>
          <a:p>
            <a:r>
              <a:rPr lang="en-RU" sz="2000" b="1" i="1" dirty="0">
                <a:latin typeface="Aptos" panose="020B0004020202020204" pitchFamily="34" charset="0"/>
              </a:rPr>
              <a:t>Деньги финансовых властей = денежная база</a:t>
            </a:r>
          </a:p>
          <a:p>
            <a:endParaRPr lang="en-RU" sz="1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U" sz="2000" dirty="0">
                <a:latin typeface="Aptos" panose="020B0004020202020204" pitchFamily="34" charset="0"/>
              </a:rPr>
              <a:t>Обязательства центрального банка - </a:t>
            </a:r>
            <a:r>
              <a:rPr lang="ru-RU" sz="2000" dirty="0">
                <a:latin typeface="Aptos" panose="020B0004020202020204" pitchFamily="34" charset="0"/>
              </a:rPr>
              <a:t>например, ОФЗ</a:t>
            </a:r>
            <a:endParaRPr lang="en-RU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U" sz="2000" dirty="0">
                <a:latin typeface="Aptos" panose="020B0004020202020204" pitchFamily="34" charset="0"/>
              </a:rPr>
              <a:t>Наличные деньги + резервы банков в центральном банке</a:t>
            </a:r>
            <a:endParaRPr lang="ru-RU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Aptos" panose="020B0004020202020204" pitchFamily="34" charset="0"/>
            </a:endParaRPr>
          </a:p>
          <a:p>
            <a:r>
              <a:rPr lang="ru-RU" sz="2000" b="1" i="1" dirty="0">
                <a:latin typeface="Aptos" panose="020B0004020202020204" pitchFamily="34" charset="0"/>
              </a:rPr>
              <a:t>Деньги банков </a:t>
            </a:r>
          </a:p>
          <a:p>
            <a:endParaRPr lang="ru-RU" sz="1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ptos" panose="020B0004020202020204" pitchFamily="34" charset="0"/>
              </a:rPr>
              <a:t>Обязательства банков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ptos" panose="020B0004020202020204" pitchFamily="34" charset="0"/>
              </a:rPr>
              <a:t>Основная часть денежной массы</a:t>
            </a:r>
            <a:r>
              <a:rPr lang="en-GB" sz="2000" dirty="0">
                <a:latin typeface="Aptos" panose="020B0004020202020204" pitchFamily="34" charset="0"/>
              </a:rPr>
              <a:t> (</a:t>
            </a:r>
            <a:r>
              <a:rPr lang="ru-RU" sz="2000" dirty="0">
                <a:latin typeface="Aptos" panose="020B0004020202020204" pitchFamily="34" charset="0"/>
              </a:rPr>
              <a:t>всех денег в экономике) </a:t>
            </a:r>
            <a:endParaRPr lang="en-RU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9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51E8-92B1-1B13-74A5-76BAC45B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558CB6A-0730-1C5D-FAAC-02F1749675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D8061A-CA19-0A0B-1FFF-49B98D59D5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431AEB-59DD-EA78-713E-D6809F357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90B23B0-54E7-0C4A-7682-03972C3A532A}"/>
              </a:ext>
            </a:extLst>
          </p:cNvPr>
          <p:cNvSpPr/>
          <p:nvPr/>
        </p:nvSpPr>
        <p:spPr>
          <a:xfrm>
            <a:off x="554354" y="1612451"/>
            <a:ext cx="11083291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RU" sz="2200" b="1" dirty="0">
                <a:latin typeface="Aptos" panose="020B0004020202020204" pitchFamily="34" charset="0"/>
              </a:rPr>
              <a:t>Что такое денежный рынок (money market) </a:t>
            </a:r>
            <a:endParaRPr lang="ru-RU" sz="2200" b="1" dirty="0">
              <a:latin typeface="Aptos" panose="020B0004020202020204" pitchFamily="34" charset="0"/>
            </a:endParaRPr>
          </a:p>
          <a:p>
            <a:pPr algn="just"/>
            <a:endParaRPr lang="ru-RU" sz="2200" b="1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RU" sz="2200" b="1" dirty="0">
                <a:latin typeface="Aptos" panose="020B0004020202020204" pitchFamily="34" charset="0"/>
              </a:rPr>
              <a:t>Распределение и объем денег ЦБ постоянно меняется</a:t>
            </a:r>
            <a:r>
              <a:rPr lang="en-GB" sz="2200" b="1" dirty="0">
                <a:latin typeface="Aptos" panose="020B0004020202020204" pitchFamily="34" charset="0"/>
              </a:rPr>
              <a:t>:</a:t>
            </a:r>
            <a:endParaRPr lang="ru-RU" sz="2200" b="1" dirty="0">
              <a:latin typeface="Aptos" panose="020B0004020202020204" pitchFamily="34" charset="0"/>
            </a:endParaRPr>
          </a:p>
          <a:p>
            <a:pPr marL="363538" algn="just"/>
            <a:r>
              <a:rPr lang="en-RU" sz="2200" dirty="0">
                <a:latin typeface="Aptos" panose="020B0004020202020204" pitchFamily="34" charset="0"/>
              </a:rPr>
              <a:t>─ Платежи между банками </a:t>
            </a:r>
            <a:endParaRPr lang="ru-RU" sz="2200" dirty="0">
              <a:latin typeface="Aptos" panose="020B0004020202020204" pitchFamily="34" charset="0"/>
            </a:endParaRPr>
          </a:p>
          <a:p>
            <a:pPr marL="363538" algn="just"/>
            <a:r>
              <a:rPr lang="en-RU" sz="2200" dirty="0">
                <a:latin typeface="Aptos" panose="020B0004020202020204" pitchFamily="34" charset="0"/>
              </a:rPr>
              <a:t>─ Расчеты с государством </a:t>
            </a:r>
            <a:endParaRPr lang="ru-RU" sz="2200" dirty="0">
              <a:latin typeface="Aptos" panose="020B0004020202020204" pitchFamily="34" charset="0"/>
            </a:endParaRPr>
          </a:p>
          <a:p>
            <a:pPr marL="363538" algn="just"/>
            <a:r>
              <a:rPr lang="en-RU" sz="2200" dirty="0">
                <a:latin typeface="Aptos" panose="020B0004020202020204" pitchFamily="34" charset="0"/>
              </a:rPr>
              <a:t>─ Снятие и возврат наличных </a:t>
            </a:r>
            <a:endParaRPr lang="ru-RU" sz="2200" dirty="0">
              <a:latin typeface="Aptos" panose="020B0004020202020204" pitchFamily="34" charset="0"/>
            </a:endParaRPr>
          </a:p>
          <a:p>
            <a:pPr algn="just"/>
            <a:endParaRPr lang="ru-RU" sz="2200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RU" sz="2200" b="1" dirty="0">
                <a:latin typeface="Aptos" panose="020B0004020202020204" pitchFamily="34" charset="0"/>
              </a:rPr>
              <a:t>Банкам деньги ЦБ нужны для норматива обязательных резервов (НОР) </a:t>
            </a:r>
            <a:endParaRPr lang="ru-RU" sz="2200" b="1" dirty="0">
              <a:latin typeface="Aptos" panose="020B0004020202020204" pitchFamily="34" charset="0"/>
            </a:endParaRPr>
          </a:p>
          <a:p>
            <a:pPr marL="584200" indent="-220663" algn="just"/>
            <a:r>
              <a:rPr lang="en-RU" sz="2200" dirty="0">
                <a:latin typeface="Aptos" panose="020B0004020202020204" pitchFamily="34" charset="0"/>
              </a:rPr>
              <a:t>─ Банк должен иметь на счете в ЦБ остаток равный определенной доле его депозитов – не каждый день, но в среднем за период (скажем, месяц)</a:t>
            </a:r>
            <a:r>
              <a:rPr lang="en-GB" sz="2200" dirty="0">
                <a:latin typeface="Aptos" panose="020B0004020202020204" pitchFamily="34" charset="0"/>
              </a:rPr>
              <a:t>.</a:t>
            </a:r>
            <a:endParaRPr lang="ru-RU" sz="2200" dirty="0">
              <a:latin typeface="Aptos" panose="020B0004020202020204" pitchFamily="34" charset="0"/>
            </a:endParaRPr>
          </a:p>
          <a:p>
            <a:pPr marL="584200" indent="-220663" algn="just"/>
            <a:r>
              <a:rPr lang="en-RU" sz="2200" dirty="0">
                <a:latin typeface="Aptos" panose="020B0004020202020204" pitchFamily="34" charset="0"/>
              </a:rPr>
              <a:t>─ Банки, у которых остаток больше необходимого, дают в долг банкам, которым временно нужны дополнительные средства.</a:t>
            </a:r>
            <a:endParaRPr lang="ru-RU" sz="2200" dirty="0">
              <a:latin typeface="Aptos" panose="020B0004020202020204" pitchFamily="34" charset="0"/>
            </a:endParaRPr>
          </a:p>
          <a:p>
            <a:pPr marL="584200" indent="-220663" algn="just"/>
            <a:r>
              <a:rPr lang="en-RU" sz="2200" dirty="0">
                <a:latin typeface="Aptos" panose="020B0004020202020204" pitchFamily="34" charset="0"/>
              </a:rPr>
              <a:t>─ Эти операции носят весьма краткосрочный характер.</a:t>
            </a:r>
            <a:endParaRPr lang="en-RU" sz="220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279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BD36-F2B9-B02E-3AE7-2EBCCAEC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EC3DA20-90BF-EC3E-AB35-3F76B482A6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F175E6-4249-D2AC-5AB3-E4F5748647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88E029-6435-D637-CDE2-4F04BDE1F5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14C95A-EEDF-4CA1-056A-4C1FA81BF36C}"/>
              </a:ext>
            </a:extLst>
          </p:cNvPr>
          <p:cNvSpPr/>
          <p:nvPr/>
        </p:nvSpPr>
        <p:spPr>
          <a:xfrm>
            <a:off x="476296" y="1824324"/>
            <a:ext cx="424067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RU" sz="2000" dirty="0">
                <a:latin typeface="Aptos" panose="020B0004020202020204" pitchFamily="34" charset="0"/>
              </a:rPr>
              <a:t>Ключевая ставка </a:t>
            </a:r>
            <a:r>
              <a:rPr lang="ru-RU" sz="2000" dirty="0">
                <a:latin typeface="Aptos" panose="020B0004020202020204" pitchFamily="34" charset="0"/>
              </a:rPr>
              <a:t>-</a:t>
            </a:r>
            <a:r>
              <a:rPr lang="en-RU" sz="2000" dirty="0">
                <a:latin typeface="Aptos" panose="020B0004020202020204" pitchFamily="34" charset="0"/>
              </a:rPr>
              <a:t> основной инструмент влияния на инфляцию.</a:t>
            </a:r>
            <a:endParaRPr lang="ru-RU" sz="2000" dirty="0">
              <a:latin typeface="Aptos" panose="020B0004020202020204" pitchFamily="34" charset="0"/>
            </a:endParaRP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RU" sz="2000" dirty="0">
                <a:latin typeface="Aptos" panose="020B0004020202020204" pitchFamily="34" charset="0"/>
              </a:rPr>
              <a:t>Ее изменение запускает сложный процесс корректировок ставок и доходностей в экономике, который влияет на совокупный спрос.</a:t>
            </a:r>
            <a:endParaRPr lang="ru-RU" sz="2000" dirty="0">
              <a:latin typeface="Aptos" panose="020B0004020202020204" pitchFamily="34" charset="0"/>
            </a:endParaRP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RU" sz="2000" dirty="0">
                <a:latin typeface="Aptos" panose="020B0004020202020204" pitchFamily="34" charset="0"/>
              </a:rPr>
              <a:t>Существуют и немонетарные факторы инфляции, на которые ДКП повлиять не может.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195C0D-79D5-7606-C1EA-2067B583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49" y="1824324"/>
            <a:ext cx="6841166" cy="343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37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F946-B32E-558C-2F49-1D5B687F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54C8106-D16B-4C3F-1875-46342692EF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D9659F-07A2-2ACB-5DEA-F8C9B6E88F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E014EC-16F8-254A-1605-DD81F76550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12CEDE-6FF8-A4B1-B837-C9781728AD6F}"/>
              </a:ext>
            </a:extLst>
          </p:cNvPr>
          <p:cNvSpPr txBox="1"/>
          <p:nvPr/>
        </p:nvSpPr>
        <p:spPr>
          <a:xfrm>
            <a:off x="408877" y="1269560"/>
            <a:ext cx="1115121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i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ОНДКП (2018-2020):</a:t>
            </a:r>
            <a:endParaRPr lang="en-GB" sz="1800" i="1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Aptos" panose="020B0004020202020204" pitchFamily="34" charset="0"/>
            </a:endParaRPr>
          </a:p>
          <a:p>
            <a:pPr marL="28575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lang="ru-RU" sz="1000" b="1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Денежная база (</a:t>
            </a:r>
            <a:r>
              <a:rPr lang="en-GB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B)</a:t>
            </a:r>
            <a:r>
              <a:rPr lang="en-GB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– 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сумма отдельных компонентов наличных денег (</a:t>
            </a:r>
            <a:r>
              <a:rPr lang="en-GB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C) 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и средств кредитных организаций на счетах и в облигациях Банка России в валюте Российской Федерации (</a:t>
            </a:r>
            <a:r>
              <a:rPr lang="en-GB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R).</a:t>
            </a:r>
            <a:endParaRPr lang="en-GB" dirty="0">
              <a:latin typeface="Aptos" panose="020B0004020202020204" pitchFamily="34" charset="0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Денежная масса 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– наличные деньги и безналичные денежные средства резидентов Российской Федерации.</a:t>
            </a:r>
            <a:endParaRPr lang="ru-RU" dirty="0">
              <a:latin typeface="Aptos" panose="020B0004020202020204" pitchFamily="34" charset="0"/>
            </a:endParaRPr>
          </a:p>
          <a:p>
            <a:pPr marL="285750" marR="0" lvl="0" indent="-2222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М0 (наличные деньги в обращении) 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– банкноты и монеты в обращении.</a:t>
            </a:r>
            <a:endParaRPr lang="ru-RU" dirty="0">
              <a:latin typeface="Aptos" panose="020B0004020202020204" pitchFamily="34" charset="0"/>
            </a:endParaRPr>
          </a:p>
          <a:p>
            <a:pPr marL="285750" marR="0" lvl="0" indent="-2222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М1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= М0 + переводные депозиты в рублях (средства на расчетных, текущих и иных счетах до востребования).</a:t>
            </a:r>
            <a:endParaRPr lang="ru-RU" dirty="0">
              <a:latin typeface="Aptos" panose="020B0004020202020204" pitchFamily="34" charset="0"/>
            </a:endParaRPr>
          </a:p>
          <a:p>
            <a:pPr marL="285750" marR="0" lvl="0" indent="-2222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М2 (денежная масса в национальном определении) 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= М1 + другие депозиты в рублях (средства на счетах срочных депозитов, счетах в драгоценных металлах). </a:t>
            </a:r>
            <a:endParaRPr lang="ru-RU" dirty="0">
              <a:latin typeface="Aptos" panose="020B0004020202020204" pitchFamily="34" charset="0"/>
            </a:endParaRPr>
          </a:p>
          <a:p>
            <a:pPr marL="285750" marR="0" lvl="0" indent="-2222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M2X (</a:t>
            </a:r>
            <a:r>
              <a:rPr lang="ru-RU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широкая денежная масса) 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= М2 + другие депозиты в иностранной валюте + долговые ценные бумаги.</a:t>
            </a:r>
          </a:p>
          <a:p>
            <a:pPr marL="285750" marR="0" lvl="0" indent="-2222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dk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i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Пономаренко (2019): </a:t>
            </a:r>
            <a:r>
              <a:rPr lang="en-GB" sz="1800" b="1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M2Y </a:t>
            </a:r>
            <a:r>
              <a:rPr lang="en-GB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= M2X + </a:t>
            </a:r>
            <a:r>
              <a:rPr lang="ru-RU" sz="18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Наличная иностранная валюта вне банков.</a:t>
            </a:r>
          </a:p>
        </p:txBody>
      </p:sp>
    </p:spTree>
    <p:extLst>
      <p:ext uri="{BB962C8B-B14F-4D97-AF65-F5344CB8AC3E}">
        <p14:creationId xmlns:p14="http://schemas.microsoft.com/office/powerpoint/2010/main" val="3812875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F668-F82D-A5C4-5FF4-91ACE1CD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F20BEBF-081E-F2F8-384F-1D37603870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0E20F-BB11-3D5D-0D9A-1A2E0F4E0C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D22E54-9EF4-AE6F-F985-34880B9461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1F1568-CBB5-A6DF-2517-E4874415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89" t="46272" r="10577" b="3706"/>
          <a:stretch>
            <a:fillRect/>
          </a:stretch>
        </p:blipFill>
        <p:spPr>
          <a:xfrm>
            <a:off x="1362415" y="2057837"/>
            <a:ext cx="9467170" cy="4427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DEBA03-AA42-CD06-13EB-61F05CF409A3}"/>
              </a:ext>
            </a:extLst>
          </p:cNvPr>
          <p:cNvSpPr txBox="1"/>
          <p:nvPr/>
        </p:nvSpPr>
        <p:spPr>
          <a:xfrm>
            <a:off x="1143689" y="1349951"/>
            <a:ext cx="88387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Рублевая денежная масса (М2) на 1 апреля 2026 года составила 130,2 трлн рублей.</a:t>
            </a:r>
          </a:p>
        </p:txBody>
      </p:sp>
    </p:spTree>
    <p:extLst>
      <p:ext uri="{BB962C8B-B14F-4D97-AF65-F5344CB8AC3E}">
        <p14:creationId xmlns:p14="http://schemas.microsoft.com/office/powerpoint/2010/main" val="175734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57F7-8363-F586-CCEA-886D9F8E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12FDC18-07CB-8599-D21D-6983942EEA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1CDF84-6D4C-857C-3DA4-20A9155A41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59C8F8-EB2C-A7C8-93C4-D016B37CAD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24277-E7E7-F89D-A650-2193C9BCD70C}"/>
              </a:ext>
            </a:extLst>
          </p:cNvPr>
          <p:cNvSpPr txBox="1"/>
          <p:nvPr/>
        </p:nvSpPr>
        <p:spPr>
          <a:xfrm>
            <a:off x="513653" y="1884195"/>
            <a:ext cx="11228581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200" b="1" dirty="0">
                <a:latin typeface="Aptos" panose="020B0004020202020204" pitchFamily="34" charset="0"/>
              </a:rPr>
              <a:t>Банковская система: </a:t>
            </a:r>
            <a:endParaRPr lang="en-GB" sz="2200" b="1" dirty="0">
              <a:latin typeface="Aptos" panose="020B0004020202020204" pitchFamily="34" charset="0"/>
            </a:endParaRPr>
          </a:p>
          <a:p>
            <a:pPr algn="just"/>
            <a:endParaRPr lang="ru-RU" sz="500" b="1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200" b="1" dirty="0">
                <a:latin typeface="Aptos" panose="020B0004020202020204" pitchFamily="34" charset="0"/>
              </a:rPr>
              <a:t>Центральный банк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200" b="1" dirty="0">
                <a:latin typeface="Aptos" panose="020B0004020202020204" pitchFamily="34" charset="0"/>
              </a:rPr>
              <a:t>Коммерческие банки</a:t>
            </a:r>
          </a:p>
          <a:p>
            <a:pPr algn="just"/>
            <a:endParaRPr lang="ru-RU" sz="2200" b="1" dirty="0">
              <a:latin typeface="Aptos" panose="020B0004020202020204" pitchFamily="34" charset="0"/>
            </a:endParaRPr>
          </a:p>
          <a:p>
            <a:pPr algn="just"/>
            <a:r>
              <a:rPr lang="ru-RU" sz="2200" b="1" dirty="0">
                <a:latin typeface="Aptos" panose="020B0004020202020204" pitchFamily="34" charset="0"/>
              </a:rPr>
              <a:t>Центральный банк</a:t>
            </a:r>
            <a:r>
              <a:rPr lang="en-GB" sz="2200" b="1" dirty="0">
                <a:latin typeface="Aptos" panose="020B0004020202020204" pitchFamily="34" charset="0"/>
              </a:rPr>
              <a:t> -</a:t>
            </a:r>
            <a:r>
              <a:rPr lang="ru-RU" sz="2200" dirty="0">
                <a:latin typeface="Aptos" panose="020B0004020202020204" pitchFamily="34" charset="0"/>
              </a:rPr>
              <a:t> это главный банк страны, наделенный особыми полномочиями, в первую очередь, эмиссии национальных денежных знаков и регулирования всей кредитно-банковской системы. </a:t>
            </a:r>
          </a:p>
          <a:p>
            <a:pPr algn="just"/>
            <a:endParaRPr lang="ru-RU" sz="2200" b="1" dirty="0">
              <a:latin typeface="Aptos" panose="020B0004020202020204" pitchFamily="34" charset="0"/>
            </a:endParaRPr>
          </a:p>
          <a:p>
            <a:pPr algn="just"/>
            <a:r>
              <a:rPr lang="ru-RU" sz="2200" b="1" dirty="0">
                <a:latin typeface="Aptos" panose="020B0004020202020204" pitchFamily="34" charset="0"/>
              </a:rPr>
              <a:t>Коммерческие банки </a:t>
            </a:r>
            <a:r>
              <a:rPr lang="en-GB" sz="2200" b="1" dirty="0">
                <a:latin typeface="Aptos" panose="020B0004020202020204" pitchFamily="34" charset="0"/>
              </a:rPr>
              <a:t>-</a:t>
            </a:r>
            <a:r>
              <a:rPr lang="ru-RU" sz="2200" dirty="0">
                <a:latin typeface="Aptos" panose="020B0004020202020204" pitchFamily="34" charset="0"/>
              </a:rPr>
              <a:t> организации, которые имеют законное право привлекать свободные денежные средства и выдавать кредиты с целью получения прибыли.</a:t>
            </a:r>
          </a:p>
        </p:txBody>
      </p:sp>
    </p:spTree>
    <p:extLst>
      <p:ext uri="{BB962C8B-B14F-4D97-AF65-F5344CB8AC3E}">
        <p14:creationId xmlns:p14="http://schemas.microsoft.com/office/powerpoint/2010/main" val="370304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B3329-2B9A-635E-DFE4-D2C10106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BB9CB8E-ED9E-F26E-9FFA-6FEB33CDFD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C862AF-7045-43F4-4F56-BBB85AEDC1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F28581-D9D6-7012-7279-45C8DDCB8F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D4D78-5AF3-2D91-0FF9-660081DDA79B}"/>
              </a:ext>
            </a:extLst>
          </p:cNvPr>
          <p:cNvSpPr txBox="1"/>
          <p:nvPr/>
        </p:nvSpPr>
        <p:spPr>
          <a:xfrm>
            <a:off x="268327" y="1295253"/>
            <a:ext cx="11440454" cy="5131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 algn="just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b="1" dirty="0">
                <a:latin typeface="Aptos" panose="020B0004020202020204" pitchFamily="34" charset="0"/>
              </a:rPr>
              <a:t>Основные функции и задачи Центрального банка Российской Федерации (ЦБ РФ)</a:t>
            </a:r>
          </a:p>
          <a:p>
            <a:pPr marL="762000" indent="-398463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Эмиссия национальной валюты: </a:t>
            </a:r>
            <a:r>
              <a:rPr lang="ru-RU" dirty="0">
                <a:latin typeface="Aptos" panose="020B0004020202020204" pitchFamily="34" charset="0"/>
              </a:rPr>
              <a:t>монопольное право на выпуск наличных денег, организация наличного денежного обращения.</a:t>
            </a:r>
          </a:p>
          <a:p>
            <a:pPr marL="762000" indent="-398463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Защита и обеспечение устойчивости рубля:</a:t>
            </a:r>
            <a:r>
              <a:rPr lang="ru-RU" dirty="0">
                <a:latin typeface="Aptos" panose="020B0004020202020204" pitchFamily="34" charset="0"/>
              </a:rPr>
              <a:t> поддержание стабильности рубля, контроль инфляции.</a:t>
            </a:r>
          </a:p>
          <a:p>
            <a:pPr marL="762000" indent="-398463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Денежно-кредитная политика:</a:t>
            </a:r>
            <a:r>
              <a:rPr lang="ru-RU" dirty="0">
                <a:latin typeface="Aptos" panose="020B0004020202020204" pitchFamily="34" charset="0"/>
              </a:rPr>
              <a:t> обеспечение стабильности цен.</a:t>
            </a:r>
          </a:p>
          <a:p>
            <a:pPr marL="762000" indent="-398463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Регулирование и надзор:</a:t>
            </a:r>
            <a:r>
              <a:rPr lang="ru-RU" dirty="0">
                <a:latin typeface="Aptos" panose="020B0004020202020204" pitchFamily="34" charset="0"/>
              </a:rPr>
              <a:t> лицензирование банков, надзор за финансовыми организациями, обеспечение стабильности банковской системы.</a:t>
            </a:r>
          </a:p>
          <a:p>
            <a:pPr marL="762000" indent="-398463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Управление золотовалютными резервами:</a:t>
            </a:r>
            <a:r>
              <a:rPr lang="ru-RU" dirty="0">
                <a:latin typeface="Aptos" panose="020B0004020202020204" pitchFamily="34" charset="0"/>
              </a:rPr>
              <a:t> эффективное управление резервами, поддержка международных расчетов.</a:t>
            </a:r>
          </a:p>
          <a:p>
            <a:pPr marL="762000" indent="-398463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Развитие платежных систем:</a:t>
            </a:r>
            <a:r>
              <a:rPr lang="ru-RU" dirty="0">
                <a:latin typeface="Aptos" panose="020B0004020202020204" pitchFamily="34" charset="0"/>
              </a:rPr>
              <a:t> обеспечение безопасного и эффективного функционирования платежных систем, внедрение современных технологий.</a:t>
            </a:r>
          </a:p>
          <a:p>
            <a:pPr marL="114300" algn="just">
              <a:buClr>
                <a:schemeClr val="dk1"/>
              </a:buClr>
              <a:buSzPts val="1800"/>
            </a:pPr>
            <a:endParaRPr lang="ru-RU" sz="1000" dirty="0">
              <a:latin typeface="Aptos" panose="020B0004020202020204" pitchFamily="34" charset="0"/>
            </a:endParaRPr>
          </a:p>
          <a:p>
            <a:pPr marL="400050" indent="-285750" algn="just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b="1" dirty="0">
                <a:latin typeface="Aptos" panose="020B0004020202020204" pitchFamily="34" charset="0"/>
              </a:rPr>
              <a:t>Дополнительные задачи</a:t>
            </a:r>
          </a:p>
          <a:p>
            <a:pPr marL="457200" indent="-342900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Кредитор последней инстанции: </a:t>
            </a:r>
            <a:r>
              <a:rPr lang="ru-RU" dirty="0">
                <a:latin typeface="Aptos" panose="020B0004020202020204" pitchFamily="34" charset="0"/>
              </a:rPr>
              <a:t>предоставление ликвидности банкам в кризисных ситуациях.</a:t>
            </a:r>
          </a:p>
          <a:p>
            <a:pPr marL="457200" indent="-342900" algn="just">
              <a:lnSpc>
                <a:spcPct val="115000"/>
              </a:lnSpc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b="1" dirty="0">
                <a:latin typeface="Aptos" panose="020B0004020202020204" pitchFamily="34" charset="0"/>
              </a:rPr>
              <a:t>Валютное регулирование: </a:t>
            </a:r>
            <a:r>
              <a:rPr lang="ru-RU" dirty="0">
                <a:latin typeface="Aptos" panose="020B0004020202020204" pitchFamily="34" charset="0"/>
              </a:rPr>
              <a:t>организация валютного регулирования и контроля.</a:t>
            </a:r>
          </a:p>
        </p:txBody>
      </p:sp>
    </p:spTree>
    <p:extLst>
      <p:ext uri="{BB962C8B-B14F-4D97-AF65-F5344CB8AC3E}">
        <p14:creationId xmlns:p14="http://schemas.microsoft.com/office/powerpoint/2010/main" val="231179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6343-2FA8-F80D-2259-18685047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0A97A76-69C9-1D53-1F55-0EFF729B7A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F174EC-02AE-5268-400C-CFBC652119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44D860-1155-430D-3703-4ED598556B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D1A7B-209C-861E-124B-42854DB3EF12}"/>
              </a:ext>
            </a:extLst>
          </p:cNvPr>
          <p:cNvSpPr txBox="1"/>
          <p:nvPr/>
        </p:nvSpPr>
        <p:spPr>
          <a:xfrm>
            <a:off x="0" y="130523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ptos" panose="020B0004020202020204" pitchFamily="34" charset="0"/>
              </a:rPr>
              <a:t>Коммерческие банки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19CC6-7D4E-D787-A30D-5C35FAF932ED}"/>
              </a:ext>
            </a:extLst>
          </p:cNvPr>
          <p:cNvSpPr txBox="1"/>
          <p:nvPr/>
        </p:nvSpPr>
        <p:spPr>
          <a:xfrm>
            <a:off x="566055" y="2159922"/>
            <a:ext cx="5529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000" b="1" dirty="0"/>
              <a:t>Активы</a:t>
            </a:r>
            <a:r>
              <a:rPr lang="en-RU" sz="2000" dirty="0"/>
              <a:t> </a:t>
            </a:r>
            <a:r>
              <a:rPr lang="ru-RU" sz="2000" dirty="0"/>
              <a:t>-</a:t>
            </a:r>
            <a:r>
              <a:rPr lang="en-RU" sz="2000" dirty="0"/>
              <a:t> размещение средств банка:</a:t>
            </a:r>
            <a:br>
              <a:rPr lang="en-RU" sz="2000" dirty="0"/>
            </a:br>
            <a:r>
              <a:rPr lang="en-RU" sz="2000" dirty="0"/>
              <a:t>куда банк направил деньги, чтобы получить доход или сохранить ликвидность.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B55D4-ACD2-4815-69F8-C9B1E8FD80F0}"/>
              </a:ext>
            </a:extLst>
          </p:cNvPr>
          <p:cNvSpPr txBox="1"/>
          <p:nvPr/>
        </p:nvSpPr>
        <p:spPr>
          <a:xfrm>
            <a:off x="6259892" y="2159922"/>
            <a:ext cx="5529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000" b="1" dirty="0"/>
              <a:t>Пассивы</a:t>
            </a:r>
            <a:r>
              <a:rPr lang="en-RU" sz="2000" dirty="0"/>
              <a:t> </a:t>
            </a:r>
            <a:r>
              <a:rPr lang="ru-RU" sz="2000" dirty="0"/>
              <a:t>-</a:t>
            </a:r>
            <a:r>
              <a:rPr lang="en-RU" sz="2000" dirty="0"/>
              <a:t> источники средств банка</a:t>
            </a:r>
            <a:r>
              <a:rPr lang="ru-RU" sz="2000" dirty="0"/>
              <a:t> (</a:t>
            </a:r>
            <a:r>
              <a:rPr lang="en-RU" sz="2000" dirty="0"/>
              <a:t>откуда банк получил деньги</a:t>
            </a:r>
            <a:r>
              <a:rPr lang="ru-RU" sz="2000" dirty="0"/>
              <a:t>)</a:t>
            </a:r>
            <a:r>
              <a:rPr lang="en-RU" sz="2000" dirty="0"/>
              <a:t>.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20809"/>
              </p:ext>
            </p:extLst>
          </p:nvPr>
        </p:nvGraphicFramePr>
        <p:xfrm>
          <a:off x="1622262" y="4259990"/>
          <a:ext cx="9275259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6304">
                  <a:extLst>
                    <a:ext uri="{9D8B030D-6E8A-4147-A177-3AD203B41FA5}">
                      <a16:colId xmlns:a16="http://schemas.microsoft.com/office/drawing/2014/main" val="2015699786"/>
                    </a:ext>
                  </a:extLst>
                </a:gridCol>
                <a:gridCol w="4808955">
                  <a:extLst>
                    <a:ext uri="{9D8B030D-6E8A-4147-A177-3AD203B41FA5}">
                      <a16:colId xmlns:a16="http://schemas.microsoft.com/office/drawing/2014/main" val="3091206368"/>
                    </a:ext>
                  </a:extLst>
                </a:gridCol>
              </a:tblGrid>
              <a:tr h="380644"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Активы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Пассивы (обязательства)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47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Денежная наличность</a:t>
                      </a:r>
                    </a:p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Резервы</a:t>
                      </a:r>
                    </a:p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Кредиты</a:t>
                      </a:r>
                    </a:p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Собственный капитал банка</a:t>
                      </a:r>
                    </a:p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Депозиты до востребования</a:t>
                      </a:r>
                    </a:p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Срочные депозиты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5417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9C29787-9A0F-3230-7480-0B6863839863}"/>
              </a:ext>
            </a:extLst>
          </p:cNvPr>
          <p:cNvSpPr txBox="1"/>
          <p:nvPr/>
        </p:nvSpPr>
        <p:spPr>
          <a:xfrm>
            <a:off x="0" y="330228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ptos" panose="020B0004020202020204" pitchFamily="34" charset="0"/>
              </a:rPr>
              <a:t>Упрощенный</a:t>
            </a:r>
            <a:r>
              <a:rPr lang="ru-RU" sz="2800" dirty="0">
                <a:latin typeface="Aptos" panose="020B0004020202020204" pitchFamily="34" charset="0"/>
              </a:rPr>
              <a:t> </a:t>
            </a:r>
            <a:r>
              <a:rPr lang="ru-RU" sz="2800" b="1" dirty="0">
                <a:latin typeface="Aptos" panose="020B0004020202020204" pitchFamily="34" charset="0"/>
              </a:rPr>
              <a:t>баланс банка</a:t>
            </a:r>
          </a:p>
        </p:txBody>
      </p:sp>
    </p:spTree>
    <p:extLst>
      <p:ext uri="{BB962C8B-B14F-4D97-AF65-F5344CB8AC3E}">
        <p14:creationId xmlns:p14="http://schemas.microsoft.com/office/powerpoint/2010/main" val="692458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A87E-AC82-54A2-C7E0-16A60F83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BE731E-E814-BFB8-74E3-28BABAE825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D2C542-9788-AB74-04B6-EB1D3D2480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6B4ABE-BBAE-D999-F40B-D7593FBF92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85604-B756-D805-F95E-C93649E07525}"/>
              </a:ext>
            </a:extLst>
          </p:cNvPr>
          <p:cNvSpPr txBox="1"/>
          <p:nvPr/>
        </p:nvSpPr>
        <p:spPr>
          <a:xfrm>
            <a:off x="355944" y="1300338"/>
            <a:ext cx="114801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>
                <a:latin typeface="Aptos" panose="020B0004020202020204" pitchFamily="34" charset="0"/>
              </a:rPr>
              <a:t>Стимулирующая монетарная политика</a:t>
            </a:r>
            <a:r>
              <a:rPr lang="ru-RU" sz="1600" dirty="0">
                <a:latin typeface="Aptos" panose="020B0004020202020204" pitchFamily="34" charset="0"/>
              </a:rPr>
              <a:t> </a:t>
            </a:r>
            <a:r>
              <a:rPr lang="en-GB" sz="1600" dirty="0">
                <a:latin typeface="Aptos" panose="020B0004020202020204" pitchFamily="34" charset="0"/>
              </a:rPr>
              <a:t>-</a:t>
            </a:r>
            <a:r>
              <a:rPr lang="ru-RU" sz="1600" dirty="0">
                <a:latin typeface="Aptos" panose="020B0004020202020204" pitchFamily="34" charset="0"/>
              </a:rPr>
              <a:t> это комплекс мер, которые Центральный банк применяет для поддержки экономической активности в период спада или низкой деловой активности. Её цель </a:t>
            </a:r>
            <a:r>
              <a:rPr lang="en-GB" sz="1600" dirty="0">
                <a:latin typeface="Aptos" panose="020B0004020202020204" pitchFamily="34" charset="0"/>
              </a:rPr>
              <a:t>-</a:t>
            </a:r>
            <a:r>
              <a:rPr lang="ru-RU" sz="1600" dirty="0">
                <a:latin typeface="Aptos" panose="020B0004020202020204" pitchFamily="34" charset="0"/>
              </a:rPr>
              <a:t> увеличить денежную массу в обращении, сделать кредиты более доступными, стимулировать инвестиции, потребление и производство, что в итоге должно привести к росту экономики, снижению безработицы и повышению совокупного спроса. </a:t>
            </a:r>
          </a:p>
          <a:p>
            <a:pPr algn="just"/>
            <a:r>
              <a:rPr lang="ru-RU" sz="1600" b="1" dirty="0">
                <a:latin typeface="Aptos" panose="020B0004020202020204" pitchFamily="34" charset="0"/>
              </a:rPr>
              <a:t>Снижение ключевой процентной ставки. </a:t>
            </a:r>
            <a:r>
              <a:rPr lang="ru-RU" sz="1600" dirty="0">
                <a:latin typeface="Aptos" panose="020B0004020202020204" pitchFamily="34" charset="0"/>
              </a:rPr>
              <a:t>Это делает кредиты дешевле, что побуждает потребителей брать займы, а предприятия </a:t>
            </a:r>
            <a:r>
              <a:rPr lang="en-GB" sz="1600" dirty="0">
                <a:latin typeface="Aptos" panose="020B0004020202020204" pitchFamily="34" charset="0"/>
              </a:rPr>
              <a:t>-</a:t>
            </a:r>
            <a:r>
              <a:rPr lang="ru-RU" sz="1600" dirty="0">
                <a:latin typeface="Aptos" panose="020B0004020202020204" pitchFamily="34" charset="0"/>
              </a:rPr>
              <a:t> инвестировать.</a:t>
            </a:r>
          </a:p>
          <a:p>
            <a:pPr algn="just"/>
            <a:r>
              <a:rPr lang="ru-RU" sz="1600" b="1" dirty="0">
                <a:latin typeface="Aptos" panose="020B0004020202020204" pitchFamily="34" charset="0"/>
              </a:rPr>
              <a:t>Снижение нормы обязательных резервов. </a:t>
            </a:r>
            <a:r>
              <a:rPr lang="ru-RU" sz="1600" dirty="0">
                <a:latin typeface="Aptos" panose="020B0004020202020204" pitchFamily="34" charset="0"/>
              </a:rPr>
              <a:t>Чем ниже норма резервирования, тем больше средств банки могут направлять на кредитование, что увеличивает денежную массу в экономике. </a:t>
            </a:r>
          </a:p>
          <a:p>
            <a:pPr algn="just"/>
            <a:r>
              <a:rPr lang="ru-RU" sz="1600" b="1" dirty="0">
                <a:latin typeface="Aptos" panose="020B0004020202020204" pitchFamily="34" charset="0"/>
              </a:rPr>
              <a:t>Покупка Центральным банком государственных ценных бумаг (операции на открытом рынке). </a:t>
            </a:r>
            <a:r>
              <a:rPr lang="ru-RU" sz="1600" dirty="0">
                <a:latin typeface="Aptos" panose="020B0004020202020204" pitchFamily="34" charset="0"/>
              </a:rPr>
              <a:t>Через покупку облигаций ЦБ увеличивает денежную массу.</a:t>
            </a:r>
            <a:endParaRPr lang="en-GB" sz="1600" dirty="0">
              <a:latin typeface="Aptos" panose="020B0004020202020204" pitchFamily="34" charset="0"/>
            </a:endParaRPr>
          </a:p>
          <a:p>
            <a:pPr algn="just"/>
            <a:endParaRPr lang="ru-RU" sz="1600" dirty="0">
              <a:latin typeface="Aptos" panose="020B0004020202020204" pitchFamily="34" charset="0"/>
            </a:endParaRPr>
          </a:p>
          <a:p>
            <a:pPr algn="just"/>
            <a:r>
              <a:rPr lang="ru-RU" sz="1600" b="1" dirty="0">
                <a:latin typeface="Aptos" panose="020B0004020202020204" pitchFamily="34" charset="0"/>
              </a:rPr>
              <a:t>Сдерживающая (жёсткая) монетарная политика</a:t>
            </a:r>
            <a:r>
              <a:rPr lang="ru-RU" sz="1600" dirty="0">
                <a:latin typeface="Aptos" panose="020B0004020202020204" pitchFamily="34" charset="0"/>
              </a:rPr>
              <a:t> </a:t>
            </a:r>
            <a:r>
              <a:rPr lang="en-GB" sz="1600" dirty="0">
                <a:latin typeface="Aptos" panose="020B0004020202020204" pitchFamily="34" charset="0"/>
              </a:rPr>
              <a:t>-</a:t>
            </a:r>
            <a:r>
              <a:rPr lang="ru-RU" sz="1600" dirty="0">
                <a:latin typeface="Aptos" panose="020B0004020202020204" pitchFamily="34" charset="0"/>
              </a:rPr>
              <a:t> это комплекс мер, которые центральный банк применяет для снижения темпов роста денежной массы в экономике, борьбы с инфляцией и замедления экономической активности. Такая политика направлена на поддержание инфляции в заданном диапазоне и предотвращение «перегрева» экономики.</a:t>
            </a:r>
          </a:p>
          <a:p>
            <a:pPr algn="just"/>
            <a:r>
              <a:rPr lang="ru-RU" sz="1600" b="1" dirty="0">
                <a:latin typeface="Aptos" panose="020B0004020202020204" pitchFamily="34" charset="0"/>
              </a:rPr>
              <a:t>Повышение ключевой процентной ставки.</a:t>
            </a:r>
            <a:r>
              <a:rPr lang="ru-RU" sz="1600" dirty="0">
                <a:latin typeface="Aptos" panose="020B0004020202020204" pitchFamily="34" charset="0"/>
              </a:rPr>
              <a:t> Это делает кредиты дороже, что снижает объёмы кредитования, потребительский и инвестиционный спрос.</a:t>
            </a:r>
          </a:p>
          <a:p>
            <a:pPr algn="just"/>
            <a:r>
              <a:rPr lang="ru-RU" sz="1600" b="1" dirty="0">
                <a:latin typeface="Aptos" panose="020B0004020202020204" pitchFamily="34" charset="0"/>
              </a:rPr>
              <a:t>Повышение нормы обязательных резервов. </a:t>
            </a:r>
            <a:r>
              <a:rPr lang="ru-RU" sz="1600" dirty="0">
                <a:latin typeface="Aptos" panose="020B0004020202020204" pitchFamily="34" charset="0"/>
              </a:rPr>
              <a:t>Коммерческие банки обязаны хранить больший объём средств в центральном банке, что сокращает их возможности для кредитования и уменьшает денежную массу.</a:t>
            </a:r>
          </a:p>
          <a:p>
            <a:pPr algn="just"/>
            <a:r>
              <a:rPr lang="ru-RU" sz="1600" b="1" dirty="0">
                <a:latin typeface="Aptos" panose="020B0004020202020204" pitchFamily="34" charset="0"/>
              </a:rPr>
              <a:t>Продажа центральным банком государственных ценных бумаг (операции на открытом рынке).</a:t>
            </a:r>
            <a:r>
              <a:rPr lang="ru-RU" sz="1600" dirty="0">
                <a:latin typeface="Aptos" panose="020B0004020202020204" pitchFamily="34" charset="0"/>
              </a:rPr>
              <a:t> Через продажу ценных ЦБ сокращает денежную массу.</a:t>
            </a:r>
          </a:p>
        </p:txBody>
      </p:sp>
    </p:spTree>
    <p:extLst>
      <p:ext uri="{BB962C8B-B14F-4D97-AF65-F5344CB8AC3E}">
        <p14:creationId xmlns:p14="http://schemas.microsoft.com/office/powerpoint/2010/main" val="3503952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14435</TotalTime>
  <Words>1181</Words>
  <Application>Microsoft Macintosh PowerPoint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HSE Sans</vt:lpstr>
      <vt:lpstr>Noto Sans Symbols</vt:lpstr>
      <vt:lpstr>Office Theme</vt:lpstr>
      <vt:lpstr>Семинар 15.Государственные политики (продолжение)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Анна Иванова</cp:lastModifiedBy>
  <cp:revision>52</cp:revision>
  <cp:lastPrinted>2021-11-11T13:08:42Z</cp:lastPrinted>
  <dcterms:created xsi:type="dcterms:W3CDTF">2021-11-11T08:52:47Z</dcterms:created>
  <dcterms:modified xsi:type="dcterms:W3CDTF">2026-05-31T13:09:38Z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