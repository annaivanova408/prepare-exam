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71" r:id="rId5"/>
    <p:sldId id="333" r:id="rId6"/>
    <p:sldId id="337" r:id="rId7"/>
    <p:sldId id="354" r:id="rId8"/>
    <p:sldId id="357" r:id="rId9"/>
    <p:sldId id="352" r:id="rId10"/>
    <p:sldId id="332" r:id="rId11"/>
    <p:sldId id="355" r:id="rId12"/>
    <p:sldId id="356" r:id="rId13"/>
    <p:sldId id="309" r:id="rId14"/>
    <p:sldId id="358" r:id="rId15"/>
    <p:sldId id="347" r:id="rId16"/>
    <p:sldId id="351" r:id="rId17"/>
    <p:sldId id="285" r:id="rId18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9C63"/>
    <a:srgbClr val="96628C"/>
    <a:srgbClr val="11A0D7"/>
    <a:srgbClr val="E61F3D"/>
    <a:srgbClr val="CD5A5A"/>
    <a:srgbClr val="FFD746"/>
    <a:srgbClr val="0E2D69"/>
    <a:srgbClr val="D9D9D9"/>
    <a:srgbClr val="EB681F"/>
    <a:srgbClr val="234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32" autoAdjust="0"/>
    <p:restoredTop sz="94752"/>
  </p:normalViewPr>
  <p:slideViewPr>
    <p:cSldViewPr snapToGrid="0" snapToObjects="1">
      <p:cViewPr varScale="1">
        <p:scale>
          <a:sx n="111" d="100"/>
          <a:sy n="111" d="100"/>
        </p:scale>
        <p:origin x="512" y="208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x-none" smtClean="0"/>
              <a:t>31.05.2026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CDCDD-2BE8-BD4B-D1D1-9520195ED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E150D30-0DA1-62B9-51F9-74C34C039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F082109-6FC7-146E-AC54-026499797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438BF6-B527-ECB1-1DD0-99B42C6E1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x-none" smtClean="0"/>
              <a:t>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48449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E9D91-FE3D-2F44-62A1-305A74C08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B6236E7-03AE-A6AA-71DE-FE335824DC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87799AD-F64E-BE18-4C18-A18FE3A68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DD3DD5-0586-1A8C-E1FE-41D0048A22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x-none" smtClean="0"/>
              <a:t>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71549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x-none" smtClean="0"/>
              <a:t>10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49668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0F8C0-B4D5-21AC-DD71-9858D9CA1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3ECB941-EA49-C45F-DC06-966EFCA97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A1A800B-5D38-333C-E959-47A77346D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788C98-13D3-1F6F-2236-48B29C49EA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x-none" smtClean="0"/>
              <a:t>11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01727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x-none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x-none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x-none" smtClean="0"/>
              <a:t>31.05.2026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mailto:etarovik@hse.ru" TargetMode="Externa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67" y="2640578"/>
            <a:ext cx="9021197" cy="1342140"/>
          </a:xfrm>
        </p:spPr>
        <p:txBody>
          <a:bodyPr/>
          <a:lstStyle/>
          <a:p>
            <a:r>
              <a:rPr lang="ru-RU" b="1" dirty="0">
                <a:latin typeface="Aptos" panose="020B0004020202020204" pitchFamily="34" charset="0"/>
              </a:rPr>
              <a:t>Семинар 14.Государственные политики</a:t>
            </a:r>
            <a:endParaRPr lang="ru-RU" b="1" i="1" dirty="0">
              <a:latin typeface="Aptos" panose="020B0004020202020204" pitchFamily="34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Москва 2026</a:t>
            </a:r>
          </a:p>
          <a:p>
            <a:endParaRPr lang="ru-RU" dirty="0">
              <a:latin typeface="Aptos" panose="020B0004020202020204" pitchFamily="34" charset="0"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Приглашенный преподаватель Департамента теоретической экономики</a:t>
            </a:r>
          </a:p>
          <a:p>
            <a:r>
              <a:rPr lang="ru-RU" dirty="0">
                <a:latin typeface="Aptos" panose="020B0004020202020204" pitchFamily="34" charset="0"/>
              </a:rPr>
              <a:t>Иванова Анна Павловна</a:t>
            </a:r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58C26-8F57-3DCA-7F7B-379D828A9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8E2E6A1E-8C0D-D65A-AE47-2F49E8767F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8930C7-6AC3-D3DA-0872-13596949BB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0DC059E-04AA-423D-156A-D28A672C6C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D6105E-FED1-B8B9-F593-886484BE64C1}"/>
              </a:ext>
            </a:extLst>
          </p:cNvPr>
          <p:cNvSpPr txBox="1"/>
          <p:nvPr/>
        </p:nvSpPr>
        <p:spPr>
          <a:xfrm>
            <a:off x="457198" y="1357586"/>
            <a:ext cx="11441151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1" dirty="0">
                <a:latin typeface="Aptos" panose="020B0004020202020204" pitchFamily="34" charset="0"/>
              </a:rPr>
              <a:t>Макроэкономические цели:</a:t>
            </a:r>
          </a:p>
          <a:p>
            <a:endParaRPr lang="ru-RU" sz="1000" b="1" dirty="0"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Экономический рост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Контроль инфляции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Контроль безработицы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Контроль платёжного баланса (экспорт, импорт, валюта)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Сглаживание экономического неравенства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Защита окружающей среды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Контроль государственного долга (если долг растёт, государство может сокращать расходы или повышать налоги)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2200" dirty="0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151976-01A9-D583-E11C-30527B2BD273}"/>
              </a:ext>
            </a:extLst>
          </p:cNvPr>
          <p:cNvSpPr txBox="1"/>
          <p:nvPr/>
        </p:nvSpPr>
        <p:spPr>
          <a:xfrm>
            <a:off x="457198" y="4716658"/>
            <a:ext cx="1144115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1" dirty="0">
                <a:latin typeface="Aptos" panose="020B0004020202020204" pitchFamily="34" charset="0"/>
              </a:rPr>
              <a:t>Способы достижения макроэкономических целей: </a:t>
            </a:r>
          </a:p>
          <a:p>
            <a:endParaRPr lang="ru-RU" sz="1000" b="1" dirty="0">
              <a:latin typeface="Aptos" panose="020B0004020202020204" pitchFamily="34" charset="0"/>
            </a:endParaRPr>
          </a:p>
          <a:p>
            <a:pPr marL="447675" indent="-447675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Фискальная политика (бюджетно-налоговая политика, БНП)</a:t>
            </a:r>
          </a:p>
          <a:p>
            <a:pPr marL="447675" indent="-447675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Монетарная политика (денежно-кредитная политика, ДКП)</a:t>
            </a:r>
          </a:p>
          <a:p>
            <a:pPr marL="447675" indent="-447675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Структурная политика (политика предложения)</a:t>
            </a:r>
          </a:p>
        </p:txBody>
      </p:sp>
    </p:spTree>
    <p:extLst>
      <p:ext uri="{BB962C8B-B14F-4D97-AF65-F5344CB8AC3E}">
        <p14:creationId xmlns:p14="http://schemas.microsoft.com/office/powerpoint/2010/main" val="1136142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E6A8C-317E-0C71-BE27-FE8010705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102D0BD-B9E1-B72D-C968-507C0557C5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68B108-1A5D-5765-4753-8B7B7F0D31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23121F-9416-A1CB-966D-36132CDFAF6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160819-C84E-0139-1AC0-624C66B5861C}"/>
              </a:ext>
            </a:extLst>
          </p:cNvPr>
          <p:cNvSpPr txBox="1"/>
          <p:nvPr/>
        </p:nvSpPr>
        <p:spPr>
          <a:xfrm>
            <a:off x="325437" y="1305342"/>
            <a:ext cx="1157128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Aptos" panose="020B0004020202020204" pitchFamily="34" charset="0"/>
              </a:rPr>
              <a:t>Фискальная политика </a:t>
            </a:r>
          </a:p>
          <a:p>
            <a:pPr algn="just"/>
            <a:endParaRPr lang="ru-RU" sz="1000" dirty="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pPr algn="just"/>
            <a:r>
              <a:rPr lang="ru-RU" sz="2200" b="1" dirty="0">
                <a:latin typeface="Aptos" panose="020B0004020202020204" pitchFamily="34" charset="0"/>
              </a:rPr>
              <a:t>Фискальная политика </a:t>
            </a:r>
            <a:r>
              <a:rPr lang="en-GB" sz="2200" b="1" dirty="0">
                <a:latin typeface="Aptos" panose="020B0004020202020204" pitchFamily="34" charset="0"/>
              </a:rPr>
              <a:t>- </a:t>
            </a:r>
            <a:r>
              <a:rPr lang="ru-RU" sz="2200" dirty="0">
                <a:latin typeface="Aptos" panose="020B0004020202020204" pitchFamily="34" charset="0"/>
              </a:rPr>
              <a:t>правительственная политика, представляющая собой меры воздействия на экономику с помощью изменения величины расходов или доходов государственного бюджета.</a:t>
            </a:r>
          </a:p>
          <a:p>
            <a:pPr algn="just"/>
            <a:endParaRPr lang="ru-RU" sz="1000" dirty="0">
              <a:latin typeface="Aptos" panose="020B0004020202020204" pitchFamily="34" charset="0"/>
            </a:endParaRPr>
          </a:p>
          <a:p>
            <a:pPr algn="just"/>
            <a:r>
              <a:rPr lang="ru-RU" sz="2200" b="1" dirty="0">
                <a:latin typeface="Aptos" panose="020B0004020202020204" pitchFamily="34" charset="0"/>
              </a:rPr>
              <a:t>Цель фискальной политики </a:t>
            </a:r>
            <a:r>
              <a:rPr lang="ru-RU" sz="2200" dirty="0">
                <a:latin typeface="Aptos" panose="020B0004020202020204" pitchFamily="34" charset="0"/>
              </a:rPr>
              <a:t>- достижение макроэкономической стабильности и решение социально-экономических задач.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104F53-C923-8D28-1213-6650B60AD22B}"/>
              </a:ext>
            </a:extLst>
          </p:cNvPr>
          <p:cNvSpPr txBox="1"/>
          <p:nvPr/>
        </p:nvSpPr>
        <p:spPr>
          <a:xfrm>
            <a:off x="325436" y="4054512"/>
            <a:ext cx="800455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1" dirty="0">
                <a:latin typeface="Aptos" panose="020B0004020202020204" pitchFamily="34" charset="0"/>
              </a:rPr>
              <a:t>Фискальную политику проводит Правительство</a:t>
            </a:r>
          </a:p>
          <a:p>
            <a:endParaRPr lang="ru-RU" sz="2200" dirty="0">
              <a:latin typeface="Aptos" panose="020B0004020202020204" pitchFamily="34" charset="0"/>
            </a:endParaRPr>
          </a:p>
          <a:p>
            <a:r>
              <a:rPr lang="ru-RU" sz="2200" b="1" dirty="0">
                <a:latin typeface="Aptos" panose="020B0004020202020204" pitchFamily="34" charset="0"/>
              </a:rPr>
              <a:t>Инструменты фискальной политики: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Государственные закупки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Налоги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Трансферты</a:t>
            </a:r>
          </a:p>
        </p:txBody>
      </p:sp>
    </p:spTree>
    <p:extLst>
      <p:ext uri="{BB962C8B-B14F-4D97-AF65-F5344CB8AC3E}">
        <p14:creationId xmlns:p14="http://schemas.microsoft.com/office/powerpoint/2010/main" val="2709463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0B134-516F-C450-F9A7-6CBBF0D97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C464FE7D-33AC-501E-4B00-AA8DBFA41C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4D3656-E7F8-137E-00D2-CEA3B8DBF2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06343F-15E6-8944-A6F9-5DB68F875A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D330B-2C19-9368-A0B8-4B662F51FC63}"/>
              </a:ext>
            </a:extLst>
          </p:cNvPr>
          <p:cNvSpPr txBox="1"/>
          <p:nvPr/>
        </p:nvSpPr>
        <p:spPr>
          <a:xfrm>
            <a:off x="325437" y="1238436"/>
            <a:ext cx="1157128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Aptos" panose="020B0004020202020204" pitchFamily="34" charset="0"/>
              </a:rPr>
              <a:t>Федеральный бюджет</a:t>
            </a:r>
          </a:p>
          <a:p>
            <a:pPr algn="just"/>
            <a:endParaRPr lang="ru-RU" sz="1000" dirty="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AC910A-73A3-7005-FE78-195D334F08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17" b="3856"/>
          <a:stretch>
            <a:fillRect/>
          </a:stretch>
        </p:blipFill>
        <p:spPr>
          <a:xfrm>
            <a:off x="2294719" y="1842838"/>
            <a:ext cx="7930346" cy="473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299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EC62B-817C-1F46-9B41-233CD4410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85B26683-EFF3-8BB2-0D5F-A4A50383A3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BF5B29-2845-5612-B7FD-9E2654C5A3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B9DD9A5-F59F-0B5F-EC70-7C82026C87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F9109E-1A74-56EB-1509-B4CBB0F92FF4}"/>
              </a:ext>
            </a:extLst>
          </p:cNvPr>
          <p:cNvSpPr txBox="1"/>
          <p:nvPr/>
        </p:nvSpPr>
        <p:spPr>
          <a:xfrm>
            <a:off x="325437" y="1238436"/>
            <a:ext cx="1157128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Aptos" panose="020B0004020202020204" pitchFamily="34" charset="0"/>
              </a:rPr>
              <a:t>Федеральный бюджет</a:t>
            </a:r>
          </a:p>
          <a:p>
            <a:pPr algn="just"/>
            <a:endParaRPr lang="ru-RU" sz="1000" dirty="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F0A47-0B03-4A23-C32D-225D0B80E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266" y="1731328"/>
            <a:ext cx="9222059" cy="475055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6858C7-FA7C-839D-528C-D00FE490EE37}"/>
              </a:ext>
            </a:extLst>
          </p:cNvPr>
          <p:cNvCxnSpPr>
            <a:cxnSpLocks/>
          </p:cNvCxnSpPr>
          <p:nvPr/>
        </p:nvCxnSpPr>
        <p:spPr>
          <a:xfrm flipH="1">
            <a:off x="9467384" y="2642841"/>
            <a:ext cx="990941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7460745-F09C-7E67-28F6-663AE8DE547F}"/>
              </a:ext>
            </a:extLst>
          </p:cNvPr>
          <p:cNvSpPr txBox="1"/>
          <p:nvPr/>
        </p:nvSpPr>
        <p:spPr>
          <a:xfrm>
            <a:off x="10615960" y="2488952"/>
            <a:ext cx="14719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400" dirty="0">
                <a:latin typeface="HSE Sans" panose="02000000000000000000" pitchFamily="2" charset="0"/>
              </a:rPr>
              <a:t>НДС и акцизы</a:t>
            </a:r>
            <a:endParaRPr lang="en-RU" sz="1400" dirty="0">
              <a:latin typeface="HSE Sans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03601E-1054-381E-C476-8BF785A968B7}"/>
              </a:ext>
            </a:extLst>
          </p:cNvPr>
          <p:cNvSpPr txBox="1"/>
          <p:nvPr/>
        </p:nvSpPr>
        <p:spPr>
          <a:xfrm>
            <a:off x="6858031" y="5619564"/>
            <a:ext cx="14719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400" dirty="0">
                <a:latin typeface="HSE Sans" panose="02000000000000000000" pitchFamily="2" charset="0"/>
              </a:rPr>
              <a:t>НДС и акцизы</a:t>
            </a:r>
            <a:endParaRPr lang="en-RU" sz="1400" dirty="0">
              <a:latin typeface="HSE Sans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7303A5-4241-3071-2DEB-E03D8129C8E5}"/>
              </a:ext>
            </a:extLst>
          </p:cNvPr>
          <p:cNvSpPr txBox="1"/>
          <p:nvPr/>
        </p:nvSpPr>
        <p:spPr>
          <a:xfrm>
            <a:off x="5055559" y="6350293"/>
            <a:ext cx="14719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HSE Sans" panose="02000000000000000000" pitchFamily="2" charset="0"/>
              </a:rPr>
              <a:t>99,9</a:t>
            </a:r>
            <a:r>
              <a:rPr lang="en-GB" sz="1400" dirty="0">
                <a:latin typeface="HSE Sans" panose="02000000000000000000" pitchFamily="2" charset="0"/>
              </a:rPr>
              <a:t>%.....</a:t>
            </a:r>
            <a:endParaRPr lang="en-RU" sz="1400" dirty="0">
              <a:latin typeface="HSE Sans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9731E7-4D8B-351B-A845-63AC78B9D021}"/>
              </a:ext>
            </a:extLst>
          </p:cNvPr>
          <p:cNvSpPr txBox="1"/>
          <p:nvPr/>
        </p:nvSpPr>
        <p:spPr>
          <a:xfrm>
            <a:off x="6846879" y="6361444"/>
            <a:ext cx="14719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HSE Sans" panose="02000000000000000000" pitchFamily="2" charset="0"/>
              </a:rPr>
              <a:t>100</a:t>
            </a:r>
            <a:r>
              <a:rPr lang="ru-RU" sz="1400" dirty="0">
                <a:latin typeface="HSE Sans" panose="02000000000000000000" pitchFamily="2" charset="0"/>
              </a:rPr>
              <a:t>,</a:t>
            </a:r>
            <a:r>
              <a:rPr lang="en-GB" sz="1400" dirty="0">
                <a:latin typeface="HSE Sans" panose="02000000000000000000" pitchFamily="2" charset="0"/>
              </a:rPr>
              <a:t>1%.....</a:t>
            </a:r>
            <a:endParaRPr lang="en-RU" sz="1400" dirty="0">
              <a:latin typeface="HSE Sans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166986-14DC-1DB5-9A00-41023BD476F3}"/>
              </a:ext>
            </a:extLst>
          </p:cNvPr>
          <p:cNvSpPr txBox="1"/>
          <p:nvPr/>
        </p:nvSpPr>
        <p:spPr>
          <a:xfrm>
            <a:off x="8638199" y="6364464"/>
            <a:ext cx="14719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HSE Sans" panose="02000000000000000000" pitchFamily="2" charset="0"/>
              </a:rPr>
              <a:t>100</a:t>
            </a:r>
            <a:r>
              <a:rPr lang="ru-RU" sz="1400" dirty="0">
                <a:latin typeface="HSE Sans" panose="02000000000000000000" pitchFamily="2" charset="0"/>
              </a:rPr>
              <a:t>,</a:t>
            </a:r>
            <a:r>
              <a:rPr lang="en-GB" sz="1400" dirty="0">
                <a:latin typeface="HSE Sans" panose="02000000000000000000" pitchFamily="2" charset="0"/>
              </a:rPr>
              <a:t>1%.....</a:t>
            </a:r>
            <a:endParaRPr lang="en-RU" sz="14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322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5E965-3A0F-C3FF-0E62-607FA5CDA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B54396C-E24F-8120-8542-CC0470336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14956D-FC96-B26F-8814-51933DDB8A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287BEB4-7325-6CD3-D0D3-EEFA47BB72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A7A19F-6AC9-CAC6-317F-5FADF31D1D14}"/>
              </a:ext>
            </a:extLst>
          </p:cNvPr>
          <p:cNvSpPr txBox="1"/>
          <p:nvPr/>
        </p:nvSpPr>
        <p:spPr>
          <a:xfrm>
            <a:off x="325437" y="1238436"/>
            <a:ext cx="1157128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Aptos" panose="020B0004020202020204" pitchFamily="34" charset="0"/>
              </a:rPr>
              <a:t>Федеральный бюджет</a:t>
            </a:r>
          </a:p>
          <a:p>
            <a:pPr algn="just"/>
            <a:endParaRPr lang="ru-RU" sz="1000" dirty="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F5059E-5967-D3B9-78E4-20C1AED98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301" y="2549820"/>
            <a:ext cx="10719559" cy="254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97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429E3-99C2-36BA-FBB2-CBA50FFC7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7FAD08B-A394-8C0A-F611-EE98614E5F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A7786FD-36D7-C045-7152-1E6429891B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63ADF2-C4F8-55C0-92F3-790AEEF880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997878-FDB4-5BBA-0F8A-910EC169B498}"/>
              </a:ext>
            </a:extLst>
          </p:cNvPr>
          <p:cNvSpPr txBox="1"/>
          <p:nvPr/>
        </p:nvSpPr>
        <p:spPr>
          <a:xfrm>
            <a:off x="365202" y="1588045"/>
            <a:ext cx="1124321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latin typeface="Aptos" panose="020B0004020202020204" pitchFamily="34" charset="0"/>
              </a:rPr>
              <a:t>Налоги</a:t>
            </a:r>
            <a:r>
              <a:rPr lang="ru-RU" sz="2000" dirty="0">
                <a:latin typeface="Aptos" panose="020B0004020202020204" pitchFamily="34" charset="0"/>
              </a:rPr>
              <a:t> - это обязательные платежи, которые физические и юридические лица перечисляют государству на основе специального налогового законодательства. Данные платежи взимаются в форме отчуждения принадлежащих налогоплательщикам денежных средств и направляются в бюджеты разных уровней (федеральный, региональный, местный) для финансового обеспечения деятельности государства и муниципальных образований.</a:t>
            </a:r>
          </a:p>
          <a:p>
            <a:pPr algn="just"/>
            <a:endParaRPr lang="ru-RU" sz="2000" dirty="0">
              <a:latin typeface="Aptos" panose="020B0004020202020204" pitchFamily="34" charset="0"/>
            </a:endParaRPr>
          </a:p>
          <a:p>
            <a:pPr algn="just"/>
            <a:r>
              <a:rPr lang="ru-RU" sz="2000" b="1" dirty="0">
                <a:latin typeface="Aptos" panose="020B0004020202020204" pitchFamily="34" charset="0"/>
              </a:rPr>
              <a:t>Государственные трансферты в экономике </a:t>
            </a:r>
            <a:r>
              <a:rPr lang="en-GB" sz="2000" dirty="0">
                <a:latin typeface="Aptos" panose="020B0004020202020204" pitchFamily="34" charset="0"/>
              </a:rPr>
              <a:t>-</a:t>
            </a:r>
            <a:r>
              <a:rPr lang="ru-RU" sz="2000" dirty="0">
                <a:latin typeface="Aptos" panose="020B0004020202020204" pitchFamily="34" charset="0"/>
              </a:rPr>
              <a:t> это безвозмездные выплаты, которые государство осуществляет без получения взамен товаров или услуг. Они представляют собой механизм перераспределения финансовых ресурсов между разными экономическими субъектами и являются важным элементом социальной политики государства.  </a:t>
            </a:r>
          </a:p>
          <a:p>
            <a:pPr algn="just"/>
            <a:endParaRPr lang="ru-RU" sz="2000" dirty="0">
              <a:latin typeface="Aptos" panose="020B0004020202020204" pitchFamily="34" charset="0"/>
            </a:endParaRPr>
          </a:p>
          <a:p>
            <a:pPr algn="just"/>
            <a:r>
              <a:rPr lang="ru-RU" sz="2000" b="1" dirty="0">
                <a:latin typeface="Aptos" panose="020B0004020202020204" pitchFamily="34" charset="0"/>
              </a:rPr>
              <a:t>Государственные расходы </a:t>
            </a:r>
            <a:r>
              <a:rPr lang="en-GB" sz="2000" dirty="0">
                <a:latin typeface="Aptos" panose="020B0004020202020204" pitchFamily="34" charset="0"/>
              </a:rPr>
              <a:t>-</a:t>
            </a:r>
            <a:r>
              <a:rPr lang="ru-RU" sz="2000" dirty="0">
                <a:latin typeface="Aptos" panose="020B0004020202020204" pitchFamily="34" charset="0"/>
              </a:rPr>
              <a:t> это финансовые средства, которые государство направляет на выполнение своих функций и обязательств. Они рассматриваются в рамках государственного управления и фискальной политики. </a:t>
            </a:r>
          </a:p>
        </p:txBody>
      </p:sp>
    </p:spTree>
    <p:extLst>
      <p:ext uri="{BB962C8B-B14F-4D97-AF65-F5344CB8AC3E}">
        <p14:creationId xmlns:p14="http://schemas.microsoft.com/office/powerpoint/2010/main" val="1773311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7429D-F08B-2B5E-6765-2FAA91A7F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BB17C4A3-F80B-78EC-C46D-5440375C10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BED5BA4-8658-CADE-23EE-E6A2CBD8D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69E6F6E-12D1-0892-C6EF-44A1EBD91D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1" y="548720"/>
            <a:ext cx="2699381" cy="408109"/>
          </a:xfrm>
        </p:spPr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33560-8004-6CBF-2505-917E1AAFA74E}"/>
              </a:ext>
            </a:extLst>
          </p:cNvPr>
          <p:cNvSpPr txBox="1"/>
          <p:nvPr/>
        </p:nvSpPr>
        <p:spPr>
          <a:xfrm>
            <a:off x="929877" y="1861809"/>
            <a:ext cx="573221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>
                <a:latin typeface="Aptos" panose="020B0004020202020204" pitchFamily="34" charset="0"/>
              </a:rPr>
              <a:t>Элементы налоговой системы:</a:t>
            </a:r>
            <a:endParaRPr lang="en-GB" sz="2200" b="1" dirty="0">
              <a:latin typeface="Aptos" panose="020B0004020202020204" pitchFamily="34" charset="0"/>
            </a:endParaRPr>
          </a:p>
          <a:p>
            <a:endParaRPr lang="ru-RU" sz="1000" b="1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субъект налогообложения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объект налогообложения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налоговые ставки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14301C-1521-8192-AFD3-4EA4CE9B5E89}"/>
              </a:ext>
            </a:extLst>
          </p:cNvPr>
          <p:cNvSpPr txBox="1"/>
          <p:nvPr/>
        </p:nvSpPr>
        <p:spPr>
          <a:xfrm>
            <a:off x="941028" y="3790989"/>
            <a:ext cx="61056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>
                <a:latin typeface="Aptos" panose="020B0004020202020204" pitchFamily="34" charset="0"/>
              </a:rPr>
              <a:t>Налоговая система: </a:t>
            </a:r>
            <a:endParaRPr lang="en-GB" sz="2200" b="1" dirty="0">
              <a:latin typeface="Aptos" panose="020B0004020202020204" pitchFamily="34" charset="0"/>
            </a:endParaRPr>
          </a:p>
          <a:p>
            <a:endParaRPr lang="ru-RU" sz="1000" b="1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справедливой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понятной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удобной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latin typeface="Aptos" panose="020B0004020202020204" pitchFamily="34" charset="0"/>
              </a:rPr>
              <a:t>недорогой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7DE3DA-BD00-DDBC-C534-C3670A2A4FCA}"/>
              </a:ext>
            </a:extLst>
          </p:cNvPr>
          <p:cNvSpPr txBox="1"/>
          <p:nvPr/>
        </p:nvSpPr>
        <p:spPr>
          <a:xfrm>
            <a:off x="7776679" y="3144658"/>
            <a:ext cx="2061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latin typeface="Aptos" panose="020B0004020202020204" pitchFamily="34" charset="0"/>
              </a:rPr>
              <a:t>Tx</a:t>
            </a:r>
            <a:r>
              <a:rPr lang="en-US" sz="3600" b="1" dirty="0">
                <a:latin typeface="Aptos" panose="020B0004020202020204" pitchFamily="34" charset="0"/>
              </a:rPr>
              <a:t> = Y*t</a:t>
            </a:r>
            <a:endParaRPr lang="ru-RU" sz="3600" dirty="0"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B86EE5-13E6-151C-52C8-7DA7AE044C2F}"/>
              </a:ext>
            </a:extLst>
          </p:cNvPr>
          <p:cNvSpPr txBox="1"/>
          <p:nvPr/>
        </p:nvSpPr>
        <p:spPr>
          <a:xfrm>
            <a:off x="7046637" y="3913653"/>
            <a:ext cx="334554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ptos" panose="020B0004020202020204" pitchFamily="34" charset="0"/>
              </a:rPr>
              <a:t>Tx</a:t>
            </a:r>
            <a:r>
              <a:rPr lang="ru-RU" sz="2000" b="1" dirty="0">
                <a:latin typeface="Aptos" panose="020B0004020202020204" pitchFamily="34" charset="0"/>
              </a:rPr>
              <a:t> </a:t>
            </a:r>
            <a:r>
              <a:rPr lang="en-GB" sz="2000" dirty="0">
                <a:latin typeface="Aptos" panose="020B0004020202020204" pitchFamily="34" charset="0"/>
              </a:rPr>
              <a:t>-</a:t>
            </a:r>
            <a:r>
              <a:rPr lang="ru-RU" sz="2000" b="1" dirty="0">
                <a:latin typeface="Aptos" panose="020B0004020202020204" pitchFamily="34" charset="0"/>
              </a:rPr>
              <a:t> </a:t>
            </a:r>
            <a:r>
              <a:rPr lang="ru-RU" sz="2000" dirty="0">
                <a:latin typeface="Aptos" panose="020B0004020202020204" pitchFamily="34" charset="0"/>
              </a:rPr>
              <a:t>сумма налога</a:t>
            </a:r>
          </a:p>
          <a:p>
            <a:pPr algn="ctr"/>
            <a:r>
              <a:rPr lang="en-US" sz="2000" b="1" dirty="0">
                <a:latin typeface="Aptos" panose="020B0004020202020204" pitchFamily="34" charset="0"/>
              </a:rPr>
              <a:t>Y</a:t>
            </a:r>
            <a:r>
              <a:rPr lang="ru-RU" sz="2000" b="1" dirty="0">
                <a:latin typeface="Aptos" panose="020B0004020202020204" pitchFamily="34" charset="0"/>
              </a:rPr>
              <a:t> </a:t>
            </a:r>
            <a:r>
              <a:rPr lang="ru-RU" sz="2000" dirty="0">
                <a:latin typeface="Aptos" panose="020B0004020202020204" pitchFamily="34" charset="0"/>
              </a:rPr>
              <a:t>-</a:t>
            </a:r>
            <a:r>
              <a:rPr lang="ru-RU" sz="2000" b="1" dirty="0">
                <a:latin typeface="Aptos" panose="020B0004020202020204" pitchFamily="34" charset="0"/>
              </a:rPr>
              <a:t> </a:t>
            </a:r>
            <a:r>
              <a:rPr lang="ru-RU" sz="2000" dirty="0">
                <a:latin typeface="Aptos" panose="020B0004020202020204" pitchFamily="34" charset="0"/>
              </a:rPr>
              <a:t>налогооблагаемая база</a:t>
            </a:r>
          </a:p>
          <a:p>
            <a:pPr algn="ctr"/>
            <a:r>
              <a:rPr lang="en-US" sz="2000" b="1" dirty="0">
                <a:latin typeface="Aptos" panose="020B0004020202020204" pitchFamily="34" charset="0"/>
              </a:rPr>
              <a:t>t</a:t>
            </a:r>
            <a:r>
              <a:rPr lang="ru-RU" sz="2000" b="1" dirty="0">
                <a:latin typeface="Aptos" panose="020B0004020202020204" pitchFamily="34" charset="0"/>
              </a:rPr>
              <a:t> </a:t>
            </a:r>
            <a:r>
              <a:rPr lang="ru-RU" sz="2000" dirty="0">
                <a:latin typeface="Aptos" panose="020B0004020202020204" pitchFamily="34" charset="0"/>
              </a:rPr>
              <a:t>-</a:t>
            </a:r>
            <a:r>
              <a:rPr lang="ru-RU" sz="2000" b="1" dirty="0">
                <a:latin typeface="Aptos" panose="020B0004020202020204" pitchFamily="34" charset="0"/>
              </a:rPr>
              <a:t> </a:t>
            </a:r>
            <a:r>
              <a:rPr lang="ru-RU" sz="2000" dirty="0">
                <a:latin typeface="Aptos" panose="020B0004020202020204" pitchFamily="34" charset="0"/>
              </a:rPr>
              <a:t>налоговая ставка</a:t>
            </a:r>
          </a:p>
          <a:p>
            <a:pPr algn="ctr"/>
            <a:endParaRPr lang="ru-RU" dirty="0"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B8F7F8-F3B9-738C-842C-1388D88DA764}"/>
              </a:ext>
            </a:extLst>
          </p:cNvPr>
          <p:cNvSpPr/>
          <p:nvPr/>
        </p:nvSpPr>
        <p:spPr>
          <a:xfrm>
            <a:off x="6589526" y="2853407"/>
            <a:ext cx="4259766" cy="2430965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6358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BF661-C6EB-D982-3B83-D05E8DC37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8F2ADA3-7188-3FB0-2F8A-2A844EF166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81F0DE-991F-73DF-726B-B6FE9937F2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4C0D545-F9C5-5122-8381-C1B1096383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1" y="548720"/>
            <a:ext cx="2699381" cy="408109"/>
          </a:xfrm>
        </p:spPr>
        <p:txBody>
          <a:bodyPr/>
          <a:lstStyle/>
          <a:p>
            <a:r>
              <a:rPr lang="ru-RU" dirty="0">
                <a:latin typeface="Aptos" panose="020B0004020202020204" pitchFamily="34" charset="0"/>
              </a:rPr>
              <a:t>Департамент теоретической экономики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36A0DBA-E0C9-7A61-B762-4A863E1788C0}"/>
                  </a:ext>
                </a:extLst>
              </p:cNvPr>
              <p:cNvSpPr txBox="1"/>
              <p:nvPr/>
            </p:nvSpPr>
            <p:spPr>
              <a:xfrm>
                <a:off x="654204" y="1982508"/>
                <a:ext cx="10883591" cy="39493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200" b="1" dirty="0">
                    <a:latin typeface="Aptos" panose="020B0004020202020204" pitchFamily="34" charset="0"/>
                  </a:rPr>
                  <a:t>Средняя ставка налога </a:t>
                </a:r>
                <a:r>
                  <a:rPr lang="en-GB" sz="2200" i="1" dirty="0">
                    <a:latin typeface="Aptos" panose="020B0004020202020204" pitchFamily="34" charset="0"/>
                  </a:rPr>
                  <a:t>-</a:t>
                </a:r>
                <a:r>
                  <a:rPr lang="ru-RU" sz="2200" dirty="0">
                    <a:latin typeface="Aptos" panose="020B0004020202020204" pitchFamily="34" charset="0"/>
                  </a:rPr>
                  <a:t> это</a:t>
                </a:r>
                <a:r>
                  <a:rPr lang="en-US" sz="2200" dirty="0">
                    <a:latin typeface="Aptos" panose="020B0004020202020204" pitchFamily="34" charset="0"/>
                  </a:rPr>
                  <a:t> </a:t>
                </a:r>
                <a:r>
                  <a:rPr lang="ru-RU" sz="2200" dirty="0">
                    <a:latin typeface="Aptos" panose="020B0004020202020204" pitchFamily="34" charset="0"/>
                  </a:rPr>
                  <a:t>процентное отношение налоговой суммы к величине дохода</a:t>
                </a:r>
                <a:r>
                  <a:rPr lang="en-GB" sz="2200" dirty="0">
                    <a:latin typeface="Aptos" panose="020B0004020202020204" pitchFamily="34" charset="0"/>
                  </a:rPr>
                  <a:t> (</a:t>
                </a:r>
                <a:r>
                  <a:rPr lang="ru-RU" sz="2200" i="1" dirty="0">
                    <a:latin typeface="Aptos" panose="020B0004020202020204" pitchFamily="34" charset="0"/>
                  </a:rPr>
                  <a:t>какую долю всего дохода человек в итоге отдал в виде налогов?</a:t>
                </a:r>
                <a:r>
                  <a:rPr lang="en-GB" sz="2200" dirty="0">
                    <a:latin typeface="Aptos" panose="020B0004020202020204" pitchFamily="34" charset="0"/>
                  </a:rPr>
                  <a:t>)</a:t>
                </a:r>
              </a:p>
              <a:p>
                <a:endParaRPr lang="en-US" sz="1500" dirty="0">
                  <a:latin typeface="Aptos" panose="020B0004020202020204" pitchFamily="34" charset="0"/>
                </a:endParaRPr>
              </a:p>
              <a:p>
                <a:pPr algn="ctr"/>
                <a:r>
                  <a:rPr lang="en-US" sz="2200" dirty="0">
                    <a:latin typeface="Aptos" panose="020B0004020202020204" pitchFamily="34" charset="0"/>
                  </a:rPr>
                  <a:t>t</a:t>
                </a:r>
                <a:r>
                  <a:rPr lang="ru-RU" sz="2200" baseline="-25000" dirty="0">
                    <a:latin typeface="Aptos" panose="020B0004020202020204" pitchFamily="34" charset="0"/>
                  </a:rPr>
                  <a:t>ср</a:t>
                </a:r>
                <a:r>
                  <a:rPr lang="ru-RU" sz="2200" dirty="0">
                    <a:latin typeface="Aptos" panose="020B0004020202020204" pitchFamily="34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Тх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𝑌</m:t>
                        </m:r>
                      </m:den>
                    </m:f>
                  </m:oMath>
                </a14:m>
                <a:r>
                  <a:rPr lang="en-US" sz="2200" dirty="0">
                    <a:latin typeface="Aptos" panose="020B0004020202020204" pitchFamily="34" charset="0"/>
                  </a:rPr>
                  <a:t>*100%</a:t>
                </a:r>
                <a:endParaRPr lang="ru-RU" sz="2200" dirty="0">
                  <a:latin typeface="Aptos" panose="020B0004020202020204" pitchFamily="34" charset="0"/>
                </a:endParaRPr>
              </a:p>
              <a:p>
                <a:endParaRPr lang="ru-RU" sz="2200" dirty="0">
                  <a:latin typeface="Aptos" panose="020B0004020202020204" pitchFamily="34" charset="0"/>
                </a:endParaRPr>
              </a:p>
              <a:p>
                <a:r>
                  <a:rPr lang="ru-RU" sz="2200" b="1" dirty="0">
                    <a:latin typeface="Aptos" panose="020B0004020202020204" pitchFamily="34" charset="0"/>
                  </a:rPr>
                  <a:t>Предельная ставка налога </a:t>
                </a:r>
                <a:r>
                  <a:rPr lang="en-GB" sz="2200" i="1" dirty="0">
                    <a:latin typeface="Aptos" panose="020B0004020202020204" pitchFamily="34" charset="0"/>
                  </a:rPr>
                  <a:t>-</a:t>
                </a:r>
                <a:r>
                  <a:rPr lang="ru-RU" sz="2200" dirty="0">
                    <a:latin typeface="Aptos" panose="020B0004020202020204" pitchFamily="34" charset="0"/>
                  </a:rPr>
                  <a:t> это</a:t>
                </a:r>
                <a:r>
                  <a:rPr lang="en-US" sz="2200" dirty="0">
                    <a:latin typeface="Aptos" panose="020B0004020202020204" pitchFamily="34" charset="0"/>
                  </a:rPr>
                  <a:t> </a:t>
                </a:r>
                <a:r>
                  <a:rPr lang="ru-RU" sz="2200" dirty="0">
                    <a:latin typeface="Aptos" panose="020B0004020202020204" pitchFamily="34" charset="0"/>
                  </a:rPr>
                  <a:t>процентное отношение величины прироста налоговой суммы к величине прироста дохода (</a:t>
                </a:r>
                <a:r>
                  <a:rPr lang="ru-RU" sz="2200" i="1" dirty="0">
                    <a:latin typeface="Aptos" panose="020B0004020202020204" pitchFamily="34" charset="0"/>
                  </a:rPr>
                  <a:t>сколько налогов нужно заплатить с дополнительного рубля дохода?</a:t>
                </a:r>
                <a:r>
                  <a:rPr lang="ru-RU" sz="2200" dirty="0">
                    <a:latin typeface="Aptos" panose="020B0004020202020204" pitchFamily="34" charset="0"/>
                  </a:rPr>
                  <a:t>)</a:t>
                </a:r>
              </a:p>
              <a:p>
                <a:endParaRPr lang="en-US" sz="1500" dirty="0">
                  <a:latin typeface="Aptos" panose="020B0004020202020204" pitchFamily="34" charset="0"/>
                </a:endParaRPr>
              </a:p>
              <a:p>
                <a:pPr algn="ctr"/>
                <a:r>
                  <a:rPr lang="en-US" sz="2200" dirty="0">
                    <a:latin typeface="Aptos" panose="020B0004020202020204" pitchFamily="34" charset="0"/>
                  </a:rPr>
                  <a:t>t</a:t>
                </a:r>
                <a:r>
                  <a:rPr lang="ru-RU" sz="2200" baseline="-25000" dirty="0">
                    <a:latin typeface="Aptos" panose="020B0004020202020204" pitchFamily="34" charset="0"/>
                  </a:rPr>
                  <a:t>пред</a:t>
                </a:r>
                <a:r>
                  <a:rPr lang="ru-RU" sz="2200" dirty="0">
                    <a:latin typeface="Aptos" panose="020B0004020202020204" pitchFamily="34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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Тх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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𝑌</m:t>
                        </m:r>
                      </m:den>
                    </m:f>
                  </m:oMath>
                </a14:m>
                <a:r>
                  <a:rPr lang="ru-RU" sz="2200" dirty="0">
                    <a:latin typeface="Aptos" panose="020B0004020202020204" pitchFamily="34" charset="0"/>
                  </a:rPr>
                  <a:t>*100%</a:t>
                </a:r>
              </a:p>
              <a:p>
                <a:endParaRPr lang="ru-RU" sz="2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36A0DBA-E0C9-7A61-B762-4A863E178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04" y="1982508"/>
                <a:ext cx="10883591" cy="3949351"/>
              </a:xfrm>
              <a:prstGeom prst="rect">
                <a:avLst/>
              </a:prstGeom>
              <a:blipFill>
                <a:blip r:embed="rId3"/>
                <a:stretch>
                  <a:fillRect l="-699" t="-962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7938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AC8064E-5791-204C-B92F-A018279494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A111DD-C00C-2D48-9F7A-4E23C5BA0C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7B3E517-ED8B-0241-AB87-BE49B315EE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1" y="548720"/>
            <a:ext cx="2699381" cy="408109"/>
          </a:xfrm>
        </p:spPr>
        <p:txBody>
          <a:bodyPr/>
          <a:lstStyle/>
          <a:p>
            <a:r>
              <a:rPr lang="ru-RU" dirty="0"/>
              <a:t>Департамент теоретической экономики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0F3260-04A1-C81B-FD7C-4DAC215F2312}"/>
              </a:ext>
            </a:extLst>
          </p:cNvPr>
          <p:cNvSpPr txBox="1"/>
          <p:nvPr/>
        </p:nvSpPr>
        <p:spPr>
          <a:xfrm>
            <a:off x="638937" y="1831017"/>
            <a:ext cx="10914125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200" b="1" dirty="0"/>
              <a:t>Виды налогообложения:</a:t>
            </a:r>
          </a:p>
          <a:p>
            <a:pPr algn="just"/>
            <a:endParaRPr lang="ru-RU" sz="1000" b="1" dirty="0"/>
          </a:p>
          <a:p>
            <a:pPr algn="just"/>
            <a:r>
              <a:rPr lang="ru-RU" sz="2200" dirty="0"/>
              <a:t>Прогрессивное - система, при  которой существует гибкая шкала ставок налога: с большего дохода берется большая процентная ставка (США, Германия, Франция, Великобритания, Швеция, Япония).</a:t>
            </a:r>
          </a:p>
          <a:p>
            <a:pPr algn="just"/>
            <a:endParaRPr lang="ru-RU" sz="2200" dirty="0"/>
          </a:p>
          <a:p>
            <a:pPr algn="just"/>
            <a:r>
              <a:rPr lang="ru-RU" sz="2200" dirty="0"/>
              <a:t>Регрессивное - это система, при которой с большего дохода берется меньшая процентная ставка (</a:t>
            </a:r>
            <a:r>
              <a:rPr lang="ru-RU" sz="2200" i="1" dirty="0"/>
              <a:t>отдельные налоги и взносы</a:t>
            </a:r>
            <a:r>
              <a:rPr lang="ru-RU" sz="2200" dirty="0"/>
              <a:t>).</a:t>
            </a:r>
          </a:p>
          <a:p>
            <a:pPr algn="just"/>
            <a:endParaRPr lang="ru-RU" sz="2200" dirty="0"/>
          </a:p>
          <a:p>
            <a:pPr algn="just"/>
            <a:r>
              <a:rPr lang="ru-RU" sz="2200" dirty="0"/>
              <a:t>Пропорциональная - это система, при которой независимо от величины дохода налог взимается по единой налоговой ставке (Эстония, Венгрия, Румыния, Болгария, Грузия).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5BDB1E1-FAB8-1A6C-CD3D-AC593FC7A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RU" altLang="en-RU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oogle Sans"/>
              </a:rPr>
              <a:t>Венгрия (15% на доходы физлиц)</a:t>
            </a:r>
            <a:r>
              <a:rPr kumimoji="0" lang="en-RU" altLang="en-RU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, Румыния (10%), Казахстан (10%), Беларусь (13%)</a:t>
            </a:r>
            <a:endParaRPr kumimoji="0" lang="en-RU" altLang="en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103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EB105-C34C-BE7B-3B79-0FD16DA75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735FB77-49C8-BFBE-4D41-09BD91839F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0C6D5B4-FE71-9B75-AAB8-2D942ACD0C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BCB0364-6896-9AA9-E970-46CD80A08E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1" y="548720"/>
            <a:ext cx="2699381" cy="408109"/>
          </a:xfrm>
        </p:spPr>
        <p:txBody>
          <a:bodyPr/>
          <a:lstStyle/>
          <a:p>
            <a:r>
              <a:rPr lang="ru-RU" dirty="0"/>
              <a:t>Департамент теоретической экономики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D4C3CB-D797-E3AB-AE0A-4D6F7FD6F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414656"/>
            <a:ext cx="7772400" cy="46728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B97C47-30DD-443B-3749-424880EE509F}"/>
              </a:ext>
            </a:extLst>
          </p:cNvPr>
          <p:cNvSpPr txBox="1"/>
          <p:nvPr/>
        </p:nvSpPr>
        <p:spPr>
          <a:xfrm>
            <a:off x="0" y="6210487"/>
            <a:ext cx="1219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/>
              <a:t>P.S. </a:t>
            </a:r>
            <a:r>
              <a:rPr lang="ru-RU" sz="1800" dirty="0"/>
              <a:t>При открытии своего бизнеса будьте внимательны с РСВ</a:t>
            </a:r>
            <a:endParaRPr lang="en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126527-E3D7-1E3E-DBC0-B332EFB84150}"/>
              </a:ext>
            </a:extLst>
          </p:cNvPr>
          <p:cNvSpPr txBox="1"/>
          <p:nvPr/>
        </p:nvSpPr>
        <p:spPr>
          <a:xfrm>
            <a:off x="0" y="1079828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/>
              <a:t>Регрессивная шкала</a:t>
            </a:r>
            <a:endParaRPr lang="en-RU" b="1" dirty="0"/>
          </a:p>
        </p:txBody>
      </p:sp>
    </p:spTree>
    <p:extLst>
      <p:ext uri="{BB962C8B-B14F-4D97-AF65-F5344CB8AC3E}">
        <p14:creationId xmlns:p14="http://schemas.microsoft.com/office/powerpoint/2010/main" val="3936344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AC8064E-5791-204C-B92F-A018279494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A111DD-C00C-2D48-9F7A-4E23C5BA0C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7B3E517-ED8B-0241-AB87-BE49B315EE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Департамент теоретической экономики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133E39A8-FD16-9C4B-0BF9-69A911B19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390761"/>
              </p:ext>
            </p:extLst>
          </p:nvPr>
        </p:nvGraphicFramePr>
        <p:xfrm>
          <a:off x="498461" y="2638837"/>
          <a:ext cx="11254924" cy="22787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1425">
                  <a:extLst>
                    <a:ext uri="{9D8B030D-6E8A-4147-A177-3AD203B41FA5}">
                      <a16:colId xmlns:a16="http://schemas.microsoft.com/office/drawing/2014/main" val="117492831"/>
                    </a:ext>
                  </a:extLst>
                </a:gridCol>
                <a:gridCol w="8793499">
                  <a:extLst>
                    <a:ext uri="{9D8B030D-6E8A-4147-A177-3AD203B41FA5}">
                      <a16:colId xmlns:a16="http://schemas.microsoft.com/office/drawing/2014/main" val="712825798"/>
                    </a:ext>
                  </a:extLst>
                </a:gridCol>
              </a:tblGrid>
              <a:tr h="314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Участник</a:t>
                      </a:r>
                      <a:endParaRPr lang="ru-RU" sz="1800" kern="1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25397" marR="25397" marT="17143" marB="1714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Действие</a:t>
                      </a:r>
                      <a:endParaRPr lang="ru-RU" sz="1800" kern="1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25397" marR="25397" marT="17143" marB="17143"/>
                </a:tc>
                <a:extLst>
                  <a:ext uri="{0D108BD9-81ED-4DB2-BD59-A6C34878D82A}">
                    <a16:rowId xmlns:a16="http://schemas.microsoft.com/office/drawing/2014/main" val="780087603"/>
                  </a:ext>
                </a:extLst>
              </a:tr>
              <a:tr h="31472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 Все</a:t>
                      </a:r>
                      <a:endParaRPr lang="ru-RU" sz="1800" kern="1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25397" marR="25397" marT="17143" marB="1714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Команда обсуждает выступление </a:t>
                      </a:r>
                      <a:endParaRPr lang="ru-RU" sz="1800" kern="1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25397" marR="25397" marT="17143" marB="17143" anchor="ctr"/>
                </a:tc>
                <a:extLst>
                  <a:ext uri="{0D108BD9-81ED-4DB2-BD59-A6C34878D82A}">
                    <a16:rowId xmlns:a16="http://schemas.microsoft.com/office/drawing/2014/main" val="806595326"/>
                  </a:ext>
                </a:extLst>
              </a:tr>
              <a:tr h="6081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 </a:t>
                      </a:r>
                      <a:r>
                        <a:rPr lang="ru-RU" sz="1800" kern="100" dirty="0" err="1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Пропонент</a:t>
                      </a:r>
                      <a:r>
                        <a:rPr lang="ru-RU" sz="1800" kern="1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(ПРО)</a:t>
                      </a:r>
                      <a:endParaRPr lang="ru-RU" sz="1800" kern="1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25397" marR="25397" marT="17143" marB="1714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Выступление в защиту тезиса </a:t>
                      </a:r>
                      <a:r>
                        <a:rPr lang="ru-RU" sz="1800" b="1" kern="1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«</a:t>
                      </a:r>
                      <a:r>
                        <a:rPr lang="ru-RU" sz="1800" b="1" i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Прогрессивное налогообложение - основа социальной справедливости и устойчивого экономического развития»</a:t>
                      </a:r>
                      <a:endParaRPr lang="ru-RU" sz="1800" b="1" kern="1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25397" marR="25397" marT="17143" marB="17143" anchor="ctr"/>
                </a:tc>
                <a:extLst>
                  <a:ext uri="{0D108BD9-81ED-4DB2-BD59-A6C34878D82A}">
                    <a16:rowId xmlns:a16="http://schemas.microsoft.com/office/drawing/2014/main" val="1676938835"/>
                  </a:ext>
                </a:extLst>
              </a:tr>
              <a:tr h="104094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 Оппонент (ОПП)</a:t>
                      </a:r>
                      <a:endParaRPr lang="ru-RU" sz="1800" kern="1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25397" marR="25397" marT="17143" marB="1714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Выступление в защиту антитезиса </a:t>
                      </a:r>
                      <a:r>
                        <a:rPr lang="ru-RU" sz="1800" b="1" i="0" kern="12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«Прогрессивное налогообложение - ограничивает экономическое развитие и стимулирует неравенство возможностей»</a:t>
                      </a:r>
                      <a:endParaRPr lang="ru-RU" sz="1800" b="1" kern="10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25397" marR="25397" marT="17143" marB="17143" anchor="ctr"/>
                </a:tc>
                <a:extLst>
                  <a:ext uri="{0D108BD9-81ED-4DB2-BD59-A6C34878D82A}">
                    <a16:rowId xmlns:a16="http://schemas.microsoft.com/office/drawing/2014/main" val="172156935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D1E4BA4-F69B-1A7B-7C81-0A635C026648}"/>
              </a:ext>
            </a:extLst>
          </p:cNvPr>
          <p:cNvSpPr txBox="1"/>
          <p:nvPr/>
        </p:nvSpPr>
        <p:spPr>
          <a:xfrm>
            <a:off x="1039991" y="1973407"/>
            <a:ext cx="10439801" cy="400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spc="-1" dirty="0">
                <a:solidFill>
                  <a:srgbClr val="0F2C68"/>
                </a:solidFill>
                <a:latin typeface="Calibri"/>
              </a:rPr>
              <a:t>Сценарий дебатов «Налоговая справедливость: за и против прогрессивной шкалы»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885140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AC8064E-5791-204C-B92F-A018279494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НИУ ВШЭ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A111DD-C00C-2D48-9F7A-4E23C5BA0C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Факультет экономических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7B3E517-ED8B-0241-AB87-BE49B315EE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Департамент теоретической экономики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C80C27-4899-5A92-CD6A-7859DF1AF07E}"/>
              </a:ext>
            </a:extLst>
          </p:cNvPr>
          <p:cNvSpPr txBox="1"/>
          <p:nvPr/>
        </p:nvSpPr>
        <p:spPr>
          <a:xfrm>
            <a:off x="193296" y="956829"/>
            <a:ext cx="11287125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Домашнее задание к семинару 15</a:t>
            </a:r>
          </a:p>
          <a:p>
            <a:pPr lvl="0"/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На семинаре 15 будут проведены оцениваемые дебаты на тему </a:t>
            </a:r>
            <a:r>
              <a:rPr lang="ru-RU" sz="1300" b="1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«Налоговая справедливость: за и против прогрессивной шкалы». </a:t>
            </a: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Студенты группы делятся на 4 команды, списки команд размещены в </a:t>
            </a:r>
            <a:r>
              <a:rPr lang="en-US" sz="13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SmartLms</a:t>
            </a: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курс Экономика (Таровик) – Рабочая ведомость</a:t>
            </a:r>
          </a:p>
          <a:p>
            <a:pPr>
              <a:buNone/>
            </a:pPr>
            <a:r>
              <a:rPr lang="ru-RU" sz="1300" b="1" kern="100" dirty="0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Команда 3</a:t>
            </a: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выступает в роли ПРОПОНЕНТОВ и защищает тезис </a:t>
            </a:r>
            <a:r>
              <a:rPr lang="ru-RU" sz="13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«Прогрессивное налогообложение — основа социальной справедливости и устойчивого экономического развития»</a:t>
            </a:r>
            <a:endParaRPr lang="ru-RU" sz="13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300" b="1" kern="100" dirty="0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Команда 4</a:t>
            </a: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в роли ОППОНЕНТОВ и защищает тезис </a:t>
            </a:r>
            <a:r>
              <a:rPr lang="ru-RU" sz="13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«Прогрессивное налогообложение — ограничивает экономическое развитие и стимулирует неравенство возможностей»</a:t>
            </a:r>
            <a:endParaRPr lang="ru-RU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300" b="1" kern="100" dirty="0">
                <a:solidFill>
                  <a:srgbClr val="EE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Команда 1 и команда 2 </a:t>
            </a: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выступают в роли избирателей</a:t>
            </a:r>
          </a:p>
          <a:p>
            <a:pPr>
              <a:buNone/>
            </a:pP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buNone/>
            </a:pP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Все команды готовят таблицу с материалами и размещают их на доске 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MIRO</a:t>
            </a: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</a:t>
            </a: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(аналогичный по функционалу ресурс):</a:t>
            </a:r>
          </a:p>
          <a:p>
            <a:pPr>
              <a:buNone/>
            </a:pP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Команда 3 (</a:t>
            </a:r>
            <a:r>
              <a:rPr lang="ru-RU" sz="13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пропоненты</a:t>
            </a: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готовит материалы в защиту тезиса </a:t>
            </a:r>
            <a:r>
              <a:rPr lang="ru-RU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«Прогрессивное налогообложение — основа социальной справедливости и устойчивого экономического развития»</a:t>
            </a:r>
            <a:endParaRPr lang="ru-RU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Команда 4 (оппоненты) готовит материалы в защиту тезиса </a:t>
            </a:r>
            <a:r>
              <a:rPr lang="ru-RU" sz="13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«Прогрессивное налогообложение — ограничивает экономическое развитие и стимулирует неравенство возможностей»</a:t>
            </a:r>
            <a:endParaRPr lang="ru-RU" sz="13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Команды 1 и 2 готовят таблицу с материалами в защиту тезиса </a:t>
            </a:r>
            <a:r>
              <a:rPr lang="ru-RU" sz="13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пропонентов</a:t>
            </a: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и оппонентов.</a:t>
            </a:r>
          </a:p>
          <a:p>
            <a:pPr>
              <a:buNone/>
            </a:pP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buNone/>
            </a:pP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Доступ на доску 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MIRO</a:t>
            </a: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en-US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</a:t>
            </a: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с подготовленными материалами один представитель команды присылает на </a:t>
            </a:r>
            <a:r>
              <a:rPr lang="ru-RU" sz="13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эл.адрес</a:t>
            </a: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300" u="sng" kern="100" dirty="0" err="1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etarovik</a:t>
            </a:r>
            <a:r>
              <a:rPr lang="ru-RU" sz="13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@</a:t>
            </a:r>
            <a:r>
              <a:rPr lang="en-US" sz="1300" u="sng" kern="100" dirty="0" err="1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hse</a:t>
            </a:r>
            <a:r>
              <a:rPr lang="ru-RU" sz="13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.</a:t>
            </a:r>
            <a:r>
              <a:rPr lang="en-US" sz="1300" u="sng" kern="100" dirty="0" err="1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ru</a:t>
            </a: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до начала семинара.</a:t>
            </a:r>
          </a:p>
          <a:p>
            <a:pPr>
              <a:buNone/>
            </a:pP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r>
              <a:rPr lang="ru-RU" sz="13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Команда 3 и команда 4 готовят презентацию и выступление (5-7 минут). Выступают все участники команды! Старайтесь использовать материал лекций и семинаров ДОЦ Экономика при подготовке к дебатам! </a:t>
            </a:r>
          </a:p>
          <a:p>
            <a:pPr>
              <a:buNone/>
            </a:pP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buNone/>
            </a:pP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Максимальная оценка </a:t>
            </a:r>
            <a:r>
              <a:rPr lang="ru-RU" sz="13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пропонентов</a:t>
            </a: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и оппонентов за дебаты – 8 баллов</a:t>
            </a:r>
          </a:p>
          <a:p>
            <a:pPr>
              <a:buNone/>
            </a:pP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Максимальная оценка за дебаты избирателей – 2 балла</a:t>
            </a:r>
          </a:p>
          <a:p>
            <a:pPr>
              <a:buNone/>
            </a:pP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buNone/>
            </a:pP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Сценарий проведения дебатов и рамка оценивания активности предложена в презентации семинара 15, которая размещена в </a:t>
            </a:r>
            <a:r>
              <a:rPr lang="en-US" sz="13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SmartLms</a:t>
            </a:r>
            <a:r>
              <a:rPr lang="ru-RU" sz="1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курс Экономика (Таровик) – Семинар 15.</a:t>
            </a:r>
          </a:p>
        </p:txBody>
      </p:sp>
    </p:spTree>
    <p:extLst>
      <p:ext uri="{BB962C8B-B14F-4D97-AF65-F5344CB8AC3E}">
        <p14:creationId xmlns:p14="http://schemas.microsoft.com/office/powerpoint/2010/main" val="520811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161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33DAF31-D8A6-49A0-9A5D-8B2EA5B1C51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e96afe77-3acb-4328-97fc-408e1bde3ecd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9875bd71-cde8-496c-a136-433f55d5e6d0"/>
  </ds:schemaRefs>
</ds:datastoreItem>
</file>

<file path=customXml/itemProps2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14952</TotalTime>
  <Words>935</Words>
  <Application>Microsoft Macintosh PowerPoint</Application>
  <PresentationFormat>Widescreen</PresentationFormat>
  <Paragraphs>144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-webkit-standard</vt:lpstr>
      <vt:lpstr>Aptos</vt:lpstr>
      <vt:lpstr>Arial</vt:lpstr>
      <vt:lpstr>Calibri</vt:lpstr>
      <vt:lpstr>Calibri Light</vt:lpstr>
      <vt:lpstr>Cambria Math</vt:lpstr>
      <vt:lpstr>Google Sans</vt:lpstr>
      <vt:lpstr>HSE Sans</vt:lpstr>
      <vt:lpstr>Office Theme</vt:lpstr>
      <vt:lpstr>Семинар 14.Государственные политики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Анна Иванова</cp:lastModifiedBy>
  <cp:revision>53</cp:revision>
  <cp:lastPrinted>2021-11-11T13:08:42Z</cp:lastPrinted>
  <dcterms:created xsi:type="dcterms:W3CDTF">2021-11-11T08:52:47Z</dcterms:created>
  <dcterms:modified xsi:type="dcterms:W3CDTF">2026-05-31T13:11:04Z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