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308" r:id="rId5"/>
    <p:sldId id="676" r:id="rId6"/>
    <p:sldId id="300" r:id="rId7"/>
    <p:sldId id="710" r:id="rId8"/>
    <p:sldId id="298" r:id="rId9"/>
    <p:sldId id="295" r:id="rId10"/>
    <p:sldId id="698" r:id="rId11"/>
    <p:sldId id="699" r:id="rId12"/>
    <p:sldId id="697" r:id="rId13"/>
    <p:sldId id="701" r:id="rId14"/>
    <p:sldId id="702" r:id="rId15"/>
    <p:sldId id="703" r:id="rId16"/>
    <p:sldId id="704" r:id="rId17"/>
    <p:sldId id="705" r:id="rId18"/>
    <p:sldId id="707" r:id="rId19"/>
    <p:sldId id="708" r:id="rId20"/>
    <p:sldId id="660" r:id="rId21"/>
    <p:sldId id="712" r:id="rId22"/>
    <p:sldId id="713" r:id="rId23"/>
    <p:sldId id="714" r:id="rId24"/>
    <p:sldId id="711" r:id="rId25"/>
    <p:sldId id="661" r:id="rId26"/>
    <p:sldId id="657" r:id="rId27"/>
    <p:sldId id="709" r:id="rId28"/>
    <p:sldId id="285" r:id="rId29"/>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9C63"/>
    <a:srgbClr val="96628C"/>
    <a:srgbClr val="11A0D7"/>
    <a:srgbClr val="E61F3D"/>
    <a:srgbClr val="CD5A5A"/>
    <a:srgbClr val="FFD746"/>
    <a:srgbClr val="0E2D69"/>
    <a:srgbClr val="D9D9D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69" autoAdjust="0"/>
    <p:restoredTop sz="93646" autoAdjust="0"/>
  </p:normalViewPr>
  <p:slideViewPr>
    <p:cSldViewPr snapToGrid="0" snapToObjects="1">
      <p:cViewPr>
        <p:scale>
          <a:sx n="115" d="100"/>
          <a:sy n="115" d="100"/>
        </p:scale>
        <p:origin x="432" y="160"/>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30.01.2026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kern="1200" dirty="0">
                <a:solidFill>
                  <a:schemeClr val="tx1"/>
                </a:solidFill>
                <a:effectLst/>
                <a:latin typeface="+mn-lt"/>
                <a:ea typeface="+mn-ea"/>
                <a:cs typeface="+mn-cs"/>
              </a:rPr>
              <a:t>Чтобы объяснить это расхождение, </a:t>
            </a:r>
            <a:r>
              <a:rPr lang="ru-RU" sz="1200" kern="1200" dirty="0" err="1">
                <a:solidFill>
                  <a:schemeClr val="tx1"/>
                </a:solidFill>
                <a:effectLst/>
                <a:latin typeface="+mn-lt"/>
                <a:ea typeface="+mn-ea"/>
                <a:cs typeface="+mn-cs"/>
              </a:rPr>
              <a:t>Истерлин</a:t>
            </a:r>
            <a:r>
              <a:rPr lang="ru-RU" sz="1200" kern="1200" dirty="0">
                <a:solidFill>
                  <a:schemeClr val="tx1"/>
                </a:solidFill>
                <a:effectLst/>
                <a:latin typeface="+mn-lt"/>
                <a:ea typeface="+mn-ea"/>
                <a:cs typeface="+mn-cs"/>
              </a:rPr>
              <a:t> выделил несколько эффектов.</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Первый </a:t>
            </a:r>
            <a:r>
              <a:rPr lang="en-GB" sz="1200" kern="1200" dirty="0">
                <a:solidFill>
                  <a:schemeClr val="tx1"/>
                </a:solidFill>
                <a:effectLst/>
                <a:latin typeface="+mn-lt"/>
                <a:ea typeface="+mn-ea"/>
                <a:cs typeface="+mn-cs"/>
              </a:rPr>
              <a:t>- </a:t>
            </a:r>
            <a:r>
              <a:rPr lang="ru-RU" sz="1200" b="1" kern="1200" dirty="0">
                <a:solidFill>
                  <a:schemeClr val="tx1"/>
                </a:solidFill>
                <a:effectLst/>
                <a:latin typeface="+mn-lt"/>
                <a:ea typeface="+mn-ea"/>
                <a:cs typeface="+mn-cs"/>
              </a:rPr>
              <a:t>эффект насыщения</a:t>
            </a:r>
            <a:r>
              <a:rPr lang="ru-RU" sz="1200" kern="1200" dirty="0">
                <a:solidFill>
                  <a:schemeClr val="tx1"/>
                </a:solidFill>
                <a:effectLst/>
                <a:latin typeface="+mn-lt"/>
                <a:ea typeface="+mn-ea"/>
                <a:cs typeface="+mn-cs"/>
              </a:rPr>
              <a:t>. Рост дохода действительно повышает благополучие, но лишь до определённого уровня. После этого предельный эффект дохода на субъективное благополучие становится очень слабым.</a:t>
            </a:r>
          </a:p>
          <a:p>
            <a:br>
              <a:rPr lang="ru-RU" dirty="0"/>
            </a:br>
            <a:endParaRPr lang="ru-RU" dirty="0"/>
          </a:p>
          <a:p>
            <a:r>
              <a:rPr lang="ru-RU" sz="1200" kern="1200" dirty="0">
                <a:solidFill>
                  <a:schemeClr val="tx1"/>
                </a:solidFill>
                <a:effectLst/>
                <a:latin typeface="+mn-lt"/>
                <a:ea typeface="+mn-ea"/>
                <a:cs typeface="+mn-cs"/>
              </a:rPr>
              <a:t>Второй </a:t>
            </a:r>
            <a:r>
              <a:rPr lang="en-GB"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a:t>
            </a:r>
            <a:r>
              <a:rPr lang="ru-RU" sz="1200" b="1" kern="1200" dirty="0">
                <a:solidFill>
                  <a:schemeClr val="tx1"/>
                </a:solidFill>
                <a:effectLst/>
                <a:latin typeface="+mn-lt"/>
                <a:ea typeface="+mn-ea"/>
                <a:cs typeface="+mn-cs"/>
              </a:rPr>
              <a:t>эффект абсолютного изменения доходов</a:t>
            </a:r>
            <a:r>
              <a:rPr lang="ru-RU" sz="1200" kern="1200" dirty="0">
                <a:solidFill>
                  <a:schemeClr val="tx1"/>
                </a:solidFill>
                <a:effectLst/>
                <a:latin typeface="+mn-lt"/>
                <a:ea typeface="+mn-ea"/>
                <a:cs typeface="+mn-cs"/>
              </a:rPr>
              <a:t>. Когда доход растёт у конкретного человека, особенно резко или неожиданно, это временно повышает его удовлетворённость жизнью. Но со временем происходит адаптация, и новый уровень дохода начинает восприниматься как норма.</a:t>
            </a:r>
            <a:br>
              <a:rPr lang="ru-RU" dirty="0"/>
            </a:br>
            <a:endParaRPr lang="ru-RU" dirty="0"/>
          </a:p>
          <a:p>
            <a:r>
              <a:rPr lang="ru-RU" sz="1200" kern="1200" dirty="0">
                <a:solidFill>
                  <a:schemeClr val="tx1"/>
                </a:solidFill>
                <a:effectLst/>
                <a:latin typeface="+mn-lt"/>
                <a:ea typeface="+mn-ea"/>
                <a:cs typeface="+mn-cs"/>
              </a:rPr>
              <a:t>И, наконец, самый важный </a:t>
            </a:r>
            <a:r>
              <a:rPr lang="en-GB" sz="1200"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a:t>
            </a:r>
            <a:r>
              <a:rPr lang="ru-RU" sz="1200" b="1" kern="1200" dirty="0">
                <a:solidFill>
                  <a:schemeClr val="tx1"/>
                </a:solidFill>
                <a:effectLst/>
                <a:latin typeface="+mn-lt"/>
                <a:ea typeface="+mn-ea"/>
                <a:cs typeface="+mn-cs"/>
              </a:rPr>
              <a:t>эффект относительного дохода</a:t>
            </a:r>
            <a:r>
              <a:rPr lang="ru-RU" sz="1200" kern="1200" dirty="0">
                <a:solidFill>
                  <a:schemeClr val="tx1"/>
                </a:solidFill>
                <a:effectLst/>
                <a:latin typeface="+mn-lt"/>
                <a:ea typeface="+mn-ea"/>
                <a:cs typeface="+mn-cs"/>
              </a:rPr>
              <a:t>. Люди оценивают своё благополучие не в абсолютных величинах, а в сравнении с другими: коллегами, соседями, социальной группой.</a:t>
            </a:r>
          </a:p>
          <a:p>
            <a:r>
              <a:rPr lang="ru-RU" sz="1200" kern="1200" dirty="0">
                <a:solidFill>
                  <a:schemeClr val="tx1"/>
                </a:solidFill>
                <a:effectLst/>
                <a:latin typeface="+mn-lt"/>
                <a:ea typeface="+mn-ea"/>
                <a:cs typeface="+mn-cs"/>
              </a:rPr>
              <a:t>Если доходы растут у всех одновременно, относительное положение не меняется - и субъективное благополучие в среднем остаётся прежним.</a:t>
            </a:r>
          </a:p>
        </p:txBody>
      </p:sp>
      <p:sp>
        <p:nvSpPr>
          <p:cNvPr id="4" name="Slide Number Placeholder 3"/>
          <p:cNvSpPr>
            <a:spLocks noGrp="1"/>
          </p:cNvSpPr>
          <p:nvPr>
            <p:ph type="sldNum" sz="quarter" idx="5"/>
          </p:nvPr>
        </p:nvSpPr>
        <p:spPr/>
        <p:txBody>
          <a:bodyPr/>
          <a:lstStyle/>
          <a:p>
            <a:fld id="{6C748903-8EB5-294E-A216-6B54B0368783}" type="slidenum">
              <a:rPr lang="en-RU" smtClean="0"/>
              <a:t>4</a:t>
            </a:fld>
            <a:endParaRPr lang="en-RU"/>
          </a:p>
        </p:txBody>
      </p:sp>
    </p:spTree>
    <p:extLst>
      <p:ext uri="{BB962C8B-B14F-4D97-AF65-F5344CB8AC3E}">
        <p14:creationId xmlns:p14="http://schemas.microsoft.com/office/powerpoint/2010/main" val="706187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1) Блок </a:t>
            </a:r>
            <a:r>
              <a:rPr lang="en-GB" b="1" dirty="0" err="1"/>
              <a:t>Cantril</a:t>
            </a:r>
            <a:r>
              <a:rPr lang="en-GB" b="1" dirty="0"/>
              <a:t> (</a:t>
            </a:r>
            <a:r>
              <a:rPr lang="ru-RU" b="1" dirty="0"/>
              <a:t>1</a:t>
            </a:r>
            <a:r>
              <a:rPr lang="en-GB" b="1" dirty="0"/>
              <a:t>960): 14 </a:t>
            </a:r>
            <a:r>
              <a:rPr lang="ru-RU" b="1" dirty="0"/>
              <a:t>стран</a:t>
            </a:r>
          </a:p>
          <a:p>
            <a:endParaRPr lang="ru-RU" dirty="0"/>
          </a:p>
          <a:p>
            <a:r>
              <a:rPr lang="ru-RU" dirty="0"/>
              <a:t>Это данные из исследования Хэдли </a:t>
            </a:r>
            <a:r>
              <a:rPr lang="ru-RU" dirty="0" err="1"/>
              <a:t>Кэнтрила</a:t>
            </a:r>
            <a:r>
              <a:rPr lang="ru-RU" dirty="0"/>
              <a:t> (</a:t>
            </a:r>
            <a:r>
              <a:rPr lang="en-GB" i="1" dirty="0"/>
              <a:t>Patterns of Human Concerns</a:t>
            </a:r>
            <a:r>
              <a:rPr lang="en-GB" dirty="0"/>
              <a:t>, 1965) </a:t>
            </a:r>
            <a:r>
              <a:rPr lang="ru-RU" dirty="0"/>
              <a:t>с </a:t>
            </a:r>
            <a:r>
              <a:rPr lang="ru-RU" b="1" dirty="0"/>
              <a:t>лестницей 0–10</a:t>
            </a:r>
            <a:r>
              <a:rPr lang="ru-RU" dirty="0"/>
              <a:t> (оценка “личного счастья/удовлетворенности”). В таблице у </a:t>
            </a:r>
            <a:r>
              <a:rPr lang="ru-RU" dirty="0" err="1"/>
              <a:t>Истерлина</a:t>
            </a:r>
            <a:r>
              <a:rPr lang="ru-RU" dirty="0"/>
              <a:t> перечислены:</a:t>
            </a:r>
          </a:p>
          <a:p>
            <a:r>
              <a:rPr lang="ru-RU" b="1" dirty="0"/>
              <a:t>США, Куба, Египет, Израиль, Западная Германия, Япония, Югославия, Филиппины, Панама, Нигерия, Бразилия, Польша, Индия, Доминиканская Республика.</a:t>
            </a:r>
            <a:r>
              <a:rPr lang="ru-RU" dirty="0"/>
              <a:t>  </a:t>
            </a:r>
          </a:p>
          <a:p>
            <a:br>
              <a:rPr lang="ru-RU" dirty="0"/>
            </a:br>
            <a:endParaRPr lang="ru-RU" dirty="0"/>
          </a:p>
          <a:p>
            <a:r>
              <a:rPr lang="ru-RU" b="1" dirty="0"/>
              <a:t>2) Блок </a:t>
            </a:r>
            <a:r>
              <a:rPr lang="en-GB" b="1" dirty="0"/>
              <a:t>World Survey III (1965): 9 </a:t>
            </a:r>
            <a:r>
              <a:rPr lang="ru-RU" b="1" dirty="0"/>
              <a:t>стран</a:t>
            </a:r>
          </a:p>
          <a:p>
            <a:endParaRPr lang="ru-RU" dirty="0"/>
          </a:p>
          <a:p>
            <a:r>
              <a:rPr lang="ru-RU" dirty="0"/>
              <a:t>Это “</a:t>
            </a:r>
            <a:r>
              <a:rPr lang="ru-RU" dirty="0" err="1"/>
              <a:t>галлаповский</a:t>
            </a:r>
            <a:r>
              <a:rPr lang="ru-RU" dirty="0"/>
              <a:t>” формат: доли </a:t>
            </a:r>
            <a:r>
              <a:rPr lang="en-GB" b="1" dirty="0"/>
              <a:t>very happy / fairly happy / not very happy</a:t>
            </a:r>
            <a:r>
              <a:rPr lang="en-GB" dirty="0"/>
              <a:t> (</a:t>
            </a:r>
            <a:r>
              <a:rPr lang="ru-RU" dirty="0"/>
              <a:t>в 1965 г. один и тот же вопрос в нескольких странах). В таблице:</a:t>
            </a:r>
          </a:p>
          <a:p>
            <a:r>
              <a:rPr lang="ru-RU" b="1" dirty="0"/>
              <a:t>Великобритания, США, Западная Германия, Таиланд, Япония, Филиппины, Малайзия, Франция, Италия.</a:t>
            </a:r>
            <a:r>
              <a:rPr lang="ru-RU" dirty="0"/>
              <a:t> </a:t>
            </a:r>
          </a:p>
          <a:p>
            <a:endParaRPr lang="en-RU" dirty="0"/>
          </a:p>
        </p:txBody>
      </p:sp>
      <p:sp>
        <p:nvSpPr>
          <p:cNvPr id="4" name="Slide Number Placeholder 3"/>
          <p:cNvSpPr>
            <a:spLocks noGrp="1"/>
          </p:cNvSpPr>
          <p:nvPr>
            <p:ph type="sldNum" sz="quarter" idx="5"/>
          </p:nvPr>
        </p:nvSpPr>
        <p:spPr/>
        <p:txBody>
          <a:bodyPr/>
          <a:lstStyle/>
          <a:p>
            <a:fld id="{6C748903-8EB5-294E-A216-6B54B0368783}" type="slidenum">
              <a:rPr lang="en-RU" smtClean="0"/>
              <a:t>5</a:t>
            </a:fld>
            <a:endParaRPr lang="en-RU"/>
          </a:p>
        </p:txBody>
      </p:sp>
    </p:spTree>
    <p:extLst>
      <p:ext uri="{BB962C8B-B14F-4D97-AF65-F5344CB8AC3E}">
        <p14:creationId xmlns:p14="http://schemas.microsoft.com/office/powerpoint/2010/main" val="3762230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6C748903-8EB5-294E-A216-6B54B0368783}" type="slidenum">
              <a:rPr lang="en-RU" smtClean="0"/>
              <a:t>6</a:t>
            </a:fld>
            <a:endParaRPr lang="en-RU"/>
          </a:p>
        </p:txBody>
      </p:sp>
    </p:spTree>
    <p:extLst>
      <p:ext uri="{BB962C8B-B14F-4D97-AF65-F5344CB8AC3E}">
        <p14:creationId xmlns:p14="http://schemas.microsoft.com/office/powerpoint/2010/main" val="1999319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Мы только что обсуждали счастье и доход: это пример того, как экономисты пытаются говорить о субъективных вещах на языке данных.</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Но в стандартной микроэкономике мы обычно не моделируем “счастье” напрямую. Мы делаем шаг в сторону и вводим </a:t>
            </a:r>
            <a:r>
              <a:rPr lang="ru-RU" sz="1200" b="1" kern="1200" dirty="0">
                <a:solidFill>
                  <a:schemeClr val="tx1"/>
                </a:solidFill>
                <a:effectLst/>
                <a:latin typeface="+mn-lt"/>
                <a:ea typeface="+mn-ea"/>
                <a:cs typeface="+mn-cs"/>
              </a:rPr>
              <a:t>полезность</a:t>
            </a:r>
            <a:r>
              <a:rPr lang="ru-RU" sz="1200" kern="1200" dirty="0">
                <a:solidFill>
                  <a:schemeClr val="tx1"/>
                </a:solidFill>
                <a:effectLst/>
                <a:latin typeface="+mn-lt"/>
                <a:ea typeface="+mn-ea"/>
                <a:cs typeface="+mn-cs"/>
              </a:rPr>
              <a:t> — абстрактную величину, которая отражает, насколько человеку ценны разные наборы благ.</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Дальше мы вводим </a:t>
            </a:r>
            <a:r>
              <a:rPr lang="ru-RU" sz="1200" b="1" kern="1200" dirty="0">
                <a:solidFill>
                  <a:schemeClr val="tx1"/>
                </a:solidFill>
                <a:effectLst/>
                <a:latin typeface="+mn-lt"/>
                <a:ea typeface="+mn-ea"/>
                <a:cs typeface="+mn-cs"/>
              </a:rPr>
              <a:t>потребителя</a:t>
            </a:r>
            <a:r>
              <a:rPr lang="ru-RU" sz="1200" kern="1200" dirty="0">
                <a:solidFill>
                  <a:schemeClr val="tx1"/>
                </a:solidFill>
                <a:effectLst/>
                <a:latin typeface="+mn-lt"/>
                <a:ea typeface="+mn-ea"/>
                <a:cs typeface="+mn-cs"/>
              </a:rPr>
              <a:t> как агента, который распределяет бюджет так, чтобы максимизировать полезность. Это не психология, а математическая модель выбора.</a:t>
            </a:r>
          </a:p>
          <a:p>
            <a:r>
              <a:rPr lang="ru-RU" sz="1200" kern="1200" dirty="0">
                <a:solidFill>
                  <a:schemeClr val="tx1"/>
                </a:solidFill>
                <a:effectLst/>
                <a:latin typeface="+mn-lt"/>
                <a:ea typeface="+mn-ea"/>
                <a:cs typeface="+mn-cs"/>
              </a:rPr>
              <a:t>И как только у нас есть полезность, возникает ключевой вопрос: </a:t>
            </a:r>
            <a:r>
              <a:rPr lang="ru-RU" sz="1200" b="1" kern="1200" dirty="0">
                <a:solidFill>
                  <a:schemeClr val="tx1"/>
                </a:solidFill>
                <a:effectLst/>
                <a:latin typeface="+mn-lt"/>
                <a:ea typeface="+mn-ea"/>
                <a:cs typeface="+mn-cs"/>
              </a:rPr>
              <a:t>как меняется полезность, когда мы потребляем больше одного и того же блага</a:t>
            </a:r>
          </a:p>
          <a:p>
            <a:r>
              <a:rPr lang="ru-RU" sz="1200" b="1" kern="1200" dirty="0">
                <a:solidFill>
                  <a:schemeClr val="tx1"/>
                </a:solidFill>
                <a:effectLst/>
                <a:latin typeface="+mn-lt"/>
                <a:ea typeface="+mn-ea"/>
                <a:cs typeface="+mn-cs"/>
              </a:rPr>
              <a:t>?</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Вот здесь и появляется </a:t>
            </a:r>
            <a:r>
              <a:rPr lang="ru-RU" sz="1200" b="1" kern="1200" dirty="0">
                <a:solidFill>
                  <a:schemeClr val="tx1"/>
                </a:solidFill>
                <a:effectLst/>
                <a:latin typeface="+mn-lt"/>
                <a:ea typeface="+mn-ea"/>
                <a:cs typeface="+mn-cs"/>
              </a:rPr>
              <a:t>первый закон </a:t>
            </a:r>
            <a:r>
              <a:rPr lang="ru-RU" sz="1200" b="1" kern="1200" dirty="0" err="1">
                <a:solidFill>
                  <a:schemeClr val="tx1"/>
                </a:solidFill>
                <a:effectLst/>
                <a:latin typeface="+mn-lt"/>
                <a:ea typeface="+mn-ea"/>
                <a:cs typeface="+mn-cs"/>
              </a:rPr>
              <a:t>Госсена</a:t>
            </a:r>
            <a:r>
              <a:rPr lang="ru-RU" sz="1200" kern="1200" dirty="0">
                <a:solidFill>
                  <a:schemeClr val="tx1"/>
                </a:solidFill>
                <a:effectLst/>
                <a:latin typeface="+mn-lt"/>
                <a:ea typeface="+mn-ea"/>
                <a:cs typeface="+mn-cs"/>
              </a:rPr>
              <a:t> - закон убывающей предельной полезности.</a:t>
            </a:r>
          </a:p>
        </p:txBody>
      </p:sp>
      <p:sp>
        <p:nvSpPr>
          <p:cNvPr id="4" name="Номер слайда 3"/>
          <p:cNvSpPr>
            <a:spLocks noGrp="1"/>
          </p:cNvSpPr>
          <p:nvPr>
            <p:ph type="sldNum" sz="quarter" idx="5"/>
          </p:nvPr>
        </p:nvSpPr>
        <p:spPr/>
        <p:txBody>
          <a:bodyPr/>
          <a:lstStyle/>
          <a:p>
            <a:fld id="{5F97F531-B5A6-42DE-B5BD-681553C52BD5}" type="slidenum">
              <a:rPr lang="ru-RU" smtClean="0"/>
              <a:t>7</a:t>
            </a:fld>
            <a:endParaRPr lang="ru-RU"/>
          </a:p>
        </p:txBody>
      </p:sp>
    </p:spTree>
    <p:extLst>
      <p:ext uri="{BB962C8B-B14F-4D97-AF65-F5344CB8AC3E}">
        <p14:creationId xmlns:p14="http://schemas.microsoft.com/office/powerpoint/2010/main" val="1944022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6C748903-8EB5-294E-A216-6B54B0368783}" type="slidenum">
              <a:rPr lang="en-RU" smtClean="0"/>
              <a:t>11</a:t>
            </a:fld>
            <a:endParaRPr lang="en-RU"/>
          </a:p>
        </p:txBody>
      </p:sp>
    </p:spTree>
    <p:extLst>
      <p:ext uri="{BB962C8B-B14F-4D97-AF65-F5344CB8AC3E}">
        <p14:creationId xmlns:p14="http://schemas.microsoft.com/office/powerpoint/2010/main" val="457790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6C748903-8EB5-294E-A216-6B54B0368783}" type="slidenum">
              <a:rPr lang="en-RU" smtClean="0"/>
              <a:t>13</a:t>
            </a:fld>
            <a:endParaRPr lang="en-RU"/>
          </a:p>
        </p:txBody>
      </p:sp>
    </p:spTree>
    <p:extLst>
      <p:ext uri="{BB962C8B-B14F-4D97-AF65-F5344CB8AC3E}">
        <p14:creationId xmlns:p14="http://schemas.microsoft.com/office/powerpoint/2010/main" val="9861021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ru-RU" sz="4400" dirty="0">
                <a:solidFill>
                  <a:srgbClr val="102D69"/>
                </a:solidFill>
                <a:latin typeface="HSE Sans" panose="02000000000000000000" pitchFamily="2" charset="0"/>
              </a:rPr>
              <a:t>Название презентации</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может быть набрано в две </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или три строки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ru-RU" dirty="0">
                <a:latin typeface="HSE Sans" panose="02000000000000000000" pitchFamily="2" charset="0"/>
              </a:rPr>
              <a:t>Название факультета</a:t>
            </a:r>
            <a:br>
              <a:rPr lang="ru-RU" dirty="0">
                <a:latin typeface="HSE Sans" panose="02000000000000000000" pitchFamily="2" charset="0"/>
              </a:rPr>
            </a:br>
            <a:r>
              <a:rPr lang="ru-RU" dirty="0">
                <a:latin typeface="HSE Sans" panose="02000000000000000000" pitchFamily="2" charset="0"/>
              </a:rPr>
              <a:t>в две строки</a:t>
            </a:r>
            <a:r>
              <a:rPr lang="en-GB" dirty="0">
                <a:latin typeface="HSE Sans" panose="02000000000000000000" pitchFamily="2" charset="0"/>
              </a:rPr>
              <a:t> (16 </a:t>
            </a:r>
            <a:r>
              <a:rPr lang="en-GB" dirty="0" err="1">
                <a:latin typeface="HSE Sans" panose="02000000000000000000" pitchFamily="2" charset="0"/>
              </a:rPr>
              <a:t>pt</a:t>
            </a:r>
            <a:r>
              <a:rPr lang="en-GB" dirty="0">
                <a:latin typeface="HSE Sans" panose="02000000000000000000" pitchFamily="2" charset="0"/>
              </a:rPr>
              <a:t>)</a:t>
            </a:r>
            <a:endParaRPr lang="ru-RU"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Название подразделения</a:t>
            </a:r>
            <a:br>
              <a:rPr lang="ru-RU" sz="1200" dirty="0">
                <a:latin typeface="HSE Sans" panose="02000000000000000000" pitchFamily="2" charset="0"/>
              </a:rPr>
            </a:br>
            <a:r>
              <a:rPr lang="ru-RU" sz="1200" dirty="0">
                <a:latin typeface="HSE Sans" panose="02000000000000000000" pitchFamily="2" charset="0"/>
              </a:rPr>
              <a:t>в две или три строки</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Москва</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600" dirty="0">
                <a:latin typeface="HSE Sans" panose="02000000000000000000" pitchFamily="2" charset="0"/>
              </a:rPr>
              <a:t>Если нужно больше места, то используйте подзаголовок</a:t>
            </a:r>
            <a:r>
              <a:rPr lang="en-GB" sz="1600" dirty="0">
                <a:latin typeface="HSE Sans" panose="02000000000000000000" pitchFamily="2" charset="0"/>
              </a:rPr>
              <a:t>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2800" dirty="0">
                <a:solidFill>
                  <a:schemeClr val="tx1"/>
                </a:solidFill>
                <a:latin typeface="HSE Sans" panose="02000000000000000000" pitchFamily="2" charset="0"/>
              </a:rPr>
              <a:t>Чтобы слайд не выглядел пустым, сюда можно поставить иллюстрацию или фотографию</a:t>
            </a:r>
            <a:endParaRPr lang="en-RU" sz="280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5026DBD8-54A3-1446-9D3B-BA2B38460F1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lang="ru-RU" sz="1300" dirty="0">
                <a:latin typeface="HSE Sans" panose="02000000000000000000" pitchFamily="2" charset="0"/>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C2D710AE-3CBE-5940-A7EB-F96132E6592D}"/>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3200" dirty="0">
                <a:solidFill>
                  <a:srgbClr val="102D69"/>
                </a:solidFill>
                <a:latin typeface="HSE Sans" panose="02000000000000000000" pitchFamily="2" charset="0"/>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endParaRPr lang="ru-RU" dirty="0"/>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A9BD5ADD-B3F2-C342-82F7-83683F040D2F}"/>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p:spPr>
        <p:txBody>
          <a:bodyPr/>
          <a:lstStyle/>
          <a:p>
            <a:endParaRPr lang="ru-RU"/>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3E0AB43B-5E98-6042-A282-C61E0C5A37B9}"/>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графика. Обратите внимание, что название графика набирается меньшим кеглем, чем заголовок</a:t>
            </a:r>
            <a:r>
              <a:rPr lang="en-GB" sz="1600" dirty="0">
                <a:solidFill>
                  <a:srgbClr val="102D69"/>
                </a:solidFill>
                <a:latin typeface="HSE Sans" panose="02000000000000000000" pitchFamily="2" charset="0"/>
              </a:rPr>
              <a:t> (16pt)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a:extLst>
              <a:ext uri="{FF2B5EF4-FFF2-40B4-BE49-F238E27FC236}">
                <a16:creationId xmlns:a16="http://schemas.microsoft.com/office/drawing/2014/main" id="{D9986185-6D5E-FD48-A5CA-AF2D5B58A3E7}"/>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a:extLst>
              <a:ext uri="{FF2B5EF4-FFF2-40B4-BE49-F238E27FC236}">
                <a16:creationId xmlns:a16="http://schemas.microsoft.com/office/drawing/2014/main" id="{6EC59AAD-5962-8D49-BF4D-7DA5D573073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p:spPr>
        <p:txBody>
          <a:bodyPr/>
          <a:lstStyle/>
          <a:p>
            <a:endParaRPr lang="ru-RU"/>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44D0326E-FD7A-3541-A998-62A1C30E2738}"/>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9C21DFE9-C3B2-C54E-9275-7776355F736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Дополнительная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9856D01B-EC9A-6047-B7FB-D47084AB3F5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234703-C735-5D41-99C2-019C7EBECCF4}"/>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2" name="Picture 1">
            <a:extLst>
              <a:ext uri="{FF2B5EF4-FFF2-40B4-BE49-F238E27FC236}">
                <a16:creationId xmlns:a16="http://schemas.microsoft.com/office/drawing/2014/main" id="{682F59B5-E815-AE43-BAE2-FA594BB42C02}"/>
              </a:ext>
            </a:extLst>
          </p:cNvPr>
          <p:cNvPicPr>
            <a:picLocks noChangeAspect="1"/>
          </p:cNvPicPr>
          <p:nvPr userDrawn="1"/>
        </p:nvPicPr>
        <p:blipFill>
          <a:blip r:embed="rId3"/>
          <a:srcRect/>
          <a:stretch/>
        </p:blipFill>
        <p:spPr>
          <a:xfrm>
            <a:off x="5310809" y="2643809"/>
            <a:ext cx="1570383" cy="1570383"/>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63DFB-8595-A44B-9F09-A50FA310E559}" type="datetimeFigureOut">
              <a:rPr lang="en-RU" smtClean="0"/>
              <a:t>30.01.2026</a:t>
            </a:fld>
            <a:endParaRPr lang="en-RU"/>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0F133-126C-5944-A0E4-6A9616EDC0DA}" type="slidenum">
              <a:rPr lang="en-RU" smtClean="0"/>
              <a:t>‹#›</a:t>
            </a:fld>
            <a:endParaRPr lang="en-RU"/>
          </a:p>
        </p:txBody>
      </p:sp>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p:txBody>
          <a:bodyPr/>
          <a:lstStyle/>
          <a:p>
            <a:r>
              <a:rPr lang="ru-RU" dirty="0"/>
              <a:t>НИУ ВШЭ</a:t>
            </a:r>
          </a:p>
        </p:txBody>
      </p:sp>
      <p:sp>
        <p:nvSpPr>
          <p:cNvPr id="4" name="Текст 3">
            <a:extLst>
              <a:ext uri="{FF2B5EF4-FFF2-40B4-BE49-F238E27FC236}">
                <a16:creationId xmlns:a16="http://schemas.microsoft.com/office/drawing/2014/main" id="{DB8D49EC-434A-5443-AC3F-85F01995E632}"/>
              </a:ext>
            </a:extLst>
          </p:cNvPr>
          <p:cNvSpPr>
            <a:spLocks noGrp="1"/>
          </p:cNvSpPr>
          <p:nvPr>
            <p:ph type="body" sz="quarter" idx="11"/>
          </p:nvPr>
        </p:nvSpPr>
        <p:spPr/>
        <p:txBody>
          <a:bodyPr/>
          <a:lstStyle/>
          <a:p>
            <a:r>
              <a:rPr lang="ru-RU" dirty="0"/>
              <a:t>Факультет экономических наук</a:t>
            </a:r>
          </a:p>
        </p:txBody>
      </p:sp>
      <p:sp>
        <p:nvSpPr>
          <p:cNvPr id="5" name="Текст 4">
            <a:extLst>
              <a:ext uri="{FF2B5EF4-FFF2-40B4-BE49-F238E27FC236}">
                <a16:creationId xmlns:a16="http://schemas.microsoft.com/office/drawing/2014/main" id="{C6FAE0FA-3CAF-BA4B-8F9F-5FEF3C2F3CC6}"/>
              </a:ext>
            </a:extLst>
          </p:cNvPr>
          <p:cNvSpPr>
            <a:spLocks noGrp="1"/>
          </p:cNvSpPr>
          <p:nvPr>
            <p:ph type="body" idx="12"/>
          </p:nvPr>
        </p:nvSpPr>
        <p:spPr/>
        <p:txBody>
          <a:bodyPr/>
          <a:lstStyle/>
          <a:p>
            <a:r>
              <a:rPr lang="ru-RU" dirty="0"/>
              <a:t>Москва 2026</a:t>
            </a:r>
          </a:p>
          <a:p>
            <a:endParaRPr lang="ru-RU" dirty="0"/>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sz="quarter" idx="13"/>
          </p:nvPr>
        </p:nvSpPr>
        <p:spPr/>
        <p:txBody>
          <a:bodyPr/>
          <a:lstStyle/>
          <a:p>
            <a:r>
              <a:rPr lang="ru-RU" dirty="0"/>
              <a:t>Приглашенный преподаватель Департамента теоретической экономики</a:t>
            </a:r>
          </a:p>
          <a:p>
            <a:r>
              <a:rPr lang="ru-RU" dirty="0"/>
              <a:t>Иванова Анна Павловна</a:t>
            </a:r>
          </a:p>
        </p:txBody>
      </p:sp>
      <p:sp>
        <p:nvSpPr>
          <p:cNvPr id="10" name="Заголовок 1">
            <a:extLst>
              <a:ext uri="{FF2B5EF4-FFF2-40B4-BE49-F238E27FC236}">
                <a16:creationId xmlns:a16="http://schemas.microsoft.com/office/drawing/2014/main" id="{FFF655C3-1516-8C30-647E-E73B097F7339}"/>
              </a:ext>
            </a:extLst>
          </p:cNvPr>
          <p:cNvSpPr>
            <a:spLocks noGrp="1"/>
          </p:cNvSpPr>
          <p:nvPr>
            <p:ph type="title"/>
          </p:nvPr>
        </p:nvSpPr>
        <p:spPr>
          <a:xfrm>
            <a:off x="1027967" y="2365596"/>
            <a:ext cx="9976491" cy="1978323"/>
          </a:xfrm>
        </p:spPr>
        <p:txBody>
          <a:bodyPr/>
          <a:lstStyle/>
          <a:p>
            <a:r>
              <a:rPr lang="ru-RU" dirty="0"/>
              <a:t>ДОЦ «Экономика»</a:t>
            </a:r>
            <a:br>
              <a:rPr lang="ru-RU" dirty="0"/>
            </a:br>
            <a:br>
              <a:rPr lang="ru-RU" dirty="0"/>
            </a:br>
            <a:r>
              <a:rPr lang="ru-RU" sz="3200" b="1" i="1" dirty="0"/>
              <a:t>Семинар 2.1 Индивид и счастье</a:t>
            </a:r>
          </a:p>
        </p:txBody>
      </p:sp>
    </p:spTree>
    <p:extLst>
      <p:ext uri="{BB962C8B-B14F-4D97-AF65-F5344CB8AC3E}">
        <p14:creationId xmlns:p14="http://schemas.microsoft.com/office/powerpoint/2010/main" val="3979374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15D36FE8-E171-2E48-B420-96D89B5C0C7A}"/>
              </a:ext>
            </a:extLst>
          </p:cNvPr>
          <p:cNvSpPr txBox="1"/>
          <p:nvPr/>
        </p:nvSpPr>
        <p:spPr>
          <a:xfrm>
            <a:off x="0" y="2866134"/>
            <a:ext cx="12192000" cy="1323439"/>
          </a:xfrm>
          <a:prstGeom prst="rect">
            <a:avLst/>
          </a:prstGeom>
          <a:noFill/>
        </p:spPr>
        <p:txBody>
          <a:bodyPr wrap="square" rtlCol="0">
            <a:spAutoFit/>
          </a:bodyPr>
          <a:lstStyle/>
          <a:p>
            <a:pPr algn="ctr"/>
            <a:r>
              <a:rPr lang="ru-RU" sz="8000" b="1" dirty="0">
                <a:latin typeface="HSE Sans" panose="02000000000000000000" pitchFamily="2" charset="0"/>
              </a:rPr>
              <a:t>Что такое счастье?</a:t>
            </a:r>
          </a:p>
        </p:txBody>
      </p:sp>
    </p:spTree>
    <p:extLst>
      <p:ext uri="{BB962C8B-B14F-4D97-AF65-F5344CB8AC3E}">
        <p14:creationId xmlns:p14="http://schemas.microsoft.com/office/powerpoint/2010/main" val="196480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699381" cy="408109"/>
          </a:xfrm>
        </p:spPr>
        <p:txBody>
          <a:bodyPr/>
          <a:lstStyle/>
          <a:p>
            <a:r>
              <a:rPr lang="ru-RU" dirty="0"/>
              <a:t>Москва 2024</a:t>
            </a:r>
          </a:p>
        </p:txBody>
      </p:sp>
      <p:sp>
        <p:nvSpPr>
          <p:cNvPr id="8" name="TextBox 7">
            <a:extLst>
              <a:ext uri="{FF2B5EF4-FFF2-40B4-BE49-F238E27FC236}">
                <a16:creationId xmlns:a16="http://schemas.microsoft.com/office/drawing/2014/main" id="{81403201-7765-95FA-AD20-CC0BA076403A}"/>
              </a:ext>
            </a:extLst>
          </p:cNvPr>
          <p:cNvSpPr txBox="1"/>
          <p:nvPr/>
        </p:nvSpPr>
        <p:spPr>
          <a:xfrm>
            <a:off x="3672177" y="5399479"/>
            <a:ext cx="6875962" cy="646331"/>
          </a:xfrm>
          <a:prstGeom prst="rect">
            <a:avLst/>
          </a:prstGeom>
          <a:noFill/>
        </p:spPr>
        <p:txBody>
          <a:bodyPr wrap="square">
            <a:spAutoFit/>
          </a:bodyPr>
          <a:lstStyle/>
          <a:p>
            <a:r>
              <a:rPr lang="ru-RU" sz="1200" dirty="0">
                <a:solidFill>
                  <a:srgbClr val="0E2D69"/>
                </a:solidFill>
              </a:rPr>
              <a:t>«Улучшает ли экономический рост жизнь людей?» Ричард </a:t>
            </a:r>
            <a:r>
              <a:rPr lang="ru-RU" sz="1200" dirty="0" err="1">
                <a:solidFill>
                  <a:srgbClr val="0E2D69"/>
                </a:solidFill>
              </a:rPr>
              <a:t>Истерлин</a:t>
            </a:r>
            <a:r>
              <a:rPr lang="en-US" sz="1200" dirty="0">
                <a:solidFill>
                  <a:srgbClr val="0E2D69"/>
                </a:solidFill>
              </a:rPr>
              <a:t>in Paul A. David and Melvin W. </a:t>
            </a:r>
            <a:r>
              <a:rPr lang="en-US" sz="1200" dirty="0" err="1">
                <a:solidFill>
                  <a:srgbClr val="0E2D69"/>
                </a:solidFill>
              </a:rPr>
              <a:t>Reder</a:t>
            </a:r>
            <a:r>
              <a:rPr lang="en-US" sz="1200" dirty="0">
                <a:solidFill>
                  <a:srgbClr val="0E2D69"/>
                </a:solidFill>
              </a:rPr>
              <a:t>, eds., Nations and Households in Economic Growth: Essays in Honor of Moses </a:t>
            </a:r>
            <a:r>
              <a:rPr lang="en-US" sz="1200" dirty="0" err="1">
                <a:solidFill>
                  <a:srgbClr val="0E2D69"/>
                </a:solidFill>
              </a:rPr>
              <a:t>Abramovitz</a:t>
            </a:r>
            <a:r>
              <a:rPr lang="en-US" sz="1200" dirty="0">
                <a:solidFill>
                  <a:srgbClr val="0E2D69"/>
                </a:solidFill>
              </a:rPr>
              <a:t>, New York: Academic Press, Inc., 1974.</a:t>
            </a:r>
            <a:endParaRPr lang="ru-RU" sz="1200" dirty="0">
              <a:solidFill>
                <a:srgbClr val="0E2D69"/>
              </a:solidFill>
            </a:endParaRPr>
          </a:p>
        </p:txBody>
      </p:sp>
      <p:pic>
        <p:nvPicPr>
          <p:cNvPr id="10" name="Рисунок 9">
            <a:extLst>
              <a:ext uri="{FF2B5EF4-FFF2-40B4-BE49-F238E27FC236}">
                <a16:creationId xmlns:a16="http://schemas.microsoft.com/office/drawing/2014/main" id="{631088CB-5AB7-0C1A-77EF-16E4C64C03C5}"/>
              </a:ext>
            </a:extLst>
          </p:cNvPr>
          <p:cNvPicPr>
            <a:picLocks noChangeAspect="1"/>
          </p:cNvPicPr>
          <p:nvPr/>
        </p:nvPicPr>
        <p:blipFill>
          <a:blip r:embed="rId2"/>
          <a:stretch>
            <a:fillRect/>
          </a:stretch>
        </p:blipFill>
        <p:spPr>
          <a:xfrm>
            <a:off x="634823" y="1294767"/>
            <a:ext cx="2731478" cy="4035504"/>
          </a:xfrm>
          <a:prstGeom prst="rect">
            <a:avLst/>
          </a:prstGeom>
        </p:spPr>
      </p:pic>
      <p:sp>
        <p:nvSpPr>
          <p:cNvPr id="14" name="TextBox 13">
            <a:extLst>
              <a:ext uri="{FF2B5EF4-FFF2-40B4-BE49-F238E27FC236}">
                <a16:creationId xmlns:a16="http://schemas.microsoft.com/office/drawing/2014/main" id="{084E5161-258F-A016-7448-A3D386C517ED}"/>
              </a:ext>
            </a:extLst>
          </p:cNvPr>
          <p:cNvSpPr txBox="1"/>
          <p:nvPr/>
        </p:nvSpPr>
        <p:spPr>
          <a:xfrm>
            <a:off x="4041814" y="2158357"/>
            <a:ext cx="7515363" cy="2308324"/>
          </a:xfrm>
          <a:prstGeom prst="rect">
            <a:avLst/>
          </a:prstGeom>
          <a:noFill/>
        </p:spPr>
        <p:txBody>
          <a:bodyPr wrap="square">
            <a:spAutoFit/>
          </a:bodyPr>
          <a:lstStyle/>
          <a:p>
            <a:r>
              <a:rPr lang="ru-RU" sz="3600" b="1" i="1" dirty="0">
                <a:solidFill>
                  <a:srgbClr val="0E2D69"/>
                </a:solidFill>
              </a:rPr>
              <a:t>«</a:t>
            </a:r>
            <a:r>
              <a:rPr lang="ru-RU" sz="3600" b="1" dirty="0">
                <a:solidFill>
                  <a:srgbClr val="0E2D69"/>
                </a:solidFill>
              </a:rPr>
              <a:t>ПАРАДОКС ИСТЕРЛИНА:</a:t>
            </a:r>
            <a:r>
              <a:rPr lang="ru-RU" sz="3600" b="1" i="1" dirty="0">
                <a:solidFill>
                  <a:srgbClr val="0E2D69"/>
                </a:solidFill>
              </a:rPr>
              <a:t> рост абсолютного дохода не приводит к увеличению удовлетворенности жизнью в долгосрочном периоде. </a:t>
            </a:r>
          </a:p>
        </p:txBody>
      </p:sp>
      <p:pic>
        <p:nvPicPr>
          <p:cNvPr id="18" name="Рисунок 17">
            <a:extLst>
              <a:ext uri="{FF2B5EF4-FFF2-40B4-BE49-F238E27FC236}">
                <a16:creationId xmlns:a16="http://schemas.microsoft.com/office/drawing/2014/main" id="{D3E05347-36EE-89FD-9190-8C1E8A30D22C}"/>
              </a:ext>
            </a:extLst>
          </p:cNvPr>
          <p:cNvPicPr>
            <a:picLocks noChangeAspect="1"/>
          </p:cNvPicPr>
          <p:nvPr/>
        </p:nvPicPr>
        <p:blipFill>
          <a:blip r:embed="rId3"/>
          <a:stretch>
            <a:fillRect/>
          </a:stretch>
        </p:blipFill>
        <p:spPr>
          <a:xfrm>
            <a:off x="10953131" y="5234907"/>
            <a:ext cx="975474" cy="975474"/>
          </a:xfrm>
          <a:prstGeom prst="rect">
            <a:avLst/>
          </a:prstGeom>
        </p:spPr>
      </p:pic>
      <p:sp>
        <p:nvSpPr>
          <p:cNvPr id="22" name="TextBox 21">
            <a:extLst>
              <a:ext uri="{FF2B5EF4-FFF2-40B4-BE49-F238E27FC236}">
                <a16:creationId xmlns:a16="http://schemas.microsoft.com/office/drawing/2014/main" id="{6118C3D9-3FD0-0FDD-1EE5-E25C95E03DAC}"/>
              </a:ext>
            </a:extLst>
          </p:cNvPr>
          <p:cNvSpPr txBox="1"/>
          <p:nvPr/>
        </p:nvSpPr>
        <p:spPr>
          <a:xfrm>
            <a:off x="263395" y="5458413"/>
            <a:ext cx="2996314" cy="954107"/>
          </a:xfrm>
          <a:prstGeom prst="rect">
            <a:avLst/>
          </a:prstGeom>
          <a:noFill/>
        </p:spPr>
        <p:txBody>
          <a:bodyPr wrap="square">
            <a:spAutoFit/>
          </a:bodyPr>
          <a:lstStyle/>
          <a:p>
            <a:pPr algn="ctr"/>
            <a:r>
              <a:rPr lang="ru-RU" sz="1400" b="1" dirty="0">
                <a:solidFill>
                  <a:srgbClr val="0E2D69"/>
                </a:solidFill>
              </a:rPr>
              <a:t>Ричард </a:t>
            </a:r>
            <a:r>
              <a:rPr lang="ru-RU" sz="1400" b="1" dirty="0" err="1">
                <a:solidFill>
                  <a:srgbClr val="0E2D69"/>
                </a:solidFill>
              </a:rPr>
              <a:t>Эйнли</a:t>
            </a:r>
            <a:r>
              <a:rPr lang="ru-RU" sz="1400" b="1" dirty="0">
                <a:solidFill>
                  <a:srgbClr val="0E2D69"/>
                </a:solidFill>
              </a:rPr>
              <a:t> </a:t>
            </a:r>
            <a:r>
              <a:rPr lang="ru-RU" sz="1400" b="1" dirty="0" err="1">
                <a:solidFill>
                  <a:srgbClr val="0E2D69"/>
                </a:solidFill>
              </a:rPr>
              <a:t>Истерлин</a:t>
            </a:r>
            <a:r>
              <a:rPr lang="ru-RU" sz="1400" b="1" dirty="0">
                <a:solidFill>
                  <a:srgbClr val="0E2D69"/>
                </a:solidFill>
              </a:rPr>
              <a:t> </a:t>
            </a:r>
            <a:r>
              <a:rPr lang="ru-RU" sz="1400" dirty="0">
                <a:solidFill>
                  <a:srgbClr val="0E2D69"/>
                </a:solidFill>
              </a:rPr>
              <a:t>— американский экономист, профессор экономики в Университете Южной Калифорнии.</a:t>
            </a:r>
          </a:p>
        </p:txBody>
      </p:sp>
    </p:spTree>
    <p:extLst>
      <p:ext uri="{BB962C8B-B14F-4D97-AF65-F5344CB8AC3E}">
        <p14:creationId xmlns:p14="http://schemas.microsoft.com/office/powerpoint/2010/main" val="2104041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0A6AE-8579-38EB-4262-74C545BF13F1}"/>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BB4462AE-BF33-C56E-6021-8334762A619D}"/>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324F6392-13B5-3F8E-3177-0795C99AEC2B}"/>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F91DF839-645C-A4BA-C335-A74AF97350D6}"/>
              </a:ext>
            </a:extLst>
          </p:cNvPr>
          <p:cNvSpPr>
            <a:spLocks noGrp="1"/>
          </p:cNvSpPr>
          <p:nvPr>
            <p:ph type="body" sz="quarter" idx="15"/>
          </p:nvPr>
        </p:nvSpPr>
        <p:spPr>
          <a:xfrm>
            <a:off x="6259891" y="548720"/>
            <a:ext cx="2699381" cy="408109"/>
          </a:xfrm>
        </p:spPr>
        <p:txBody>
          <a:bodyPr/>
          <a:lstStyle/>
          <a:p>
            <a:r>
              <a:rPr lang="ru-RU" dirty="0"/>
              <a:t>Москва 2024</a:t>
            </a:r>
          </a:p>
        </p:txBody>
      </p:sp>
      <p:sp>
        <p:nvSpPr>
          <p:cNvPr id="26" name="TextBox 25">
            <a:extLst>
              <a:ext uri="{FF2B5EF4-FFF2-40B4-BE49-F238E27FC236}">
                <a16:creationId xmlns:a16="http://schemas.microsoft.com/office/drawing/2014/main" id="{487170E0-FC3C-19D5-32C3-4BE7E9B6610B}"/>
              </a:ext>
            </a:extLst>
          </p:cNvPr>
          <p:cNvSpPr txBox="1"/>
          <p:nvPr/>
        </p:nvSpPr>
        <p:spPr>
          <a:xfrm>
            <a:off x="377157" y="4395686"/>
            <a:ext cx="11063918" cy="1785104"/>
          </a:xfrm>
          <a:prstGeom prst="rect">
            <a:avLst/>
          </a:prstGeom>
          <a:noFill/>
        </p:spPr>
        <p:txBody>
          <a:bodyPr wrap="square">
            <a:spAutoFit/>
          </a:bodyPr>
          <a:lstStyle/>
          <a:p>
            <a:pPr algn="just"/>
            <a:r>
              <a:rPr lang="ru-RU" sz="2200" dirty="0">
                <a:effectLst/>
                <a:latin typeface="Aptos" panose="020B0004020202020204" pitchFamily="34" charset="0"/>
                <a:ea typeface="Aptos" panose="020B0004020202020204" pitchFamily="34" charset="0"/>
                <a:cs typeface="Times New Roman" panose="02020603050405020304" pitchFamily="18" charset="0"/>
              </a:rPr>
              <a:t>Доходы американцев выросли, а доля счастливых людей в стране осталась практически на том же уровне.</a:t>
            </a:r>
            <a:r>
              <a:rPr lang="en-GB" sz="2200" dirty="0">
                <a:effectLst/>
                <a:latin typeface="Aptos" panose="020B0004020202020204" pitchFamily="34" charset="0"/>
                <a:ea typeface="Aptos" panose="020B0004020202020204" pitchFamily="34" charset="0"/>
                <a:cs typeface="Times New Roman" panose="02020603050405020304" pitchFamily="18" charset="0"/>
              </a:rPr>
              <a:t> </a:t>
            </a:r>
            <a:r>
              <a:rPr lang="ru-RU" sz="2200" dirty="0" err="1">
                <a:latin typeface="Aptos" panose="020B0004020202020204" pitchFamily="34" charset="0"/>
                <a:ea typeface="Aptos" panose="020B0004020202020204" pitchFamily="34" charset="0"/>
                <a:cs typeface="Times New Roman" panose="02020603050405020304" pitchFamily="18" charset="0"/>
              </a:rPr>
              <a:t>Истерлин</a:t>
            </a:r>
            <a:r>
              <a:rPr lang="ru-RU" sz="2200" dirty="0">
                <a:latin typeface="Aptos" panose="020B0004020202020204" pitchFamily="34" charset="0"/>
                <a:ea typeface="Aptos" panose="020B0004020202020204" pitchFamily="34" charset="0"/>
                <a:cs typeface="Times New Roman" panose="02020603050405020304" pitchFamily="18" charset="0"/>
              </a:rPr>
              <a:t> выделил:</a:t>
            </a:r>
            <a:endParaRPr lang="ru-RU" sz="2200" dirty="0">
              <a:effectLst/>
              <a:latin typeface="Aptos" panose="020B0004020202020204" pitchFamily="34" charset="0"/>
              <a:ea typeface="Aptos" panose="020B0004020202020204" pitchFamily="34" charset="0"/>
              <a:cs typeface="Times New Roman" panose="02020603050405020304" pitchFamily="18" charset="0"/>
            </a:endParaRPr>
          </a:p>
          <a:p>
            <a:pPr marL="342900" indent="-342900" algn="just">
              <a:buFont typeface="Arial" panose="020B0604020202020204" pitchFamily="34" charset="0"/>
              <a:buChar char="•"/>
            </a:pPr>
            <a:r>
              <a:rPr lang="ru-RU" sz="2200" b="1" kern="100" dirty="0">
                <a:latin typeface="Aptos" panose="020B0004020202020204" pitchFamily="34" charset="0"/>
                <a:ea typeface="Aptos" panose="020B0004020202020204" pitchFamily="34" charset="0"/>
                <a:cs typeface="Times New Roman" panose="02020603050405020304" pitchFamily="18" charset="0"/>
              </a:rPr>
              <a:t>э</a:t>
            </a:r>
            <a:r>
              <a:rPr lang="ru-RU" sz="2200" b="1" kern="100" dirty="0">
                <a:effectLst/>
                <a:latin typeface="Aptos" panose="020B0004020202020204" pitchFamily="34" charset="0"/>
                <a:ea typeface="Aptos" panose="020B0004020202020204" pitchFamily="34" charset="0"/>
                <a:cs typeface="Times New Roman" panose="02020603050405020304" pitchFamily="18" charset="0"/>
              </a:rPr>
              <a:t>ффект насыщения </a:t>
            </a:r>
          </a:p>
          <a:p>
            <a:pPr marL="342900" indent="-342900" algn="just">
              <a:buFont typeface="Arial" panose="020B0604020202020204" pitchFamily="34" charset="0"/>
              <a:buChar char="•"/>
            </a:pPr>
            <a:r>
              <a:rPr lang="ru-RU" sz="2200" b="1" kern="100" dirty="0">
                <a:latin typeface="Aptos" panose="020B0004020202020204" pitchFamily="34" charset="0"/>
                <a:ea typeface="Aptos" panose="020B0004020202020204" pitchFamily="34" charset="0"/>
                <a:cs typeface="Times New Roman" panose="02020603050405020304" pitchFamily="18" charset="0"/>
              </a:rPr>
              <a:t>э</a:t>
            </a:r>
            <a:r>
              <a:rPr lang="ru-RU" sz="2200" b="1" kern="100" dirty="0">
                <a:effectLst/>
                <a:latin typeface="Aptos" panose="020B0004020202020204" pitchFamily="34" charset="0"/>
                <a:ea typeface="Aptos" panose="020B0004020202020204" pitchFamily="34" charset="0"/>
                <a:cs typeface="Times New Roman" panose="02020603050405020304" pitchFamily="18" charset="0"/>
              </a:rPr>
              <a:t>ффект </a:t>
            </a:r>
            <a:r>
              <a:rPr lang="ru-RU" sz="2200" b="1" kern="100" dirty="0">
                <a:latin typeface="Aptos" panose="020B0004020202020204" pitchFamily="34" charset="0"/>
                <a:cs typeface="Times New Roman" panose="02020603050405020304" pitchFamily="18" charset="0"/>
              </a:rPr>
              <a:t>абсолютного  </a:t>
            </a:r>
            <a:r>
              <a:rPr lang="ru-RU" sz="2200" b="1" kern="100" dirty="0">
                <a:effectLst/>
                <a:latin typeface="Aptos" panose="020B0004020202020204" pitchFamily="34" charset="0"/>
                <a:ea typeface="Aptos" panose="020B0004020202020204" pitchFamily="34" charset="0"/>
                <a:cs typeface="Times New Roman" panose="02020603050405020304" pitchFamily="18" charset="0"/>
              </a:rPr>
              <a:t>изменения доходов</a:t>
            </a:r>
            <a:endParaRPr lang="en-GB" sz="22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indent="-342900" algn="just">
              <a:buFont typeface="Arial" panose="020B0604020202020204" pitchFamily="34" charset="0"/>
              <a:buChar char="•"/>
            </a:pPr>
            <a:r>
              <a:rPr lang="ru-RU" sz="2200" b="1" kern="100" dirty="0">
                <a:latin typeface="Aptos" panose="020B0004020202020204" pitchFamily="34" charset="0"/>
                <a:ea typeface="Aptos" panose="020B0004020202020204" pitchFamily="34" charset="0"/>
                <a:cs typeface="Times New Roman" panose="02020603050405020304" pitchFamily="18" charset="0"/>
              </a:rPr>
              <a:t>э</a:t>
            </a:r>
            <a:r>
              <a:rPr lang="ru-RU" sz="2200" b="1" kern="100" dirty="0">
                <a:effectLst/>
                <a:latin typeface="Aptos" panose="020B0004020202020204" pitchFamily="34" charset="0"/>
                <a:ea typeface="Aptos" panose="020B0004020202020204" pitchFamily="34" charset="0"/>
                <a:cs typeface="Times New Roman" panose="02020603050405020304" pitchFamily="18" charset="0"/>
              </a:rPr>
              <a:t>ффект относительного изменения доходов </a:t>
            </a:r>
            <a:endParaRPr lang="ru-RU" sz="2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8A1F433-22B1-0A9B-7BFD-FB51A3A3F6AD}"/>
              </a:ext>
            </a:extLst>
          </p:cNvPr>
          <p:cNvSpPr txBox="1"/>
          <p:nvPr/>
        </p:nvSpPr>
        <p:spPr>
          <a:xfrm>
            <a:off x="377157" y="1806928"/>
            <a:ext cx="10972800" cy="2200602"/>
          </a:xfrm>
          <a:prstGeom prst="rect">
            <a:avLst/>
          </a:prstGeom>
          <a:noFill/>
        </p:spPr>
        <p:txBody>
          <a:bodyPr wrap="square">
            <a:spAutoFit/>
          </a:bodyPr>
          <a:lstStyle/>
          <a:p>
            <a:pPr algn="just"/>
            <a:r>
              <a:rPr lang="ru-RU" sz="2200" b="1" dirty="0">
                <a:solidFill>
                  <a:srgbClr val="0E2D69"/>
                </a:solidFill>
              </a:rPr>
              <a:t>Субъективное благополучие (SWB, </a:t>
            </a:r>
            <a:r>
              <a:rPr lang="ru-RU" sz="2200" b="1" dirty="0" err="1">
                <a:solidFill>
                  <a:srgbClr val="0E2D69"/>
                </a:solidFill>
              </a:rPr>
              <a:t>subjective</a:t>
            </a:r>
            <a:r>
              <a:rPr lang="ru-RU" sz="2200" b="1" dirty="0">
                <a:solidFill>
                  <a:srgbClr val="0E2D69"/>
                </a:solidFill>
              </a:rPr>
              <a:t> </a:t>
            </a:r>
            <a:r>
              <a:rPr lang="ru-RU" sz="2200" b="1" dirty="0" err="1">
                <a:solidFill>
                  <a:srgbClr val="0E2D69"/>
                </a:solidFill>
              </a:rPr>
              <a:t>well-being</a:t>
            </a:r>
            <a:r>
              <a:rPr lang="ru-RU" sz="2200" b="1" dirty="0">
                <a:solidFill>
                  <a:srgbClr val="0E2D69"/>
                </a:solidFill>
              </a:rPr>
              <a:t>) </a:t>
            </a:r>
            <a:r>
              <a:rPr lang="en-GB" sz="2200" dirty="0">
                <a:solidFill>
                  <a:srgbClr val="0E2D69"/>
                </a:solidFill>
              </a:rPr>
              <a:t>-</a:t>
            </a:r>
            <a:r>
              <a:rPr lang="ru-RU" sz="2200" dirty="0">
                <a:solidFill>
                  <a:srgbClr val="0E2D69"/>
                </a:solidFill>
              </a:rPr>
              <a:t> это субъективная оценка и восприятие человеком своей удовлетворенности жизнью, счастья и полноты жизни.</a:t>
            </a:r>
            <a:endParaRPr lang="en-GB" sz="2200" dirty="0">
              <a:solidFill>
                <a:srgbClr val="0E2D69"/>
              </a:solidFill>
            </a:endParaRPr>
          </a:p>
          <a:p>
            <a:pPr algn="just"/>
            <a:endParaRPr lang="ru-RU" sz="500" dirty="0">
              <a:solidFill>
                <a:srgbClr val="0E2D69"/>
              </a:solidFill>
            </a:endParaRPr>
          </a:p>
          <a:p>
            <a:pPr algn="just"/>
            <a:r>
              <a:rPr lang="ru-RU" sz="2200" dirty="0">
                <a:solidFill>
                  <a:srgbClr val="0E2D69"/>
                </a:solidFill>
              </a:rPr>
              <a:t>Субъективное благополучие включает в себя </a:t>
            </a:r>
            <a:r>
              <a:rPr lang="ru-RU" sz="2200" b="1" dirty="0">
                <a:solidFill>
                  <a:srgbClr val="0E2D69"/>
                </a:solidFill>
              </a:rPr>
              <a:t>различные компоненты</a:t>
            </a:r>
            <a:r>
              <a:rPr lang="ru-RU" sz="2200" dirty="0">
                <a:solidFill>
                  <a:srgbClr val="0E2D69"/>
                </a:solidFill>
              </a:rPr>
              <a:t>, среди которых:</a:t>
            </a:r>
          </a:p>
          <a:p>
            <a:pPr marL="342900" lvl="0" indent="-342900" algn="just">
              <a:buSzPts val="1000"/>
              <a:buFont typeface="Symbol" panose="05050102010706020507" pitchFamily="18" charset="2"/>
              <a:buChar char=""/>
              <a:tabLst>
                <a:tab pos="457200" algn="l"/>
              </a:tabLst>
            </a:pPr>
            <a:r>
              <a:rPr lang="ru-RU" sz="2200" dirty="0">
                <a:solidFill>
                  <a:srgbClr val="0E2D69"/>
                </a:solidFill>
              </a:rPr>
              <a:t>положительные эмоции;</a:t>
            </a:r>
          </a:p>
          <a:p>
            <a:pPr marL="342900" lvl="0" indent="-342900" algn="just">
              <a:buSzPts val="1000"/>
              <a:buFont typeface="Symbol" panose="05050102010706020507" pitchFamily="18" charset="2"/>
              <a:buChar char=""/>
              <a:tabLst>
                <a:tab pos="457200" algn="l"/>
              </a:tabLst>
            </a:pPr>
            <a:r>
              <a:rPr lang="ru-RU" sz="2200" dirty="0">
                <a:solidFill>
                  <a:srgbClr val="0E2D69"/>
                </a:solidFill>
              </a:rPr>
              <a:t>удовлетворённость жизнью;</a:t>
            </a:r>
          </a:p>
          <a:p>
            <a:pPr marL="342900" lvl="0" indent="-342900" algn="just">
              <a:buSzPts val="1000"/>
              <a:buFont typeface="Symbol" panose="05050102010706020507" pitchFamily="18" charset="2"/>
              <a:buChar char=""/>
              <a:tabLst>
                <a:tab pos="457200" algn="l"/>
              </a:tabLst>
            </a:pPr>
            <a:r>
              <a:rPr lang="ru-RU" sz="2200" dirty="0">
                <a:solidFill>
                  <a:srgbClr val="0E2D69"/>
                </a:solidFill>
              </a:rPr>
              <a:t>чувство цели или смысла жизни.</a:t>
            </a:r>
          </a:p>
        </p:txBody>
      </p:sp>
    </p:spTree>
    <p:extLst>
      <p:ext uri="{BB962C8B-B14F-4D97-AF65-F5344CB8AC3E}">
        <p14:creationId xmlns:p14="http://schemas.microsoft.com/office/powerpoint/2010/main" val="1387292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699381" cy="408109"/>
          </a:xfrm>
        </p:spPr>
        <p:txBody>
          <a:bodyPr/>
          <a:lstStyle/>
          <a:p>
            <a:r>
              <a:rPr lang="ru-RU" dirty="0"/>
              <a:t>Москва 2024</a:t>
            </a:r>
          </a:p>
        </p:txBody>
      </p:sp>
      <p:sp>
        <p:nvSpPr>
          <p:cNvPr id="13" name="TextBox 12">
            <a:extLst>
              <a:ext uri="{FF2B5EF4-FFF2-40B4-BE49-F238E27FC236}">
                <a16:creationId xmlns:a16="http://schemas.microsoft.com/office/drawing/2014/main" id="{3F8539FD-62DD-EAB0-8272-3EB39B86C328}"/>
              </a:ext>
            </a:extLst>
          </p:cNvPr>
          <p:cNvSpPr txBox="1"/>
          <p:nvPr/>
        </p:nvSpPr>
        <p:spPr>
          <a:xfrm>
            <a:off x="564041" y="2514600"/>
            <a:ext cx="10767105" cy="2539157"/>
          </a:xfrm>
          <a:prstGeom prst="rect">
            <a:avLst/>
          </a:prstGeom>
          <a:noFill/>
        </p:spPr>
        <p:txBody>
          <a:bodyPr wrap="square">
            <a:spAutoFit/>
          </a:bodyPr>
          <a:lstStyle/>
          <a:p>
            <a:pPr algn="just"/>
            <a:r>
              <a:rPr lang="ru-RU" sz="2200" dirty="0">
                <a:latin typeface="Aptos" panose="020B0004020202020204" pitchFamily="34" charset="0"/>
                <a:cs typeface="Times New Roman" panose="02020603050405020304" pitchFamily="18" charset="0"/>
              </a:rPr>
              <a:t>В межстрановом сравнительном исследовании </a:t>
            </a:r>
            <a:r>
              <a:rPr lang="ru-RU" sz="2200" dirty="0" err="1">
                <a:latin typeface="Aptos" panose="020B0004020202020204" pitchFamily="34" charset="0"/>
                <a:cs typeface="Times New Roman" panose="02020603050405020304" pitchFamily="18" charset="0"/>
              </a:rPr>
              <a:t>Истерлин</a:t>
            </a:r>
            <a:r>
              <a:rPr lang="ru-RU" sz="2200" dirty="0">
                <a:latin typeface="Aptos" panose="020B0004020202020204" pitchFamily="34" charset="0"/>
                <a:cs typeface="Times New Roman" panose="02020603050405020304" pitchFamily="18" charset="0"/>
              </a:rPr>
              <a:t> обнаружил, что:</a:t>
            </a:r>
            <a:endParaRPr lang="en-GB" sz="2200" dirty="0">
              <a:latin typeface="Aptos" panose="020B0004020202020204" pitchFamily="34" charset="0"/>
              <a:cs typeface="Times New Roman" panose="02020603050405020304" pitchFamily="18" charset="0"/>
            </a:endParaRPr>
          </a:p>
          <a:p>
            <a:pPr algn="just"/>
            <a:endParaRPr lang="ru-RU" sz="500" dirty="0">
              <a:latin typeface="Aptos" panose="020B0004020202020204" pitchFamily="34" charset="0"/>
              <a:cs typeface="Times New Roman" panose="02020603050405020304" pitchFamily="18" charset="0"/>
            </a:endParaRPr>
          </a:p>
          <a:p>
            <a:pPr marL="285750" indent="-285750" algn="just">
              <a:buFont typeface="Arial" panose="020B0604020202020204" pitchFamily="34" charset="0"/>
              <a:buChar char="•"/>
            </a:pPr>
            <a:r>
              <a:rPr lang="ru-RU" sz="2200" b="1" kern="100" dirty="0">
                <a:latin typeface="Aptos" panose="020B0004020202020204" pitchFamily="34" charset="0"/>
                <a:cs typeface="Times New Roman" panose="02020603050405020304" pitchFamily="18" charset="0"/>
              </a:rPr>
              <a:t>внутри стран более богатые люди сообщили о более высоком субъективном благосостоянии (SWB, </a:t>
            </a:r>
            <a:r>
              <a:rPr lang="ru-RU" sz="2200" b="1" kern="100" dirty="0" err="1">
                <a:latin typeface="Aptos" panose="020B0004020202020204" pitchFamily="34" charset="0"/>
                <a:cs typeface="Times New Roman" panose="02020603050405020304" pitchFamily="18" charset="0"/>
              </a:rPr>
              <a:t>subjective</a:t>
            </a:r>
            <a:r>
              <a:rPr lang="ru-RU" sz="2200" b="1" kern="100" dirty="0">
                <a:latin typeface="Aptos" panose="020B0004020202020204" pitchFamily="34" charset="0"/>
                <a:cs typeface="Times New Roman" panose="02020603050405020304" pitchFamily="18" charset="0"/>
              </a:rPr>
              <a:t> </a:t>
            </a:r>
            <a:r>
              <a:rPr lang="ru-RU" sz="2200" b="1" kern="100" dirty="0" err="1">
                <a:latin typeface="Aptos" panose="020B0004020202020204" pitchFamily="34" charset="0"/>
                <a:cs typeface="Times New Roman" panose="02020603050405020304" pitchFamily="18" charset="0"/>
              </a:rPr>
              <a:t>well-being</a:t>
            </a:r>
            <a:r>
              <a:rPr lang="ru-RU" sz="2200" b="1" kern="100" dirty="0">
                <a:latin typeface="Aptos" panose="020B0004020202020204" pitchFamily="34" charset="0"/>
                <a:cs typeface="Times New Roman" panose="02020603050405020304" pitchFamily="18" charset="0"/>
              </a:rPr>
              <a:t>) по сравнению с более бедными;</a:t>
            </a:r>
          </a:p>
          <a:p>
            <a:pPr marL="285750" indent="-285750" algn="just">
              <a:buFont typeface="Arial" panose="020B0604020202020204" pitchFamily="34" charset="0"/>
              <a:buChar char="•"/>
            </a:pPr>
            <a:r>
              <a:rPr lang="ru-RU" sz="2200" b="1" kern="100" dirty="0">
                <a:latin typeface="Aptos" panose="020B0004020202020204" pitchFamily="34" charset="0"/>
                <a:cs typeface="Times New Roman" panose="02020603050405020304" pitchFamily="18" charset="0"/>
              </a:rPr>
              <a:t>по странам не было существенной разницы между средним SWB богатых и бедных стран;</a:t>
            </a:r>
          </a:p>
          <a:p>
            <a:pPr marL="285750" indent="-285750" algn="just">
              <a:buFont typeface="Arial" panose="020B0604020202020204" pitchFamily="34" charset="0"/>
              <a:buChar char="•"/>
            </a:pPr>
            <a:r>
              <a:rPr lang="ru-RU" sz="2200" b="1" kern="100" dirty="0">
                <a:latin typeface="Aptos" panose="020B0004020202020204" pitchFamily="34" charset="0"/>
                <a:cs typeface="Times New Roman" panose="02020603050405020304" pitchFamily="18" charset="0"/>
              </a:rPr>
              <a:t>в долгосрочном периоде развитие национальной экономики не привело к увеличению индивидуального SWB.</a:t>
            </a:r>
          </a:p>
        </p:txBody>
      </p:sp>
    </p:spTree>
    <p:extLst>
      <p:ext uri="{BB962C8B-B14F-4D97-AF65-F5344CB8AC3E}">
        <p14:creationId xmlns:p14="http://schemas.microsoft.com/office/powerpoint/2010/main" val="2653337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699381" cy="408109"/>
          </a:xfrm>
        </p:spPr>
        <p:txBody>
          <a:bodyPr/>
          <a:lstStyle/>
          <a:p>
            <a:r>
              <a:rPr lang="ru-RU" dirty="0"/>
              <a:t>Москва 2024</a:t>
            </a:r>
          </a:p>
        </p:txBody>
      </p:sp>
      <p:sp>
        <p:nvSpPr>
          <p:cNvPr id="6" name="TextBox 5">
            <a:extLst>
              <a:ext uri="{FF2B5EF4-FFF2-40B4-BE49-F238E27FC236}">
                <a16:creationId xmlns:a16="http://schemas.microsoft.com/office/drawing/2014/main" id="{4286D823-90A7-7546-1757-42EA6A8DE82A}"/>
              </a:ext>
            </a:extLst>
          </p:cNvPr>
          <p:cNvSpPr txBox="1"/>
          <p:nvPr/>
        </p:nvSpPr>
        <p:spPr>
          <a:xfrm>
            <a:off x="247753" y="2180650"/>
            <a:ext cx="5848238" cy="3170099"/>
          </a:xfrm>
          <a:prstGeom prst="rect">
            <a:avLst/>
          </a:prstGeom>
          <a:noFill/>
        </p:spPr>
        <p:txBody>
          <a:bodyPr wrap="square">
            <a:spAutoFit/>
          </a:bodyPr>
          <a:lstStyle/>
          <a:p>
            <a:r>
              <a:rPr lang="en-US" dirty="0"/>
              <a:t>Inglehart R., </a:t>
            </a:r>
            <a:r>
              <a:rPr lang="en-US" dirty="0" err="1"/>
              <a:t>Foa</a:t>
            </a:r>
            <a:r>
              <a:rPr lang="en-US" dirty="0"/>
              <a:t> R., Peterson C., </a:t>
            </a:r>
            <a:r>
              <a:rPr lang="en-US" dirty="0" err="1"/>
              <a:t>Welzel</a:t>
            </a:r>
            <a:r>
              <a:rPr lang="en-US" dirty="0"/>
              <a:t> C. Development, Freedom, and Rising Happiness: A Global Perspective (1981-2007). Perspectives on Psychological Science, </a:t>
            </a:r>
            <a:r>
              <a:rPr lang="en-US" b="1" u="sng" dirty="0">
                <a:solidFill>
                  <a:srgbClr val="FF0000"/>
                </a:solidFill>
              </a:rPr>
              <a:t>2008</a:t>
            </a:r>
            <a:r>
              <a:rPr lang="en-US" dirty="0"/>
              <a:t>, vol. 3, no. 4, р. 264–285</a:t>
            </a:r>
            <a:endParaRPr lang="ru-RU" dirty="0"/>
          </a:p>
          <a:p>
            <a:endParaRPr lang="ru-RU" sz="1000" dirty="0"/>
          </a:p>
          <a:p>
            <a:r>
              <a:rPr lang="en-US" dirty="0"/>
              <a:t>Stevenson B. Wolfers J. Economic growth and happiness: reassessing the </a:t>
            </a:r>
            <a:r>
              <a:rPr lang="en-US" dirty="0" err="1"/>
              <a:t>Easterlin</a:t>
            </a:r>
            <a:r>
              <a:rPr lang="en-US" dirty="0"/>
              <a:t> paradox. Brookings papers on economic activity, </a:t>
            </a:r>
            <a:r>
              <a:rPr lang="en-US" b="1" u="sng" dirty="0">
                <a:solidFill>
                  <a:srgbClr val="FF0000"/>
                </a:solidFill>
              </a:rPr>
              <a:t>2008</a:t>
            </a:r>
            <a:r>
              <a:rPr lang="en-US" dirty="0"/>
              <a:t>, p. 1-87 </a:t>
            </a:r>
            <a:endParaRPr lang="ru-RU" dirty="0"/>
          </a:p>
          <a:p>
            <a:endParaRPr lang="ru-RU" sz="1000" dirty="0"/>
          </a:p>
          <a:p>
            <a:r>
              <a:rPr lang="en-US" dirty="0"/>
              <a:t>Deaton A. Income, health, and well-being around the world: Evidence from the Gallup World Poll. Journal of Economic Perspectives, </a:t>
            </a:r>
            <a:r>
              <a:rPr lang="en-US" b="1" u="sng" dirty="0">
                <a:solidFill>
                  <a:srgbClr val="FF0000"/>
                </a:solidFill>
              </a:rPr>
              <a:t>2008</a:t>
            </a:r>
            <a:r>
              <a:rPr lang="en-US" dirty="0"/>
              <a:t>, vol. 22, p. 53-72.</a:t>
            </a:r>
            <a:endParaRPr lang="ru-RU" dirty="0"/>
          </a:p>
        </p:txBody>
      </p:sp>
      <p:sp>
        <p:nvSpPr>
          <p:cNvPr id="9" name="TextBox 8">
            <a:extLst>
              <a:ext uri="{FF2B5EF4-FFF2-40B4-BE49-F238E27FC236}">
                <a16:creationId xmlns:a16="http://schemas.microsoft.com/office/drawing/2014/main" id="{471B011E-CD72-60AE-856B-3952615A26EC}"/>
              </a:ext>
            </a:extLst>
          </p:cNvPr>
          <p:cNvSpPr txBox="1"/>
          <p:nvPr/>
        </p:nvSpPr>
        <p:spPr>
          <a:xfrm>
            <a:off x="247761" y="1548990"/>
            <a:ext cx="5848230" cy="461665"/>
          </a:xfrm>
          <a:prstGeom prst="rect">
            <a:avLst/>
          </a:prstGeom>
          <a:noFill/>
        </p:spPr>
        <p:txBody>
          <a:bodyPr wrap="square" rtlCol="0">
            <a:spAutoFit/>
          </a:bodyPr>
          <a:lstStyle/>
          <a:p>
            <a:pPr algn="ctr"/>
            <a:r>
              <a:rPr lang="ru-RU" sz="2400" b="1" i="1" dirty="0">
                <a:solidFill>
                  <a:srgbClr val="0E2D69"/>
                </a:solidFill>
              </a:rPr>
              <a:t>Опровержение парадокса </a:t>
            </a:r>
            <a:r>
              <a:rPr lang="ru-RU" sz="2400" b="1" i="1" dirty="0" err="1">
                <a:solidFill>
                  <a:srgbClr val="0E2D69"/>
                </a:solidFill>
              </a:rPr>
              <a:t>Истерлина</a:t>
            </a:r>
            <a:endParaRPr lang="ru-RU" sz="2400" b="1" i="1" dirty="0">
              <a:solidFill>
                <a:srgbClr val="0E2D69"/>
              </a:solidFill>
            </a:endParaRPr>
          </a:p>
        </p:txBody>
      </p:sp>
      <p:sp>
        <p:nvSpPr>
          <p:cNvPr id="11" name="TextBox 10">
            <a:extLst>
              <a:ext uri="{FF2B5EF4-FFF2-40B4-BE49-F238E27FC236}">
                <a16:creationId xmlns:a16="http://schemas.microsoft.com/office/drawing/2014/main" id="{85625958-1F57-F3F6-350F-8FEACE87332A}"/>
              </a:ext>
            </a:extLst>
          </p:cNvPr>
          <p:cNvSpPr txBox="1"/>
          <p:nvPr/>
        </p:nvSpPr>
        <p:spPr>
          <a:xfrm>
            <a:off x="6350533" y="2690336"/>
            <a:ext cx="5436781" cy="1477328"/>
          </a:xfrm>
          <a:prstGeom prst="rect">
            <a:avLst/>
          </a:prstGeom>
          <a:noFill/>
        </p:spPr>
        <p:txBody>
          <a:bodyPr wrap="square">
            <a:spAutoFit/>
          </a:bodyPr>
          <a:lstStyle/>
          <a:p>
            <a:r>
              <a:rPr lang="en-US" dirty="0" err="1"/>
              <a:t>Easterlin</a:t>
            </a:r>
            <a:r>
              <a:rPr lang="en-US" dirty="0"/>
              <a:t> R. A., McVey L. A., </a:t>
            </a:r>
            <a:r>
              <a:rPr lang="en-US" dirty="0" err="1"/>
              <a:t>Switek</a:t>
            </a:r>
            <a:r>
              <a:rPr lang="en-US" dirty="0"/>
              <a:t> M., </a:t>
            </a:r>
            <a:r>
              <a:rPr lang="en-US" dirty="0" err="1"/>
              <a:t>Sawangfa</a:t>
            </a:r>
            <a:r>
              <a:rPr lang="en-US" dirty="0"/>
              <a:t> O., Zweig J. S., The happiness–income paradox revisited. Proceedings of the National Academy of Sciences of the United States of America, </a:t>
            </a:r>
            <a:r>
              <a:rPr lang="en-US" b="1" u="sng" dirty="0">
                <a:solidFill>
                  <a:srgbClr val="FF0000"/>
                </a:solidFill>
              </a:rPr>
              <a:t>2010</a:t>
            </a:r>
            <a:r>
              <a:rPr lang="en-US" dirty="0"/>
              <a:t>, vol. 107, no. 52, p. 22463-22468.</a:t>
            </a:r>
            <a:endParaRPr lang="ru-RU" dirty="0"/>
          </a:p>
        </p:txBody>
      </p:sp>
      <p:cxnSp>
        <p:nvCxnSpPr>
          <p:cNvPr id="14" name="Прямая соединительная линия 13">
            <a:extLst>
              <a:ext uri="{FF2B5EF4-FFF2-40B4-BE49-F238E27FC236}">
                <a16:creationId xmlns:a16="http://schemas.microsoft.com/office/drawing/2014/main" id="{2E84168B-9814-ABBE-B2F6-1A95FEDA8E59}"/>
              </a:ext>
            </a:extLst>
          </p:cNvPr>
          <p:cNvCxnSpPr>
            <a:cxnSpLocks/>
          </p:cNvCxnSpPr>
          <p:nvPr/>
        </p:nvCxnSpPr>
        <p:spPr>
          <a:xfrm>
            <a:off x="6096000" y="1705238"/>
            <a:ext cx="0" cy="4704798"/>
          </a:xfrm>
          <a:prstGeom prst="line">
            <a:avLst/>
          </a:prstGeom>
          <a:ln w="19050">
            <a:solidFill>
              <a:schemeClr val="tx2"/>
            </a:solidFill>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76016DFC-265F-EBE1-4489-71010134556C}"/>
              </a:ext>
            </a:extLst>
          </p:cNvPr>
          <p:cNvSpPr txBox="1"/>
          <p:nvPr/>
        </p:nvSpPr>
        <p:spPr>
          <a:xfrm>
            <a:off x="6816435" y="1483073"/>
            <a:ext cx="5375565" cy="461665"/>
          </a:xfrm>
          <a:prstGeom prst="rect">
            <a:avLst/>
          </a:prstGeom>
          <a:noFill/>
        </p:spPr>
        <p:txBody>
          <a:bodyPr wrap="square" rtlCol="0">
            <a:spAutoFit/>
          </a:bodyPr>
          <a:lstStyle/>
          <a:p>
            <a:pPr algn="l"/>
            <a:r>
              <a:rPr lang="ru-RU" sz="2400" b="1" i="1" dirty="0">
                <a:solidFill>
                  <a:srgbClr val="0E2D69"/>
                </a:solidFill>
              </a:rPr>
              <a:t>Защита парадокса </a:t>
            </a:r>
            <a:r>
              <a:rPr lang="ru-RU" sz="2400" b="1" i="1" dirty="0" err="1">
                <a:solidFill>
                  <a:srgbClr val="0E2D69"/>
                </a:solidFill>
              </a:rPr>
              <a:t>Истерлина</a:t>
            </a:r>
            <a:endParaRPr lang="ru-RU" sz="2400" b="1" i="1" dirty="0">
              <a:solidFill>
                <a:srgbClr val="0E2D69"/>
              </a:solidFill>
            </a:endParaRPr>
          </a:p>
        </p:txBody>
      </p:sp>
      <p:sp>
        <p:nvSpPr>
          <p:cNvPr id="19" name="TextBox 18">
            <a:extLst>
              <a:ext uri="{FF2B5EF4-FFF2-40B4-BE49-F238E27FC236}">
                <a16:creationId xmlns:a16="http://schemas.microsoft.com/office/drawing/2014/main" id="{A69203BB-CA57-31DD-6B4F-DE1E340BDB99}"/>
              </a:ext>
            </a:extLst>
          </p:cNvPr>
          <p:cNvSpPr txBox="1"/>
          <p:nvPr/>
        </p:nvSpPr>
        <p:spPr>
          <a:xfrm>
            <a:off x="6441177" y="4342116"/>
            <a:ext cx="5255491" cy="1631216"/>
          </a:xfrm>
          <a:prstGeom prst="rect">
            <a:avLst/>
          </a:prstGeom>
          <a:noFill/>
        </p:spPr>
        <p:txBody>
          <a:bodyPr wrap="square">
            <a:spAutoFit/>
          </a:bodyPr>
          <a:lstStyle/>
          <a:p>
            <a:pPr algn="just"/>
            <a:r>
              <a:rPr lang="ru-RU" sz="2000" b="1" i="1" dirty="0">
                <a:effectLst/>
                <a:latin typeface="Aptos" panose="020B0004020202020204" pitchFamily="34" charset="0"/>
                <a:ea typeface="Aptos" panose="020B0004020202020204" pitchFamily="34" charset="0"/>
                <a:cs typeface="Times New Roman" panose="02020603050405020304" pitchFamily="18" charset="0"/>
              </a:rPr>
              <a:t>В краткосрочной перспективе счастье и доход положительно связаны, но в долгосрочной перспективе, на отрезке 10 лет и более, взаимосвязь между ними нулевая. </a:t>
            </a:r>
            <a:endParaRPr lang="ru-RU" sz="2000" dirty="0"/>
          </a:p>
        </p:txBody>
      </p:sp>
      <p:cxnSp>
        <p:nvCxnSpPr>
          <p:cNvPr id="22" name="Прямая соединительная линия 21">
            <a:extLst>
              <a:ext uri="{FF2B5EF4-FFF2-40B4-BE49-F238E27FC236}">
                <a16:creationId xmlns:a16="http://schemas.microsoft.com/office/drawing/2014/main" id="{02C877C2-CC8C-BCB2-EF4C-244369495951}"/>
              </a:ext>
            </a:extLst>
          </p:cNvPr>
          <p:cNvCxnSpPr/>
          <p:nvPr/>
        </p:nvCxnSpPr>
        <p:spPr>
          <a:xfrm>
            <a:off x="915583" y="1475733"/>
            <a:ext cx="9670473"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B378BE7-EC96-2EAA-0BA2-B36983D00772}"/>
              </a:ext>
            </a:extLst>
          </p:cNvPr>
          <p:cNvSpPr txBox="1"/>
          <p:nvPr/>
        </p:nvSpPr>
        <p:spPr>
          <a:xfrm>
            <a:off x="5182828" y="1014068"/>
            <a:ext cx="2154126" cy="461665"/>
          </a:xfrm>
          <a:prstGeom prst="rect">
            <a:avLst/>
          </a:prstGeom>
          <a:noFill/>
        </p:spPr>
        <p:txBody>
          <a:bodyPr wrap="square" rtlCol="0">
            <a:spAutoFit/>
          </a:bodyPr>
          <a:lstStyle/>
          <a:p>
            <a:pPr algn="l"/>
            <a:r>
              <a:rPr lang="ru-RU" sz="2400" b="1" i="1" dirty="0">
                <a:solidFill>
                  <a:srgbClr val="0E2D69"/>
                </a:solidFill>
              </a:rPr>
              <a:t>ДИСКУССИЯ </a:t>
            </a:r>
          </a:p>
        </p:txBody>
      </p:sp>
      <p:sp>
        <p:nvSpPr>
          <p:cNvPr id="25" name="TextBox 24">
            <a:extLst>
              <a:ext uri="{FF2B5EF4-FFF2-40B4-BE49-F238E27FC236}">
                <a16:creationId xmlns:a16="http://schemas.microsoft.com/office/drawing/2014/main" id="{F726DE78-CE50-3D25-7F78-08B733204B25}"/>
              </a:ext>
            </a:extLst>
          </p:cNvPr>
          <p:cNvSpPr txBox="1"/>
          <p:nvPr/>
        </p:nvSpPr>
        <p:spPr>
          <a:xfrm>
            <a:off x="247761" y="5465501"/>
            <a:ext cx="5572762" cy="1015663"/>
          </a:xfrm>
          <a:prstGeom prst="rect">
            <a:avLst/>
          </a:prstGeom>
          <a:noFill/>
        </p:spPr>
        <p:txBody>
          <a:bodyPr wrap="square">
            <a:spAutoFit/>
          </a:bodyPr>
          <a:lstStyle/>
          <a:p>
            <a:pPr algn="ctr"/>
            <a:r>
              <a:rPr lang="ru-RU" sz="2000" b="1" i="1" dirty="0">
                <a:latin typeface="Aptos" panose="020B0004020202020204" pitchFamily="34" charset="0"/>
                <a:cs typeface="Times New Roman" panose="02020603050405020304" pitchFamily="18" charset="0"/>
              </a:rPr>
              <a:t>С ростом доходов уровень счастья увеличивается, при прочих равных условиях, нет эффекта насыщения.</a:t>
            </a:r>
          </a:p>
        </p:txBody>
      </p:sp>
    </p:spTree>
    <p:extLst>
      <p:ext uri="{BB962C8B-B14F-4D97-AF65-F5344CB8AC3E}">
        <p14:creationId xmlns:p14="http://schemas.microsoft.com/office/powerpoint/2010/main" val="1007265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t>НИУ ВШЭ</a:t>
            </a:r>
            <a:endParaRPr/>
          </a:p>
        </p:txBody>
      </p:sp>
      <p:sp>
        <p:nvSpPr>
          <p:cNvPr id="3" name="Текст 2"/>
          <p:cNvSpPr>
            <a:spLocks noGrp="1"/>
          </p:cNvSpPr>
          <p:nvPr>
            <p:ph type="body" sz="quarter" idx="14"/>
          </p:nvPr>
        </p:nvSpPr>
        <p:spPr bwMode="auto"/>
        <p:txBody>
          <a:bodyPr/>
          <a:lstStyle/>
          <a:p>
            <a:pPr>
              <a:defRPr/>
            </a:pPr>
            <a:r>
              <a:rPr lang="ru-RU"/>
              <a:t>Факультет экономических наук</a:t>
            </a:r>
            <a:endParaRPr/>
          </a:p>
        </p:txBody>
      </p:sp>
      <p:sp>
        <p:nvSpPr>
          <p:cNvPr id="4" name="Текст 3"/>
          <p:cNvSpPr>
            <a:spLocks noGrp="1"/>
          </p:cNvSpPr>
          <p:nvPr>
            <p:ph type="body" sz="quarter" idx="15"/>
          </p:nvPr>
        </p:nvSpPr>
        <p:spPr bwMode="auto">
          <a:xfrm>
            <a:off x="6259890" y="548720"/>
            <a:ext cx="2902581" cy="408109"/>
          </a:xfrm>
        </p:spPr>
        <p:txBody>
          <a:bodyPr/>
          <a:lstStyle/>
          <a:p>
            <a:pPr>
              <a:defRPr/>
            </a:pPr>
            <a:r>
              <a:rPr lang="ru-RU"/>
              <a:t>Департамент теоретической экономики</a:t>
            </a:r>
            <a:endParaRPr/>
          </a:p>
        </p:txBody>
      </p:sp>
      <p:sp>
        <p:nvSpPr>
          <p:cNvPr id="6" name="TextBox 5"/>
          <p:cNvSpPr txBox="1"/>
          <p:nvPr/>
        </p:nvSpPr>
        <p:spPr bwMode="auto">
          <a:xfrm>
            <a:off x="521871" y="1655321"/>
            <a:ext cx="10973443" cy="4893647"/>
          </a:xfrm>
          <a:prstGeom prst="rect">
            <a:avLst/>
          </a:prstGeom>
          <a:noFill/>
        </p:spPr>
        <p:txBody>
          <a:bodyPr wrap="square">
            <a:spAutoFit/>
          </a:bodyPr>
          <a:lstStyle/>
          <a:p>
            <a:pPr algn="just">
              <a:defRPr/>
            </a:pPr>
            <a:r>
              <a:rPr lang="ru-RU" sz="2400" b="1" u="sng" dirty="0">
                <a:solidFill>
                  <a:srgbClr val="002060"/>
                </a:solidFill>
              </a:rPr>
              <a:t>Потребитель</a:t>
            </a:r>
            <a:r>
              <a:rPr lang="ru-RU" sz="2400" dirty="0">
                <a:solidFill>
                  <a:srgbClr val="002060"/>
                </a:solidFill>
              </a:rPr>
              <a:t> -  субъект, обособленно принимающий решение о распределении своего бюджета на покупку потребительских благ.</a:t>
            </a:r>
          </a:p>
          <a:p>
            <a:pPr algn="just">
              <a:defRPr/>
            </a:pPr>
            <a:endParaRPr lang="ru-RU" sz="2400" dirty="0">
              <a:solidFill>
                <a:srgbClr val="002060"/>
              </a:solidFill>
            </a:endParaRPr>
          </a:p>
          <a:p>
            <a:pPr algn="just"/>
            <a:r>
              <a:rPr lang="ru-RU" sz="2400" b="1" u="sng" dirty="0">
                <a:solidFill>
                  <a:srgbClr val="002060"/>
                </a:solidFill>
              </a:rPr>
              <a:t>Фундаментальные предположения концепции полезности:</a:t>
            </a:r>
          </a:p>
          <a:p>
            <a:pPr marL="285750" indent="-285750" algn="just">
              <a:buFont typeface="Arial" panose="020B0604020202020204" pitchFamily="34" charset="0"/>
              <a:buChar char="•"/>
            </a:pPr>
            <a:r>
              <a:rPr lang="ru-RU" sz="2400" dirty="0">
                <a:solidFill>
                  <a:srgbClr val="002060"/>
                </a:solidFill>
              </a:rPr>
              <a:t>Полезность выражает субъективную оценку ценности блага</a:t>
            </a:r>
          </a:p>
          <a:p>
            <a:pPr marL="285750" indent="-285750" algn="just">
              <a:buFont typeface="Arial" panose="020B0604020202020204" pitchFamily="34" charset="0"/>
              <a:buChar char="•"/>
            </a:pPr>
            <a:r>
              <a:rPr lang="ru-RU" sz="2400" dirty="0">
                <a:solidFill>
                  <a:srgbClr val="002060"/>
                </a:solidFill>
              </a:rPr>
              <a:t>Каждый отдельный потребитель стремится к максимизации полезности</a:t>
            </a:r>
          </a:p>
          <a:p>
            <a:pPr marL="285750" indent="-285750" algn="just">
              <a:buFont typeface="Arial" panose="020B0604020202020204" pitchFamily="34" charset="0"/>
              <a:buChar char="•"/>
            </a:pPr>
            <a:r>
              <a:rPr lang="ru-RU" sz="2400" dirty="0">
                <a:solidFill>
                  <a:srgbClr val="002060"/>
                </a:solidFill>
              </a:rPr>
              <a:t>Полезности разных благ сопоставимы и потребитель способен проводить сопоставление полезности разных благ</a:t>
            </a:r>
          </a:p>
          <a:p>
            <a:pPr marL="285750" indent="-285750" algn="just">
              <a:buFont typeface="Arial" panose="020B0604020202020204" pitchFamily="34" charset="0"/>
              <a:buChar char="•"/>
            </a:pPr>
            <a:endParaRPr lang="ru-RU" sz="2400" dirty="0">
              <a:solidFill>
                <a:srgbClr val="002060"/>
              </a:solidFill>
            </a:endParaRPr>
          </a:p>
          <a:p>
            <a:pPr algn="just"/>
            <a:r>
              <a:rPr lang="ru-RU" sz="2400" b="1" u="sng" dirty="0">
                <a:solidFill>
                  <a:srgbClr val="002060"/>
                </a:solidFill>
              </a:rPr>
              <a:t>Суверенитет потребителя:</a:t>
            </a:r>
          </a:p>
          <a:p>
            <a:pPr marL="342900" indent="-342900" algn="just">
              <a:buFont typeface="Arial" panose="020B0604020202020204" pitchFamily="34" charset="0"/>
              <a:buChar char="•"/>
            </a:pPr>
            <a:r>
              <a:rPr lang="ru-RU" sz="2400" dirty="0">
                <a:solidFill>
                  <a:srgbClr val="002060"/>
                </a:solidFill>
              </a:rPr>
              <a:t>Предпочтения потребителя принимаются самостоятельно</a:t>
            </a:r>
          </a:p>
          <a:p>
            <a:pPr marL="342900" indent="-342900" algn="just">
              <a:buFont typeface="Arial" panose="020B0604020202020204" pitchFamily="34" charset="0"/>
              <a:buChar char="•"/>
            </a:pPr>
            <a:r>
              <a:rPr lang="ru-RU" sz="2400" dirty="0">
                <a:solidFill>
                  <a:srgbClr val="002060"/>
                </a:solidFill>
              </a:rPr>
              <a:t>Принимаемые решения не зависят от решения других потребителей</a:t>
            </a:r>
          </a:p>
          <a:p>
            <a:pPr algn="just">
              <a:defRPr/>
            </a:pPr>
            <a:endParaRPr lang="ru-RU" sz="2400" dirty="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p:txBody>
          <a:bodyPr/>
          <a:lstStyle/>
          <a:p>
            <a:r>
              <a:rPr lang="ru-RU" dirty="0"/>
              <a:t>Департамент теоретической экономики</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AF7DDC-D44F-461A-7EC2-46E4F6ECE108}"/>
                  </a:ext>
                </a:extLst>
              </p:cNvPr>
              <p:cNvSpPr txBox="1"/>
              <p:nvPr/>
            </p:nvSpPr>
            <p:spPr>
              <a:xfrm>
                <a:off x="428070" y="1573849"/>
                <a:ext cx="11051357" cy="3816429"/>
              </a:xfrm>
              <a:prstGeom prst="rect">
                <a:avLst/>
              </a:prstGeom>
              <a:noFill/>
            </p:spPr>
            <p:txBody>
              <a:bodyPr wrap="square">
                <a:spAutoFit/>
              </a:bodyPr>
              <a:lstStyle/>
              <a:p>
                <a:pPr algn="just">
                  <a:defRPr/>
                </a:pPr>
                <a:r>
                  <a:rPr lang="ru-RU" sz="2200" b="1" u="sng" dirty="0">
                    <a:solidFill>
                      <a:srgbClr val="002060"/>
                    </a:solidFill>
                  </a:rPr>
                  <a:t>Общая полезность (</a:t>
                </a:r>
                <a:r>
                  <a:rPr lang="ru-RU" sz="2200" b="1" u="sng" dirty="0" err="1">
                    <a:solidFill>
                      <a:srgbClr val="002060"/>
                    </a:solidFill>
                  </a:rPr>
                  <a:t>total</a:t>
                </a:r>
                <a:r>
                  <a:rPr lang="ru-RU" sz="2200" b="1" u="sng" dirty="0">
                    <a:solidFill>
                      <a:srgbClr val="002060"/>
                    </a:solidFill>
                  </a:rPr>
                  <a:t> </a:t>
                </a:r>
                <a:r>
                  <a:rPr lang="ru-RU" sz="2200" b="1" u="sng" dirty="0" err="1">
                    <a:solidFill>
                      <a:srgbClr val="002060"/>
                    </a:solidFill>
                  </a:rPr>
                  <a:t>utility</a:t>
                </a:r>
                <a:r>
                  <a:rPr lang="ru-RU" sz="2200" b="1" u="sng" dirty="0">
                    <a:solidFill>
                      <a:srgbClr val="002060"/>
                    </a:solidFill>
                  </a:rPr>
                  <a:t>) </a:t>
                </a:r>
                <a:r>
                  <a:rPr lang="ru-RU" sz="2200" dirty="0">
                    <a:solidFill>
                      <a:srgbClr val="002060"/>
                    </a:solidFill>
                  </a:rPr>
                  <a:t>- это удовлетворение, получаемое индивидом от потребления какого-либо блага или их набора за определенный период времени (субъективная оценка).</a:t>
                </a:r>
              </a:p>
              <a:p>
                <a:pPr algn="just">
                  <a:defRPr/>
                </a:pPr>
                <a:endParaRPr lang="en-US" sz="2200" i="1" kern="100" dirty="0">
                  <a:solidFill>
                    <a:srgbClr val="002060"/>
                  </a:solidFill>
                  <a:effectLst/>
                  <a:latin typeface="Cambria Math" panose="02040503050406030204" pitchFamily="18" charset="0"/>
                  <a:ea typeface="Aptos" panose="020B0004020202020204" pitchFamily="34" charset="0"/>
                  <a:cs typeface="Times New Roman" panose="02020603050405020304" pitchFamily="18" charset="0"/>
                </a:endParaRPr>
              </a:p>
              <a:p>
                <a:pPr algn="just">
                  <a:defRPr/>
                </a:pPr>
                <a14:m>
                  <m:oMathPara xmlns:m="http://schemas.openxmlformats.org/officeDocument/2006/math">
                    <m:oMathParaPr>
                      <m:jc m:val="center"/>
                    </m:oMathParaPr>
                    <m:oMath xmlns:m="http://schemas.openxmlformats.org/officeDocument/2006/math">
                      <m:sSub>
                        <m:sSubPr>
                          <m:ctrlPr>
                            <a:rPr lang="ru-RU" sz="2200" i="1" kern="100" smtClean="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𝑇𝑈</m:t>
                          </m:r>
                        </m:e>
                        <m:sub>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𝑛</m:t>
                          </m:r>
                        </m:sub>
                      </m:sSub>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𝑀𝑈</m:t>
                          </m:r>
                        </m:e>
                        <m:sub>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𝑀𝑈</m:t>
                          </m:r>
                        </m:e>
                        <m:sub>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2</m:t>
                          </m:r>
                        </m:sub>
                      </m:sSub>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ru-RU"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𝑀𝑈</m:t>
                          </m:r>
                        </m:e>
                        <m:sub>
                          <m:r>
                            <a:rPr lang="en-US" sz="2200" i="1" kern="100">
                              <a:solidFill>
                                <a:srgbClr val="002060"/>
                              </a:solidFill>
                              <a:effectLst/>
                              <a:latin typeface="Cambria Math" panose="02040503050406030204" pitchFamily="18" charset="0"/>
                              <a:ea typeface="Aptos" panose="020B0004020202020204" pitchFamily="34" charset="0"/>
                              <a:cs typeface="Times New Roman" panose="02020603050405020304" pitchFamily="18" charset="0"/>
                            </a:rPr>
                            <m:t>𝑛</m:t>
                          </m:r>
                        </m:sub>
                      </m:sSub>
                    </m:oMath>
                  </m:oMathPara>
                </a14:m>
                <a:endParaRPr lang="en-US" sz="2200" b="1" u="sng" dirty="0">
                  <a:solidFill>
                    <a:schemeClr val="bg2">
                      <a:lumMod val="10000"/>
                    </a:schemeClr>
                  </a:solidFill>
                </a:endParaRPr>
              </a:p>
              <a:p>
                <a:pPr algn="just">
                  <a:defRPr/>
                </a:pPr>
                <a:endParaRPr lang="en-US" sz="2200" b="1" u="sng" dirty="0">
                  <a:solidFill>
                    <a:schemeClr val="bg2">
                      <a:lumMod val="10000"/>
                    </a:schemeClr>
                  </a:solidFill>
                </a:endParaRPr>
              </a:p>
              <a:p>
                <a:pPr algn="just">
                  <a:defRPr/>
                </a:pPr>
                <a:r>
                  <a:rPr lang="ru-RU" sz="2200" b="1" u="sng" dirty="0">
                    <a:solidFill>
                      <a:srgbClr val="002060"/>
                    </a:solidFill>
                  </a:rPr>
                  <a:t>Предельная полезность (</a:t>
                </a:r>
                <a:r>
                  <a:rPr lang="ru-RU" sz="2200" b="1" u="sng" dirty="0" err="1">
                    <a:solidFill>
                      <a:srgbClr val="002060"/>
                    </a:solidFill>
                  </a:rPr>
                  <a:t>marginal</a:t>
                </a:r>
                <a:r>
                  <a:rPr lang="ru-RU" sz="2200" b="1" u="sng" dirty="0">
                    <a:solidFill>
                      <a:srgbClr val="002060"/>
                    </a:solidFill>
                  </a:rPr>
                  <a:t> </a:t>
                </a:r>
                <a:r>
                  <a:rPr lang="ru-RU" sz="2200" b="1" u="sng" dirty="0" err="1">
                    <a:solidFill>
                      <a:srgbClr val="002060"/>
                    </a:solidFill>
                  </a:rPr>
                  <a:t>utility</a:t>
                </a:r>
                <a:r>
                  <a:rPr lang="ru-RU" sz="2200" b="1" u="sng" dirty="0">
                    <a:solidFill>
                      <a:srgbClr val="002060"/>
                    </a:solidFill>
                  </a:rPr>
                  <a:t>) </a:t>
                </a:r>
                <a:r>
                  <a:rPr lang="ru-RU" sz="2200" dirty="0">
                    <a:solidFill>
                      <a:srgbClr val="002060"/>
                    </a:solidFill>
                  </a:rPr>
                  <a:t>- это удовлетворение, получаемое индивидом от потребления последней единицы блага.</a:t>
                </a:r>
              </a:p>
              <a:p>
                <a:pPr algn="just">
                  <a:defRPr/>
                </a:pPr>
                <a:endParaRPr lang="ru-RU" sz="2200" dirty="0">
                  <a:solidFill>
                    <a:srgbClr val="002060"/>
                  </a:solidFill>
                </a:endParaRPr>
              </a:p>
              <a:p>
                <a:pPr algn="just">
                  <a:defRPr/>
                </a:pPr>
                <a:r>
                  <a:rPr lang="ru-RU" sz="2200" dirty="0">
                    <a:solidFill>
                      <a:srgbClr val="002060"/>
                    </a:solidFill>
                  </a:rPr>
                  <a:t>MU(</a:t>
                </a:r>
                <a:r>
                  <a:rPr lang="en-US" sz="2200" dirty="0">
                    <a:solidFill>
                      <a:srgbClr val="002060"/>
                    </a:solidFill>
                  </a:rPr>
                  <a:t>X</a:t>
                </a:r>
                <a:r>
                  <a:rPr lang="ru-RU" sz="2200" dirty="0">
                    <a:solidFill>
                      <a:srgbClr val="002060"/>
                    </a:solidFill>
                  </a:rPr>
                  <a:t>) - это прирост общей полезности товарного набора при увеличении объема потребления данного товара на единицу.</a:t>
                </a:r>
              </a:p>
            </p:txBody>
          </p:sp>
        </mc:Choice>
        <mc:Fallback xmlns="">
          <p:sp>
            <p:nvSpPr>
              <p:cNvPr id="6" name="TextBox 5">
                <a:extLst>
                  <a:ext uri="{FF2B5EF4-FFF2-40B4-BE49-F238E27FC236}">
                    <a16:creationId xmlns:a16="http://schemas.microsoft.com/office/drawing/2014/main" id="{9FAF7DDC-D44F-461A-7EC2-46E4F6ECE108}"/>
                  </a:ext>
                </a:extLst>
              </p:cNvPr>
              <p:cNvSpPr txBox="1">
                <a:spLocks noRot="1" noChangeAspect="1" noMove="1" noResize="1" noEditPoints="1" noAdjustHandles="1" noChangeArrowheads="1" noChangeShapeType="1" noTextEdit="1"/>
              </p:cNvSpPr>
              <p:nvPr/>
            </p:nvSpPr>
            <p:spPr>
              <a:xfrm>
                <a:off x="428070" y="1573849"/>
                <a:ext cx="11051357" cy="3816429"/>
              </a:xfrm>
              <a:prstGeom prst="rect">
                <a:avLst/>
              </a:prstGeom>
              <a:blipFill>
                <a:blip r:embed="rId2"/>
                <a:stretch>
                  <a:fillRect l="-689" t="-993" r="-804" b="-2649"/>
                </a:stretch>
              </a:blipFill>
            </p:spPr>
            <p:txBody>
              <a:bodyPr/>
              <a:lstStyle/>
              <a:p>
                <a:r>
                  <a:rPr lang="en-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823F0B-94B7-C8E9-5B18-A080CB3E867E}"/>
                  </a:ext>
                </a:extLst>
              </p:cNvPr>
              <p:cNvSpPr txBox="1"/>
              <p:nvPr/>
            </p:nvSpPr>
            <p:spPr>
              <a:xfrm>
                <a:off x="4478453" y="5583119"/>
                <a:ext cx="2950590" cy="72616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ru-RU" sz="2200" i="1" kern="100" smtClean="0">
                          <a:solidFill>
                            <a:srgbClr val="002060"/>
                          </a:solidFill>
                          <a:latin typeface="Cambria Math" panose="02040503050406030204" pitchFamily="18" charset="0"/>
                          <a:ea typeface="Aptos" panose="020B0004020202020204" pitchFamily="34" charset="0"/>
                          <a:cs typeface="Times New Roman" panose="02020603050405020304" pitchFamily="18" charset="0"/>
                        </a:rPr>
                        <m:t>𝑀𝑈</m:t>
                      </m:r>
                      <m:d>
                        <m:dPr>
                          <m:ctrlP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ctrlPr>
                        </m:dPr>
                        <m:e>
                          <m: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𝑋</m:t>
                          </m:r>
                        </m:e>
                      </m:d>
                      <m: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m:t>
                      </m:r>
                      <m:f>
                        <m:fPr>
                          <m:ctrlP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ctrlPr>
                        </m:fPr>
                        <m:num>
                          <m:r>
                            <m:rPr>
                              <m:sty m:val="p"/>
                            </m:rP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Δ</m:t>
                          </m:r>
                          <m: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𝑈</m:t>
                          </m:r>
                        </m:num>
                        <m:den>
                          <m:r>
                            <m:rPr>
                              <m:sty m:val="p"/>
                            </m:rP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ΔX</m:t>
                          </m:r>
                        </m:den>
                      </m:f>
                      <m: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m:t>
                      </m:r>
                      <m: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𝑈</m:t>
                      </m:r>
                      <m: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m:t>
                      </m:r>
                      <m:d>
                        <m:dPr>
                          <m:ctrlP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ctrlPr>
                        </m:dPr>
                        <m:e>
                          <m:r>
                            <a:rPr lang="ru-RU" sz="2200" i="1" kern="100">
                              <a:solidFill>
                                <a:srgbClr val="002060"/>
                              </a:solidFill>
                              <a:latin typeface="Cambria Math" panose="02040503050406030204" pitchFamily="18" charset="0"/>
                              <a:ea typeface="Aptos" panose="020B0004020202020204" pitchFamily="34" charset="0"/>
                              <a:cs typeface="Times New Roman" panose="02020603050405020304" pitchFamily="18" charset="0"/>
                            </a:rPr>
                            <m:t>𝑋</m:t>
                          </m:r>
                        </m:e>
                      </m:d>
                    </m:oMath>
                  </m:oMathPara>
                </a14:m>
                <a:endParaRPr lang="ru-RU" sz="2200" i="1" kern="100" dirty="0">
                  <a:solidFill>
                    <a:srgbClr val="002060"/>
                  </a:solidFill>
                  <a:ea typeface="Aptos" panose="020B000402020202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85823F0B-94B7-C8E9-5B18-A080CB3E867E}"/>
                  </a:ext>
                </a:extLst>
              </p:cNvPr>
              <p:cNvSpPr txBox="1">
                <a:spLocks noRot="1" noChangeAspect="1" noMove="1" noResize="1" noEditPoints="1" noAdjustHandles="1" noChangeArrowheads="1" noChangeShapeType="1" noTextEdit="1"/>
              </p:cNvSpPr>
              <p:nvPr/>
            </p:nvSpPr>
            <p:spPr>
              <a:xfrm>
                <a:off x="4478453" y="5583119"/>
                <a:ext cx="2950590" cy="726161"/>
              </a:xfrm>
              <a:prstGeom prst="rect">
                <a:avLst/>
              </a:prstGeom>
              <a:blipFill>
                <a:blip r:embed="rId3"/>
                <a:stretch>
                  <a:fillRect b="-6897"/>
                </a:stretch>
              </a:blipFill>
            </p:spPr>
            <p:txBody>
              <a:bodyPr/>
              <a:lstStyle/>
              <a:p>
                <a:r>
                  <a:rPr lang="en-RU">
                    <a:noFill/>
                  </a:rPr>
                  <a:t> </a:t>
                </a:r>
              </a:p>
            </p:txBody>
          </p:sp>
        </mc:Fallback>
      </mc:AlternateContent>
    </p:spTree>
    <p:extLst>
      <p:ext uri="{BB962C8B-B14F-4D97-AF65-F5344CB8AC3E}">
        <p14:creationId xmlns:p14="http://schemas.microsoft.com/office/powerpoint/2010/main" val="4122277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B198A-8222-4099-7231-55E2B0D00BBF}"/>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A2CF4DED-B7EC-5330-7343-359449C78501}"/>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46BBABE-3057-F1B5-087F-CC8DF942E094}"/>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95BADEE5-819D-655C-3FBA-B5DD3CF441EC}"/>
              </a:ext>
            </a:extLst>
          </p:cNvPr>
          <p:cNvSpPr>
            <a:spLocks noGrp="1"/>
          </p:cNvSpPr>
          <p:nvPr>
            <p:ph type="body" sz="quarter" idx="15"/>
          </p:nvPr>
        </p:nvSpPr>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BEEA54A9-1DBD-55D1-CA0A-139CD61EE75E}"/>
              </a:ext>
            </a:extLst>
          </p:cNvPr>
          <p:cNvSpPr txBox="1"/>
          <p:nvPr/>
        </p:nvSpPr>
        <p:spPr>
          <a:xfrm>
            <a:off x="492310" y="1980631"/>
            <a:ext cx="5767582" cy="3139321"/>
          </a:xfrm>
          <a:prstGeom prst="rect">
            <a:avLst/>
          </a:prstGeom>
          <a:noFill/>
        </p:spPr>
        <p:txBody>
          <a:bodyPr wrap="square" rtlCol="0">
            <a:spAutoFit/>
          </a:bodyPr>
          <a:lstStyle/>
          <a:p>
            <a:r>
              <a:rPr lang="ru-RU" sz="2200" b="1" i="1" u="sng" dirty="0">
                <a:solidFill>
                  <a:srgbClr val="002060"/>
                </a:solidFill>
              </a:rPr>
              <a:t>Закон убывающей полезности</a:t>
            </a:r>
          </a:p>
          <a:p>
            <a:endParaRPr lang="ru-RU" sz="2200" dirty="0">
              <a:solidFill>
                <a:schemeClr val="bg2">
                  <a:lumMod val="10000"/>
                </a:schemeClr>
              </a:solidFill>
            </a:endParaRPr>
          </a:p>
          <a:p>
            <a:pPr algn="just"/>
            <a:r>
              <a:rPr lang="ru-RU" sz="2200" dirty="0">
                <a:solidFill>
                  <a:srgbClr val="002060"/>
                </a:solidFill>
              </a:rPr>
              <a:t>Закон убывающей полезности говорит о том, что при фиксированном потребительском наборе с увеличением потребления одного из входящих в такой набор благ предельная полезность каждой следующей потребляемой единицы блага убывает, а общая полезность возрастает убывающими темпами.</a:t>
            </a:r>
          </a:p>
        </p:txBody>
      </p:sp>
      <p:sp>
        <p:nvSpPr>
          <p:cNvPr id="15" name="TextBox 14">
            <a:extLst>
              <a:ext uri="{FF2B5EF4-FFF2-40B4-BE49-F238E27FC236}">
                <a16:creationId xmlns:a16="http://schemas.microsoft.com/office/drawing/2014/main" id="{036546E5-F81E-FED6-8EE8-7343A82DC633}"/>
              </a:ext>
            </a:extLst>
          </p:cNvPr>
          <p:cNvSpPr txBox="1"/>
          <p:nvPr/>
        </p:nvSpPr>
        <p:spPr>
          <a:xfrm>
            <a:off x="492310" y="5382111"/>
            <a:ext cx="5767582" cy="769441"/>
          </a:xfrm>
          <a:prstGeom prst="rect">
            <a:avLst/>
          </a:prstGeom>
          <a:noFill/>
        </p:spPr>
        <p:txBody>
          <a:bodyPr wrap="square">
            <a:spAutoFit/>
          </a:bodyPr>
          <a:lstStyle/>
          <a:p>
            <a:pPr algn="ctr"/>
            <a:r>
              <a:rPr lang="ru-RU" sz="2200" b="1" u="sng" dirty="0">
                <a:solidFill>
                  <a:srgbClr val="002060"/>
                </a:solidFill>
              </a:rPr>
              <a:t>Закон убывающей предельной полезности действует не всегда!</a:t>
            </a:r>
          </a:p>
        </p:txBody>
      </p:sp>
      <p:grpSp>
        <p:nvGrpSpPr>
          <p:cNvPr id="10" name="Группа 9">
            <a:extLst>
              <a:ext uri="{FF2B5EF4-FFF2-40B4-BE49-F238E27FC236}">
                <a16:creationId xmlns:a16="http://schemas.microsoft.com/office/drawing/2014/main" id="{A32A668B-E12B-5791-4920-2677D6E60EEA}"/>
              </a:ext>
            </a:extLst>
          </p:cNvPr>
          <p:cNvGrpSpPr/>
          <p:nvPr/>
        </p:nvGrpSpPr>
        <p:grpSpPr>
          <a:xfrm>
            <a:off x="6797364" y="1980631"/>
            <a:ext cx="4558034" cy="4543737"/>
            <a:chOff x="5872898" y="1112043"/>
            <a:chExt cx="3676455" cy="4723370"/>
          </a:xfrm>
        </p:grpSpPr>
        <p:pic>
          <p:nvPicPr>
            <p:cNvPr id="7" name="Рисунок 6">
              <a:extLst>
                <a:ext uri="{FF2B5EF4-FFF2-40B4-BE49-F238E27FC236}">
                  <a16:creationId xmlns:a16="http://schemas.microsoft.com/office/drawing/2014/main" id="{C30755BE-94BD-674C-414C-89554CE15E17}"/>
                </a:ext>
              </a:extLst>
            </p:cNvPr>
            <p:cNvPicPr>
              <a:picLocks noChangeAspect="1"/>
            </p:cNvPicPr>
            <p:nvPr/>
          </p:nvPicPr>
          <p:blipFill>
            <a:blip r:embed="rId2"/>
            <a:srcRect l="12217" t="27296" r="63505" b="17252"/>
            <a:stretch/>
          </p:blipFill>
          <p:spPr>
            <a:xfrm>
              <a:off x="5872898" y="1112043"/>
              <a:ext cx="3676455" cy="4723370"/>
            </a:xfrm>
            <a:prstGeom prst="rect">
              <a:avLst/>
            </a:prstGeom>
          </p:spPr>
        </p:pic>
        <p:sp>
          <p:nvSpPr>
            <p:cNvPr id="9" name="TextBox 8">
              <a:extLst>
                <a:ext uri="{FF2B5EF4-FFF2-40B4-BE49-F238E27FC236}">
                  <a16:creationId xmlns:a16="http://schemas.microsoft.com/office/drawing/2014/main" id="{08DACEF4-D089-3682-75AA-EDEB124D4DF2}"/>
                </a:ext>
              </a:extLst>
            </p:cNvPr>
            <p:cNvSpPr txBox="1"/>
            <p:nvPr/>
          </p:nvSpPr>
          <p:spPr>
            <a:xfrm>
              <a:off x="8832915" y="3244334"/>
              <a:ext cx="716438" cy="369332"/>
            </a:xfrm>
            <a:prstGeom prst="rect">
              <a:avLst/>
            </a:prstGeom>
            <a:solidFill>
              <a:schemeClr val="bg1">
                <a:lumMod val="95000"/>
              </a:schemeClr>
            </a:solidFill>
          </p:spPr>
          <p:txBody>
            <a:bodyPr wrap="square" rtlCol="0">
              <a:spAutoFit/>
            </a:bodyPr>
            <a:lstStyle/>
            <a:p>
              <a:pPr algn="l"/>
              <a:endParaRPr lang="ru-RU" dirty="0">
                <a:solidFill>
                  <a:schemeClr val="tx2">
                    <a:lumMod val="50000"/>
                  </a:schemeClr>
                </a:solidFill>
                <a:latin typeface="HSE Sans" panose="02000000000000000000" pitchFamily="2" charset="0"/>
              </a:endParaRPr>
            </a:p>
          </p:txBody>
        </p:sp>
        <p:sp>
          <p:nvSpPr>
            <p:cNvPr id="11" name="TextBox 10">
              <a:extLst>
                <a:ext uri="{FF2B5EF4-FFF2-40B4-BE49-F238E27FC236}">
                  <a16:creationId xmlns:a16="http://schemas.microsoft.com/office/drawing/2014/main" id="{3A520AD3-40AE-2291-7627-6C55C743DC40}"/>
                </a:ext>
              </a:extLst>
            </p:cNvPr>
            <p:cNvSpPr txBox="1"/>
            <p:nvPr/>
          </p:nvSpPr>
          <p:spPr>
            <a:xfrm>
              <a:off x="8832915" y="5451999"/>
              <a:ext cx="716438" cy="369332"/>
            </a:xfrm>
            <a:prstGeom prst="rect">
              <a:avLst/>
            </a:prstGeom>
            <a:solidFill>
              <a:schemeClr val="bg1">
                <a:lumMod val="95000"/>
              </a:schemeClr>
            </a:solidFill>
          </p:spPr>
          <p:txBody>
            <a:bodyPr wrap="square" rtlCol="0">
              <a:spAutoFit/>
            </a:bodyPr>
            <a:lstStyle/>
            <a:p>
              <a:pPr algn="l"/>
              <a:endParaRPr lang="ru-RU" dirty="0">
                <a:solidFill>
                  <a:schemeClr val="tx2">
                    <a:lumMod val="50000"/>
                  </a:schemeClr>
                </a:solidFill>
                <a:latin typeface="HSE Sans" panose="02000000000000000000" pitchFamily="2" charset="0"/>
              </a:endParaRPr>
            </a:p>
          </p:txBody>
        </p:sp>
      </p:grpSp>
      <p:sp>
        <p:nvSpPr>
          <p:cNvPr id="12" name="TextBox 11">
            <a:extLst>
              <a:ext uri="{FF2B5EF4-FFF2-40B4-BE49-F238E27FC236}">
                <a16:creationId xmlns:a16="http://schemas.microsoft.com/office/drawing/2014/main" id="{281E1123-0D84-4DE4-4654-1D987E0AF28E}"/>
              </a:ext>
            </a:extLst>
          </p:cNvPr>
          <p:cNvSpPr txBox="1"/>
          <p:nvPr/>
        </p:nvSpPr>
        <p:spPr>
          <a:xfrm>
            <a:off x="6856369" y="1133152"/>
            <a:ext cx="4440024" cy="707886"/>
          </a:xfrm>
          <a:prstGeom prst="rect">
            <a:avLst/>
          </a:prstGeom>
          <a:noFill/>
        </p:spPr>
        <p:txBody>
          <a:bodyPr wrap="square" rtlCol="0">
            <a:spAutoFit/>
          </a:bodyPr>
          <a:lstStyle/>
          <a:p>
            <a:pPr algn="ctr"/>
            <a:r>
              <a:rPr lang="ru-RU" sz="2000" b="1" u="sng" dirty="0">
                <a:solidFill>
                  <a:srgbClr val="002060"/>
                </a:solidFill>
              </a:rPr>
              <a:t>Кривые общей полезности и предельной полезности</a:t>
            </a:r>
          </a:p>
        </p:txBody>
      </p:sp>
    </p:spTree>
    <p:extLst>
      <p:ext uri="{BB962C8B-B14F-4D97-AF65-F5344CB8AC3E}">
        <p14:creationId xmlns:p14="http://schemas.microsoft.com/office/powerpoint/2010/main" val="2672006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4D1F1BB6-44F6-8677-D7D6-D918084F2A46}"/>
              </a:ext>
            </a:extLst>
          </p:cNvPr>
          <p:cNvSpPr txBox="1"/>
          <p:nvPr/>
        </p:nvSpPr>
        <p:spPr>
          <a:xfrm>
            <a:off x="631728" y="1982440"/>
            <a:ext cx="10928544" cy="3754874"/>
          </a:xfrm>
          <a:prstGeom prst="rect">
            <a:avLst/>
          </a:prstGeom>
          <a:noFill/>
        </p:spPr>
        <p:txBody>
          <a:bodyPr wrap="square">
            <a:spAutoFit/>
          </a:bodyPr>
          <a:lstStyle/>
          <a:p>
            <a:pPr algn="just">
              <a:spcBef>
                <a:spcPts val="600"/>
              </a:spcBef>
            </a:pPr>
            <a:r>
              <a:rPr lang="ru-RU" sz="2200" b="1" u="sng" spc="5" dirty="0">
                <a:solidFill>
                  <a:srgbClr val="002060"/>
                </a:solidFill>
                <a:latin typeface="Arial" panose="020B0604020202020204" pitchFamily="34" charset="0"/>
              </a:rPr>
              <a:t>Задача 1.</a:t>
            </a:r>
          </a:p>
          <a:p>
            <a:pPr algn="just">
              <a:spcBef>
                <a:spcPts val="600"/>
              </a:spcBef>
            </a:pPr>
            <a:r>
              <a:rPr lang="ru-RU" sz="2200" spc="5" dirty="0">
                <a:solidFill>
                  <a:srgbClr val="002060"/>
                </a:solidFill>
                <a:latin typeface="Arial" panose="020B0604020202020204" pitchFamily="34" charset="0"/>
              </a:rPr>
              <a:t>В свободное от учебы время студент посещает кафе, где покупает булочки и кофе. В таблице показана полезность, которую он получает от различного количества купленных булочек и кофе. </a:t>
            </a:r>
          </a:p>
          <a:p>
            <a:pPr algn="just">
              <a:spcBef>
                <a:spcPts val="600"/>
              </a:spcBef>
            </a:pPr>
            <a:endParaRPr lang="ru-RU" sz="1000" spc="5" dirty="0">
              <a:solidFill>
                <a:srgbClr val="002060"/>
              </a:solidFill>
              <a:latin typeface="Arial" panose="020B0604020202020204" pitchFamily="34" charset="0"/>
            </a:endParaRPr>
          </a:p>
          <a:p>
            <a:pPr algn="just">
              <a:spcBef>
                <a:spcPts val="600"/>
              </a:spcBef>
            </a:pPr>
            <a:r>
              <a:rPr lang="ru-RU" sz="2200" spc="5" dirty="0">
                <a:solidFill>
                  <a:srgbClr val="002060"/>
                </a:solidFill>
                <a:latin typeface="Arial" panose="020B0604020202020204" pitchFamily="34" charset="0"/>
              </a:rPr>
              <a:t>Одна булочка обходится студенту в 50 ден ед. Чашечка кофе стоит 100 ден ед. </a:t>
            </a:r>
          </a:p>
          <a:p>
            <a:pPr algn="just">
              <a:spcBef>
                <a:spcPts val="600"/>
              </a:spcBef>
            </a:pPr>
            <a:r>
              <a:rPr lang="ru-RU" sz="2200" spc="5" dirty="0">
                <a:solidFill>
                  <a:srgbClr val="002060"/>
                </a:solidFill>
                <a:latin typeface="Arial" panose="020B0604020202020204" pitchFamily="34" charset="0"/>
              </a:rPr>
              <a:t>Предположим, что каждый день студент выпивает 3 чашки кофе и съедает одну булочку.</a:t>
            </a:r>
          </a:p>
          <a:p>
            <a:pPr algn="just">
              <a:spcBef>
                <a:spcPts val="600"/>
              </a:spcBef>
            </a:pPr>
            <a:endParaRPr lang="ru-RU" sz="2200" spc="5" dirty="0">
              <a:solidFill>
                <a:srgbClr val="002060"/>
              </a:solidFill>
              <a:latin typeface="Arial" panose="020B0604020202020204" pitchFamily="34" charset="0"/>
            </a:endParaRPr>
          </a:p>
          <a:p>
            <a:pPr algn="just">
              <a:spcBef>
                <a:spcPts val="600"/>
              </a:spcBef>
            </a:pPr>
            <a:r>
              <a:rPr lang="ru-RU" sz="2200" b="1" spc="5" dirty="0">
                <a:solidFill>
                  <a:srgbClr val="002060"/>
                </a:solidFill>
                <a:latin typeface="Arial" panose="020B0604020202020204" pitchFamily="34" charset="0"/>
              </a:rPr>
              <a:t>А) Сколько денег тратит студент на кофе и булочки каждый день?</a:t>
            </a:r>
          </a:p>
        </p:txBody>
      </p:sp>
    </p:spTree>
    <p:extLst>
      <p:ext uri="{BB962C8B-B14F-4D97-AF65-F5344CB8AC3E}">
        <p14:creationId xmlns:p14="http://schemas.microsoft.com/office/powerpoint/2010/main" val="1031538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mc:AlternateContent xmlns:mc="http://schemas.openxmlformats.org/markup-compatibility/2006" xmlns:a14="http://schemas.microsoft.com/office/drawing/2010/main">
        <mc:Choice Requires="a14">
          <p:graphicFrame>
            <p:nvGraphicFramePr>
              <p:cNvPr id="5" name="Таблица 4">
                <a:extLst>
                  <a:ext uri="{FF2B5EF4-FFF2-40B4-BE49-F238E27FC236}">
                    <a16:creationId xmlns:a16="http://schemas.microsoft.com/office/drawing/2014/main" id="{7238D607-C897-F17E-B5C4-017585589E36}"/>
                  </a:ext>
                </a:extLst>
              </p:cNvPr>
              <p:cNvGraphicFramePr>
                <a:graphicFrameLocks noGrp="1"/>
              </p:cNvGraphicFramePr>
              <p:nvPr>
                <p:extLst>
                  <p:ext uri="{D42A27DB-BD31-4B8C-83A1-F6EECF244321}">
                    <p14:modId xmlns:p14="http://schemas.microsoft.com/office/powerpoint/2010/main" val="2697031924"/>
                  </p:ext>
                </p:extLst>
              </p:nvPr>
            </p:nvGraphicFramePr>
            <p:xfrm>
              <a:off x="691878" y="1165253"/>
              <a:ext cx="10808243" cy="3667084"/>
            </p:xfrm>
            <a:graphic>
              <a:graphicData uri="http://schemas.openxmlformats.org/drawingml/2006/table">
                <a:tbl>
                  <a:tblPr firstRow="1" firstCol="1" bandRow="1"/>
                  <a:tblGrid>
                    <a:gridCol w="1506385">
                      <a:extLst>
                        <a:ext uri="{9D8B030D-6E8A-4147-A177-3AD203B41FA5}">
                          <a16:colId xmlns:a16="http://schemas.microsoft.com/office/drawing/2014/main" val="255173490"/>
                        </a:ext>
                      </a:extLst>
                    </a:gridCol>
                    <a:gridCol w="1655534">
                      <a:extLst>
                        <a:ext uri="{9D8B030D-6E8A-4147-A177-3AD203B41FA5}">
                          <a16:colId xmlns:a16="http://schemas.microsoft.com/office/drawing/2014/main" val="3073428915"/>
                        </a:ext>
                      </a:extLst>
                    </a:gridCol>
                    <a:gridCol w="1525181">
                      <a:extLst>
                        <a:ext uri="{9D8B030D-6E8A-4147-A177-3AD203B41FA5}">
                          <a16:colId xmlns:a16="http://schemas.microsoft.com/office/drawing/2014/main" val="1893867116"/>
                        </a:ext>
                      </a:extLst>
                    </a:gridCol>
                    <a:gridCol w="711241">
                      <a:extLst>
                        <a:ext uri="{9D8B030D-6E8A-4147-A177-3AD203B41FA5}">
                          <a16:colId xmlns:a16="http://schemas.microsoft.com/office/drawing/2014/main" val="3385264874"/>
                        </a:ext>
                      </a:extLst>
                    </a:gridCol>
                    <a:gridCol w="1379537">
                      <a:extLst>
                        <a:ext uri="{9D8B030D-6E8A-4147-A177-3AD203B41FA5}">
                          <a16:colId xmlns:a16="http://schemas.microsoft.com/office/drawing/2014/main" val="2686431893"/>
                        </a:ext>
                      </a:extLst>
                    </a:gridCol>
                    <a:gridCol w="1574738">
                      <a:extLst>
                        <a:ext uri="{9D8B030D-6E8A-4147-A177-3AD203B41FA5}">
                          <a16:colId xmlns:a16="http://schemas.microsoft.com/office/drawing/2014/main" val="1641689885"/>
                        </a:ext>
                      </a:extLst>
                    </a:gridCol>
                    <a:gridCol w="1582331">
                      <a:extLst>
                        <a:ext uri="{9D8B030D-6E8A-4147-A177-3AD203B41FA5}">
                          <a16:colId xmlns:a16="http://schemas.microsoft.com/office/drawing/2014/main" val="463413660"/>
                        </a:ext>
                      </a:extLst>
                    </a:gridCol>
                    <a:gridCol w="873296">
                      <a:extLst>
                        <a:ext uri="{9D8B030D-6E8A-4147-A177-3AD203B41FA5}">
                          <a16:colId xmlns:a16="http://schemas.microsoft.com/office/drawing/2014/main" val="4261140500"/>
                        </a:ext>
                      </a:extLst>
                    </a:gridCol>
                  </a:tblGrid>
                  <a:tr h="203485">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Булочка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50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Кофе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100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2821678"/>
                      </a:ext>
                    </a:extLst>
                  </a:tr>
                  <a:tr h="1129260">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Предельная</a:t>
                          </a:r>
                        </a:p>
                        <a:p>
                          <a:pPr algn="ctr">
                            <a:lnSpc>
                              <a:spcPct val="107000"/>
                            </a:lnSpc>
                            <a:spcAft>
                              <a:spcPts val="800"/>
                            </a:spcAft>
                          </a:pPr>
                          <a:r>
                            <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14:m>
                            <m:oMathPara xmlns:m="http://schemas.openxmlformats.org/officeDocument/2006/math">
                              <m:oMathParaPr>
                                <m:jc m:val="centerGroup"/>
                              </m:oMathParaPr>
                              <m:oMath xmlns:m="http://schemas.openxmlformats.org/officeDocument/2006/math">
                                <m:r>
                                  <a:rPr lang="ru-RU" sz="2000" b="1" i="1" kern="1200" smtClean="0">
                                    <a:solidFill>
                                      <a:schemeClr val="bg1"/>
                                    </a:solidFill>
                                    <a:effectLst/>
                                    <a:latin typeface="Cambria Math" panose="02040503050406030204" pitchFamily="18" charset="0"/>
                                    <a:ea typeface="+mn-ea"/>
                                    <a:cs typeface="+mn-cs"/>
                                  </a:rPr>
                                  <m:t>𝑴𝑼</m:t>
                                </m:r>
                                <m:r>
                                  <a:rPr lang="ru-RU" sz="2000" b="1" i="1" kern="1200" smtClean="0">
                                    <a:solidFill>
                                      <a:schemeClr val="bg1"/>
                                    </a:solidFill>
                                    <a:effectLst/>
                                    <a:latin typeface="Cambria Math" panose="02040503050406030204" pitchFamily="18" charset="0"/>
                                    <a:ea typeface="+mn-ea"/>
                                    <a:cs typeface="+mn-cs"/>
                                  </a:rPr>
                                  <m:t>=</m:t>
                                </m:r>
                                <m:f>
                                  <m:fPr>
                                    <m:ctrlPr>
                                      <a:rPr lang="ru-RU" sz="2000" b="1" i="1" kern="1200">
                                        <a:solidFill>
                                          <a:schemeClr val="bg1"/>
                                        </a:solidFill>
                                        <a:effectLst/>
                                        <a:latin typeface="Cambria Math" panose="02040503050406030204" pitchFamily="18" charset="0"/>
                                        <a:ea typeface="+mn-ea"/>
                                        <a:cs typeface="+mn-cs"/>
                                      </a:rPr>
                                    </m:ctrlPr>
                                  </m:fPr>
                                  <m:num>
                                    <m:r>
                                      <a:rPr lang="ru-RU" sz="2000" b="1" i="1" kern="1200">
                                        <a:solidFill>
                                          <a:schemeClr val="bg1"/>
                                        </a:solidFill>
                                        <a:effectLst/>
                                        <a:latin typeface="Cambria Math" panose="02040503050406030204" pitchFamily="18" charset="0"/>
                                        <a:ea typeface="+mn-ea"/>
                                        <a:cs typeface="+mn-cs"/>
                                      </a:rPr>
                                      <m:t>𝜟</m:t>
                                    </m:r>
                                    <m:r>
                                      <a:rPr lang="ru-RU" sz="2000" b="1" i="1" kern="1200">
                                        <a:solidFill>
                                          <a:schemeClr val="bg1"/>
                                        </a:solidFill>
                                        <a:effectLst/>
                                        <a:latin typeface="Cambria Math" panose="02040503050406030204" pitchFamily="18" charset="0"/>
                                        <a:ea typeface="+mn-ea"/>
                                        <a:cs typeface="+mn-cs"/>
                                      </a:rPr>
                                      <m:t>𝑻𝑼</m:t>
                                    </m:r>
                                  </m:num>
                                  <m:den>
                                    <m:r>
                                      <a:rPr lang="ru-RU" sz="2000" b="1" i="1" kern="1200">
                                        <a:solidFill>
                                          <a:schemeClr val="bg1"/>
                                        </a:solidFill>
                                        <a:effectLst/>
                                        <a:latin typeface="Cambria Math" panose="02040503050406030204" pitchFamily="18" charset="0"/>
                                        <a:ea typeface="+mn-ea"/>
                                        <a:cs typeface="+mn-cs"/>
                                      </a:rPr>
                                      <m:t>𝜟</m:t>
                                    </m:r>
                                    <m:r>
                                      <a:rPr lang="en-US" sz="2000" b="1" i="1" kern="1200" smtClean="0">
                                        <a:solidFill>
                                          <a:schemeClr val="bg1"/>
                                        </a:solidFill>
                                        <a:effectLst/>
                                        <a:latin typeface="Cambria Math" panose="02040503050406030204" pitchFamily="18" charset="0"/>
                                        <a:ea typeface="+mn-ea"/>
                                        <a:cs typeface="+mn-cs"/>
                                      </a:rPr>
                                      <m:t>𝑸</m:t>
                                    </m:r>
                                  </m:den>
                                </m:f>
                              </m:oMath>
                            </m:oMathPara>
                          </a14:m>
                          <a:endParaRPr lang="ru-RU" sz="2000" b="1" kern="1200" dirty="0">
                            <a:solidFill>
                              <a:schemeClr val="bg1"/>
                            </a:solidFill>
                            <a:effectLst/>
                            <a:latin typeface="+mn-lt"/>
                            <a:ea typeface="+mn-ea"/>
                            <a:cs typeface="+mn-cs"/>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ru-RU" sz="2000" b="1" i="1" kern="12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000" b="1" kern="120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𝑀𝑈</m:t>
                                    </m:r>
                                  </m:num>
                                  <m:den>
                                    <m:r>
                                      <a:rPr lang="ru-RU" sz="2000" b="1" kern="120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𝑃</m:t>
                                    </m:r>
                                  </m:den>
                                </m:f>
                              </m:oMath>
                            </m:oMathPara>
                          </a14:m>
                          <a:endPar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Предельная </a:t>
                          </a:r>
                        </a:p>
                        <a:p>
                          <a:pPr algn="ctr">
                            <a:lnSpc>
                              <a:spcPct val="107000"/>
                            </a:lnSpc>
                            <a:spcAft>
                              <a:spcPts val="800"/>
                            </a:spcAft>
                          </a:pPr>
                          <a:r>
                            <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ru-RU" sz="2000" b="1" i="1" kern="1200" smtClean="0">
                                    <a:solidFill>
                                      <a:schemeClr val="bg1"/>
                                    </a:solidFill>
                                    <a:effectLst/>
                                    <a:latin typeface="Cambria Math" panose="02040503050406030204" pitchFamily="18" charset="0"/>
                                    <a:ea typeface="+mn-ea"/>
                                    <a:cs typeface="+mn-cs"/>
                                  </a:rPr>
                                  <m:t>𝑴𝑼</m:t>
                                </m:r>
                                <m:r>
                                  <a:rPr lang="ru-RU" sz="2000" i="1" kern="1200" smtClean="0">
                                    <a:solidFill>
                                      <a:schemeClr val="bg1"/>
                                    </a:solidFill>
                                    <a:effectLst/>
                                    <a:latin typeface="Cambria Math" panose="02040503050406030204" pitchFamily="18" charset="0"/>
                                    <a:ea typeface="+mn-ea"/>
                                    <a:cs typeface="+mn-cs"/>
                                  </a:rPr>
                                  <m:t>=</m:t>
                                </m:r>
                                <m:f>
                                  <m:fPr>
                                    <m:ctrlPr>
                                      <a:rPr lang="ru-RU" sz="2000" i="1" kern="1200">
                                        <a:solidFill>
                                          <a:schemeClr val="bg1"/>
                                        </a:solidFill>
                                        <a:effectLst/>
                                        <a:latin typeface="Cambria Math" panose="02040503050406030204" pitchFamily="18" charset="0"/>
                                        <a:ea typeface="+mn-ea"/>
                                        <a:cs typeface="+mn-cs"/>
                                      </a:rPr>
                                    </m:ctrlPr>
                                  </m:fPr>
                                  <m:num>
                                    <m:r>
                                      <a:rPr lang="ru-RU" sz="2000" i="1" kern="1200">
                                        <a:solidFill>
                                          <a:schemeClr val="bg1"/>
                                        </a:solidFill>
                                        <a:effectLst/>
                                        <a:latin typeface="Cambria Math" panose="02040503050406030204" pitchFamily="18" charset="0"/>
                                        <a:ea typeface="+mn-ea"/>
                                        <a:cs typeface="+mn-cs"/>
                                      </a:rPr>
                                      <m:t>𝛥</m:t>
                                    </m:r>
                                    <m:r>
                                      <a:rPr lang="ru-RU" sz="2000" i="1" kern="1200">
                                        <a:solidFill>
                                          <a:schemeClr val="bg1"/>
                                        </a:solidFill>
                                        <a:effectLst/>
                                        <a:latin typeface="Cambria Math" panose="02040503050406030204" pitchFamily="18" charset="0"/>
                                        <a:ea typeface="+mn-ea"/>
                                        <a:cs typeface="+mn-cs"/>
                                      </a:rPr>
                                      <m:t>𝑇𝑈</m:t>
                                    </m:r>
                                  </m:num>
                                  <m:den>
                                    <m:r>
                                      <a:rPr lang="ru-RU" sz="2000" i="1" kern="1200">
                                        <a:solidFill>
                                          <a:schemeClr val="bg1"/>
                                        </a:solidFill>
                                        <a:effectLst/>
                                        <a:latin typeface="Cambria Math" panose="02040503050406030204" pitchFamily="18" charset="0"/>
                                        <a:ea typeface="+mn-ea"/>
                                        <a:cs typeface="+mn-cs"/>
                                      </a:rPr>
                                      <m:t>𝛥</m:t>
                                    </m:r>
                                    <m:r>
                                      <a:rPr lang="en-US" sz="2000" b="0" i="1" kern="1200" smtClean="0">
                                        <a:solidFill>
                                          <a:schemeClr val="bg1"/>
                                        </a:solidFill>
                                        <a:effectLst/>
                                        <a:latin typeface="Cambria Math" panose="02040503050406030204" pitchFamily="18" charset="0"/>
                                        <a:ea typeface="+mn-ea"/>
                                        <a:cs typeface="+mn-cs"/>
                                      </a:rPr>
                                      <m:t>𝑄</m:t>
                                    </m:r>
                                  </m:den>
                                </m:f>
                              </m:oMath>
                            </m:oMathPara>
                          </a14:m>
                          <a:endPar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ru-RU" sz="2000" b="1" i="1" kern="12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000" b="1" kern="120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𝑀𝑈</m:t>
                                    </m:r>
                                  </m:num>
                                  <m:den>
                                    <m:r>
                                      <a:rPr lang="ru-RU" sz="2000" b="1" kern="120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𝑃</m:t>
                                    </m:r>
                                  </m:den>
                                </m:f>
                              </m:oMath>
                            </m:oMathPara>
                          </a14:m>
                          <a:endPar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2490148"/>
                      </a:ext>
                    </a:extLst>
                  </a:tr>
                  <a:tr h="346810">
                    <a:tc>
                      <a:txBody>
                        <a:bodyPr/>
                        <a:lstStyle/>
                        <a:p>
                          <a:pPr marL="0" algn="ctr" defTabSz="914400" rtl="0" eaLnBrk="1" fontAlgn="ctr" latinLnBrk="0" hangingPunct="1">
                            <a:lnSpc>
                              <a:spcPct val="107000"/>
                            </a:lnSpc>
                            <a:spcAft>
                              <a:spcPts val="800"/>
                            </a:spcAft>
                          </a:pPr>
                          <a:r>
                            <a:rPr lang="ru-RU" sz="2000" b="1"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b="1" kern="1200" dirty="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775454"/>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90308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700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b="1" kern="1200" dirty="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b="1" kern="1200" dirty="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5535953"/>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94741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0410374"/>
                      </a:ext>
                    </a:extLst>
                  </a:tr>
                </a:tbl>
              </a:graphicData>
            </a:graphic>
          </p:graphicFrame>
        </mc:Choice>
        <mc:Fallback xmlns="">
          <p:graphicFrame>
            <p:nvGraphicFramePr>
              <p:cNvPr id="5" name="Таблица 4">
                <a:extLst>
                  <a:ext uri="{FF2B5EF4-FFF2-40B4-BE49-F238E27FC236}">
                    <a16:creationId xmlns:a16="http://schemas.microsoft.com/office/drawing/2014/main" id="{7238D607-C897-F17E-B5C4-017585589E36}"/>
                  </a:ext>
                </a:extLst>
              </p:cNvPr>
              <p:cNvGraphicFramePr>
                <a:graphicFrameLocks noGrp="1"/>
              </p:cNvGraphicFramePr>
              <p:nvPr>
                <p:extLst>
                  <p:ext uri="{D42A27DB-BD31-4B8C-83A1-F6EECF244321}">
                    <p14:modId xmlns:p14="http://schemas.microsoft.com/office/powerpoint/2010/main" val="2697031924"/>
                  </p:ext>
                </p:extLst>
              </p:nvPr>
            </p:nvGraphicFramePr>
            <p:xfrm>
              <a:off x="691878" y="1165253"/>
              <a:ext cx="10808243" cy="3667084"/>
            </p:xfrm>
            <a:graphic>
              <a:graphicData uri="http://schemas.openxmlformats.org/drawingml/2006/table">
                <a:tbl>
                  <a:tblPr firstRow="1" firstCol="1" bandRow="1"/>
                  <a:tblGrid>
                    <a:gridCol w="1506385">
                      <a:extLst>
                        <a:ext uri="{9D8B030D-6E8A-4147-A177-3AD203B41FA5}">
                          <a16:colId xmlns:a16="http://schemas.microsoft.com/office/drawing/2014/main" val="255173490"/>
                        </a:ext>
                      </a:extLst>
                    </a:gridCol>
                    <a:gridCol w="1655534">
                      <a:extLst>
                        <a:ext uri="{9D8B030D-6E8A-4147-A177-3AD203B41FA5}">
                          <a16:colId xmlns:a16="http://schemas.microsoft.com/office/drawing/2014/main" val="3073428915"/>
                        </a:ext>
                      </a:extLst>
                    </a:gridCol>
                    <a:gridCol w="1525181">
                      <a:extLst>
                        <a:ext uri="{9D8B030D-6E8A-4147-A177-3AD203B41FA5}">
                          <a16:colId xmlns:a16="http://schemas.microsoft.com/office/drawing/2014/main" val="1893867116"/>
                        </a:ext>
                      </a:extLst>
                    </a:gridCol>
                    <a:gridCol w="711241">
                      <a:extLst>
                        <a:ext uri="{9D8B030D-6E8A-4147-A177-3AD203B41FA5}">
                          <a16:colId xmlns:a16="http://schemas.microsoft.com/office/drawing/2014/main" val="3385264874"/>
                        </a:ext>
                      </a:extLst>
                    </a:gridCol>
                    <a:gridCol w="1379537">
                      <a:extLst>
                        <a:ext uri="{9D8B030D-6E8A-4147-A177-3AD203B41FA5}">
                          <a16:colId xmlns:a16="http://schemas.microsoft.com/office/drawing/2014/main" val="2686431893"/>
                        </a:ext>
                      </a:extLst>
                    </a:gridCol>
                    <a:gridCol w="1574738">
                      <a:extLst>
                        <a:ext uri="{9D8B030D-6E8A-4147-A177-3AD203B41FA5}">
                          <a16:colId xmlns:a16="http://schemas.microsoft.com/office/drawing/2014/main" val="1641689885"/>
                        </a:ext>
                      </a:extLst>
                    </a:gridCol>
                    <a:gridCol w="1582331">
                      <a:extLst>
                        <a:ext uri="{9D8B030D-6E8A-4147-A177-3AD203B41FA5}">
                          <a16:colId xmlns:a16="http://schemas.microsoft.com/office/drawing/2014/main" val="463413660"/>
                        </a:ext>
                      </a:extLst>
                    </a:gridCol>
                    <a:gridCol w="873296">
                      <a:extLst>
                        <a:ext uri="{9D8B030D-6E8A-4147-A177-3AD203B41FA5}">
                          <a16:colId xmlns:a16="http://schemas.microsoft.com/office/drawing/2014/main" val="4261140500"/>
                        </a:ext>
                      </a:extLst>
                    </a:gridCol>
                  </a:tblGrid>
                  <a:tr h="320467">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Булочка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50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Кофе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100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2821678"/>
                      </a:ext>
                    </a:extLst>
                  </a:tr>
                  <a:tr h="1627107">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08333" t="-23256" r="-403333" b="-115504"/>
                          </a:stretch>
                        </a:blipFill>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49123" t="-23256" r="-749123" b="-115504"/>
                          </a:stretch>
                        </a:blipFill>
                      </a:tcPr>
                    </a:tc>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7200" t="-23256" r="-56000" b="-115504"/>
                          </a:stretch>
                        </a:blipFill>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36232" t="-23256" r="-1449" b="-115504"/>
                          </a:stretch>
                        </a:blipFill>
                      </a:tcPr>
                    </a:tc>
                    <a:extLst>
                      <a:ext uri="{0D108BD9-81ED-4DB2-BD59-A6C34878D82A}">
                        <a16:rowId xmlns:a16="http://schemas.microsoft.com/office/drawing/2014/main" val="3892490148"/>
                      </a:ext>
                    </a:extLst>
                  </a:tr>
                  <a:tr h="346810">
                    <a:tc>
                      <a:txBody>
                        <a:bodyPr/>
                        <a:lstStyle/>
                        <a:p>
                          <a:pPr marL="0" algn="ctr" defTabSz="914400" rtl="0" eaLnBrk="1" fontAlgn="ctr" latinLnBrk="0" hangingPunct="1">
                            <a:lnSpc>
                              <a:spcPct val="107000"/>
                            </a:lnSpc>
                            <a:spcAft>
                              <a:spcPts val="800"/>
                            </a:spcAft>
                          </a:pPr>
                          <a:r>
                            <a:rPr lang="ru-RU" sz="2000" b="1"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b="1" kern="1200" dirty="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775454"/>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90308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700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b="1" kern="1200" dirty="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b="1" kern="1200" dirty="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5535953"/>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94741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0410374"/>
                      </a:ext>
                    </a:extLst>
                  </a:tr>
                </a:tbl>
              </a:graphicData>
            </a:graphic>
          </p:graphicFrame>
        </mc:Fallback>
      </mc:AlternateContent>
      <p:sp>
        <p:nvSpPr>
          <p:cNvPr id="7" name="TextBox 6">
            <a:extLst>
              <a:ext uri="{FF2B5EF4-FFF2-40B4-BE49-F238E27FC236}">
                <a16:creationId xmlns:a16="http://schemas.microsoft.com/office/drawing/2014/main" id="{78051558-0091-3C11-8DC4-1C0A803B9835}"/>
              </a:ext>
            </a:extLst>
          </p:cNvPr>
          <p:cNvSpPr txBox="1"/>
          <p:nvPr/>
        </p:nvSpPr>
        <p:spPr>
          <a:xfrm>
            <a:off x="798814" y="5369581"/>
            <a:ext cx="10701307" cy="830997"/>
          </a:xfrm>
          <a:prstGeom prst="rect">
            <a:avLst/>
          </a:prstGeom>
          <a:noFill/>
        </p:spPr>
        <p:txBody>
          <a:bodyPr wrap="square">
            <a:spAutoFit/>
          </a:bodyPr>
          <a:lstStyle/>
          <a:p>
            <a:pPr algn="just">
              <a:spcBef>
                <a:spcPts val="600"/>
              </a:spcBef>
            </a:pPr>
            <a:r>
              <a:rPr lang="ru-RU" sz="2400" b="1" spc="5" dirty="0">
                <a:solidFill>
                  <a:srgbClr val="002060"/>
                </a:solidFill>
                <a:latin typeface="Arial" panose="020B0604020202020204" pitchFamily="34" charset="0"/>
              </a:rPr>
              <a:t>Б) Какую общую полезность он получает от потребления такой комбинации услуг (1 булочка и 3 кофе)?</a:t>
            </a:r>
          </a:p>
        </p:txBody>
      </p:sp>
    </p:spTree>
    <p:extLst>
      <p:ext uri="{BB962C8B-B14F-4D97-AF65-F5344CB8AC3E}">
        <p14:creationId xmlns:p14="http://schemas.microsoft.com/office/powerpoint/2010/main" val="533270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p:sp>
        <p:nvSpPr>
          <p:cNvPr id="7" name="TextBox 6">
            <a:extLst>
              <a:ext uri="{FF2B5EF4-FFF2-40B4-BE49-F238E27FC236}">
                <a16:creationId xmlns:a16="http://schemas.microsoft.com/office/drawing/2014/main" id="{98AA555E-9EC1-EFCD-A69C-73845C2B5067}"/>
              </a:ext>
            </a:extLst>
          </p:cNvPr>
          <p:cNvSpPr txBox="1"/>
          <p:nvPr/>
        </p:nvSpPr>
        <p:spPr>
          <a:xfrm>
            <a:off x="691877" y="5369581"/>
            <a:ext cx="10808243" cy="830997"/>
          </a:xfrm>
          <a:prstGeom prst="rect">
            <a:avLst/>
          </a:prstGeom>
          <a:noFill/>
        </p:spPr>
        <p:txBody>
          <a:bodyPr wrap="square">
            <a:spAutoFit/>
          </a:bodyPr>
          <a:lstStyle/>
          <a:p>
            <a:pPr>
              <a:spcBef>
                <a:spcPts val="600"/>
              </a:spcBef>
            </a:pPr>
            <a:r>
              <a:rPr lang="ru-RU" sz="2400" b="1" spc="5" dirty="0">
                <a:solidFill>
                  <a:srgbClr val="002060"/>
                </a:solidFill>
                <a:latin typeface="Arial" panose="020B0604020202020204" pitchFamily="34" charset="0"/>
              </a:rPr>
              <a:t>В) Рассчитайте предельную полезность, которую он получает от  потребления благ</a:t>
            </a:r>
          </a:p>
        </p:txBody>
      </p:sp>
      <mc:AlternateContent xmlns:mc="http://schemas.openxmlformats.org/markup-compatibility/2006" xmlns:a14="http://schemas.microsoft.com/office/drawing/2010/main">
        <mc:Choice Requires="a14">
          <p:graphicFrame>
            <p:nvGraphicFramePr>
              <p:cNvPr id="9" name="Таблица 8">
                <a:extLst>
                  <a:ext uri="{FF2B5EF4-FFF2-40B4-BE49-F238E27FC236}">
                    <a16:creationId xmlns:a16="http://schemas.microsoft.com/office/drawing/2014/main" id="{23A5AFA0-4F2F-9751-EA00-428965902954}"/>
                  </a:ext>
                </a:extLst>
              </p:cNvPr>
              <p:cNvGraphicFramePr>
                <a:graphicFrameLocks noGrp="1"/>
              </p:cNvGraphicFramePr>
              <p:nvPr>
                <p:extLst>
                  <p:ext uri="{D42A27DB-BD31-4B8C-83A1-F6EECF244321}">
                    <p14:modId xmlns:p14="http://schemas.microsoft.com/office/powerpoint/2010/main" val="965063728"/>
                  </p:ext>
                </p:extLst>
              </p:nvPr>
            </p:nvGraphicFramePr>
            <p:xfrm>
              <a:off x="691878" y="1165253"/>
              <a:ext cx="10808243" cy="3663449"/>
            </p:xfrm>
            <a:graphic>
              <a:graphicData uri="http://schemas.openxmlformats.org/drawingml/2006/table">
                <a:tbl>
                  <a:tblPr firstRow="1" firstCol="1" bandRow="1"/>
                  <a:tblGrid>
                    <a:gridCol w="1506385">
                      <a:extLst>
                        <a:ext uri="{9D8B030D-6E8A-4147-A177-3AD203B41FA5}">
                          <a16:colId xmlns:a16="http://schemas.microsoft.com/office/drawing/2014/main" val="255173490"/>
                        </a:ext>
                      </a:extLst>
                    </a:gridCol>
                    <a:gridCol w="1655534">
                      <a:extLst>
                        <a:ext uri="{9D8B030D-6E8A-4147-A177-3AD203B41FA5}">
                          <a16:colId xmlns:a16="http://schemas.microsoft.com/office/drawing/2014/main" val="3073428915"/>
                        </a:ext>
                      </a:extLst>
                    </a:gridCol>
                    <a:gridCol w="1525181">
                      <a:extLst>
                        <a:ext uri="{9D8B030D-6E8A-4147-A177-3AD203B41FA5}">
                          <a16:colId xmlns:a16="http://schemas.microsoft.com/office/drawing/2014/main" val="1893867116"/>
                        </a:ext>
                      </a:extLst>
                    </a:gridCol>
                    <a:gridCol w="711241">
                      <a:extLst>
                        <a:ext uri="{9D8B030D-6E8A-4147-A177-3AD203B41FA5}">
                          <a16:colId xmlns:a16="http://schemas.microsoft.com/office/drawing/2014/main" val="3385264874"/>
                        </a:ext>
                      </a:extLst>
                    </a:gridCol>
                    <a:gridCol w="1379537">
                      <a:extLst>
                        <a:ext uri="{9D8B030D-6E8A-4147-A177-3AD203B41FA5}">
                          <a16:colId xmlns:a16="http://schemas.microsoft.com/office/drawing/2014/main" val="2686431893"/>
                        </a:ext>
                      </a:extLst>
                    </a:gridCol>
                    <a:gridCol w="1574738">
                      <a:extLst>
                        <a:ext uri="{9D8B030D-6E8A-4147-A177-3AD203B41FA5}">
                          <a16:colId xmlns:a16="http://schemas.microsoft.com/office/drawing/2014/main" val="1641689885"/>
                        </a:ext>
                      </a:extLst>
                    </a:gridCol>
                    <a:gridCol w="1582331">
                      <a:extLst>
                        <a:ext uri="{9D8B030D-6E8A-4147-A177-3AD203B41FA5}">
                          <a16:colId xmlns:a16="http://schemas.microsoft.com/office/drawing/2014/main" val="463413660"/>
                        </a:ext>
                      </a:extLst>
                    </a:gridCol>
                    <a:gridCol w="873296">
                      <a:extLst>
                        <a:ext uri="{9D8B030D-6E8A-4147-A177-3AD203B41FA5}">
                          <a16:colId xmlns:a16="http://schemas.microsoft.com/office/drawing/2014/main" val="4261140500"/>
                        </a:ext>
                      </a:extLst>
                    </a:gridCol>
                  </a:tblGrid>
                  <a:tr h="203485">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Булочка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50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Кофе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100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2821678"/>
                      </a:ext>
                    </a:extLst>
                  </a:tr>
                  <a:tr h="1129260">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Предельная</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14:m>
                            <m:oMathPara xmlns:m="http://schemas.openxmlformats.org/officeDocument/2006/math">
                              <m:oMathParaPr>
                                <m:jc m:val="centerGroup"/>
                              </m:oMathParaPr>
                              <m:oMath xmlns:m="http://schemas.openxmlformats.org/officeDocument/2006/math">
                                <m:r>
                                  <a:rPr lang="ru-RU" sz="2000" b="1" i="1" kern="1200" smtClean="0">
                                    <a:solidFill>
                                      <a:srgbClr val="002060"/>
                                    </a:solidFill>
                                    <a:effectLst/>
                                    <a:latin typeface="Cambria Math" panose="02040503050406030204" pitchFamily="18" charset="0"/>
                                    <a:ea typeface="+mn-ea"/>
                                    <a:cs typeface="+mn-cs"/>
                                  </a:rPr>
                                  <m:t>𝑴𝑼</m:t>
                                </m:r>
                                <m:r>
                                  <a:rPr lang="ru-RU" sz="2000" b="1" i="1" kern="1200" smtClean="0">
                                    <a:solidFill>
                                      <a:srgbClr val="002060"/>
                                    </a:solidFill>
                                    <a:effectLst/>
                                    <a:latin typeface="Cambria Math" panose="02040503050406030204" pitchFamily="18" charset="0"/>
                                    <a:ea typeface="+mn-ea"/>
                                    <a:cs typeface="+mn-cs"/>
                                  </a:rPr>
                                  <m:t>=</m:t>
                                </m:r>
                                <m:f>
                                  <m:fPr>
                                    <m:ctrlPr>
                                      <a:rPr lang="ru-RU" sz="2000" b="1" i="1" kern="1200">
                                        <a:solidFill>
                                          <a:srgbClr val="002060"/>
                                        </a:solidFill>
                                        <a:effectLst/>
                                        <a:latin typeface="Cambria Math" panose="02040503050406030204" pitchFamily="18" charset="0"/>
                                        <a:ea typeface="+mn-ea"/>
                                        <a:cs typeface="+mn-cs"/>
                                      </a:rPr>
                                    </m:ctrlPr>
                                  </m:fPr>
                                  <m:num>
                                    <m:r>
                                      <a:rPr lang="ru-RU" sz="2000" b="1" i="1" kern="1200">
                                        <a:solidFill>
                                          <a:srgbClr val="002060"/>
                                        </a:solidFill>
                                        <a:effectLst/>
                                        <a:latin typeface="Cambria Math" panose="02040503050406030204" pitchFamily="18" charset="0"/>
                                        <a:ea typeface="+mn-ea"/>
                                        <a:cs typeface="+mn-cs"/>
                                      </a:rPr>
                                      <m:t>𝜟</m:t>
                                    </m:r>
                                    <m:r>
                                      <a:rPr lang="ru-RU" sz="2000" b="1" i="1" kern="1200">
                                        <a:solidFill>
                                          <a:srgbClr val="002060"/>
                                        </a:solidFill>
                                        <a:effectLst/>
                                        <a:latin typeface="Cambria Math" panose="02040503050406030204" pitchFamily="18" charset="0"/>
                                        <a:ea typeface="+mn-ea"/>
                                        <a:cs typeface="+mn-cs"/>
                                      </a:rPr>
                                      <m:t>𝑻𝑼</m:t>
                                    </m:r>
                                  </m:num>
                                  <m:den>
                                    <m:r>
                                      <a:rPr lang="ru-RU" sz="2000" b="1" i="1" kern="1200">
                                        <a:solidFill>
                                          <a:srgbClr val="002060"/>
                                        </a:solidFill>
                                        <a:effectLst/>
                                        <a:latin typeface="Cambria Math" panose="02040503050406030204" pitchFamily="18" charset="0"/>
                                        <a:ea typeface="+mn-ea"/>
                                        <a:cs typeface="+mn-cs"/>
                                      </a:rPr>
                                      <m:t>𝜟</m:t>
                                    </m:r>
                                    <m:r>
                                      <a:rPr lang="en-US" sz="2000" b="1" i="1" kern="1200" smtClean="0">
                                        <a:solidFill>
                                          <a:srgbClr val="002060"/>
                                        </a:solidFill>
                                        <a:effectLst/>
                                        <a:latin typeface="Cambria Math" panose="02040503050406030204" pitchFamily="18" charset="0"/>
                                        <a:ea typeface="+mn-ea"/>
                                        <a:cs typeface="+mn-cs"/>
                                      </a:rPr>
                                      <m:t>𝑸</m:t>
                                    </m:r>
                                  </m:den>
                                </m:f>
                              </m:oMath>
                            </m:oMathPara>
                          </a14:m>
                          <a:endParaRPr lang="ru-RU" sz="2000" b="1" kern="1200" dirty="0">
                            <a:solidFill>
                              <a:srgbClr val="002060"/>
                            </a:solidFill>
                            <a:effectLst/>
                            <a:latin typeface="+mn-lt"/>
                            <a:ea typeface="+mn-ea"/>
                            <a:cs typeface="+mn-cs"/>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ru-RU" sz="2000" b="1" i="1" kern="12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000" b="1" kern="120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𝑀𝑈</m:t>
                                    </m:r>
                                  </m:num>
                                  <m:den>
                                    <m:r>
                                      <a:rPr lang="ru-RU" sz="2000" b="1" kern="120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𝑃</m:t>
                                    </m:r>
                                  </m:den>
                                </m:f>
                              </m:oMath>
                            </m:oMathPara>
                          </a14:m>
                          <a:endPar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Предельная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ru-RU" sz="2000" b="1" i="1" kern="1200" smtClean="0">
                                    <a:solidFill>
                                      <a:srgbClr val="002060"/>
                                    </a:solidFill>
                                    <a:effectLst/>
                                    <a:latin typeface="Cambria Math" panose="02040503050406030204" pitchFamily="18" charset="0"/>
                                    <a:ea typeface="+mn-ea"/>
                                    <a:cs typeface="+mn-cs"/>
                                  </a:rPr>
                                  <m:t>𝑴𝑼</m:t>
                                </m:r>
                                <m:r>
                                  <a:rPr lang="ru-RU" sz="2000" i="1" kern="1200" smtClean="0">
                                    <a:solidFill>
                                      <a:srgbClr val="002060"/>
                                    </a:solidFill>
                                    <a:effectLst/>
                                    <a:latin typeface="Cambria Math" panose="02040503050406030204" pitchFamily="18" charset="0"/>
                                    <a:ea typeface="+mn-ea"/>
                                    <a:cs typeface="+mn-cs"/>
                                  </a:rPr>
                                  <m:t>=</m:t>
                                </m:r>
                                <m:f>
                                  <m:fPr>
                                    <m:ctrlPr>
                                      <a:rPr lang="ru-RU" sz="2000" i="1" kern="1200">
                                        <a:solidFill>
                                          <a:srgbClr val="002060"/>
                                        </a:solidFill>
                                        <a:effectLst/>
                                        <a:latin typeface="Cambria Math" panose="02040503050406030204" pitchFamily="18" charset="0"/>
                                        <a:ea typeface="+mn-ea"/>
                                        <a:cs typeface="+mn-cs"/>
                                      </a:rPr>
                                    </m:ctrlPr>
                                  </m:fPr>
                                  <m:num>
                                    <m:r>
                                      <a:rPr lang="ru-RU" sz="2000" i="1" kern="1200">
                                        <a:solidFill>
                                          <a:srgbClr val="002060"/>
                                        </a:solidFill>
                                        <a:effectLst/>
                                        <a:latin typeface="Cambria Math" panose="02040503050406030204" pitchFamily="18" charset="0"/>
                                        <a:ea typeface="+mn-ea"/>
                                        <a:cs typeface="+mn-cs"/>
                                      </a:rPr>
                                      <m:t>𝛥</m:t>
                                    </m:r>
                                    <m:r>
                                      <a:rPr lang="ru-RU" sz="2000" i="1" kern="1200">
                                        <a:solidFill>
                                          <a:srgbClr val="002060"/>
                                        </a:solidFill>
                                        <a:effectLst/>
                                        <a:latin typeface="Cambria Math" panose="02040503050406030204" pitchFamily="18" charset="0"/>
                                        <a:ea typeface="+mn-ea"/>
                                        <a:cs typeface="+mn-cs"/>
                                      </a:rPr>
                                      <m:t>𝑇𝑈</m:t>
                                    </m:r>
                                  </m:num>
                                  <m:den>
                                    <m:r>
                                      <a:rPr lang="ru-RU" sz="2000" i="1" kern="1200">
                                        <a:solidFill>
                                          <a:srgbClr val="002060"/>
                                        </a:solidFill>
                                        <a:effectLst/>
                                        <a:latin typeface="Cambria Math" panose="02040503050406030204" pitchFamily="18" charset="0"/>
                                        <a:ea typeface="+mn-ea"/>
                                        <a:cs typeface="+mn-cs"/>
                                      </a:rPr>
                                      <m:t>𝛥</m:t>
                                    </m:r>
                                    <m:r>
                                      <a:rPr lang="en-US" sz="2000" b="0" i="1" kern="1200" smtClean="0">
                                        <a:solidFill>
                                          <a:srgbClr val="002060"/>
                                        </a:solidFill>
                                        <a:effectLst/>
                                        <a:latin typeface="Cambria Math" panose="02040503050406030204" pitchFamily="18" charset="0"/>
                                        <a:ea typeface="+mn-ea"/>
                                        <a:cs typeface="+mn-cs"/>
                                      </a:rPr>
                                      <m:t>𝑄</m:t>
                                    </m:r>
                                  </m:den>
                                </m:f>
                              </m:oMath>
                            </m:oMathPara>
                          </a14:m>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ru-RU" sz="2000" b="1" i="1" kern="12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000" b="1" kern="120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𝑀𝑈</m:t>
                                    </m:r>
                                  </m:num>
                                  <m:den>
                                    <m:r>
                                      <a:rPr lang="ru-RU" sz="2000" b="1" kern="120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𝑃</m:t>
                                    </m:r>
                                  </m:den>
                                </m:f>
                              </m:oMath>
                            </m:oMathPara>
                          </a14:m>
                          <a:endParaRPr lang="ru-RU"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2490148"/>
                      </a:ext>
                    </a:extLst>
                  </a:tr>
                  <a:tr h="343175">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775454"/>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90308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5535953"/>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94741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0410374"/>
                      </a:ext>
                    </a:extLst>
                  </a:tr>
                </a:tbl>
              </a:graphicData>
            </a:graphic>
          </p:graphicFrame>
        </mc:Choice>
        <mc:Fallback xmlns="">
          <p:graphicFrame>
            <p:nvGraphicFramePr>
              <p:cNvPr id="9" name="Таблица 8">
                <a:extLst>
                  <a:ext uri="{FF2B5EF4-FFF2-40B4-BE49-F238E27FC236}">
                    <a16:creationId xmlns:a16="http://schemas.microsoft.com/office/drawing/2014/main" id="{23A5AFA0-4F2F-9751-EA00-428965902954}"/>
                  </a:ext>
                </a:extLst>
              </p:cNvPr>
              <p:cNvGraphicFramePr>
                <a:graphicFrameLocks noGrp="1"/>
              </p:cNvGraphicFramePr>
              <p:nvPr>
                <p:extLst>
                  <p:ext uri="{D42A27DB-BD31-4B8C-83A1-F6EECF244321}">
                    <p14:modId xmlns:p14="http://schemas.microsoft.com/office/powerpoint/2010/main" val="965063728"/>
                  </p:ext>
                </p:extLst>
              </p:nvPr>
            </p:nvGraphicFramePr>
            <p:xfrm>
              <a:off x="691878" y="1165253"/>
              <a:ext cx="10808243" cy="3663449"/>
            </p:xfrm>
            <a:graphic>
              <a:graphicData uri="http://schemas.openxmlformats.org/drawingml/2006/table">
                <a:tbl>
                  <a:tblPr firstRow="1" firstCol="1" bandRow="1"/>
                  <a:tblGrid>
                    <a:gridCol w="1506385">
                      <a:extLst>
                        <a:ext uri="{9D8B030D-6E8A-4147-A177-3AD203B41FA5}">
                          <a16:colId xmlns:a16="http://schemas.microsoft.com/office/drawing/2014/main" val="255173490"/>
                        </a:ext>
                      </a:extLst>
                    </a:gridCol>
                    <a:gridCol w="1655534">
                      <a:extLst>
                        <a:ext uri="{9D8B030D-6E8A-4147-A177-3AD203B41FA5}">
                          <a16:colId xmlns:a16="http://schemas.microsoft.com/office/drawing/2014/main" val="3073428915"/>
                        </a:ext>
                      </a:extLst>
                    </a:gridCol>
                    <a:gridCol w="1525181">
                      <a:extLst>
                        <a:ext uri="{9D8B030D-6E8A-4147-A177-3AD203B41FA5}">
                          <a16:colId xmlns:a16="http://schemas.microsoft.com/office/drawing/2014/main" val="1893867116"/>
                        </a:ext>
                      </a:extLst>
                    </a:gridCol>
                    <a:gridCol w="711241">
                      <a:extLst>
                        <a:ext uri="{9D8B030D-6E8A-4147-A177-3AD203B41FA5}">
                          <a16:colId xmlns:a16="http://schemas.microsoft.com/office/drawing/2014/main" val="3385264874"/>
                        </a:ext>
                      </a:extLst>
                    </a:gridCol>
                    <a:gridCol w="1379537">
                      <a:extLst>
                        <a:ext uri="{9D8B030D-6E8A-4147-A177-3AD203B41FA5}">
                          <a16:colId xmlns:a16="http://schemas.microsoft.com/office/drawing/2014/main" val="2686431893"/>
                        </a:ext>
                      </a:extLst>
                    </a:gridCol>
                    <a:gridCol w="1574738">
                      <a:extLst>
                        <a:ext uri="{9D8B030D-6E8A-4147-A177-3AD203B41FA5}">
                          <a16:colId xmlns:a16="http://schemas.microsoft.com/office/drawing/2014/main" val="1641689885"/>
                        </a:ext>
                      </a:extLst>
                    </a:gridCol>
                    <a:gridCol w="1582331">
                      <a:extLst>
                        <a:ext uri="{9D8B030D-6E8A-4147-A177-3AD203B41FA5}">
                          <a16:colId xmlns:a16="http://schemas.microsoft.com/office/drawing/2014/main" val="463413660"/>
                        </a:ext>
                      </a:extLst>
                    </a:gridCol>
                    <a:gridCol w="873296">
                      <a:extLst>
                        <a:ext uri="{9D8B030D-6E8A-4147-A177-3AD203B41FA5}">
                          <a16:colId xmlns:a16="http://schemas.microsoft.com/office/drawing/2014/main" val="4261140500"/>
                        </a:ext>
                      </a:extLst>
                    </a:gridCol>
                  </a:tblGrid>
                  <a:tr h="320467">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Булочка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50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Кофе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100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2821678"/>
                      </a:ext>
                    </a:extLst>
                  </a:tr>
                  <a:tr h="1627107">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08333" t="-23256" r="-403333" b="-114729"/>
                          </a:stretch>
                        </a:blipFill>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49123" t="-23256" r="-749123" b="-114729"/>
                          </a:stretch>
                        </a:blipFill>
                      </a:tcPr>
                    </a:tc>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27200" t="-23256" r="-56000" b="-114729"/>
                          </a:stretch>
                        </a:blipFill>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136232" t="-23256" r="-1449" b="-114729"/>
                          </a:stretch>
                        </a:blipFill>
                      </a:tcPr>
                    </a:tc>
                    <a:extLst>
                      <a:ext uri="{0D108BD9-81ED-4DB2-BD59-A6C34878D82A}">
                        <a16:rowId xmlns:a16="http://schemas.microsoft.com/office/drawing/2014/main" val="3892490148"/>
                      </a:ext>
                    </a:extLst>
                  </a:tr>
                  <a:tr h="343175">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775454"/>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90308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5535953"/>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94741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chemeClr val="bg1"/>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0410374"/>
                      </a:ext>
                    </a:extLst>
                  </a:tr>
                </a:tbl>
              </a:graphicData>
            </a:graphic>
          </p:graphicFrame>
        </mc:Fallback>
      </mc:AlternateContent>
    </p:spTree>
    <p:extLst>
      <p:ext uri="{BB962C8B-B14F-4D97-AF65-F5344CB8AC3E}">
        <p14:creationId xmlns:p14="http://schemas.microsoft.com/office/powerpoint/2010/main" val="2683826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p:sp>
        <p:nvSpPr>
          <p:cNvPr id="7" name="TextBox 6">
            <a:extLst>
              <a:ext uri="{FF2B5EF4-FFF2-40B4-BE49-F238E27FC236}">
                <a16:creationId xmlns:a16="http://schemas.microsoft.com/office/drawing/2014/main" id="{13364902-491C-2942-08E5-886D43E8DCA6}"/>
              </a:ext>
            </a:extLst>
          </p:cNvPr>
          <p:cNvSpPr txBox="1"/>
          <p:nvPr/>
        </p:nvSpPr>
        <p:spPr>
          <a:xfrm>
            <a:off x="691878" y="5356639"/>
            <a:ext cx="10808242" cy="1200329"/>
          </a:xfrm>
          <a:prstGeom prst="rect">
            <a:avLst/>
          </a:prstGeom>
          <a:noFill/>
        </p:spPr>
        <p:txBody>
          <a:bodyPr wrap="square">
            <a:spAutoFit/>
          </a:bodyPr>
          <a:lstStyle/>
          <a:p>
            <a:pPr algn="just">
              <a:spcBef>
                <a:spcPts val="600"/>
              </a:spcBef>
            </a:pPr>
            <a:r>
              <a:rPr lang="ru-RU" sz="2400" b="1" spc="5" dirty="0">
                <a:solidFill>
                  <a:srgbClr val="002060"/>
                </a:solidFill>
                <a:latin typeface="Arial" panose="020B0604020202020204" pitchFamily="34" charset="0"/>
              </a:rPr>
              <a:t>Г) Рассчитайте отношение предельной полезности к цене для каждой из услуг (сколько полезности приносит один потраченный рубль)</a:t>
            </a:r>
          </a:p>
        </p:txBody>
      </p:sp>
      <mc:AlternateContent xmlns:mc="http://schemas.openxmlformats.org/markup-compatibility/2006" xmlns:a14="http://schemas.microsoft.com/office/drawing/2010/main">
        <mc:Choice Requires="a14">
          <p:graphicFrame>
            <p:nvGraphicFramePr>
              <p:cNvPr id="8" name="Таблица 7">
                <a:extLst>
                  <a:ext uri="{FF2B5EF4-FFF2-40B4-BE49-F238E27FC236}">
                    <a16:creationId xmlns:a16="http://schemas.microsoft.com/office/drawing/2014/main" id="{E05ACAC5-6B56-BB10-91A1-409B3A29B9DC}"/>
                  </a:ext>
                </a:extLst>
              </p:cNvPr>
              <p:cNvGraphicFramePr>
                <a:graphicFrameLocks noGrp="1"/>
              </p:cNvGraphicFramePr>
              <p:nvPr/>
            </p:nvGraphicFramePr>
            <p:xfrm>
              <a:off x="691878" y="1165253"/>
              <a:ext cx="10808243" cy="3663449"/>
            </p:xfrm>
            <a:graphic>
              <a:graphicData uri="http://schemas.openxmlformats.org/drawingml/2006/table">
                <a:tbl>
                  <a:tblPr firstRow="1" firstCol="1" bandRow="1"/>
                  <a:tblGrid>
                    <a:gridCol w="1506385">
                      <a:extLst>
                        <a:ext uri="{9D8B030D-6E8A-4147-A177-3AD203B41FA5}">
                          <a16:colId xmlns:a16="http://schemas.microsoft.com/office/drawing/2014/main" val="255173490"/>
                        </a:ext>
                      </a:extLst>
                    </a:gridCol>
                    <a:gridCol w="1655534">
                      <a:extLst>
                        <a:ext uri="{9D8B030D-6E8A-4147-A177-3AD203B41FA5}">
                          <a16:colId xmlns:a16="http://schemas.microsoft.com/office/drawing/2014/main" val="3073428915"/>
                        </a:ext>
                      </a:extLst>
                    </a:gridCol>
                    <a:gridCol w="1525181">
                      <a:extLst>
                        <a:ext uri="{9D8B030D-6E8A-4147-A177-3AD203B41FA5}">
                          <a16:colId xmlns:a16="http://schemas.microsoft.com/office/drawing/2014/main" val="1893867116"/>
                        </a:ext>
                      </a:extLst>
                    </a:gridCol>
                    <a:gridCol w="711241">
                      <a:extLst>
                        <a:ext uri="{9D8B030D-6E8A-4147-A177-3AD203B41FA5}">
                          <a16:colId xmlns:a16="http://schemas.microsoft.com/office/drawing/2014/main" val="3385264874"/>
                        </a:ext>
                      </a:extLst>
                    </a:gridCol>
                    <a:gridCol w="1379537">
                      <a:extLst>
                        <a:ext uri="{9D8B030D-6E8A-4147-A177-3AD203B41FA5}">
                          <a16:colId xmlns:a16="http://schemas.microsoft.com/office/drawing/2014/main" val="2686431893"/>
                        </a:ext>
                      </a:extLst>
                    </a:gridCol>
                    <a:gridCol w="1574738">
                      <a:extLst>
                        <a:ext uri="{9D8B030D-6E8A-4147-A177-3AD203B41FA5}">
                          <a16:colId xmlns:a16="http://schemas.microsoft.com/office/drawing/2014/main" val="1641689885"/>
                        </a:ext>
                      </a:extLst>
                    </a:gridCol>
                    <a:gridCol w="1582331">
                      <a:extLst>
                        <a:ext uri="{9D8B030D-6E8A-4147-A177-3AD203B41FA5}">
                          <a16:colId xmlns:a16="http://schemas.microsoft.com/office/drawing/2014/main" val="463413660"/>
                        </a:ext>
                      </a:extLst>
                    </a:gridCol>
                    <a:gridCol w="873296">
                      <a:extLst>
                        <a:ext uri="{9D8B030D-6E8A-4147-A177-3AD203B41FA5}">
                          <a16:colId xmlns:a16="http://schemas.microsoft.com/office/drawing/2014/main" val="4261140500"/>
                        </a:ext>
                      </a:extLst>
                    </a:gridCol>
                  </a:tblGrid>
                  <a:tr h="203485">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Булочка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50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Кофе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100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2821678"/>
                      </a:ext>
                    </a:extLst>
                  </a:tr>
                  <a:tr h="1129260">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Предельная</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14:m>
                            <m:oMathPara xmlns:m="http://schemas.openxmlformats.org/officeDocument/2006/math">
                              <m:oMathParaPr>
                                <m:jc m:val="centerGroup"/>
                              </m:oMathParaPr>
                              <m:oMath xmlns:m="http://schemas.openxmlformats.org/officeDocument/2006/math">
                                <m:r>
                                  <a:rPr lang="ru-RU" sz="2000" b="1" i="1" kern="1200" smtClean="0">
                                    <a:solidFill>
                                      <a:srgbClr val="002060"/>
                                    </a:solidFill>
                                    <a:effectLst/>
                                    <a:latin typeface="Cambria Math" panose="02040503050406030204" pitchFamily="18" charset="0"/>
                                    <a:ea typeface="+mn-ea"/>
                                    <a:cs typeface="+mn-cs"/>
                                  </a:rPr>
                                  <m:t>𝑴𝑼</m:t>
                                </m:r>
                                <m:r>
                                  <a:rPr lang="ru-RU" sz="2000" b="1" i="1" kern="1200" smtClean="0">
                                    <a:solidFill>
                                      <a:srgbClr val="002060"/>
                                    </a:solidFill>
                                    <a:effectLst/>
                                    <a:latin typeface="Cambria Math" panose="02040503050406030204" pitchFamily="18" charset="0"/>
                                    <a:ea typeface="+mn-ea"/>
                                    <a:cs typeface="+mn-cs"/>
                                  </a:rPr>
                                  <m:t>=</m:t>
                                </m:r>
                                <m:f>
                                  <m:fPr>
                                    <m:ctrlPr>
                                      <a:rPr lang="ru-RU" sz="2000" b="1" i="1" kern="1200">
                                        <a:solidFill>
                                          <a:srgbClr val="002060"/>
                                        </a:solidFill>
                                        <a:effectLst/>
                                        <a:latin typeface="Cambria Math" panose="02040503050406030204" pitchFamily="18" charset="0"/>
                                        <a:ea typeface="+mn-ea"/>
                                        <a:cs typeface="+mn-cs"/>
                                      </a:rPr>
                                    </m:ctrlPr>
                                  </m:fPr>
                                  <m:num>
                                    <m:r>
                                      <a:rPr lang="ru-RU" sz="2000" b="1" i="1" kern="1200">
                                        <a:solidFill>
                                          <a:srgbClr val="002060"/>
                                        </a:solidFill>
                                        <a:effectLst/>
                                        <a:latin typeface="Cambria Math" panose="02040503050406030204" pitchFamily="18" charset="0"/>
                                        <a:ea typeface="+mn-ea"/>
                                        <a:cs typeface="+mn-cs"/>
                                      </a:rPr>
                                      <m:t>𝜟</m:t>
                                    </m:r>
                                    <m:r>
                                      <a:rPr lang="ru-RU" sz="2000" b="1" i="1" kern="1200">
                                        <a:solidFill>
                                          <a:srgbClr val="002060"/>
                                        </a:solidFill>
                                        <a:effectLst/>
                                        <a:latin typeface="Cambria Math" panose="02040503050406030204" pitchFamily="18" charset="0"/>
                                        <a:ea typeface="+mn-ea"/>
                                        <a:cs typeface="+mn-cs"/>
                                      </a:rPr>
                                      <m:t>𝑻𝑼</m:t>
                                    </m:r>
                                  </m:num>
                                  <m:den>
                                    <m:r>
                                      <a:rPr lang="ru-RU" sz="2000" b="1" i="1" kern="1200">
                                        <a:solidFill>
                                          <a:srgbClr val="002060"/>
                                        </a:solidFill>
                                        <a:effectLst/>
                                        <a:latin typeface="Cambria Math" panose="02040503050406030204" pitchFamily="18" charset="0"/>
                                        <a:ea typeface="+mn-ea"/>
                                        <a:cs typeface="+mn-cs"/>
                                      </a:rPr>
                                      <m:t>𝜟</m:t>
                                    </m:r>
                                    <m:r>
                                      <a:rPr lang="en-US" sz="2000" b="1" i="1" kern="1200" smtClean="0">
                                        <a:solidFill>
                                          <a:srgbClr val="002060"/>
                                        </a:solidFill>
                                        <a:effectLst/>
                                        <a:latin typeface="Cambria Math" panose="02040503050406030204" pitchFamily="18" charset="0"/>
                                        <a:ea typeface="+mn-ea"/>
                                        <a:cs typeface="+mn-cs"/>
                                      </a:rPr>
                                      <m:t>𝑸</m:t>
                                    </m:r>
                                  </m:den>
                                </m:f>
                              </m:oMath>
                            </m:oMathPara>
                          </a14:m>
                          <a:endParaRPr lang="ru-RU" sz="2000" b="1" kern="1200" dirty="0">
                            <a:solidFill>
                              <a:srgbClr val="002060"/>
                            </a:solidFill>
                            <a:effectLst/>
                            <a:latin typeface="+mn-lt"/>
                            <a:ea typeface="+mn-ea"/>
                            <a:cs typeface="+mn-cs"/>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ru-RU" sz="2000" b="1" i="1" kern="1200"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000" b="1" kern="120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𝑀𝑈</m:t>
                                    </m:r>
                                  </m:num>
                                  <m:den>
                                    <m:r>
                                      <a:rPr lang="ru-RU" sz="2000" b="1" kern="120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𝑃</m:t>
                                    </m:r>
                                  </m:den>
                                </m:f>
                              </m:oMath>
                            </m:oMathPara>
                          </a14:m>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Предельная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ru-RU" sz="2000" b="1" i="1" kern="1200" smtClean="0">
                                    <a:solidFill>
                                      <a:srgbClr val="002060"/>
                                    </a:solidFill>
                                    <a:effectLst/>
                                    <a:latin typeface="Cambria Math" panose="02040503050406030204" pitchFamily="18" charset="0"/>
                                    <a:ea typeface="+mn-ea"/>
                                    <a:cs typeface="+mn-cs"/>
                                  </a:rPr>
                                  <m:t>𝑴𝑼</m:t>
                                </m:r>
                                <m:r>
                                  <a:rPr lang="ru-RU" sz="2000" i="1" kern="1200" smtClean="0">
                                    <a:solidFill>
                                      <a:srgbClr val="002060"/>
                                    </a:solidFill>
                                    <a:effectLst/>
                                    <a:latin typeface="Cambria Math" panose="02040503050406030204" pitchFamily="18" charset="0"/>
                                    <a:ea typeface="+mn-ea"/>
                                    <a:cs typeface="+mn-cs"/>
                                  </a:rPr>
                                  <m:t>=</m:t>
                                </m:r>
                                <m:f>
                                  <m:fPr>
                                    <m:ctrlPr>
                                      <a:rPr lang="ru-RU" sz="2000" i="1" kern="1200">
                                        <a:solidFill>
                                          <a:srgbClr val="002060"/>
                                        </a:solidFill>
                                        <a:effectLst/>
                                        <a:latin typeface="Cambria Math" panose="02040503050406030204" pitchFamily="18" charset="0"/>
                                        <a:ea typeface="+mn-ea"/>
                                        <a:cs typeface="+mn-cs"/>
                                      </a:rPr>
                                    </m:ctrlPr>
                                  </m:fPr>
                                  <m:num>
                                    <m:r>
                                      <a:rPr lang="ru-RU" sz="2000" i="1" kern="1200">
                                        <a:solidFill>
                                          <a:srgbClr val="002060"/>
                                        </a:solidFill>
                                        <a:effectLst/>
                                        <a:latin typeface="Cambria Math" panose="02040503050406030204" pitchFamily="18" charset="0"/>
                                        <a:ea typeface="+mn-ea"/>
                                        <a:cs typeface="+mn-cs"/>
                                      </a:rPr>
                                      <m:t>𝛥</m:t>
                                    </m:r>
                                    <m:r>
                                      <a:rPr lang="ru-RU" sz="2000" i="1" kern="1200">
                                        <a:solidFill>
                                          <a:srgbClr val="002060"/>
                                        </a:solidFill>
                                        <a:effectLst/>
                                        <a:latin typeface="Cambria Math" panose="02040503050406030204" pitchFamily="18" charset="0"/>
                                        <a:ea typeface="+mn-ea"/>
                                        <a:cs typeface="+mn-cs"/>
                                      </a:rPr>
                                      <m:t>𝑇𝑈</m:t>
                                    </m:r>
                                  </m:num>
                                  <m:den>
                                    <m:r>
                                      <a:rPr lang="ru-RU" sz="2000" i="1" kern="1200">
                                        <a:solidFill>
                                          <a:srgbClr val="002060"/>
                                        </a:solidFill>
                                        <a:effectLst/>
                                        <a:latin typeface="Cambria Math" panose="02040503050406030204" pitchFamily="18" charset="0"/>
                                        <a:ea typeface="+mn-ea"/>
                                        <a:cs typeface="+mn-cs"/>
                                      </a:rPr>
                                      <m:t>𝛥</m:t>
                                    </m:r>
                                    <m:r>
                                      <a:rPr lang="en-US" sz="2000" b="0" i="1" kern="1200" smtClean="0">
                                        <a:solidFill>
                                          <a:srgbClr val="002060"/>
                                        </a:solidFill>
                                        <a:effectLst/>
                                        <a:latin typeface="Cambria Math" panose="02040503050406030204" pitchFamily="18" charset="0"/>
                                        <a:ea typeface="+mn-ea"/>
                                        <a:cs typeface="+mn-cs"/>
                                      </a:rPr>
                                      <m:t>𝑄</m:t>
                                    </m:r>
                                  </m:den>
                                </m:f>
                              </m:oMath>
                            </m:oMathPara>
                          </a14:m>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ru-RU" sz="2000" b="1" i="1" kern="1200"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000" b="1" kern="120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𝑀𝑈</m:t>
                                    </m:r>
                                  </m:num>
                                  <m:den>
                                    <m:r>
                                      <a:rPr lang="ru-RU" sz="2000" b="1" kern="120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𝑃</m:t>
                                    </m:r>
                                  </m:den>
                                </m:f>
                              </m:oMath>
                            </m:oMathPara>
                          </a14:m>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2490148"/>
                      </a:ext>
                    </a:extLst>
                  </a:tr>
                  <a:tr h="343175">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775454"/>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250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90308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5535953"/>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94741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0410374"/>
                      </a:ext>
                    </a:extLst>
                  </a:tr>
                </a:tbl>
              </a:graphicData>
            </a:graphic>
          </p:graphicFrame>
        </mc:Choice>
        <mc:Fallback xmlns="">
          <p:graphicFrame>
            <p:nvGraphicFramePr>
              <p:cNvPr id="8" name="Таблица 7">
                <a:extLst>
                  <a:ext uri="{FF2B5EF4-FFF2-40B4-BE49-F238E27FC236}">
                    <a16:creationId xmlns:a16="http://schemas.microsoft.com/office/drawing/2014/main" id="{E05ACAC5-6B56-BB10-91A1-409B3A29B9DC}"/>
                  </a:ext>
                </a:extLst>
              </p:cNvPr>
              <p:cNvGraphicFramePr>
                <a:graphicFrameLocks noGrp="1"/>
              </p:cNvGraphicFramePr>
              <p:nvPr>
                <p:extLst>
                  <p:ext uri="{D42A27DB-BD31-4B8C-83A1-F6EECF244321}">
                    <p14:modId xmlns:p14="http://schemas.microsoft.com/office/powerpoint/2010/main" val="3878613552"/>
                  </p:ext>
                </p:extLst>
              </p:nvPr>
            </p:nvGraphicFramePr>
            <p:xfrm>
              <a:off x="691878" y="1165253"/>
              <a:ext cx="10808243" cy="3663449"/>
            </p:xfrm>
            <a:graphic>
              <a:graphicData uri="http://schemas.openxmlformats.org/drawingml/2006/table">
                <a:tbl>
                  <a:tblPr firstRow="1" firstCol="1" bandRow="1"/>
                  <a:tblGrid>
                    <a:gridCol w="1506385">
                      <a:extLst>
                        <a:ext uri="{9D8B030D-6E8A-4147-A177-3AD203B41FA5}">
                          <a16:colId xmlns:a16="http://schemas.microsoft.com/office/drawing/2014/main" val="255173490"/>
                        </a:ext>
                      </a:extLst>
                    </a:gridCol>
                    <a:gridCol w="1655534">
                      <a:extLst>
                        <a:ext uri="{9D8B030D-6E8A-4147-A177-3AD203B41FA5}">
                          <a16:colId xmlns:a16="http://schemas.microsoft.com/office/drawing/2014/main" val="3073428915"/>
                        </a:ext>
                      </a:extLst>
                    </a:gridCol>
                    <a:gridCol w="1525181">
                      <a:extLst>
                        <a:ext uri="{9D8B030D-6E8A-4147-A177-3AD203B41FA5}">
                          <a16:colId xmlns:a16="http://schemas.microsoft.com/office/drawing/2014/main" val="1893867116"/>
                        </a:ext>
                      </a:extLst>
                    </a:gridCol>
                    <a:gridCol w="711241">
                      <a:extLst>
                        <a:ext uri="{9D8B030D-6E8A-4147-A177-3AD203B41FA5}">
                          <a16:colId xmlns:a16="http://schemas.microsoft.com/office/drawing/2014/main" val="3385264874"/>
                        </a:ext>
                      </a:extLst>
                    </a:gridCol>
                    <a:gridCol w="1379537">
                      <a:extLst>
                        <a:ext uri="{9D8B030D-6E8A-4147-A177-3AD203B41FA5}">
                          <a16:colId xmlns:a16="http://schemas.microsoft.com/office/drawing/2014/main" val="2686431893"/>
                        </a:ext>
                      </a:extLst>
                    </a:gridCol>
                    <a:gridCol w="1574738">
                      <a:extLst>
                        <a:ext uri="{9D8B030D-6E8A-4147-A177-3AD203B41FA5}">
                          <a16:colId xmlns:a16="http://schemas.microsoft.com/office/drawing/2014/main" val="1641689885"/>
                        </a:ext>
                      </a:extLst>
                    </a:gridCol>
                    <a:gridCol w="1582331">
                      <a:extLst>
                        <a:ext uri="{9D8B030D-6E8A-4147-A177-3AD203B41FA5}">
                          <a16:colId xmlns:a16="http://schemas.microsoft.com/office/drawing/2014/main" val="463413660"/>
                        </a:ext>
                      </a:extLst>
                    </a:gridCol>
                    <a:gridCol w="873296">
                      <a:extLst>
                        <a:ext uri="{9D8B030D-6E8A-4147-A177-3AD203B41FA5}">
                          <a16:colId xmlns:a16="http://schemas.microsoft.com/office/drawing/2014/main" val="4261140500"/>
                        </a:ext>
                      </a:extLst>
                    </a:gridCol>
                  </a:tblGrid>
                  <a:tr h="320467">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Булочка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50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Кофе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100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2821678"/>
                      </a:ext>
                    </a:extLst>
                  </a:tr>
                  <a:tr h="1627107">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ru-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08000" t="-23596" r="-402800" b="-114981"/>
                          </a:stretch>
                        </a:blipFill>
                      </a:tcPr>
                    </a:tc>
                    <a:tc>
                      <a:txBody>
                        <a:bodyPr/>
                        <a:lstStyle/>
                        <a:p>
                          <a:endParaRPr lang="ru-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58120" t="-23596" r="-760684" b="-114981"/>
                          </a:stretch>
                        </a:blipFill>
                      </a:tcPr>
                    </a:tc>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ru-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7692" t="-23596" r="-55769" b="-114981"/>
                          </a:stretch>
                        </a:blipFill>
                      </a:tcPr>
                    </a:tc>
                    <a:tc>
                      <a:txBody>
                        <a:bodyPr/>
                        <a:lstStyle/>
                        <a:p>
                          <a:endParaRPr lang="ru-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41259" t="-23596" r="-1399" b="-114981"/>
                          </a:stretch>
                        </a:blipFill>
                      </a:tcPr>
                    </a:tc>
                    <a:extLst>
                      <a:ext uri="{0D108BD9-81ED-4DB2-BD59-A6C34878D82A}">
                        <a16:rowId xmlns:a16="http://schemas.microsoft.com/office/drawing/2014/main" val="3892490148"/>
                      </a:ext>
                    </a:extLst>
                  </a:tr>
                  <a:tr h="343175">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775454"/>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250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90308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5535953"/>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94741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endParaRPr lang="ru-RU" sz="2000" kern="1200" dirty="0">
                            <a:solidFill>
                              <a:srgbClr val="002060"/>
                            </a:solidFill>
                            <a:effectLst/>
                            <a:latin typeface="Calibri" panose="020F0502020204030204" pitchFamily="34" charset="0"/>
                            <a:ea typeface="+mn-ea"/>
                            <a:cs typeface="Times New Roman" panose="02020603050405020304" pitchFamily="18" charset="0"/>
                          </a:endParaRP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0410374"/>
                      </a:ext>
                    </a:extLst>
                  </a:tr>
                </a:tbl>
              </a:graphicData>
            </a:graphic>
          </p:graphicFrame>
        </mc:Fallback>
      </mc:AlternateContent>
    </p:spTree>
    <p:extLst>
      <p:ext uri="{BB962C8B-B14F-4D97-AF65-F5344CB8AC3E}">
        <p14:creationId xmlns:p14="http://schemas.microsoft.com/office/powerpoint/2010/main" val="2317925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p:sp>
        <p:nvSpPr>
          <p:cNvPr id="7" name="TextBox 6">
            <a:extLst>
              <a:ext uri="{FF2B5EF4-FFF2-40B4-BE49-F238E27FC236}">
                <a16:creationId xmlns:a16="http://schemas.microsoft.com/office/drawing/2014/main" id="{C8998D13-7444-1189-AAAC-E85AAD98F56E}"/>
              </a:ext>
            </a:extLst>
          </p:cNvPr>
          <p:cNvSpPr txBox="1"/>
          <p:nvPr/>
        </p:nvSpPr>
        <p:spPr>
          <a:xfrm>
            <a:off x="789451" y="5141852"/>
            <a:ext cx="10710670" cy="1277273"/>
          </a:xfrm>
          <a:prstGeom prst="rect">
            <a:avLst/>
          </a:prstGeom>
          <a:noFill/>
        </p:spPr>
        <p:txBody>
          <a:bodyPr wrap="square">
            <a:spAutoFit/>
          </a:bodyPr>
          <a:lstStyle/>
          <a:p>
            <a:pPr algn="just">
              <a:spcBef>
                <a:spcPts val="600"/>
              </a:spcBef>
            </a:pPr>
            <a:r>
              <a:rPr lang="ru-RU" sz="2400" b="1" spc="5" dirty="0">
                <a:solidFill>
                  <a:srgbClr val="002060"/>
                </a:solidFill>
                <a:latin typeface="Arial" panose="020B0604020202020204" pitchFamily="34" charset="0"/>
              </a:rPr>
              <a:t>Д) При какой комбинации походов в кино и кафе общая полезность окажется максимальной?</a:t>
            </a:r>
          </a:p>
          <a:p>
            <a:pPr algn="just">
              <a:spcBef>
                <a:spcPts val="600"/>
              </a:spcBef>
            </a:pPr>
            <a:r>
              <a:rPr lang="ru-RU" sz="2400" b="1" spc="5" dirty="0">
                <a:solidFill>
                  <a:srgbClr val="002060"/>
                </a:solidFill>
                <a:latin typeface="Arial" panose="020B0604020202020204" pitchFamily="34" charset="0"/>
              </a:rPr>
              <a:t>Бюджет: 350</a:t>
            </a:r>
          </a:p>
        </p:txBody>
      </p:sp>
      <mc:AlternateContent xmlns:mc="http://schemas.openxmlformats.org/markup-compatibility/2006" xmlns:a14="http://schemas.microsoft.com/office/drawing/2010/main">
        <mc:Choice Requires="a14">
          <p:graphicFrame>
            <p:nvGraphicFramePr>
              <p:cNvPr id="8" name="Таблица 7">
                <a:extLst>
                  <a:ext uri="{FF2B5EF4-FFF2-40B4-BE49-F238E27FC236}">
                    <a16:creationId xmlns:a16="http://schemas.microsoft.com/office/drawing/2014/main" id="{DB4E5A22-CD6F-5D53-0568-A8DE27B4FC4C}"/>
                  </a:ext>
                </a:extLst>
              </p:cNvPr>
              <p:cNvGraphicFramePr>
                <a:graphicFrameLocks noGrp="1"/>
              </p:cNvGraphicFramePr>
              <p:nvPr>
                <p:extLst>
                  <p:ext uri="{D42A27DB-BD31-4B8C-83A1-F6EECF244321}">
                    <p14:modId xmlns:p14="http://schemas.microsoft.com/office/powerpoint/2010/main" val="3656139015"/>
                  </p:ext>
                </p:extLst>
              </p:nvPr>
            </p:nvGraphicFramePr>
            <p:xfrm>
              <a:off x="691878" y="1165253"/>
              <a:ext cx="10808243" cy="3663449"/>
            </p:xfrm>
            <a:graphic>
              <a:graphicData uri="http://schemas.openxmlformats.org/drawingml/2006/table">
                <a:tbl>
                  <a:tblPr firstRow="1" firstCol="1" bandRow="1"/>
                  <a:tblGrid>
                    <a:gridCol w="1506385">
                      <a:extLst>
                        <a:ext uri="{9D8B030D-6E8A-4147-A177-3AD203B41FA5}">
                          <a16:colId xmlns:a16="http://schemas.microsoft.com/office/drawing/2014/main" val="255173490"/>
                        </a:ext>
                      </a:extLst>
                    </a:gridCol>
                    <a:gridCol w="1655534">
                      <a:extLst>
                        <a:ext uri="{9D8B030D-6E8A-4147-A177-3AD203B41FA5}">
                          <a16:colId xmlns:a16="http://schemas.microsoft.com/office/drawing/2014/main" val="3073428915"/>
                        </a:ext>
                      </a:extLst>
                    </a:gridCol>
                    <a:gridCol w="1525181">
                      <a:extLst>
                        <a:ext uri="{9D8B030D-6E8A-4147-A177-3AD203B41FA5}">
                          <a16:colId xmlns:a16="http://schemas.microsoft.com/office/drawing/2014/main" val="1893867116"/>
                        </a:ext>
                      </a:extLst>
                    </a:gridCol>
                    <a:gridCol w="711241">
                      <a:extLst>
                        <a:ext uri="{9D8B030D-6E8A-4147-A177-3AD203B41FA5}">
                          <a16:colId xmlns:a16="http://schemas.microsoft.com/office/drawing/2014/main" val="3385264874"/>
                        </a:ext>
                      </a:extLst>
                    </a:gridCol>
                    <a:gridCol w="1379537">
                      <a:extLst>
                        <a:ext uri="{9D8B030D-6E8A-4147-A177-3AD203B41FA5}">
                          <a16:colId xmlns:a16="http://schemas.microsoft.com/office/drawing/2014/main" val="2686431893"/>
                        </a:ext>
                      </a:extLst>
                    </a:gridCol>
                    <a:gridCol w="1574738">
                      <a:extLst>
                        <a:ext uri="{9D8B030D-6E8A-4147-A177-3AD203B41FA5}">
                          <a16:colId xmlns:a16="http://schemas.microsoft.com/office/drawing/2014/main" val="1641689885"/>
                        </a:ext>
                      </a:extLst>
                    </a:gridCol>
                    <a:gridCol w="1582331">
                      <a:extLst>
                        <a:ext uri="{9D8B030D-6E8A-4147-A177-3AD203B41FA5}">
                          <a16:colId xmlns:a16="http://schemas.microsoft.com/office/drawing/2014/main" val="463413660"/>
                        </a:ext>
                      </a:extLst>
                    </a:gridCol>
                    <a:gridCol w="873296">
                      <a:extLst>
                        <a:ext uri="{9D8B030D-6E8A-4147-A177-3AD203B41FA5}">
                          <a16:colId xmlns:a16="http://schemas.microsoft.com/office/drawing/2014/main" val="4261140500"/>
                        </a:ext>
                      </a:extLst>
                    </a:gridCol>
                  </a:tblGrid>
                  <a:tr h="203485">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Булочка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50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Кофе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100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2821678"/>
                      </a:ext>
                    </a:extLst>
                  </a:tr>
                  <a:tr h="1129260">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Предельная</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14:m>
                            <m:oMathPara xmlns:m="http://schemas.openxmlformats.org/officeDocument/2006/math">
                              <m:oMathParaPr>
                                <m:jc m:val="centerGroup"/>
                              </m:oMathParaPr>
                              <m:oMath xmlns:m="http://schemas.openxmlformats.org/officeDocument/2006/math">
                                <m:r>
                                  <a:rPr lang="ru-RU" sz="2000" b="1" i="1" kern="1200" smtClean="0">
                                    <a:solidFill>
                                      <a:srgbClr val="002060"/>
                                    </a:solidFill>
                                    <a:effectLst/>
                                    <a:latin typeface="Cambria Math" panose="02040503050406030204" pitchFamily="18" charset="0"/>
                                    <a:ea typeface="+mn-ea"/>
                                    <a:cs typeface="+mn-cs"/>
                                  </a:rPr>
                                  <m:t>𝑴𝑼</m:t>
                                </m:r>
                                <m:r>
                                  <a:rPr lang="ru-RU" sz="2000" b="1" i="1" kern="1200" smtClean="0">
                                    <a:solidFill>
                                      <a:srgbClr val="002060"/>
                                    </a:solidFill>
                                    <a:effectLst/>
                                    <a:latin typeface="Cambria Math" panose="02040503050406030204" pitchFamily="18" charset="0"/>
                                    <a:ea typeface="+mn-ea"/>
                                    <a:cs typeface="+mn-cs"/>
                                  </a:rPr>
                                  <m:t>=</m:t>
                                </m:r>
                                <m:f>
                                  <m:fPr>
                                    <m:ctrlPr>
                                      <a:rPr lang="ru-RU" sz="2000" b="1" i="1" kern="1200">
                                        <a:solidFill>
                                          <a:srgbClr val="002060"/>
                                        </a:solidFill>
                                        <a:effectLst/>
                                        <a:latin typeface="Cambria Math" panose="02040503050406030204" pitchFamily="18" charset="0"/>
                                        <a:ea typeface="+mn-ea"/>
                                        <a:cs typeface="+mn-cs"/>
                                      </a:rPr>
                                    </m:ctrlPr>
                                  </m:fPr>
                                  <m:num>
                                    <m:r>
                                      <a:rPr lang="ru-RU" sz="2000" b="1" i="1" kern="1200">
                                        <a:solidFill>
                                          <a:srgbClr val="002060"/>
                                        </a:solidFill>
                                        <a:effectLst/>
                                        <a:latin typeface="Cambria Math" panose="02040503050406030204" pitchFamily="18" charset="0"/>
                                        <a:ea typeface="+mn-ea"/>
                                        <a:cs typeface="+mn-cs"/>
                                      </a:rPr>
                                      <m:t>𝜟</m:t>
                                    </m:r>
                                    <m:r>
                                      <a:rPr lang="ru-RU" sz="2000" b="1" i="1" kern="1200">
                                        <a:solidFill>
                                          <a:srgbClr val="002060"/>
                                        </a:solidFill>
                                        <a:effectLst/>
                                        <a:latin typeface="Cambria Math" panose="02040503050406030204" pitchFamily="18" charset="0"/>
                                        <a:ea typeface="+mn-ea"/>
                                        <a:cs typeface="+mn-cs"/>
                                      </a:rPr>
                                      <m:t>𝑻𝑼</m:t>
                                    </m:r>
                                  </m:num>
                                  <m:den>
                                    <m:r>
                                      <a:rPr lang="ru-RU" sz="2000" b="1" i="1" kern="1200">
                                        <a:solidFill>
                                          <a:srgbClr val="002060"/>
                                        </a:solidFill>
                                        <a:effectLst/>
                                        <a:latin typeface="Cambria Math" panose="02040503050406030204" pitchFamily="18" charset="0"/>
                                        <a:ea typeface="+mn-ea"/>
                                        <a:cs typeface="+mn-cs"/>
                                      </a:rPr>
                                      <m:t>𝜟</m:t>
                                    </m:r>
                                    <m:r>
                                      <a:rPr lang="en-US" sz="2000" b="1" i="1" kern="1200" smtClean="0">
                                        <a:solidFill>
                                          <a:srgbClr val="002060"/>
                                        </a:solidFill>
                                        <a:effectLst/>
                                        <a:latin typeface="Cambria Math" panose="02040503050406030204" pitchFamily="18" charset="0"/>
                                        <a:ea typeface="+mn-ea"/>
                                        <a:cs typeface="+mn-cs"/>
                                      </a:rPr>
                                      <m:t>𝑸</m:t>
                                    </m:r>
                                  </m:den>
                                </m:f>
                              </m:oMath>
                            </m:oMathPara>
                          </a14:m>
                          <a:endParaRPr lang="ru-RU" sz="2000" b="1" kern="1200" dirty="0">
                            <a:solidFill>
                              <a:srgbClr val="002060"/>
                            </a:solidFill>
                            <a:effectLst/>
                            <a:latin typeface="+mn-lt"/>
                            <a:ea typeface="+mn-ea"/>
                            <a:cs typeface="+mn-cs"/>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ru-RU" sz="2000" b="1" i="1" kern="1200"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000" b="1" kern="120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𝑀𝑈</m:t>
                                    </m:r>
                                  </m:num>
                                  <m:den>
                                    <m:r>
                                      <a:rPr lang="ru-RU" sz="2000" b="1" kern="120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𝑃</m:t>
                                    </m:r>
                                  </m:den>
                                </m:f>
                              </m:oMath>
                            </m:oMathPara>
                          </a14:m>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Предельная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ru-RU" sz="2000" b="1" i="1" kern="1200" smtClean="0">
                                    <a:solidFill>
                                      <a:srgbClr val="002060"/>
                                    </a:solidFill>
                                    <a:effectLst/>
                                    <a:latin typeface="Cambria Math" panose="02040503050406030204" pitchFamily="18" charset="0"/>
                                    <a:ea typeface="+mn-ea"/>
                                    <a:cs typeface="+mn-cs"/>
                                  </a:rPr>
                                  <m:t>𝑴𝑼</m:t>
                                </m:r>
                                <m:r>
                                  <a:rPr lang="ru-RU" sz="2000" i="1" kern="1200" smtClean="0">
                                    <a:solidFill>
                                      <a:srgbClr val="002060"/>
                                    </a:solidFill>
                                    <a:effectLst/>
                                    <a:latin typeface="Cambria Math" panose="02040503050406030204" pitchFamily="18" charset="0"/>
                                    <a:ea typeface="+mn-ea"/>
                                    <a:cs typeface="+mn-cs"/>
                                  </a:rPr>
                                  <m:t>=</m:t>
                                </m:r>
                                <m:f>
                                  <m:fPr>
                                    <m:ctrlPr>
                                      <a:rPr lang="ru-RU" sz="2000" i="1" kern="1200">
                                        <a:solidFill>
                                          <a:srgbClr val="002060"/>
                                        </a:solidFill>
                                        <a:effectLst/>
                                        <a:latin typeface="Cambria Math" panose="02040503050406030204" pitchFamily="18" charset="0"/>
                                        <a:ea typeface="+mn-ea"/>
                                        <a:cs typeface="+mn-cs"/>
                                      </a:rPr>
                                    </m:ctrlPr>
                                  </m:fPr>
                                  <m:num>
                                    <m:r>
                                      <a:rPr lang="ru-RU" sz="2000" i="1" kern="1200">
                                        <a:solidFill>
                                          <a:srgbClr val="002060"/>
                                        </a:solidFill>
                                        <a:effectLst/>
                                        <a:latin typeface="Cambria Math" panose="02040503050406030204" pitchFamily="18" charset="0"/>
                                        <a:ea typeface="+mn-ea"/>
                                        <a:cs typeface="+mn-cs"/>
                                      </a:rPr>
                                      <m:t>𝛥</m:t>
                                    </m:r>
                                    <m:r>
                                      <a:rPr lang="ru-RU" sz="2000" i="1" kern="1200">
                                        <a:solidFill>
                                          <a:srgbClr val="002060"/>
                                        </a:solidFill>
                                        <a:effectLst/>
                                        <a:latin typeface="Cambria Math" panose="02040503050406030204" pitchFamily="18" charset="0"/>
                                        <a:ea typeface="+mn-ea"/>
                                        <a:cs typeface="+mn-cs"/>
                                      </a:rPr>
                                      <m:t>𝑇𝑈</m:t>
                                    </m:r>
                                  </m:num>
                                  <m:den>
                                    <m:r>
                                      <a:rPr lang="ru-RU" sz="2000" i="1" kern="1200">
                                        <a:solidFill>
                                          <a:srgbClr val="002060"/>
                                        </a:solidFill>
                                        <a:effectLst/>
                                        <a:latin typeface="Cambria Math" panose="02040503050406030204" pitchFamily="18" charset="0"/>
                                        <a:ea typeface="+mn-ea"/>
                                        <a:cs typeface="+mn-cs"/>
                                      </a:rPr>
                                      <m:t>𝛥</m:t>
                                    </m:r>
                                    <m:r>
                                      <a:rPr lang="en-US" sz="2000" b="0" i="1" kern="1200" smtClean="0">
                                        <a:solidFill>
                                          <a:srgbClr val="002060"/>
                                        </a:solidFill>
                                        <a:effectLst/>
                                        <a:latin typeface="Cambria Math" panose="02040503050406030204" pitchFamily="18" charset="0"/>
                                        <a:ea typeface="+mn-ea"/>
                                        <a:cs typeface="+mn-cs"/>
                                      </a:rPr>
                                      <m:t>𝑄</m:t>
                                    </m:r>
                                  </m:den>
                                </m:f>
                              </m:oMath>
                            </m:oMathPara>
                          </a14:m>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ru-RU" sz="2000" b="1" i="1" kern="1200" smtClean="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000" b="1" kern="120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𝑀𝑈</m:t>
                                    </m:r>
                                  </m:num>
                                  <m:den>
                                    <m:r>
                                      <a:rPr lang="ru-RU" sz="2000" b="1" kern="1200">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𝑃</m:t>
                                    </m:r>
                                  </m:den>
                                </m:f>
                              </m:oMath>
                            </m:oMathPara>
                          </a14:m>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892490148"/>
                      </a:ext>
                    </a:extLst>
                  </a:tr>
                  <a:tr h="343175">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6</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946775454"/>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250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68290308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905535953"/>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31494741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290410374"/>
                      </a:ext>
                    </a:extLst>
                  </a:tr>
                </a:tbl>
              </a:graphicData>
            </a:graphic>
          </p:graphicFrame>
        </mc:Choice>
        <mc:Fallback xmlns="">
          <p:graphicFrame>
            <p:nvGraphicFramePr>
              <p:cNvPr id="8" name="Таблица 7">
                <a:extLst>
                  <a:ext uri="{FF2B5EF4-FFF2-40B4-BE49-F238E27FC236}">
                    <a16:creationId xmlns:a16="http://schemas.microsoft.com/office/drawing/2014/main" id="{DB4E5A22-CD6F-5D53-0568-A8DE27B4FC4C}"/>
                  </a:ext>
                </a:extLst>
              </p:cNvPr>
              <p:cNvGraphicFramePr>
                <a:graphicFrameLocks noGrp="1"/>
              </p:cNvGraphicFramePr>
              <p:nvPr>
                <p:extLst>
                  <p:ext uri="{D42A27DB-BD31-4B8C-83A1-F6EECF244321}">
                    <p14:modId xmlns:p14="http://schemas.microsoft.com/office/powerpoint/2010/main" val="3656139015"/>
                  </p:ext>
                </p:extLst>
              </p:nvPr>
            </p:nvGraphicFramePr>
            <p:xfrm>
              <a:off x="691878" y="1165253"/>
              <a:ext cx="10808243" cy="3663449"/>
            </p:xfrm>
            <a:graphic>
              <a:graphicData uri="http://schemas.openxmlformats.org/drawingml/2006/table">
                <a:tbl>
                  <a:tblPr firstRow="1" firstCol="1" bandRow="1"/>
                  <a:tblGrid>
                    <a:gridCol w="1506385">
                      <a:extLst>
                        <a:ext uri="{9D8B030D-6E8A-4147-A177-3AD203B41FA5}">
                          <a16:colId xmlns:a16="http://schemas.microsoft.com/office/drawing/2014/main" val="255173490"/>
                        </a:ext>
                      </a:extLst>
                    </a:gridCol>
                    <a:gridCol w="1655534">
                      <a:extLst>
                        <a:ext uri="{9D8B030D-6E8A-4147-A177-3AD203B41FA5}">
                          <a16:colId xmlns:a16="http://schemas.microsoft.com/office/drawing/2014/main" val="3073428915"/>
                        </a:ext>
                      </a:extLst>
                    </a:gridCol>
                    <a:gridCol w="1525181">
                      <a:extLst>
                        <a:ext uri="{9D8B030D-6E8A-4147-A177-3AD203B41FA5}">
                          <a16:colId xmlns:a16="http://schemas.microsoft.com/office/drawing/2014/main" val="1893867116"/>
                        </a:ext>
                      </a:extLst>
                    </a:gridCol>
                    <a:gridCol w="711241">
                      <a:extLst>
                        <a:ext uri="{9D8B030D-6E8A-4147-A177-3AD203B41FA5}">
                          <a16:colId xmlns:a16="http://schemas.microsoft.com/office/drawing/2014/main" val="3385264874"/>
                        </a:ext>
                      </a:extLst>
                    </a:gridCol>
                    <a:gridCol w="1379537">
                      <a:extLst>
                        <a:ext uri="{9D8B030D-6E8A-4147-A177-3AD203B41FA5}">
                          <a16:colId xmlns:a16="http://schemas.microsoft.com/office/drawing/2014/main" val="2686431893"/>
                        </a:ext>
                      </a:extLst>
                    </a:gridCol>
                    <a:gridCol w="1574738">
                      <a:extLst>
                        <a:ext uri="{9D8B030D-6E8A-4147-A177-3AD203B41FA5}">
                          <a16:colId xmlns:a16="http://schemas.microsoft.com/office/drawing/2014/main" val="1641689885"/>
                        </a:ext>
                      </a:extLst>
                    </a:gridCol>
                    <a:gridCol w="1582331">
                      <a:extLst>
                        <a:ext uri="{9D8B030D-6E8A-4147-A177-3AD203B41FA5}">
                          <a16:colId xmlns:a16="http://schemas.microsoft.com/office/drawing/2014/main" val="463413660"/>
                        </a:ext>
                      </a:extLst>
                    </a:gridCol>
                    <a:gridCol w="873296">
                      <a:extLst>
                        <a:ext uri="{9D8B030D-6E8A-4147-A177-3AD203B41FA5}">
                          <a16:colId xmlns:a16="http://schemas.microsoft.com/office/drawing/2014/main" val="4261140500"/>
                        </a:ext>
                      </a:extLst>
                    </a:gridCol>
                  </a:tblGrid>
                  <a:tr h="320467">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Булочка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50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rowSpan="2">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Количество </a:t>
                          </a:r>
                        </a:p>
                        <a:p>
                          <a:pPr algn="ctr">
                            <a:lnSpc>
                              <a:spcPct val="107000"/>
                            </a:lnSpc>
                            <a:spcAft>
                              <a:spcPts val="800"/>
                            </a:spcAft>
                          </a:pP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Кофе (цена </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100 </a:t>
                          </a:r>
                          <a:r>
                            <a:rPr lang="ru-RU" sz="20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ден.ед</a:t>
                          </a: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2821678"/>
                      </a:ext>
                    </a:extLst>
                  </a:tr>
                  <a:tr h="1627107">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08333" t="-23256" r="-403333" b="-114729"/>
                          </a:stretch>
                        </a:blipFill>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49123" t="-23256" r="-749123" b="-114729"/>
                          </a:stretch>
                        </a:blipFill>
                      </a:tcPr>
                    </a:tc>
                    <a:tc vMerge="1">
                      <a:txBody>
                        <a:bodyPr/>
                        <a:lstStyle/>
                        <a:p>
                          <a:endParaRPr lang="ru-RU"/>
                        </a:p>
                      </a:txBody>
                      <a:tcPr/>
                    </a:tc>
                    <a:tc>
                      <a:txBody>
                        <a:bodyPr/>
                        <a:lstStyle/>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Общая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полезность </a:t>
                          </a:r>
                        </a:p>
                        <a:p>
                          <a:pPr algn="ctr">
                            <a:lnSpc>
                              <a:spcPct val="107000"/>
                            </a:lnSpc>
                            <a:spcAft>
                              <a:spcPts val="800"/>
                            </a:spcAft>
                          </a:pPr>
                          <a:r>
                            <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(Т</a:t>
                          </a:r>
                          <a:r>
                            <a:rPr lang="en-US"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U)</a:t>
                          </a:r>
                          <a:endParaRPr lang="ru-RU" sz="20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27200" t="-23256" r="-56000" b="-114729"/>
                          </a:stretch>
                        </a:blipFill>
                      </a:tcPr>
                    </a:tc>
                    <a:tc>
                      <a:txBody>
                        <a:bodyPr/>
                        <a:lstStyle/>
                        <a:p>
                          <a:endParaRPr lang="en-RU"/>
                        </a:p>
                      </a:txBody>
                      <a:tcPr marL="63424" marR="63424" marT="880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136232" t="-23256" r="-1449" b="-114729"/>
                          </a:stretch>
                        </a:blipFill>
                      </a:tcPr>
                    </a:tc>
                    <a:extLst>
                      <a:ext uri="{0D108BD9-81ED-4DB2-BD59-A6C34878D82A}">
                        <a16:rowId xmlns:a16="http://schemas.microsoft.com/office/drawing/2014/main" val="3892490148"/>
                      </a:ext>
                    </a:extLst>
                  </a:tr>
                  <a:tr h="343175">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6</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946775454"/>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250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800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68290308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3</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200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905535953"/>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4</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314947417"/>
                      </a:ext>
                    </a:extLst>
                  </a:tr>
                  <a:tr h="343175">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750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5</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a:solidFill>
                                <a:srgbClr val="002060"/>
                              </a:solidFill>
                              <a:effectLst/>
                              <a:latin typeface="Calibri" panose="020F0502020204030204" pitchFamily="34" charset="0"/>
                              <a:ea typeface="+mn-ea"/>
                              <a:cs typeface="Times New Roman" panose="02020603050405020304" pitchFamily="18" charset="0"/>
                            </a:rPr>
                            <a:t>-100</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7000"/>
                            </a:lnSpc>
                            <a:spcAft>
                              <a:spcPts val="800"/>
                            </a:spcAft>
                          </a:pPr>
                          <a:r>
                            <a:rPr lang="ru-RU" sz="2000" kern="1200" dirty="0">
                              <a:solidFill>
                                <a:srgbClr val="002060"/>
                              </a:solidFill>
                              <a:effectLst/>
                              <a:latin typeface="Calibri" panose="020F0502020204030204" pitchFamily="34" charset="0"/>
                              <a:ea typeface="+mn-ea"/>
                              <a:cs typeface="Times New Roman" panose="02020603050405020304" pitchFamily="18" charset="0"/>
                            </a:rPr>
                            <a:t>-1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290410374"/>
                      </a:ext>
                    </a:extLst>
                  </a:tr>
                </a:tbl>
              </a:graphicData>
            </a:graphic>
          </p:graphicFrame>
        </mc:Fallback>
      </mc:AlternateContent>
    </p:spTree>
    <p:extLst>
      <p:ext uri="{BB962C8B-B14F-4D97-AF65-F5344CB8AC3E}">
        <p14:creationId xmlns:p14="http://schemas.microsoft.com/office/powerpoint/2010/main" val="249700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E5FB4B2-6271-6A95-76A7-22317C8007DC}"/>
                  </a:ext>
                </a:extLst>
              </p:cNvPr>
              <p:cNvSpPr txBox="1"/>
              <p:nvPr/>
            </p:nvSpPr>
            <p:spPr>
              <a:xfrm>
                <a:off x="798945" y="1552989"/>
                <a:ext cx="10594109" cy="4727576"/>
              </a:xfrm>
              <a:prstGeom prst="rect">
                <a:avLst/>
              </a:prstGeom>
              <a:noFill/>
            </p:spPr>
            <p:txBody>
              <a:bodyPr wrap="square">
                <a:spAutoFit/>
              </a:bodyPr>
              <a:lstStyle/>
              <a:p>
                <a:pPr algn="just"/>
                <a:r>
                  <a:rPr lang="ru-RU" sz="2600" dirty="0">
                    <a:solidFill>
                      <a:srgbClr val="002060"/>
                    </a:solidFill>
                  </a:rPr>
                  <a:t>При оптимальном распределении ограниченного дохода уровень полезности, получаемый потребителем от расходования последней денежной единицы, одинаков для всех покупаемых благ вне зависимости от того, на покупку какого из благ она будет истрачена.</a:t>
                </a:r>
              </a:p>
              <a:p>
                <a:pPr algn="just"/>
                <a:endParaRPr lang="ru-RU" sz="2600" dirty="0">
                  <a:solidFill>
                    <a:srgbClr val="002060"/>
                  </a:solidFill>
                </a:endParaRPr>
              </a:p>
              <a:p>
                <a:pPr lvl="0" algn="just"/>
                <a:r>
                  <a:rPr lang="ru-RU" sz="2600" dirty="0">
                    <a:solidFill>
                      <a:srgbClr val="002060"/>
                    </a:solidFill>
                  </a:rPr>
                  <a:t>Потребитель  распределяет свои средства на покупку различных товаров таким образом, что:</a:t>
                </a:r>
              </a:p>
              <a:p>
                <a:pPr algn="ctr"/>
                <a14:m>
                  <m:oMath xmlns:m="http://schemas.openxmlformats.org/officeDocument/2006/math">
                    <m:f>
                      <m:fPr>
                        <m:ctrlPr>
                          <a:rPr lang="ru-RU" sz="2800" i="1">
                            <a:solidFill>
                              <a:srgbClr val="002060"/>
                            </a:solidFill>
                            <a:latin typeface="Cambria Math" panose="02040503050406030204" pitchFamily="18" charset="0"/>
                          </a:rPr>
                        </m:ctrlPr>
                      </m:fPr>
                      <m:num>
                        <m:sSub>
                          <m:sSubPr>
                            <m:ctrlPr>
                              <a:rPr lang="ru-RU" sz="2800" i="1">
                                <a:solidFill>
                                  <a:srgbClr val="002060"/>
                                </a:solidFill>
                                <a:latin typeface="Cambria Math" panose="02040503050406030204" pitchFamily="18" charset="0"/>
                              </a:rPr>
                            </m:ctrlPr>
                          </m:sSubPr>
                          <m:e>
                            <m:r>
                              <a:rPr lang="en-US" sz="2800" i="1">
                                <a:solidFill>
                                  <a:srgbClr val="002060"/>
                                </a:solidFill>
                                <a:latin typeface="Cambria Math" panose="02040503050406030204" pitchFamily="18" charset="0"/>
                              </a:rPr>
                              <m:t>𝑀𝑈</m:t>
                            </m:r>
                          </m:e>
                          <m:sub>
                            <m:r>
                              <a:rPr lang="ru-RU" sz="2800" i="1">
                                <a:solidFill>
                                  <a:srgbClr val="002060"/>
                                </a:solidFill>
                                <a:latin typeface="Cambria Math" panose="02040503050406030204" pitchFamily="18" charset="0"/>
                              </a:rPr>
                              <m:t>1</m:t>
                            </m:r>
                          </m:sub>
                        </m:sSub>
                      </m:num>
                      <m:den>
                        <m:sSub>
                          <m:sSubPr>
                            <m:ctrlPr>
                              <a:rPr lang="ru-RU" sz="2800" i="1">
                                <a:solidFill>
                                  <a:srgbClr val="002060"/>
                                </a:solidFill>
                                <a:latin typeface="Cambria Math" panose="02040503050406030204" pitchFamily="18" charset="0"/>
                              </a:rPr>
                            </m:ctrlPr>
                          </m:sSubPr>
                          <m:e>
                            <m:r>
                              <a:rPr lang="ru-RU" sz="2800" i="1">
                                <a:solidFill>
                                  <a:srgbClr val="002060"/>
                                </a:solidFill>
                                <a:latin typeface="Cambria Math" panose="02040503050406030204" pitchFamily="18" charset="0"/>
                              </a:rPr>
                              <m:t>𝑃</m:t>
                            </m:r>
                          </m:e>
                          <m:sub>
                            <m:r>
                              <a:rPr lang="ru-RU" sz="2800" i="1">
                                <a:solidFill>
                                  <a:srgbClr val="002060"/>
                                </a:solidFill>
                                <a:latin typeface="Cambria Math" panose="02040503050406030204" pitchFamily="18" charset="0"/>
                              </a:rPr>
                              <m:t>1</m:t>
                            </m:r>
                          </m:sub>
                        </m:sSub>
                      </m:den>
                    </m:f>
                    <m:r>
                      <a:rPr lang="ru-RU" sz="2800" i="1">
                        <a:solidFill>
                          <a:srgbClr val="002060"/>
                        </a:solidFill>
                        <a:latin typeface="Cambria Math" panose="02040503050406030204" pitchFamily="18" charset="0"/>
                      </a:rPr>
                      <m:t>=</m:t>
                    </m:r>
                    <m:f>
                      <m:fPr>
                        <m:ctrlPr>
                          <a:rPr lang="ru-RU" sz="2800" i="1">
                            <a:solidFill>
                              <a:srgbClr val="002060"/>
                            </a:solidFill>
                            <a:latin typeface="Cambria Math" panose="02040503050406030204" pitchFamily="18" charset="0"/>
                          </a:rPr>
                        </m:ctrlPr>
                      </m:fPr>
                      <m:num>
                        <m:sSub>
                          <m:sSubPr>
                            <m:ctrlPr>
                              <a:rPr lang="ru-RU" sz="2800" i="1">
                                <a:solidFill>
                                  <a:srgbClr val="002060"/>
                                </a:solidFill>
                                <a:latin typeface="Cambria Math" panose="02040503050406030204" pitchFamily="18" charset="0"/>
                              </a:rPr>
                            </m:ctrlPr>
                          </m:sSubPr>
                          <m:e>
                            <m:r>
                              <a:rPr lang="en-US" sz="2800" i="1">
                                <a:solidFill>
                                  <a:srgbClr val="002060"/>
                                </a:solidFill>
                                <a:latin typeface="Cambria Math" panose="02040503050406030204" pitchFamily="18" charset="0"/>
                              </a:rPr>
                              <m:t>𝑀𝑈</m:t>
                            </m:r>
                          </m:e>
                          <m:sub>
                            <m:r>
                              <a:rPr lang="ru-RU" sz="2800" i="1">
                                <a:solidFill>
                                  <a:srgbClr val="002060"/>
                                </a:solidFill>
                                <a:latin typeface="Cambria Math" panose="02040503050406030204" pitchFamily="18" charset="0"/>
                              </a:rPr>
                              <m:t>2</m:t>
                            </m:r>
                          </m:sub>
                        </m:sSub>
                      </m:num>
                      <m:den>
                        <m:sSub>
                          <m:sSubPr>
                            <m:ctrlPr>
                              <a:rPr lang="ru-RU" sz="2800" i="1">
                                <a:solidFill>
                                  <a:srgbClr val="002060"/>
                                </a:solidFill>
                                <a:latin typeface="Cambria Math" panose="02040503050406030204" pitchFamily="18" charset="0"/>
                              </a:rPr>
                            </m:ctrlPr>
                          </m:sSubPr>
                          <m:e>
                            <m:r>
                              <a:rPr lang="ru-RU" sz="2800" i="1">
                                <a:solidFill>
                                  <a:srgbClr val="002060"/>
                                </a:solidFill>
                                <a:latin typeface="Cambria Math" panose="02040503050406030204" pitchFamily="18" charset="0"/>
                              </a:rPr>
                              <m:t>𝑃</m:t>
                            </m:r>
                          </m:e>
                          <m:sub>
                            <m:r>
                              <a:rPr lang="ru-RU" sz="2800" i="1">
                                <a:solidFill>
                                  <a:srgbClr val="002060"/>
                                </a:solidFill>
                                <a:latin typeface="Cambria Math" panose="02040503050406030204" pitchFamily="18" charset="0"/>
                              </a:rPr>
                              <m:t>2</m:t>
                            </m:r>
                          </m:sub>
                        </m:sSub>
                      </m:den>
                    </m:f>
                    <m:r>
                      <a:rPr lang="ru-RU" sz="2800" i="1">
                        <a:solidFill>
                          <a:srgbClr val="002060"/>
                        </a:solidFill>
                        <a:latin typeface="Cambria Math" panose="02040503050406030204" pitchFamily="18" charset="0"/>
                      </a:rPr>
                      <m:t>= </m:t>
                    </m:r>
                    <m:f>
                      <m:fPr>
                        <m:ctrlPr>
                          <a:rPr lang="ru-RU" sz="2800" i="1">
                            <a:solidFill>
                              <a:srgbClr val="002060"/>
                            </a:solidFill>
                            <a:latin typeface="Cambria Math" panose="02040503050406030204" pitchFamily="18" charset="0"/>
                          </a:rPr>
                        </m:ctrlPr>
                      </m:fPr>
                      <m:num>
                        <m:sSub>
                          <m:sSubPr>
                            <m:ctrlPr>
                              <a:rPr lang="ru-RU" sz="2800" i="1">
                                <a:solidFill>
                                  <a:srgbClr val="002060"/>
                                </a:solidFill>
                                <a:latin typeface="Cambria Math" panose="02040503050406030204" pitchFamily="18" charset="0"/>
                              </a:rPr>
                            </m:ctrlPr>
                          </m:sSubPr>
                          <m:e>
                            <m:r>
                              <a:rPr lang="en-US" sz="2800" i="1">
                                <a:solidFill>
                                  <a:srgbClr val="002060"/>
                                </a:solidFill>
                                <a:latin typeface="Cambria Math" panose="02040503050406030204" pitchFamily="18" charset="0"/>
                              </a:rPr>
                              <m:t>𝑀𝑈</m:t>
                            </m:r>
                          </m:e>
                          <m:sub>
                            <m:r>
                              <a:rPr lang="ru-RU" sz="2800" i="1">
                                <a:solidFill>
                                  <a:srgbClr val="002060"/>
                                </a:solidFill>
                                <a:latin typeface="Cambria Math" panose="02040503050406030204" pitchFamily="18" charset="0"/>
                              </a:rPr>
                              <m:t>3</m:t>
                            </m:r>
                          </m:sub>
                        </m:sSub>
                      </m:num>
                      <m:den>
                        <m:sSub>
                          <m:sSubPr>
                            <m:ctrlPr>
                              <a:rPr lang="ru-RU" sz="2800" i="1">
                                <a:solidFill>
                                  <a:srgbClr val="002060"/>
                                </a:solidFill>
                                <a:latin typeface="Cambria Math" panose="02040503050406030204" pitchFamily="18" charset="0"/>
                              </a:rPr>
                            </m:ctrlPr>
                          </m:sSubPr>
                          <m:e>
                            <m:r>
                              <a:rPr lang="ru-RU" sz="2800" i="1">
                                <a:solidFill>
                                  <a:srgbClr val="002060"/>
                                </a:solidFill>
                                <a:latin typeface="Cambria Math" panose="02040503050406030204" pitchFamily="18" charset="0"/>
                              </a:rPr>
                              <m:t>𝑃</m:t>
                            </m:r>
                          </m:e>
                          <m:sub>
                            <m:r>
                              <a:rPr lang="ru-RU" sz="2800" i="1">
                                <a:solidFill>
                                  <a:srgbClr val="002060"/>
                                </a:solidFill>
                                <a:latin typeface="Cambria Math" panose="02040503050406030204" pitchFamily="18" charset="0"/>
                              </a:rPr>
                              <m:t>3</m:t>
                            </m:r>
                          </m:sub>
                        </m:sSub>
                      </m:den>
                    </m:f>
                  </m:oMath>
                </a14:m>
                <a:r>
                  <a:rPr lang="en-US" sz="2800" dirty="0">
                    <a:solidFill>
                      <a:srgbClr val="002060"/>
                    </a:solidFill>
                  </a:rPr>
                  <a:t> </a:t>
                </a:r>
                <a14:m>
                  <m:oMath xmlns:m="http://schemas.openxmlformats.org/officeDocument/2006/math">
                    <m:r>
                      <a:rPr lang="ru-RU" sz="2800" i="1">
                        <a:solidFill>
                          <a:srgbClr val="002060"/>
                        </a:solidFill>
                        <a:latin typeface="Cambria Math" panose="02040503050406030204" pitchFamily="18" charset="0"/>
                      </a:rPr>
                      <m:t>= </m:t>
                    </m:r>
                  </m:oMath>
                </a14:m>
                <a:r>
                  <a:rPr lang="ru-RU" sz="2800" i="1" dirty="0">
                    <a:solidFill>
                      <a:srgbClr val="002060"/>
                    </a:solidFill>
                    <a:sym typeface="Symbol" panose="05050102010706020507" pitchFamily="18" charset="2"/>
                  </a:rPr>
                  <a:t></a:t>
                </a:r>
                <a:endParaRPr lang="ru-RU" sz="2800" dirty="0">
                  <a:solidFill>
                    <a:srgbClr val="002060"/>
                  </a:solidFill>
                </a:endParaRPr>
              </a:p>
              <a:p>
                <a:pPr algn="just"/>
                <a:r>
                  <a:rPr lang="ru-RU" sz="2400" i="1" dirty="0">
                    <a:solidFill>
                      <a:srgbClr val="002060"/>
                    </a:solidFill>
                  </a:rPr>
                  <a:t> </a:t>
                </a:r>
              </a:p>
              <a:p>
                <a:pPr algn="just"/>
                <a14:m>
                  <m:oMath xmlns:m="http://schemas.openxmlformats.org/officeDocument/2006/math">
                    <m:sSub>
                      <m:sSubPr>
                        <m:ctrlPr>
                          <a:rPr lang="ru-RU" sz="2600" i="1">
                            <a:solidFill>
                              <a:srgbClr val="002060"/>
                            </a:solidFill>
                            <a:latin typeface="Cambria Math" panose="02040503050406030204" pitchFamily="18" charset="0"/>
                          </a:rPr>
                        </m:ctrlPr>
                      </m:sSubPr>
                      <m:e>
                        <m:r>
                          <a:rPr lang="en-US" sz="2600" i="1">
                            <a:solidFill>
                              <a:srgbClr val="002060"/>
                            </a:solidFill>
                            <a:latin typeface="Cambria Math" panose="02040503050406030204" pitchFamily="18" charset="0"/>
                          </a:rPr>
                          <m:t>𝑀𝑈</m:t>
                        </m:r>
                      </m:e>
                      <m:sub>
                        <m:r>
                          <a:rPr lang="ru-RU" sz="2600" i="1">
                            <a:solidFill>
                              <a:srgbClr val="002060"/>
                            </a:solidFill>
                            <a:latin typeface="Cambria Math" panose="02040503050406030204" pitchFamily="18" charset="0"/>
                          </a:rPr>
                          <m:t>1</m:t>
                        </m:r>
                      </m:sub>
                    </m:sSub>
                    <m:r>
                      <a:rPr lang="en-US" sz="2600" b="0" i="1" smtClean="0">
                        <a:solidFill>
                          <a:srgbClr val="002060"/>
                        </a:solidFill>
                        <a:latin typeface="Cambria Math" panose="02040503050406030204" pitchFamily="18" charset="0"/>
                      </a:rPr>
                      <m:t> − </m:t>
                    </m:r>
                  </m:oMath>
                </a14:m>
                <a:r>
                  <a:rPr lang="ru-RU" sz="2600" dirty="0">
                    <a:solidFill>
                      <a:srgbClr val="002060"/>
                    </a:solidFill>
                  </a:rPr>
                  <a:t>предельная полезность товара 1</a:t>
                </a:r>
              </a:p>
              <a:p>
                <a:pPr algn="just"/>
                <a14:m>
                  <m:oMath xmlns:m="http://schemas.openxmlformats.org/officeDocument/2006/math">
                    <m:sSub>
                      <m:sSubPr>
                        <m:ctrlPr>
                          <a:rPr lang="ru-RU" sz="2600" i="1" smtClean="0">
                            <a:solidFill>
                              <a:srgbClr val="002060"/>
                            </a:solidFill>
                            <a:latin typeface="Cambria Math" panose="02040503050406030204" pitchFamily="18" charset="0"/>
                          </a:rPr>
                        </m:ctrlPr>
                      </m:sSubPr>
                      <m:e>
                        <m:r>
                          <a:rPr lang="ru-RU" sz="2600" i="1">
                            <a:solidFill>
                              <a:srgbClr val="002060"/>
                            </a:solidFill>
                            <a:latin typeface="Cambria Math" panose="02040503050406030204" pitchFamily="18" charset="0"/>
                          </a:rPr>
                          <m:t>𝑃</m:t>
                        </m:r>
                      </m:e>
                      <m:sub>
                        <m:r>
                          <a:rPr lang="ru-RU" sz="2600" i="1">
                            <a:solidFill>
                              <a:srgbClr val="002060"/>
                            </a:solidFill>
                            <a:latin typeface="Cambria Math" panose="02040503050406030204" pitchFamily="18" charset="0"/>
                          </a:rPr>
                          <m:t>1</m:t>
                        </m:r>
                      </m:sub>
                    </m:sSub>
                  </m:oMath>
                </a14:m>
                <a:r>
                  <a:rPr lang="ru-RU" sz="2600" i="1" dirty="0">
                    <a:solidFill>
                      <a:srgbClr val="002060"/>
                    </a:solidFill>
                  </a:rPr>
                  <a:t> </a:t>
                </a:r>
                <a:r>
                  <a:rPr lang="ru-RU" sz="2600" dirty="0">
                    <a:solidFill>
                      <a:srgbClr val="002060"/>
                    </a:solidFill>
                  </a:rPr>
                  <a:t>– цена товара 1</a:t>
                </a:r>
              </a:p>
            </p:txBody>
          </p:sp>
        </mc:Choice>
        <mc:Fallback xmlns="">
          <p:sp>
            <p:nvSpPr>
              <p:cNvPr id="7" name="TextBox 6">
                <a:extLst>
                  <a:ext uri="{FF2B5EF4-FFF2-40B4-BE49-F238E27FC236}">
                    <a16:creationId xmlns:a16="http://schemas.microsoft.com/office/drawing/2014/main" id="{CE5FB4B2-6271-6A95-76A7-22317C8007DC}"/>
                  </a:ext>
                </a:extLst>
              </p:cNvPr>
              <p:cNvSpPr txBox="1">
                <a:spLocks noRot="1" noChangeAspect="1" noMove="1" noResize="1" noEditPoints="1" noAdjustHandles="1" noChangeArrowheads="1" noChangeShapeType="1" noTextEdit="1"/>
              </p:cNvSpPr>
              <p:nvPr/>
            </p:nvSpPr>
            <p:spPr>
              <a:xfrm>
                <a:off x="798945" y="1552989"/>
                <a:ext cx="10594109" cy="4727576"/>
              </a:xfrm>
              <a:prstGeom prst="rect">
                <a:avLst/>
              </a:prstGeom>
              <a:blipFill>
                <a:blip r:embed="rId2"/>
                <a:stretch>
                  <a:fillRect l="-957" t="-1072" r="-957" b="-2413"/>
                </a:stretch>
              </a:blipFill>
            </p:spPr>
            <p:txBody>
              <a:bodyPr/>
              <a:lstStyle/>
              <a:p>
                <a:r>
                  <a:rPr lang="en-RU">
                    <a:noFill/>
                  </a:rPr>
                  <a:t> </a:t>
                </a:r>
              </a:p>
            </p:txBody>
          </p:sp>
        </mc:Fallback>
      </mc:AlternateContent>
    </p:spTree>
    <p:extLst>
      <p:ext uri="{BB962C8B-B14F-4D97-AF65-F5344CB8AC3E}">
        <p14:creationId xmlns:p14="http://schemas.microsoft.com/office/powerpoint/2010/main" val="3500365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p:txBody>
          <a:bodyPr/>
          <a:lstStyle/>
          <a:p>
            <a:r>
              <a:rPr lang="ru-RU" dirty="0"/>
              <a:t>Департамент теоретической экономики</a:t>
            </a:r>
          </a:p>
        </p:txBody>
      </p:sp>
      <p:sp>
        <p:nvSpPr>
          <p:cNvPr id="6" name="TextBox 5">
            <a:extLst>
              <a:ext uri="{FF2B5EF4-FFF2-40B4-BE49-F238E27FC236}">
                <a16:creationId xmlns:a16="http://schemas.microsoft.com/office/drawing/2014/main" id="{3778A0C7-6A15-FFE8-3F13-56AC98E35565}"/>
              </a:ext>
            </a:extLst>
          </p:cNvPr>
          <p:cNvSpPr txBox="1"/>
          <p:nvPr/>
        </p:nvSpPr>
        <p:spPr>
          <a:xfrm>
            <a:off x="0" y="2459504"/>
            <a:ext cx="12192000" cy="1938992"/>
          </a:xfrm>
          <a:prstGeom prst="rect">
            <a:avLst/>
          </a:prstGeom>
          <a:noFill/>
        </p:spPr>
        <p:txBody>
          <a:bodyPr wrap="square" rtlCol="0">
            <a:spAutoFit/>
          </a:bodyPr>
          <a:lstStyle/>
          <a:p>
            <a:pPr algn="ctr"/>
            <a:r>
              <a:rPr lang="ru-RU" sz="6000" b="1" dirty="0"/>
              <a:t>Иррациональное поведение индивида</a:t>
            </a:r>
          </a:p>
        </p:txBody>
      </p:sp>
    </p:spTree>
    <p:extLst>
      <p:ext uri="{BB962C8B-B14F-4D97-AF65-F5344CB8AC3E}">
        <p14:creationId xmlns:p14="http://schemas.microsoft.com/office/powerpoint/2010/main" val="2028462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2" y="548720"/>
            <a:ext cx="2523890"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B63FD357-F2AB-4C4F-E871-4AE52CFCDB6C}"/>
              </a:ext>
            </a:extLst>
          </p:cNvPr>
          <p:cNvSpPr txBox="1"/>
          <p:nvPr/>
        </p:nvSpPr>
        <p:spPr>
          <a:xfrm>
            <a:off x="488859" y="1244176"/>
            <a:ext cx="10983883" cy="430887"/>
          </a:xfrm>
          <a:prstGeom prst="rect">
            <a:avLst/>
          </a:prstGeom>
          <a:noFill/>
        </p:spPr>
        <p:txBody>
          <a:bodyPr wrap="square" rtlCol="0">
            <a:spAutoFit/>
          </a:bodyPr>
          <a:lstStyle/>
          <a:p>
            <a:pPr algn="just">
              <a:spcBef>
                <a:spcPts val="600"/>
              </a:spcBef>
              <a:spcAft>
                <a:spcPts val="600"/>
              </a:spcAft>
            </a:pPr>
            <a:r>
              <a:rPr lang="ru-RU" sz="2200" b="1" dirty="0"/>
              <a:t>Пример: спрос на страховки от наводнения растет сразу после наводнения</a:t>
            </a:r>
            <a:endParaRPr lang="ru-RU" sz="2000" b="1" dirty="0">
              <a:latin typeface="HSE Sans" panose="02000000000000000000" pitchFamily="2" charset="0"/>
            </a:endParaRPr>
          </a:p>
        </p:txBody>
      </p:sp>
      <p:pic>
        <p:nvPicPr>
          <p:cNvPr id="7" name="Picture 6" descr="A graph of a graph of a function&#10;&#10;AI-generated content may be incorrect.">
            <a:extLst>
              <a:ext uri="{FF2B5EF4-FFF2-40B4-BE49-F238E27FC236}">
                <a16:creationId xmlns:a16="http://schemas.microsoft.com/office/drawing/2014/main" id="{2D932A84-9EB5-D343-B587-6A825D0845D8}"/>
              </a:ext>
            </a:extLst>
          </p:cNvPr>
          <p:cNvPicPr>
            <a:picLocks noChangeAspect="1"/>
          </p:cNvPicPr>
          <p:nvPr/>
        </p:nvPicPr>
        <p:blipFill>
          <a:blip r:embed="rId2"/>
          <a:stretch>
            <a:fillRect/>
          </a:stretch>
        </p:blipFill>
        <p:spPr>
          <a:xfrm>
            <a:off x="1778428" y="1657540"/>
            <a:ext cx="8635143" cy="4804805"/>
          </a:xfrm>
          <a:prstGeom prst="rect">
            <a:avLst/>
          </a:prstGeom>
        </p:spPr>
      </p:pic>
      <p:sp>
        <p:nvSpPr>
          <p:cNvPr id="8" name="TextBox 7">
            <a:extLst>
              <a:ext uri="{FF2B5EF4-FFF2-40B4-BE49-F238E27FC236}">
                <a16:creationId xmlns:a16="http://schemas.microsoft.com/office/drawing/2014/main" id="{78261C6E-FC50-CCC7-414D-52129BC46529}"/>
              </a:ext>
            </a:extLst>
          </p:cNvPr>
          <p:cNvSpPr txBox="1"/>
          <p:nvPr/>
        </p:nvSpPr>
        <p:spPr>
          <a:xfrm>
            <a:off x="767950" y="6425274"/>
            <a:ext cx="10983883" cy="246221"/>
          </a:xfrm>
          <a:prstGeom prst="rect">
            <a:avLst/>
          </a:prstGeom>
          <a:noFill/>
        </p:spPr>
        <p:txBody>
          <a:bodyPr wrap="square" rtlCol="0">
            <a:spAutoFit/>
          </a:bodyPr>
          <a:lstStyle/>
          <a:p>
            <a:pPr algn="ctr">
              <a:spcBef>
                <a:spcPts val="600"/>
              </a:spcBef>
              <a:spcAft>
                <a:spcPts val="600"/>
              </a:spcAft>
            </a:pPr>
            <a:r>
              <a:rPr lang="ru-RU" sz="1000" i="1" dirty="0"/>
              <a:t>Основано на материалах лекций курса «Поведенческая экономика» Иванова В.В., ЭФ МГУ им. </a:t>
            </a:r>
            <a:r>
              <a:rPr lang="ru-RU" sz="1000" i="1" dirty="0" err="1"/>
              <a:t>М.В.Ломоносова</a:t>
            </a:r>
            <a:r>
              <a:rPr lang="ru-RU" sz="1000" i="1" dirty="0"/>
              <a:t> </a:t>
            </a:r>
            <a:endParaRPr lang="ru-RU" sz="1000" i="1" dirty="0">
              <a:latin typeface="HSE Sans" panose="02000000000000000000" pitchFamily="2" charset="0"/>
            </a:endParaRPr>
          </a:p>
        </p:txBody>
      </p:sp>
    </p:spTree>
    <p:extLst>
      <p:ext uri="{BB962C8B-B14F-4D97-AF65-F5344CB8AC3E}">
        <p14:creationId xmlns:p14="http://schemas.microsoft.com/office/powerpoint/2010/main" val="3187285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98D5A-D25A-8066-100D-BD75BC2BA792}"/>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EDC39991-2892-EF54-9B60-F34A43FE3D7B}"/>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84CE835C-8F62-F7F5-704B-2A161DCB97FE}"/>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19EF3FC5-AC8A-D763-1403-F2A58579A102}"/>
              </a:ext>
            </a:extLst>
          </p:cNvPr>
          <p:cNvSpPr>
            <a:spLocks noGrp="1"/>
          </p:cNvSpPr>
          <p:nvPr>
            <p:ph type="body" sz="quarter" idx="15"/>
          </p:nvPr>
        </p:nvSpPr>
        <p:spPr>
          <a:xfrm>
            <a:off x="6259892" y="548720"/>
            <a:ext cx="2523890" cy="408109"/>
          </a:xfrm>
        </p:spPr>
        <p:txBody>
          <a:bodyPr/>
          <a:lstStyle/>
          <a:p>
            <a:r>
              <a:rPr lang="ru-RU" dirty="0"/>
              <a:t>Департамент теоретической экономики</a:t>
            </a:r>
          </a:p>
        </p:txBody>
      </p:sp>
      <p:sp>
        <p:nvSpPr>
          <p:cNvPr id="8" name="TextBox 7">
            <a:extLst>
              <a:ext uri="{FF2B5EF4-FFF2-40B4-BE49-F238E27FC236}">
                <a16:creationId xmlns:a16="http://schemas.microsoft.com/office/drawing/2014/main" id="{D9E8C5E9-3B19-320E-551D-A6A846BADD1A}"/>
              </a:ext>
            </a:extLst>
          </p:cNvPr>
          <p:cNvSpPr txBox="1"/>
          <p:nvPr/>
        </p:nvSpPr>
        <p:spPr>
          <a:xfrm>
            <a:off x="469557" y="2259906"/>
            <a:ext cx="11009870" cy="2677656"/>
          </a:xfrm>
          <a:prstGeom prst="rect">
            <a:avLst/>
          </a:prstGeom>
          <a:noFill/>
        </p:spPr>
        <p:txBody>
          <a:bodyPr wrap="square">
            <a:spAutoFit/>
          </a:bodyPr>
          <a:lstStyle/>
          <a:p>
            <a:pPr algn="just">
              <a:buNone/>
            </a:pPr>
            <a:r>
              <a:rPr lang="ru-RU" sz="2400" b="1" dirty="0"/>
              <a:t>Эвристика доступности (</a:t>
            </a:r>
            <a:r>
              <a:rPr lang="en-GB" sz="2400" b="1" dirty="0"/>
              <a:t>availability heuristic)</a:t>
            </a:r>
            <a:endParaRPr lang="en-GB" sz="2400" dirty="0"/>
          </a:p>
          <a:p>
            <a:pPr algn="just">
              <a:buNone/>
            </a:pPr>
            <a:r>
              <a:rPr lang="ru-RU" sz="2400" dirty="0"/>
              <a:t>Мы оцениваем вероятность по тому, </a:t>
            </a:r>
            <a:r>
              <a:rPr lang="ru-RU" sz="2400" b="1" dirty="0"/>
              <a:t>что легче вспомнить</a:t>
            </a:r>
            <a:r>
              <a:rPr lang="ru-RU" sz="2400" dirty="0"/>
              <a:t> (особенно после ярких событий).</a:t>
            </a:r>
          </a:p>
          <a:p>
            <a:pPr algn="just">
              <a:buNone/>
            </a:pPr>
            <a:endParaRPr lang="ru-RU" sz="2400" dirty="0"/>
          </a:p>
          <a:p>
            <a:pPr marL="342900" indent="-342900" algn="just">
              <a:buFont typeface="Arial" panose="020B0604020202020204" pitchFamily="34" charset="0"/>
              <a:buChar char="•"/>
            </a:pPr>
            <a:r>
              <a:rPr lang="ru-RU" sz="2400" dirty="0"/>
              <a:t>Что чаще является причиной смерти: торнадо или астма?</a:t>
            </a:r>
          </a:p>
          <a:p>
            <a:pPr marL="342900" indent="-342900" algn="just">
              <a:buFont typeface="Arial" panose="020B0604020202020204" pitchFamily="34" charset="0"/>
              <a:buChar char="•"/>
            </a:pPr>
            <a:r>
              <a:rPr lang="ru-RU" sz="2400" dirty="0"/>
              <a:t>Кто опаснее для человека: акулы или слоны?</a:t>
            </a:r>
          </a:p>
          <a:p>
            <a:pPr marL="342900" indent="-342900" algn="just">
              <a:buFont typeface="Arial" panose="020B0604020202020204" pitchFamily="34" charset="0"/>
              <a:buChar char="•"/>
            </a:pPr>
            <a:r>
              <a:rPr lang="ru-RU" sz="2400" dirty="0"/>
              <a:t>Какой несчастный случай вероятнее: авиакатастрофа или автокатастрофа?</a:t>
            </a:r>
          </a:p>
        </p:txBody>
      </p:sp>
      <p:sp>
        <p:nvSpPr>
          <p:cNvPr id="10" name="TextBox 9">
            <a:extLst>
              <a:ext uri="{FF2B5EF4-FFF2-40B4-BE49-F238E27FC236}">
                <a16:creationId xmlns:a16="http://schemas.microsoft.com/office/drawing/2014/main" id="{D0D34B7F-9169-8B78-63CF-91570D3E813F}"/>
              </a:ext>
            </a:extLst>
          </p:cNvPr>
          <p:cNvSpPr txBox="1"/>
          <p:nvPr/>
        </p:nvSpPr>
        <p:spPr>
          <a:xfrm>
            <a:off x="767950" y="6425274"/>
            <a:ext cx="10983883" cy="246221"/>
          </a:xfrm>
          <a:prstGeom prst="rect">
            <a:avLst/>
          </a:prstGeom>
          <a:noFill/>
        </p:spPr>
        <p:txBody>
          <a:bodyPr wrap="square" rtlCol="0">
            <a:spAutoFit/>
          </a:bodyPr>
          <a:lstStyle/>
          <a:p>
            <a:pPr algn="ctr">
              <a:spcBef>
                <a:spcPts val="600"/>
              </a:spcBef>
              <a:spcAft>
                <a:spcPts val="600"/>
              </a:spcAft>
            </a:pPr>
            <a:r>
              <a:rPr lang="ru-RU" sz="1000" i="1" dirty="0"/>
              <a:t>Основано на материалах лекций курса «Поведенческая экономика» Иванова В.В., ЭФ МГУ им. </a:t>
            </a:r>
            <a:r>
              <a:rPr lang="ru-RU" sz="1000" i="1" dirty="0" err="1"/>
              <a:t>М.В.Ломоносова</a:t>
            </a:r>
            <a:r>
              <a:rPr lang="ru-RU" sz="1000" i="1" dirty="0"/>
              <a:t> </a:t>
            </a:r>
            <a:endParaRPr lang="ru-RU" sz="1000" i="1" dirty="0">
              <a:latin typeface="HSE Sans" panose="02000000000000000000" pitchFamily="2" charset="0"/>
            </a:endParaRPr>
          </a:p>
        </p:txBody>
      </p:sp>
    </p:spTree>
    <p:extLst>
      <p:ext uri="{BB962C8B-B14F-4D97-AF65-F5344CB8AC3E}">
        <p14:creationId xmlns:p14="http://schemas.microsoft.com/office/powerpoint/2010/main" val="256338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0417D-A695-9002-51B3-C28A160476B2}"/>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79B5FBD2-0DB0-4AA4-6CB5-6CCE76ACEB16}"/>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B157B919-7C08-E164-A783-5BDD375D9CAB}"/>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652222FD-71C7-D3F8-412B-F43A81670232}"/>
              </a:ext>
            </a:extLst>
          </p:cNvPr>
          <p:cNvSpPr>
            <a:spLocks noGrp="1"/>
          </p:cNvSpPr>
          <p:nvPr>
            <p:ph type="body" sz="quarter" idx="15"/>
          </p:nvPr>
        </p:nvSpPr>
        <p:spPr>
          <a:xfrm>
            <a:off x="6259892" y="548720"/>
            <a:ext cx="2523890" cy="408109"/>
          </a:xfrm>
        </p:spPr>
        <p:txBody>
          <a:bodyPr/>
          <a:lstStyle/>
          <a:p>
            <a:r>
              <a:rPr lang="ru-RU" dirty="0"/>
              <a:t>Департамент теоретической экономики</a:t>
            </a:r>
          </a:p>
        </p:txBody>
      </p:sp>
      <p:sp>
        <p:nvSpPr>
          <p:cNvPr id="8" name="TextBox 7">
            <a:extLst>
              <a:ext uri="{FF2B5EF4-FFF2-40B4-BE49-F238E27FC236}">
                <a16:creationId xmlns:a16="http://schemas.microsoft.com/office/drawing/2014/main" id="{A6094B38-3A7F-49B0-EF52-4ABB7914D0A8}"/>
              </a:ext>
            </a:extLst>
          </p:cNvPr>
          <p:cNvSpPr txBox="1"/>
          <p:nvPr/>
        </p:nvSpPr>
        <p:spPr>
          <a:xfrm>
            <a:off x="469557" y="2259906"/>
            <a:ext cx="11009870" cy="2677656"/>
          </a:xfrm>
          <a:prstGeom prst="rect">
            <a:avLst/>
          </a:prstGeom>
          <a:noFill/>
        </p:spPr>
        <p:txBody>
          <a:bodyPr wrap="square">
            <a:spAutoFit/>
          </a:bodyPr>
          <a:lstStyle/>
          <a:p>
            <a:pPr algn="just">
              <a:buNone/>
            </a:pPr>
            <a:r>
              <a:rPr lang="ru-RU" sz="2400" b="1" dirty="0"/>
              <a:t>Эвристика доступности (</a:t>
            </a:r>
            <a:r>
              <a:rPr lang="en-GB" sz="2400" b="1" dirty="0"/>
              <a:t>availability heuristic)</a:t>
            </a:r>
            <a:endParaRPr lang="en-GB" sz="2400" dirty="0"/>
          </a:p>
          <a:p>
            <a:pPr algn="just">
              <a:buNone/>
            </a:pPr>
            <a:r>
              <a:rPr lang="ru-RU" sz="2400" dirty="0"/>
              <a:t>Мы оцениваем вероятность по тому, </a:t>
            </a:r>
            <a:r>
              <a:rPr lang="ru-RU" sz="2400" b="1" dirty="0"/>
              <a:t>что легче вспомнить</a:t>
            </a:r>
            <a:r>
              <a:rPr lang="ru-RU" sz="2400" dirty="0"/>
              <a:t> (особенно после ярких событий).</a:t>
            </a:r>
          </a:p>
          <a:p>
            <a:pPr algn="just">
              <a:buNone/>
            </a:pPr>
            <a:endParaRPr lang="ru-RU" sz="2400" dirty="0"/>
          </a:p>
          <a:p>
            <a:pPr marL="342900" indent="-342900" algn="just">
              <a:buFont typeface="Arial" panose="020B0604020202020204" pitchFamily="34" charset="0"/>
              <a:buChar char="•"/>
            </a:pPr>
            <a:r>
              <a:rPr lang="ru-RU" sz="2400" dirty="0"/>
              <a:t>Что чаще является причиной смерти: торнадо или </a:t>
            </a:r>
            <a:r>
              <a:rPr lang="ru-RU" sz="2400" b="1" dirty="0"/>
              <a:t>астма</a:t>
            </a:r>
            <a:r>
              <a:rPr lang="ru-RU" sz="2400" dirty="0"/>
              <a:t>?</a:t>
            </a:r>
          </a:p>
          <a:p>
            <a:pPr marL="342900" indent="-342900" algn="just">
              <a:buFont typeface="Arial" panose="020B0604020202020204" pitchFamily="34" charset="0"/>
              <a:buChar char="•"/>
            </a:pPr>
            <a:r>
              <a:rPr lang="ru-RU" sz="2400" dirty="0"/>
              <a:t>Кто опаснее для человека: акулы или </a:t>
            </a:r>
            <a:r>
              <a:rPr lang="ru-RU" sz="2400" b="1" dirty="0"/>
              <a:t>слоны</a:t>
            </a:r>
            <a:r>
              <a:rPr lang="ru-RU" sz="2400" dirty="0"/>
              <a:t>?</a:t>
            </a:r>
          </a:p>
          <a:p>
            <a:pPr marL="342900" indent="-342900" algn="just">
              <a:buFont typeface="Arial" panose="020B0604020202020204" pitchFamily="34" charset="0"/>
              <a:buChar char="•"/>
            </a:pPr>
            <a:r>
              <a:rPr lang="ru-RU" sz="2400" dirty="0"/>
              <a:t>Какой несчастный случай вероятнее: авиакатастрофа или </a:t>
            </a:r>
            <a:r>
              <a:rPr lang="ru-RU" sz="2400" b="1" dirty="0"/>
              <a:t>автокатастрофа</a:t>
            </a:r>
            <a:r>
              <a:rPr lang="ru-RU" sz="2400" dirty="0"/>
              <a:t>?</a:t>
            </a:r>
          </a:p>
        </p:txBody>
      </p:sp>
      <p:sp>
        <p:nvSpPr>
          <p:cNvPr id="6" name="TextBox 5">
            <a:extLst>
              <a:ext uri="{FF2B5EF4-FFF2-40B4-BE49-F238E27FC236}">
                <a16:creationId xmlns:a16="http://schemas.microsoft.com/office/drawing/2014/main" id="{3F301244-A9EC-D7F7-E4C3-140F12A49F45}"/>
              </a:ext>
            </a:extLst>
          </p:cNvPr>
          <p:cNvSpPr txBox="1"/>
          <p:nvPr/>
        </p:nvSpPr>
        <p:spPr>
          <a:xfrm>
            <a:off x="767950" y="6425274"/>
            <a:ext cx="10983883" cy="246221"/>
          </a:xfrm>
          <a:prstGeom prst="rect">
            <a:avLst/>
          </a:prstGeom>
          <a:noFill/>
        </p:spPr>
        <p:txBody>
          <a:bodyPr wrap="square" rtlCol="0">
            <a:spAutoFit/>
          </a:bodyPr>
          <a:lstStyle/>
          <a:p>
            <a:pPr algn="ctr">
              <a:spcBef>
                <a:spcPts val="600"/>
              </a:spcBef>
              <a:spcAft>
                <a:spcPts val="600"/>
              </a:spcAft>
            </a:pPr>
            <a:r>
              <a:rPr lang="ru-RU" sz="1000" i="1" dirty="0"/>
              <a:t>Основано на материалах лекций курса «Поведенческая экономика» Иванова В.В., ЭФ МГУ им. </a:t>
            </a:r>
            <a:r>
              <a:rPr lang="ru-RU" sz="1000" i="1" dirty="0" err="1"/>
              <a:t>М.В.Ломоносова</a:t>
            </a:r>
            <a:r>
              <a:rPr lang="ru-RU" sz="1000" i="1" dirty="0"/>
              <a:t> </a:t>
            </a:r>
            <a:endParaRPr lang="ru-RU" sz="1000" i="1" dirty="0">
              <a:latin typeface="HSE Sans" panose="02000000000000000000" pitchFamily="2" charset="0"/>
            </a:endParaRPr>
          </a:p>
        </p:txBody>
      </p:sp>
    </p:spTree>
    <p:extLst>
      <p:ext uri="{BB962C8B-B14F-4D97-AF65-F5344CB8AC3E}">
        <p14:creationId xmlns:p14="http://schemas.microsoft.com/office/powerpoint/2010/main" val="2271514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13462-7783-2569-BF0E-01298DFEBB35}"/>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CDA4DF81-81D1-80A7-AB87-CCB5FAF6D799}"/>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766852FA-CC37-C801-25B8-585AB9927406}"/>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00786731-E1C0-58C1-0826-A39B06864D00}"/>
              </a:ext>
            </a:extLst>
          </p:cNvPr>
          <p:cNvSpPr>
            <a:spLocks noGrp="1"/>
          </p:cNvSpPr>
          <p:nvPr>
            <p:ph type="body" sz="quarter" idx="15"/>
          </p:nvPr>
        </p:nvSpPr>
        <p:spPr>
          <a:xfrm>
            <a:off x="6259892" y="548720"/>
            <a:ext cx="2523890"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5A5CB695-8D15-1B0B-C13E-85BAB5087A83}"/>
              </a:ext>
            </a:extLst>
          </p:cNvPr>
          <p:cNvSpPr txBox="1"/>
          <p:nvPr/>
        </p:nvSpPr>
        <p:spPr>
          <a:xfrm>
            <a:off x="488859" y="1244176"/>
            <a:ext cx="10983883" cy="430887"/>
          </a:xfrm>
          <a:prstGeom prst="rect">
            <a:avLst/>
          </a:prstGeom>
          <a:noFill/>
        </p:spPr>
        <p:txBody>
          <a:bodyPr wrap="square" rtlCol="0">
            <a:spAutoFit/>
          </a:bodyPr>
          <a:lstStyle/>
          <a:p>
            <a:pPr algn="just">
              <a:spcBef>
                <a:spcPts val="600"/>
              </a:spcBef>
              <a:spcAft>
                <a:spcPts val="600"/>
              </a:spcAft>
            </a:pPr>
            <a:r>
              <a:rPr lang="ru-RU" sz="2200" b="1" dirty="0"/>
              <a:t>Эвристика доступности: пример</a:t>
            </a:r>
            <a:endParaRPr lang="ru-RU" sz="2000" b="1" dirty="0">
              <a:latin typeface="HSE Sans" panose="02000000000000000000" pitchFamily="2" charset="0"/>
            </a:endParaRPr>
          </a:p>
        </p:txBody>
      </p:sp>
      <p:pic>
        <p:nvPicPr>
          <p:cNvPr id="8" name="Picture 7" descr="A chart of different colored squares&#10;&#10;AI-generated content may be incorrect.">
            <a:extLst>
              <a:ext uri="{FF2B5EF4-FFF2-40B4-BE49-F238E27FC236}">
                <a16:creationId xmlns:a16="http://schemas.microsoft.com/office/drawing/2014/main" id="{05D1A395-69B7-ED79-5DB9-9D2BAA9376A8}"/>
              </a:ext>
            </a:extLst>
          </p:cNvPr>
          <p:cNvPicPr>
            <a:picLocks noChangeAspect="1"/>
          </p:cNvPicPr>
          <p:nvPr/>
        </p:nvPicPr>
        <p:blipFill>
          <a:blip r:embed="rId2"/>
          <a:stretch>
            <a:fillRect/>
          </a:stretch>
        </p:blipFill>
        <p:spPr>
          <a:xfrm>
            <a:off x="2373692" y="1637992"/>
            <a:ext cx="7772400" cy="4804756"/>
          </a:xfrm>
          <a:prstGeom prst="rect">
            <a:avLst/>
          </a:prstGeom>
        </p:spPr>
      </p:pic>
      <p:sp>
        <p:nvSpPr>
          <p:cNvPr id="10" name="TextBox 9">
            <a:extLst>
              <a:ext uri="{FF2B5EF4-FFF2-40B4-BE49-F238E27FC236}">
                <a16:creationId xmlns:a16="http://schemas.microsoft.com/office/drawing/2014/main" id="{D025613C-B3BE-DA20-F1D6-CCD9EF860B71}"/>
              </a:ext>
            </a:extLst>
          </p:cNvPr>
          <p:cNvSpPr txBox="1"/>
          <p:nvPr/>
        </p:nvSpPr>
        <p:spPr>
          <a:xfrm>
            <a:off x="767950" y="6425274"/>
            <a:ext cx="10983883" cy="246221"/>
          </a:xfrm>
          <a:prstGeom prst="rect">
            <a:avLst/>
          </a:prstGeom>
          <a:noFill/>
        </p:spPr>
        <p:txBody>
          <a:bodyPr wrap="square" rtlCol="0">
            <a:spAutoFit/>
          </a:bodyPr>
          <a:lstStyle/>
          <a:p>
            <a:pPr algn="ctr">
              <a:spcBef>
                <a:spcPts val="600"/>
              </a:spcBef>
              <a:spcAft>
                <a:spcPts val="600"/>
              </a:spcAft>
            </a:pPr>
            <a:r>
              <a:rPr lang="ru-RU" sz="1000" i="1" dirty="0"/>
              <a:t>Основано на материалах лекций курса «Поведенческая экономика» Иванова В.В., ЭФ МГУ им. </a:t>
            </a:r>
            <a:r>
              <a:rPr lang="ru-RU" sz="1000" i="1" dirty="0" err="1"/>
              <a:t>М.В.Ломоносова</a:t>
            </a:r>
            <a:r>
              <a:rPr lang="ru-RU" sz="1000" i="1" dirty="0"/>
              <a:t> </a:t>
            </a:r>
            <a:endParaRPr lang="ru-RU" sz="1000" i="1" dirty="0">
              <a:latin typeface="HSE Sans" panose="02000000000000000000" pitchFamily="2" charset="0"/>
            </a:endParaRPr>
          </a:p>
        </p:txBody>
      </p:sp>
    </p:spTree>
    <p:extLst>
      <p:ext uri="{BB962C8B-B14F-4D97-AF65-F5344CB8AC3E}">
        <p14:creationId xmlns:p14="http://schemas.microsoft.com/office/powerpoint/2010/main" val="125431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3F182-A148-CC9D-B658-69B5E7EE2FD0}"/>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E010DD13-CDA1-1562-4E12-F15CCA59D258}"/>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2DD752BD-F8E2-CF9A-0536-9D6E709F07CB}"/>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6B02C17E-132C-DC2C-0782-3269D1D203C4}"/>
              </a:ext>
            </a:extLst>
          </p:cNvPr>
          <p:cNvSpPr>
            <a:spLocks noGrp="1"/>
          </p:cNvSpPr>
          <p:nvPr>
            <p:ph type="body" sz="quarter" idx="15"/>
          </p:nvPr>
        </p:nvSpPr>
        <p:spPr>
          <a:xfrm>
            <a:off x="6259892" y="548720"/>
            <a:ext cx="2523890"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1F358773-83D7-0E84-3D10-D9A8018227A3}"/>
              </a:ext>
            </a:extLst>
          </p:cNvPr>
          <p:cNvSpPr txBox="1"/>
          <p:nvPr/>
        </p:nvSpPr>
        <p:spPr>
          <a:xfrm>
            <a:off x="483186" y="1723409"/>
            <a:ext cx="10983883" cy="4585871"/>
          </a:xfrm>
          <a:prstGeom prst="rect">
            <a:avLst/>
          </a:prstGeom>
          <a:noFill/>
        </p:spPr>
        <p:txBody>
          <a:bodyPr wrap="square" rtlCol="0">
            <a:spAutoFit/>
          </a:bodyPr>
          <a:lstStyle/>
          <a:p>
            <a:pPr algn="just">
              <a:spcBef>
                <a:spcPts val="600"/>
              </a:spcBef>
              <a:spcAft>
                <a:spcPts val="600"/>
              </a:spcAft>
            </a:pPr>
            <a:r>
              <a:rPr lang="ru-RU" sz="2200" b="1" i="1" dirty="0"/>
              <a:t>Большой выборке врачей задали вопрос о выборе программы. </a:t>
            </a:r>
            <a:r>
              <a:rPr lang="ru-RU" sz="2200" b="1" i="1" dirty="0">
                <a:latin typeface="HSE Sans" panose="02000000000000000000" pitchFamily="2" charset="0"/>
              </a:rPr>
              <a:t>Предположите, как распределились голоса экспертов?</a:t>
            </a:r>
            <a:endParaRPr lang="ru-RU" sz="2000" b="1" i="1" dirty="0">
              <a:latin typeface="HSE Sans" panose="02000000000000000000" pitchFamily="2" charset="0"/>
            </a:endParaRPr>
          </a:p>
          <a:p>
            <a:pPr algn="just">
              <a:spcBef>
                <a:spcPts val="600"/>
              </a:spcBef>
              <a:spcAft>
                <a:spcPts val="600"/>
              </a:spcAft>
            </a:pPr>
            <a:r>
              <a:rPr lang="ru-RU" sz="2200" dirty="0">
                <a:latin typeface="HSE Sans" panose="02000000000000000000" pitchFamily="2" charset="0"/>
              </a:rPr>
              <a:t>Страна готовится к вспышке  необычного  заболевания, от которого, как ожидается, должны погибнуть </a:t>
            </a:r>
            <a:r>
              <a:rPr lang="ru-RU" sz="2200" b="1" dirty="0">
                <a:latin typeface="HSE Sans" panose="02000000000000000000" pitchFamily="2" charset="0"/>
              </a:rPr>
              <a:t>шестьсот человек</a:t>
            </a:r>
            <a:r>
              <a:rPr lang="ru-RU" sz="2200" dirty="0">
                <a:latin typeface="HSE Sans" panose="02000000000000000000" pitchFamily="2" charset="0"/>
              </a:rPr>
              <a:t>. На рассмотрение экспертов представлены две программы борьбы с болезнью. Предположим, что точные научные оценки результатов обеих программ таковы:</a:t>
            </a:r>
          </a:p>
          <a:p>
            <a:pPr algn="just">
              <a:spcBef>
                <a:spcPts val="600"/>
              </a:spcBef>
              <a:spcAft>
                <a:spcPts val="600"/>
              </a:spcAft>
            </a:pPr>
            <a:r>
              <a:rPr lang="ru-RU" sz="2200" b="1" i="1" dirty="0">
                <a:latin typeface="HSE Sans" panose="02000000000000000000" pitchFamily="2" charset="0"/>
              </a:rPr>
              <a:t>Программа А. </a:t>
            </a:r>
            <a:r>
              <a:rPr lang="ru-RU" sz="2200" dirty="0">
                <a:latin typeface="HSE Sans" panose="02000000000000000000" pitchFamily="2" charset="0"/>
              </a:rPr>
              <a:t>При реализации этой программы </a:t>
            </a:r>
            <a:r>
              <a:rPr lang="ru-RU" sz="2200" b="1" dirty="0">
                <a:latin typeface="HSE Sans" panose="02000000000000000000" pitchFamily="2" charset="0"/>
              </a:rPr>
              <a:t>двести человек будут спасены.</a:t>
            </a:r>
          </a:p>
          <a:p>
            <a:pPr algn="just">
              <a:spcBef>
                <a:spcPts val="600"/>
              </a:spcBef>
              <a:spcAft>
                <a:spcPts val="600"/>
              </a:spcAft>
            </a:pPr>
            <a:r>
              <a:rPr lang="ru-RU" sz="2200" b="1" i="1" dirty="0">
                <a:latin typeface="HSE Sans" panose="02000000000000000000" pitchFamily="2" charset="0"/>
              </a:rPr>
              <a:t>Программа В.</a:t>
            </a:r>
            <a:r>
              <a:rPr lang="ru-RU" sz="2200" dirty="0">
                <a:latin typeface="HSE Sans" panose="02000000000000000000" pitchFamily="2" charset="0"/>
              </a:rPr>
              <a:t> С вероятностью 1/3 все шестьсот человек будут спасены и с вероятностью 2/3 спасти не удастся никого.</a:t>
            </a:r>
          </a:p>
          <a:p>
            <a:pPr algn="ctr">
              <a:spcBef>
                <a:spcPts val="600"/>
              </a:spcBef>
              <a:spcAft>
                <a:spcPts val="600"/>
              </a:spcAft>
            </a:pPr>
            <a:r>
              <a:rPr lang="ru-RU" sz="2200" b="1" i="1" dirty="0">
                <a:solidFill>
                  <a:srgbClr val="FF0000"/>
                </a:solidFill>
                <a:latin typeface="HSE Sans" panose="02000000000000000000" pitchFamily="2" charset="0"/>
              </a:rPr>
              <a:t>Предположите, как распределились голоса экспертов?</a:t>
            </a:r>
          </a:p>
          <a:p>
            <a:pPr algn="just">
              <a:spcBef>
                <a:spcPts val="600"/>
              </a:spcBef>
              <a:spcAft>
                <a:spcPts val="600"/>
              </a:spcAft>
            </a:pPr>
            <a:endParaRPr lang="ru-RU" sz="2200" dirty="0">
              <a:latin typeface="HSE Sans" panose="02000000000000000000" pitchFamily="2" charset="0"/>
            </a:endParaRPr>
          </a:p>
        </p:txBody>
      </p:sp>
    </p:spTree>
    <p:extLst>
      <p:ext uri="{BB962C8B-B14F-4D97-AF65-F5344CB8AC3E}">
        <p14:creationId xmlns:p14="http://schemas.microsoft.com/office/powerpoint/2010/main" val="3471619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2" y="548720"/>
            <a:ext cx="2523890"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B63FD357-F2AB-4C4F-E871-4AE52CFCDB6C}"/>
              </a:ext>
            </a:extLst>
          </p:cNvPr>
          <p:cNvSpPr txBox="1"/>
          <p:nvPr/>
        </p:nvSpPr>
        <p:spPr>
          <a:xfrm>
            <a:off x="259404" y="1830942"/>
            <a:ext cx="11673192" cy="4001095"/>
          </a:xfrm>
          <a:prstGeom prst="rect">
            <a:avLst/>
          </a:prstGeom>
          <a:noFill/>
        </p:spPr>
        <p:txBody>
          <a:bodyPr wrap="square" rtlCol="0">
            <a:spAutoFit/>
          </a:bodyPr>
          <a:lstStyle/>
          <a:p>
            <a:pPr algn="l">
              <a:spcBef>
                <a:spcPts val="600"/>
              </a:spcBef>
              <a:spcAft>
                <a:spcPts val="600"/>
              </a:spcAft>
            </a:pPr>
            <a:r>
              <a:rPr lang="ru-RU" sz="2400" dirty="0">
                <a:latin typeface="HSE Sans" panose="02000000000000000000" pitchFamily="2" charset="0"/>
              </a:rPr>
              <a:t>Страна готовится к вспышке  необычного  заболевания, от которого, как ожидается, должны погибнуть </a:t>
            </a:r>
            <a:r>
              <a:rPr lang="ru-RU" sz="2400" b="1" dirty="0">
                <a:latin typeface="HSE Sans" panose="02000000000000000000" pitchFamily="2" charset="0"/>
              </a:rPr>
              <a:t>шестьсот</a:t>
            </a:r>
            <a:r>
              <a:rPr lang="ru-RU" sz="2400" dirty="0">
                <a:latin typeface="HSE Sans" panose="02000000000000000000" pitchFamily="2" charset="0"/>
              </a:rPr>
              <a:t> человек. На рассмотрение экспертов представлены две программы борьбы с болезнью. Предположим, что точные научные оценки результатов обеих программ таковы:</a:t>
            </a:r>
          </a:p>
          <a:p>
            <a:pPr algn="l">
              <a:spcBef>
                <a:spcPts val="600"/>
              </a:spcBef>
              <a:spcAft>
                <a:spcPts val="600"/>
              </a:spcAft>
            </a:pPr>
            <a:r>
              <a:rPr lang="ru-RU" sz="2400" b="1" i="1" dirty="0">
                <a:latin typeface="HSE Sans" panose="02000000000000000000" pitchFamily="2" charset="0"/>
              </a:rPr>
              <a:t>Программа А. </a:t>
            </a:r>
            <a:r>
              <a:rPr lang="ru-RU" sz="2400" dirty="0">
                <a:latin typeface="HSE Sans" panose="02000000000000000000" pitchFamily="2" charset="0"/>
              </a:rPr>
              <a:t>При реализации этой программы двести человек будут спасены -</a:t>
            </a:r>
            <a:r>
              <a:rPr lang="ru-RU" sz="4000" b="1" dirty="0">
                <a:latin typeface="HSE Sans" panose="02000000000000000000" pitchFamily="2" charset="0"/>
              </a:rPr>
              <a:t>72%</a:t>
            </a:r>
          </a:p>
          <a:p>
            <a:pPr algn="l">
              <a:spcBef>
                <a:spcPts val="600"/>
              </a:spcBef>
              <a:spcAft>
                <a:spcPts val="600"/>
              </a:spcAft>
            </a:pPr>
            <a:r>
              <a:rPr lang="ru-RU" sz="2400" b="1" i="1" dirty="0">
                <a:latin typeface="HSE Sans" panose="02000000000000000000" pitchFamily="2" charset="0"/>
              </a:rPr>
              <a:t>Программа В.</a:t>
            </a:r>
            <a:r>
              <a:rPr lang="ru-RU" sz="2400" dirty="0">
                <a:latin typeface="HSE Sans" panose="02000000000000000000" pitchFamily="2" charset="0"/>
              </a:rPr>
              <a:t> С вероятностью 1/3 все шестьсот человек будут спасены и с вероятностью 2/3 спасти не удастся никого – </a:t>
            </a:r>
            <a:r>
              <a:rPr lang="ru-RU" sz="4000" b="1" dirty="0">
                <a:latin typeface="HSE Sans" panose="02000000000000000000" pitchFamily="2" charset="0"/>
              </a:rPr>
              <a:t>28%</a:t>
            </a:r>
          </a:p>
          <a:p>
            <a:pPr algn="l">
              <a:spcBef>
                <a:spcPts val="600"/>
              </a:spcBef>
              <a:spcAft>
                <a:spcPts val="600"/>
              </a:spcAft>
            </a:pPr>
            <a:r>
              <a:rPr lang="ru-RU" sz="2400" b="1" i="1" dirty="0">
                <a:latin typeface="HSE Sans" panose="02000000000000000000" pitchFamily="2" charset="0"/>
              </a:rPr>
              <a:t>Предположите, как распределились голоса экспертов?</a:t>
            </a:r>
          </a:p>
        </p:txBody>
      </p:sp>
    </p:spTree>
    <p:extLst>
      <p:ext uri="{BB962C8B-B14F-4D97-AF65-F5344CB8AC3E}">
        <p14:creationId xmlns:p14="http://schemas.microsoft.com/office/powerpoint/2010/main" val="3314903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2" y="548720"/>
            <a:ext cx="2523890"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3FF1D335-5363-9288-C371-026EC8F1C337}"/>
              </a:ext>
            </a:extLst>
          </p:cNvPr>
          <p:cNvSpPr txBox="1"/>
          <p:nvPr/>
        </p:nvSpPr>
        <p:spPr>
          <a:xfrm>
            <a:off x="665434" y="1340343"/>
            <a:ext cx="9727658" cy="3785652"/>
          </a:xfrm>
          <a:prstGeom prst="rect">
            <a:avLst/>
          </a:prstGeom>
          <a:noFill/>
        </p:spPr>
        <p:txBody>
          <a:bodyPr wrap="square" rtlCol="0">
            <a:spAutoFit/>
          </a:bodyPr>
          <a:lstStyle/>
          <a:p>
            <a:pPr algn="l"/>
            <a:endParaRPr lang="ru-RU" sz="4000" b="1" i="1" dirty="0">
              <a:latin typeface="HSE Sans" panose="02000000000000000000" pitchFamily="2" charset="0"/>
            </a:endParaRPr>
          </a:p>
          <a:p>
            <a:pPr algn="l"/>
            <a:r>
              <a:rPr lang="ru-RU" sz="4000" b="1" i="1" dirty="0">
                <a:latin typeface="HSE Sans" panose="02000000000000000000" pitchFamily="2" charset="0"/>
              </a:rPr>
              <a:t>Отвращение к потере :</a:t>
            </a:r>
          </a:p>
          <a:p>
            <a:pPr algn="l"/>
            <a:endParaRPr lang="ru-RU" sz="4000" b="1" i="1" dirty="0">
              <a:latin typeface="HSE Sans" panose="02000000000000000000" pitchFamily="2" charset="0"/>
            </a:endParaRPr>
          </a:p>
          <a:p>
            <a:pPr algn="l"/>
            <a:r>
              <a:rPr lang="ru-RU" sz="4000" b="1" i="1" dirty="0">
                <a:latin typeface="HSE Sans" panose="02000000000000000000" pitchFamily="2" charset="0"/>
              </a:rPr>
              <a:t>Страх возможных потерь оказывается сильнее, чем притягательность выигрыша!</a:t>
            </a:r>
          </a:p>
        </p:txBody>
      </p:sp>
      <p:sp>
        <p:nvSpPr>
          <p:cNvPr id="6" name="TextBox 5">
            <a:extLst>
              <a:ext uri="{FF2B5EF4-FFF2-40B4-BE49-F238E27FC236}">
                <a16:creationId xmlns:a16="http://schemas.microsoft.com/office/drawing/2014/main" id="{E6CA8E44-9451-C10F-386D-0471A4F7F172}"/>
              </a:ext>
            </a:extLst>
          </p:cNvPr>
          <p:cNvSpPr txBox="1"/>
          <p:nvPr/>
        </p:nvSpPr>
        <p:spPr>
          <a:xfrm>
            <a:off x="7521837" y="1502578"/>
            <a:ext cx="4581728" cy="523220"/>
          </a:xfrm>
          <a:prstGeom prst="rect">
            <a:avLst/>
          </a:prstGeom>
          <a:noFill/>
        </p:spPr>
        <p:txBody>
          <a:bodyPr wrap="square" rtlCol="0">
            <a:spAutoFit/>
          </a:bodyPr>
          <a:lstStyle/>
          <a:p>
            <a:pPr algn="l"/>
            <a:r>
              <a:rPr lang="ru-RU" sz="2800" dirty="0" err="1">
                <a:latin typeface="HSE Sans" panose="02000000000000000000" pitchFamily="2" charset="0"/>
              </a:rPr>
              <a:t>Д.Канеман</a:t>
            </a:r>
            <a:r>
              <a:rPr lang="ru-RU" sz="2800" dirty="0">
                <a:latin typeface="HSE Sans" panose="02000000000000000000" pitchFamily="2" charset="0"/>
              </a:rPr>
              <a:t>, </a:t>
            </a:r>
            <a:r>
              <a:rPr lang="ru-RU" sz="2800" dirty="0" err="1">
                <a:latin typeface="HSE Sans" panose="02000000000000000000" pitchFamily="2" charset="0"/>
              </a:rPr>
              <a:t>А.Тверски</a:t>
            </a:r>
            <a:endParaRPr lang="ru-RU" sz="2800" dirty="0">
              <a:latin typeface="HSE Sans" panose="02000000000000000000" pitchFamily="2" charset="0"/>
            </a:endParaRPr>
          </a:p>
        </p:txBody>
      </p:sp>
      <p:sp>
        <p:nvSpPr>
          <p:cNvPr id="7" name="TextBox 6">
            <a:extLst>
              <a:ext uri="{FF2B5EF4-FFF2-40B4-BE49-F238E27FC236}">
                <a16:creationId xmlns:a16="http://schemas.microsoft.com/office/drawing/2014/main" id="{E8512A58-FE13-5AC6-5D55-DBA4717E2134}"/>
              </a:ext>
            </a:extLst>
          </p:cNvPr>
          <p:cNvSpPr txBox="1"/>
          <p:nvPr/>
        </p:nvSpPr>
        <p:spPr>
          <a:xfrm>
            <a:off x="1945531" y="5748489"/>
            <a:ext cx="9046725" cy="461665"/>
          </a:xfrm>
          <a:prstGeom prst="rect">
            <a:avLst/>
          </a:prstGeom>
          <a:noFill/>
        </p:spPr>
        <p:txBody>
          <a:bodyPr wrap="square" rtlCol="0">
            <a:spAutoFit/>
          </a:bodyPr>
          <a:lstStyle/>
          <a:p>
            <a:pPr algn="l"/>
            <a:r>
              <a:rPr lang="ru-RU" sz="2400" b="1" i="1" dirty="0"/>
              <a:t>ВСЕ ИСПЫТЫВАЮЩИЕ ЭМОЦИИ ПОТВЕРЖЕНЫ ЕГО ВЛИЯНИЮ!</a:t>
            </a:r>
          </a:p>
        </p:txBody>
      </p:sp>
    </p:spTree>
    <p:extLst>
      <p:ext uri="{BB962C8B-B14F-4D97-AF65-F5344CB8AC3E}">
        <p14:creationId xmlns:p14="http://schemas.microsoft.com/office/powerpoint/2010/main" val="201956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527E6-1507-BB1F-BDCC-E8B405C67A8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08062598-89E9-FD17-A294-93A8E3FEEAF6}"/>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FEEA57F0-9A50-6C71-26ED-5512501741A9}"/>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04F83F63-F681-23FD-1B93-ED0651B8A67E}"/>
              </a:ext>
            </a:extLst>
          </p:cNvPr>
          <p:cNvSpPr>
            <a:spLocks noGrp="1"/>
          </p:cNvSpPr>
          <p:nvPr>
            <p:ph type="body" sz="quarter" idx="15"/>
          </p:nvPr>
        </p:nvSpPr>
        <p:spPr>
          <a:xfrm>
            <a:off x="6259892" y="548720"/>
            <a:ext cx="2523890" cy="408109"/>
          </a:xfrm>
        </p:spPr>
        <p:txBody>
          <a:bodyPr/>
          <a:lstStyle/>
          <a:p>
            <a:r>
              <a:rPr lang="ru-RU" dirty="0"/>
              <a:t>Департамент теоретической экономики</a:t>
            </a:r>
          </a:p>
        </p:txBody>
      </p:sp>
      <p:sp>
        <p:nvSpPr>
          <p:cNvPr id="9" name="TextBox 8">
            <a:extLst>
              <a:ext uri="{FF2B5EF4-FFF2-40B4-BE49-F238E27FC236}">
                <a16:creationId xmlns:a16="http://schemas.microsoft.com/office/drawing/2014/main" id="{7794BAF0-CAF4-DA61-69EB-8529CD266E60}"/>
              </a:ext>
            </a:extLst>
          </p:cNvPr>
          <p:cNvSpPr txBox="1"/>
          <p:nvPr/>
        </p:nvSpPr>
        <p:spPr>
          <a:xfrm>
            <a:off x="763480" y="2157274"/>
            <a:ext cx="11336784" cy="3108543"/>
          </a:xfrm>
          <a:prstGeom prst="rect">
            <a:avLst/>
          </a:prstGeom>
          <a:noFill/>
        </p:spPr>
        <p:txBody>
          <a:bodyPr wrap="square">
            <a:spAutoFit/>
          </a:bodyPr>
          <a:lstStyle/>
          <a:p>
            <a:r>
              <a:rPr lang="ru-RU" sz="2800" b="1" kern="100" dirty="0">
                <a:latin typeface="Aptos" panose="020B0004020202020204" pitchFamily="34" charset="0"/>
                <a:cs typeface="Times New Roman" panose="02020603050405020304" pitchFamily="18" charset="0"/>
              </a:rPr>
              <a:t>Домашнее задание к семинару 4.</a:t>
            </a:r>
          </a:p>
          <a:p>
            <a:endParaRPr lang="ru-RU" sz="2800" b="1" kern="100" dirty="0">
              <a:latin typeface="Aptos" panose="020B0004020202020204" pitchFamily="34" charset="0"/>
              <a:cs typeface="Times New Roman" panose="02020603050405020304" pitchFamily="18" charset="0"/>
            </a:endParaRPr>
          </a:p>
          <a:p>
            <a:r>
              <a:rPr lang="ru-RU" sz="2800" b="1" kern="100" dirty="0">
                <a:latin typeface="Aptos" panose="020B0004020202020204" pitchFamily="34" charset="0"/>
                <a:cs typeface="Times New Roman" panose="02020603050405020304" pitchFamily="18" charset="0"/>
              </a:rPr>
              <a:t>1. Посмотрите неделю 2 видео курса Экономика. Автор </a:t>
            </a:r>
            <a:r>
              <a:rPr lang="ru-RU" sz="2800" b="1" kern="100" dirty="0" err="1">
                <a:latin typeface="Aptos" panose="020B0004020202020204" pitchFamily="34" charset="0"/>
                <a:cs typeface="Times New Roman" panose="02020603050405020304" pitchFamily="18" charset="0"/>
              </a:rPr>
              <a:t>И.Ким</a:t>
            </a:r>
            <a:r>
              <a:rPr lang="ru-RU" sz="2800" b="1" kern="100" dirty="0">
                <a:latin typeface="Aptos" panose="020B0004020202020204" pitchFamily="34" charset="0"/>
                <a:cs typeface="Times New Roman" panose="02020603050405020304" pitchFamily="18" charset="0"/>
              </a:rPr>
              <a:t>.</a:t>
            </a:r>
          </a:p>
          <a:p>
            <a:r>
              <a:rPr lang="ru-RU" sz="2800" b="1" kern="100" dirty="0">
                <a:latin typeface="Aptos" panose="020B0004020202020204" pitchFamily="34" charset="0"/>
                <a:cs typeface="Times New Roman" panose="02020603050405020304" pitchFamily="18" charset="0"/>
              </a:rPr>
              <a:t>2. Решите тренировочные задания по теме 2.1</a:t>
            </a:r>
          </a:p>
          <a:p>
            <a:r>
              <a:rPr lang="ru-RU" sz="2800" b="1" kern="100" dirty="0">
                <a:latin typeface="Aptos" panose="020B0004020202020204" pitchFamily="34" charset="0"/>
                <a:cs typeface="Times New Roman" panose="02020603050405020304" pitchFamily="18" charset="0"/>
              </a:rPr>
              <a:t> </a:t>
            </a:r>
          </a:p>
          <a:p>
            <a:r>
              <a:rPr lang="ru-RU" sz="2800" b="1" kern="100" dirty="0">
                <a:latin typeface="Aptos" panose="020B0004020202020204" pitchFamily="34" charset="0"/>
                <a:cs typeface="Times New Roman" panose="02020603050405020304" pitchFamily="18" charset="0"/>
              </a:rPr>
              <a:t>На семинаре 4 (в конце семинара или в начале семинара 5) будет проведена МКР2 по теме 2. Индивид и счастье.</a:t>
            </a:r>
          </a:p>
        </p:txBody>
      </p:sp>
    </p:spTree>
    <p:extLst>
      <p:ext uri="{BB962C8B-B14F-4D97-AF65-F5344CB8AC3E}">
        <p14:creationId xmlns:p14="http://schemas.microsoft.com/office/powerpoint/2010/main" val="3535727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2161965"/>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customXml/itemProps3.xml><?xml version="1.0" encoding="utf-8"?>
<ds:datastoreItem xmlns:ds="http://schemas.openxmlformats.org/officeDocument/2006/customXml" ds:itemID="{B34386AA-1848-4C75-B336-1053927CB0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5632</TotalTime>
  <Words>2251</Words>
  <Application>Microsoft Macintosh PowerPoint</Application>
  <PresentationFormat>Widescreen</PresentationFormat>
  <Paragraphs>417</Paragraphs>
  <Slides>25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Calibri</vt:lpstr>
      <vt:lpstr>Calibri Light</vt:lpstr>
      <vt:lpstr>Cambria Math</vt:lpstr>
      <vt:lpstr>HSE Sans</vt:lpstr>
      <vt:lpstr>Symbol</vt:lpstr>
      <vt:lpstr>Office Theme</vt:lpstr>
      <vt:lpstr>ДОЦ «Экономика»  Семинар 2.1 Индивид и счастье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Анна Иванова</cp:lastModifiedBy>
  <cp:revision>75</cp:revision>
  <cp:lastPrinted>2021-11-11T13:08:42Z</cp:lastPrinted>
  <dcterms:created xsi:type="dcterms:W3CDTF">2021-11-11T08:52:47Z</dcterms:created>
  <dcterms:modified xsi:type="dcterms:W3CDTF">2026-01-31T07:50:33Z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