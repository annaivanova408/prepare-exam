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71" r:id="rId5"/>
    <p:sldId id="329" r:id="rId6"/>
    <p:sldId id="320" r:id="rId7"/>
    <p:sldId id="331" r:id="rId8"/>
    <p:sldId id="292" r:id="rId9"/>
    <p:sldId id="332" r:id="rId10"/>
    <p:sldId id="308" r:id="rId11"/>
    <p:sldId id="333" r:id="rId12"/>
    <p:sldId id="309" r:id="rId13"/>
    <p:sldId id="334" r:id="rId14"/>
    <p:sldId id="335" r:id="rId15"/>
    <p:sldId id="336" r:id="rId16"/>
    <p:sldId id="312" r:id="rId17"/>
    <p:sldId id="322" r:id="rId18"/>
    <p:sldId id="288" r:id="rId19"/>
    <p:sldId id="289" r:id="rId20"/>
    <p:sldId id="327" r:id="rId21"/>
    <p:sldId id="330" r:id="rId22"/>
    <p:sldId id="298" r:id="rId23"/>
    <p:sldId id="301" r:id="rId24"/>
    <p:sldId id="337" r:id="rId25"/>
    <p:sldId id="291" r:id="rId26"/>
    <p:sldId id="285" r:id="rId27"/>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9C63"/>
    <a:srgbClr val="96628C"/>
    <a:srgbClr val="11A0D7"/>
    <a:srgbClr val="E61F3D"/>
    <a:srgbClr val="CD5A5A"/>
    <a:srgbClr val="FFD746"/>
    <a:srgbClr val="0E2D69"/>
    <a:srgbClr val="D9D9D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57" autoAdjust="0"/>
    <p:restoredTop sz="94752"/>
  </p:normalViewPr>
  <p:slideViewPr>
    <p:cSldViewPr snapToGrid="0" snapToObjects="1">
      <p:cViewPr varScale="1">
        <p:scale>
          <a:sx n="111" d="100"/>
          <a:sy n="111" d="100"/>
        </p:scale>
        <p:origin x="496" y="208"/>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7T16:13:19.620"/>
    </inkml:context>
    <inkml:brush xml:id="br0">
      <inkml:brushProperty name="width" value="0.05" units="cm"/>
      <inkml:brushProperty name="height" value="0.05" units="cm"/>
      <inkml:brushProperty name="color" value="#008C3A"/>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5T15:58:51.602"/>
    </inkml:context>
    <inkml:brush xml:id="br0">
      <inkml:brushProperty name="width" value="0.05" units="cm"/>
      <inkml:brushProperty name="height" value="0.05" units="cm"/>
      <inkml:brushProperty name="color" value="#008C3A"/>
    </inkml:brush>
  </inkml:definitions>
  <inkml:trace contextRef="#ctx0" brushRef="#br0">11 186 120 0 0,'0'-17'1520'0'0,"0"6"220"0"0,-10-5 60 0 0,10-6-347 0 0,10 1-1061 0 0,-1 4-1020 0 0,1-4-669 0 0,0-1-299 0 0,-1 5-36 0 0,1-4 228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5T15:58:51.602"/>
    </inkml:context>
    <inkml:brush xml:id="br0">
      <inkml:brushProperty name="width" value="0.05" units="cm"/>
      <inkml:brushProperty name="height" value="0.05" units="cm"/>
      <inkml:brushProperty name="color" value="#008C3A"/>
    </inkml:brush>
  </inkml:definitions>
  <inkml:trace contextRef="#ctx0" brushRef="#br0">11 186 120 0 0,'0'-17'1520'0'0,"0"6"220"0"0,-10-5 60 0 0,10-6-347 0 0,10 1-1061 0 0,-1 4-1020 0 0,1-4-669 0 0,0-1-299 0 0,-1 5-36 0 0,1-4 228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5T16:10:32.194"/>
    </inkml:context>
    <inkml:brush xml:id="br0">
      <inkml:brushProperty name="width" value="0.05" units="cm"/>
      <inkml:brushProperty name="height" value="0.05" units="cm"/>
    </inkml:brush>
  </inkml:definitions>
  <inkml:trace contextRef="#ctx0" brushRef="#br0">1 17 756 0 0,'29'0'21838'0'0,"-29"-6"-20734"0"0,0 1-992 0 0,0 0-2500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5T16:10:32.736"/>
    </inkml:context>
    <inkml:brush xml:id="br0">
      <inkml:brushProperty name="width" value="0.05" units="cm"/>
      <inkml:brushProperty name="height" value="0.05" units="cm"/>
    </inkml:brush>
  </inkml:definitions>
  <inkml:trace contextRef="#ctx0" brushRef="#br0">68 55 1912 0 0,'-19'0'3520'0'0,"9"-11"681"0"0,1 0 307 0 0,-1 0-751 0 0,0 0-1337 0 0,1 6-1340 0 0,9-1-820 0 0,9 6-1540 0 0,1 0-148 0 0,9 0-600 0 0,1 0-541 0 0,9 6-675 0 0,-10-6-52 0 0,0 5 251 0 0,1 1 557 0 0,-1-1 632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5T16:10:32.194"/>
    </inkml:context>
    <inkml:brush xml:id="br0">
      <inkml:brushProperty name="width" value="0.05" units="cm"/>
      <inkml:brushProperty name="height" value="0.05" units="cm"/>
    </inkml:brush>
  </inkml:definitions>
  <inkml:trace contextRef="#ctx0" brushRef="#br0">1 17 756 0 0,'29'0'21838'0'0,"-29"-6"-20734"0"0,0 1-992 0 0,0 0-2500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5T16:10:32.736"/>
    </inkml:context>
    <inkml:brush xml:id="br0">
      <inkml:brushProperty name="width" value="0.05" units="cm"/>
      <inkml:brushProperty name="height" value="0.05" units="cm"/>
    </inkml:brush>
  </inkml:definitions>
  <inkml:trace contextRef="#ctx0" brushRef="#br0">68 55 1912 0 0,'-19'0'3520'0'0,"9"-11"681"0"0,1 0 307 0 0,-1 0-751 0 0,0 0-1337 0 0,1 6-1340 0 0,9-1-820 0 0,9 6-1540 0 0,1 0-148 0 0,9 0-600 0 0,1 0-541 0 0,9 6-675 0 0,-10-6-52 0 0,0 5 251 0 0,1 1 557 0 0,-1-1 632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5T16:06:55.094"/>
    </inkml:context>
    <inkml:brush xml:id="br0">
      <inkml:brushProperty name="width" value="0.05" units="cm"/>
      <inkml:brushProperty name="height" value="0.05" units="cm"/>
    </inkml:brush>
  </inkml:definitions>
  <inkml:trace contextRef="#ctx0" brushRef="#br0">39 28 504 0 0,'-10'0'1504'0'0,"1"-6"108"0"0,-1 1-136 0 0,0-1-955 0 0,10 1-1122 0 0,0 0-3591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5T16:09:35.780"/>
    </inkml:context>
    <inkml:brush xml:id="br0">
      <inkml:brushProperty name="width" value="0.05" units="cm"/>
      <inkml:brushProperty name="height" value="0.05" units="cm"/>
    </inkml:brush>
  </inkml:definitions>
  <inkml:trace contextRef="#ctx0" brushRef="#br0">48 71 516 0 0,'0'11'2405'0'0,"0"-7"-877"0"0,0-7 937 0 0,0 2-2120 0 0,10-21 117 0 0,-11 21-450 0 0,1-1 0 0 0,-1 1 0 0 0,0 0 0 0 0,0-1 1 0 0,0 1-1 0 0,0 0 0 0 0,0 0 0 0 0,0-1 0 0 0,0 1 1 0 0,-1 0-1 0 0,1 0 0 0 0,0 0 0 0 0,-1 1 0 0 0,1-1 1 0 0,0 0-1 0 0,-1 0 0 0 0,-2 0 0 0 0,3 0-60 0 0,-1 1-1 0 0,0-1 1 0 0,1 0-1 0 0,-1 1 1 0 0,1-1 0 0 0,-1 0-1 0 0,1 0 1 0 0,-1 0-1 0 0,1 0 1 0 0,0-1-1 0 0,0 1 1 0 0,0 0 0 0 0,-1 0-1 0 0,1-1 1 0 0,0 1-1 0 0,1-1 1 0 0,-1 1-1 0 0,-1-3 1 0 0,-8-4-5395 0 0,10-1 3990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18.04.2026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6C748903-8EB5-294E-A216-6B54B0368783}" type="slidenum">
              <a:rPr lang="en-RU" smtClean="0"/>
              <a:t>3</a:t>
            </a:fld>
            <a:endParaRPr lang="en-RU"/>
          </a:p>
        </p:txBody>
      </p:sp>
    </p:spTree>
    <p:extLst>
      <p:ext uri="{BB962C8B-B14F-4D97-AF65-F5344CB8AC3E}">
        <p14:creationId xmlns:p14="http://schemas.microsoft.com/office/powerpoint/2010/main" val="3630837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BD14A-D6CC-4D17-3B44-6D3128073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47DCF-F533-42DD-AA55-EE867DA4E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F5126-45D2-8226-BF3F-96585ABF5D09}"/>
              </a:ext>
            </a:extLst>
          </p:cNvPr>
          <p:cNvSpPr>
            <a:spLocks noGrp="1"/>
          </p:cNvSpPr>
          <p:nvPr>
            <p:ph type="body" idx="1"/>
          </p:nvPr>
        </p:nvSpPr>
        <p:spPr/>
        <p:txBody>
          <a:bodyPr/>
          <a:lstStyle/>
          <a:p>
            <a:endParaRPr lang="en-RU" dirty="0"/>
          </a:p>
        </p:txBody>
      </p:sp>
      <p:sp>
        <p:nvSpPr>
          <p:cNvPr id="4" name="Slide Number Placeholder 3">
            <a:extLst>
              <a:ext uri="{FF2B5EF4-FFF2-40B4-BE49-F238E27FC236}">
                <a16:creationId xmlns:a16="http://schemas.microsoft.com/office/drawing/2014/main" id="{0F642A03-27A5-59C9-224D-113817D010A6}"/>
              </a:ext>
            </a:extLst>
          </p:cNvPr>
          <p:cNvSpPr>
            <a:spLocks noGrp="1"/>
          </p:cNvSpPr>
          <p:nvPr>
            <p:ph type="sldNum" sz="quarter" idx="5"/>
          </p:nvPr>
        </p:nvSpPr>
        <p:spPr/>
        <p:txBody>
          <a:bodyPr/>
          <a:lstStyle/>
          <a:p>
            <a:fld id="{6C748903-8EB5-294E-A216-6B54B0368783}" type="slidenum">
              <a:rPr lang="en-RU" smtClean="0"/>
              <a:t>4</a:t>
            </a:fld>
            <a:endParaRPr lang="en-RU"/>
          </a:p>
        </p:txBody>
      </p:sp>
    </p:spTree>
    <p:extLst>
      <p:ext uri="{BB962C8B-B14F-4D97-AF65-F5344CB8AC3E}">
        <p14:creationId xmlns:p14="http://schemas.microsoft.com/office/powerpoint/2010/main" val="2639475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ru-RU" sz="4400" dirty="0">
                <a:solidFill>
                  <a:srgbClr val="102D69"/>
                </a:solidFill>
                <a:latin typeface="HSE Sans" panose="02000000000000000000" pitchFamily="2" charset="0"/>
              </a:rPr>
              <a:t>Название презентации</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может быть набрано в две </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или три строки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ru-RU" dirty="0">
                <a:latin typeface="HSE Sans" panose="02000000000000000000" pitchFamily="2" charset="0"/>
              </a:rPr>
              <a:t>Название факультета</a:t>
            </a:r>
            <a:br>
              <a:rPr lang="ru-RU" dirty="0">
                <a:latin typeface="HSE Sans" panose="02000000000000000000" pitchFamily="2" charset="0"/>
              </a:rPr>
            </a:br>
            <a:r>
              <a:rPr lang="ru-RU" dirty="0">
                <a:latin typeface="HSE Sans" panose="02000000000000000000" pitchFamily="2" charset="0"/>
              </a:rPr>
              <a:t>в две строки</a:t>
            </a:r>
            <a:r>
              <a:rPr lang="en-GB" dirty="0">
                <a:latin typeface="HSE Sans" panose="02000000000000000000" pitchFamily="2" charset="0"/>
              </a:rPr>
              <a:t> (16 </a:t>
            </a:r>
            <a:r>
              <a:rPr lang="en-GB" dirty="0" err="1">
                <a:latin typeface="HSE Sans" panose="02000000000000000000" pitchFamily="2" charset="0"/>
              </a:rPr>
              <a:t>pt</a:t>
            </a:r>
            <a:r>
              <a:rPr lang="en-GB" dirty="0">
                <a:latin typeface="HSE Sans" panose="02000000000000000000" pitchFamily="2" charset="0"/>
              </a:rPr>
              <a:t>)</a:t>
            </a:r>
            <a:endParaRPr lang="ru-RU"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Название подразделения</a:t>
            </a:r>
            <a:br>
              <a:rPr lang="ru-RU" sz="1200" dirty="0">
                <a:latin typeface="HSE Sans" panose="02000000000000000000" pitchFamily="2" charset="0"/>
              </a:rPr>
            </a:br>
            <a:r>
              <a:rPr lang="ru-RU" sz="1200" dirty="0">
                <a:latin typeface="HSE Sans" panose="02000000000000000000" pitchFamily="2" charset="0"/>
              </a:rPr>
              <a:t>в две или три строки</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Москва</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600" dirty="0">
                <a:latin typeface="HSE Sans" panose="02000000000000000000" pitchFamily="2" charset="0"/>
              </a:rPr>
              <a:t>Если нужно больше места, то используйте подзаголовок</a:t>
            </a:r>
            <a:r>
              <a:rPr lang="en-GB" sz="1600" dirty="0">
                <a:latin typeface="HSE Sans" panose="02000000000000000000" pitchFamily="2" charset="0"/>
              </a:rPr>
              <a:t>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2800" dirty="0">
                <a:solidFill>
                  <a:schemeClr val="tx1"/>
                </a:solidFill>
                <a:latin typeface="HSE Sans" panose="02000000000000000000" pitchFamily="2" charset="0"/>
              </a:rPr>
              <a:t>Чтобы слайд не выглядел пустым, сюда можно поставить иллюстрацию или фотографию</a:t>
            </a:r>
            <a:endParaRPr lang="en-RU" sz="280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5026DBD8-54A3-1446-9D3B-BA2B38460F1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lang="ru-RU" sz="1300" dirty="0">
                <a:latin typeface="HSE Sans" panose="02000000000000000000" pitchFamily="2" charset="0"/>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C2D710AE-3CBE-5940-A7EB-F96132E6592D}"/>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3200" dirty="0">
                <a:solidFill>
                  <a:srgbClr val="102D69"/>
                </a:solidFill>
                <a:latin typeface="HSE Sans" panose="02000000000000000000" pitchFamily="2" charset="0"/>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endParaRPr lang="ru-RU" dirty="0"/>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A9BD5ADD-B3F2-C342-82F7-83683F040D2F}"/>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p:spPr>
        <p:txBody>
          <a:bodyPr/>
          <a:lstStyle/>
          <a:p>
            <a:endParaRPr lang="ru-RU"/>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3E0AB43B-5E98-6042-A282-C61E0C5A37B9}"/>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графика. Обратите внимание, что название графика набирается меньшим кеглем, чем заголовок</a:t>
            </a:r>
            <a:r>
              <a:rPr lang="en-GB" sz="1600" dirty="0">
                <a:solidFill>
                  <a:srgbClr val="102D69"/>
                </a:solidFill>
                <a:latin typeface="HSE Sans" panose="02000000000000000000" pitchFamily="2" charset="0"/>
              </a:rPr>
              <a:t> (16pt)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a:extLst>
              <a:ext uri="{FF2B5EF4-FFF2-40B4-BE49-F238E27FC236}">
                <a16:creationId xmlns:a16="http://schemas.microsoft.com/office/drawing/2014/main" id="{D9986185-6D5E-FD48-A5CA-AF2D5B58A3E7}"/>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a:extLst>
              <a:ext uri="{FF2B5EF4-FFF2-40B4-BE49-F238E27FC236}">
                <a16:creationId xmlns:a16="http://schemas.microsoft.com/office/drawing/2014/main" id="{6EC59AAD-5962-8D49-BF4D-7DA5D573073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p:spPr>
        <p:txBody>
          <a:bodyPr/>
          <a:lstStyle/>
          <a:p>
            <a:endParaRPr lang="ru-RU"/>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44D0326E-FD7A-3541-A998-62A1C30E2738}"/>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9C21DFE9-C3B2-C54E-9275-7776355F736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Дополнительная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9856D01B-EC9A-6047-B7FB-D47084AB3F5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234703-C735-5D41-99C2-019C7EBECCF4}"/>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2" name="Picture 1">
            <a:extLst>
              <a:ext uri="{FF2B5EF4-FFF2-40B4-BE49-F238E27FC236}">
                <a16:creationId xmlns:a16="http://schemas.microsoft.com/office/drawing/2014/main" id="{682F59B5-E815-AE43-BAE2-FA594BB42C02}"/>
              </a:ext>
            </a:extLst>
          </p:cNvPr>
          <p:cNvPicPr>
            <a:picLocks noChangeAspect="1"/>
          </p:cNvPicPr>
          <p:nvPr userDrawn="1"/>
        </p:nvPicPr>
        <p:blipFill>
          <a:blip r:embed="rId3"/>
          <a:srcRect/>
          <a:stretch/>
        </p:blipFill>
        <p:spPr>
          <a:xfrm>
            <a:off x="5310809" y="2643809"/>
            <a:ext cx="1570383" cy="1570383"/>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63DFB-8595-A44B-9F09-A50FA310E559}" type="datetimeFigureOut">
              <a:rPr lang="en-RU" smtClean="0"/>
              <a:t>18.04.2026</a:t>
            </a:fld>
            <a:endParaRPr lang="en-RU"/>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0F133-126C-5944-A0E4-6A9616EDC0DA}" type="slidenum">
              <a:rPr lang="en-RU" smtClean="0"/>
              <a:t>‹#›</a:t>
            </a:fld>
            <a:endParaRPr lang="en-RU"/>
          </a:p>
        </p:txBody>
      </p:sp>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customXml" Target="../ink/ink2.xml"/><Relationship Id="rId1" Type="http://schemas.openxmlformats.org/officeDocument/2006/relationships/slideLayout" Target="../slideLayouts/slideLayout11.xml"/><Relationship Id="rId9" Type="http://schemas.openxmlformats.org/officeDocument/2006/relationships/image" Target="../media/image109.png"/></Relationships>
</file>

<file path=ppt/slides/_rels/slide8.xml.rels><?xml version="1.0" encoding="UTF-8" standalone="yes"?>
<Relationships xmlns="http://schemas.openxmlformats.org/package/2006/relationships"><Relationship Id="rId2" Type="http://schemas.openxmlformats.org/officeDocument/2006/relationships/customXml" Target="../ink/ink3.xml"/><Relationship Id="rId1" Type="http://schemas.openxmlformats.org/officeDocument/2006/relationships/slideLayout" Target="../slideLayouts/slideLayout11.xml"/><Relationship Id="rId9" Type="http://schemas.openxmlformats.org/officeDocument/2006/relationships/image" Target="../media/image109.png"/></Relationships>
</file>

<file path=ppt/slides/_rels/slide9.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customXml" Target="../ink/ink4.xml"/><Relationship Id="rId1" Type="http://schemas.openxmlformats.org/officeDocument/2006/relationships/slideLayout" Target="../slideLayouts/slideLayout11.xml"/><Relationship Id="rId5" Type="http://schemas.openxmlformats.org/officeDocument/2006/relationships/image" Target="../media/image210.png"/><Relationship Id="rId4" Type="http://schemas.openxmlformats.org/officeDocument/2006/relationships/customXml" Target="../ink/ink5.xml"/></Relationships>
</file>

<file path=ppt/slides/_rels/slide10.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209.png"/><Relationship Id="rId7" Type="http://schemas.openxmlformats.org/officeDocument/2006/relationships/image" Target="../media/image211.png"/><Relationship Id="rId2" Type="http://schemas.openxmlformats.org/officeDocument/2006/relationships/customXml" Target="../ink/ink6.xml"/><Relationship Id="rId1" Type="http://schemas.openxmlformats.org/officeDocument/2006/relationships/slideLayout" Target="../slideLayouts/slideLayout11.xml"/><Relationship Id="rId6" Type="http://schemas.openxmlformats.org/officeDocument/2006/relationships/customXml" Target="../ink/ink8.xml"/><Relationship Id="rId5" Type="http://schemas.openxmlformats.org/officeDocument/2006/relationships/image" Target="../media/image210.png"/><Relationship Id="rId4" Type="http://schemas.openxmlformats.org/officeDocument/2006/relationships/customXml" Target="../ink/ink7.xml"/><Relationship Id="rId9" Type="http://schemas.openxmlformats.org/officeDocument/2006/relationships/image" Target="../media/image2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a:xfrm>
            <a:off x="1027967" y="2033086"/>
            <a:ext cx="9976491" cy="1978323"/>
          </a:xfrm>
        </p:spPr>
        <p:txBody>
          <a:bodyPr>
            <a:normAutofit fontScale="90000"/>
          </a:bodyPr>
          <a:lstStyle/>
          <a:p>
            <a:r>
              <a:rPr lang="ru-RU" dirty="0">
                <a:latin typeface="Aptos" panose="020B0004020202020204" pitchFamily="34" charset="0"/>
              </a:rPr>
              <a:t>Дисциплина «ЭКОНОМИКА»</a:t>
            </a:r>
            <a:br>
              <a:rPr lang="ru-RU" dirty="0">
                <a:latin typeface="Aptos" panose="020B0004020202020204" pitchFamily="34" charset="0"/>
              </a:rPr>
            </a:br>
            <a:br>
              <a:rPr lang="ru-RU" dirty="0">
                <a:latin typeface="Aptos" panose="020B0004020202020204" pitchFamily="34" charset="0"/>
              </a:rPr>
            </a:br>
            <a:r>
              <a:rPr lang="ru-RU" sz="4400" b="1" i="1">
                <a:latin typeface="Aptos" panose="020B0004020202020204" pitchFamily="34" charset="0"/>
              </a:rPr>
              <a:t>Семинар 6.1</a:t>
            </a:r>
            <a:r>
              <a:rPr lang="ru-RU" b="1">
                <a:latin typeface="Aptos" panose="020B0004020202020204" pitchFamily="34" charset="0"/>
              </a:rPr>
              <a:t> </a:t>
            </a:r>
            <a:r>
              <a:rPr lang="ru-RU" b="1" dirty="0">
                <a:latin typeface="Aptos" panose="020B0004020202020204" pitchFamily="34" charset="0"/>
              </a:rPr>
              <a:t>Экономический рост и безработица </a:t>
            </a:r>
            <a:br>
              <a:rPr lang="ru-RU" sz="1800" dirty="0">
                <a:effectLst/>
                <a:latin typeface="Aptos" panose="020B0004020202020204" pitchFamily="34" charset="0"/>
                <a:ea typeface="Times New Roman" panose="02020603050405020304" pitchFamily="18" charset="0"/>
              </a:rPr>
            </a:br>
            <a:br>
              <a:rPr lang="ru-RU" sz="1800" dirty="0">
                <a:effectLst/>
                <a:latin typeface="Aptos" panose="020B0004020202020204" pitchFamily="34" charset="0"/>
                <a:ea typeface="Times New Roman" panose="02020603050405020304" pitchFamily="18" charset="0"/>
              </a:rPr>
            </a:br>
            <a:endParaRPr lang="ru-RU" sz="3200" b="1" i="1" dirty="0">
              <a:latin typeface="Aptos" panose="020B0004020202020204" pitchFamily="34" charset="0"/>
            </a:endParaRP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p:txBody>
          <a:bodyPr/>
          <a:lstStyle/>
          <a:p>
            <a:r>
              <a:rPr lang="ru-RU" dirty="0">
                <a:latin typeface="Aptos" panose="020B0004020202020204" pitchFamily="34" charset="0"/>
              </a:rPr>
              <a:t>НИУ ВШЭ</a:t>
            </a:r>
          </a:p>
        </p:txBody>
      </p:sp>
      <p:sp>
        <p:nvSpPr>
          <p:cNvPr id="4" name="Текст 3">
            <a:extLst>
              <a:ext uri="{FF2B5EF4-FFF2-40B4-BE49-F238E27FC236}">
                <a16:creationId xmlns:a16="http://schemas.microsoft.com/office/drawing/2014/main" id="{DB8D49EC-434A-5443-AC3F-85F01995E632}"/>
              </a:ext>
            </a:extLst>
          </p:cNvPr>
          <p:cNvSpPr>
            <a:spLocks noGrp="1"/>
          </p:cNvSpPr>
          <p:nvPr>
            <p:ph type="body" sz="quarter" idx="11"/>
          </p:nvPr>
        </p:nvSpPr>
        <p:spPr/>
        <p:txBody>
          <a:bodyPr/>
          <a:lstStyle/>
          <a:p>
            <a:r>
              <a:rPr lang="ru-RU" dirty="0">
                <a:latin typeface="Aptos" panose="020B0004020202020204" pitchFamily="34" charset="0"/>
              </a:rPr>
              <a:t>Факультет экономических наук</a:t>
            </a:r>
          </a:p>
        </p:txBody>
      </p:sp>
      <p:sp>
        <p:nvSpPr>
          <p:cNvPr id="5" name="Текст 4">
            <a:extLst>
              <a:ext uri="{FF2B5EF4-FFF2-40B4-BE49-F238E27FC236}">
                <a16:creationId xmlns:a16="http://schemas.microsoft.com/office/drawing/2014/main" id="{C6FAE0FA-3CAF-BA4B-8F9F-5FEF3C2F3CC6}"/>
              </a:ext>
            </a:extLst>
          </p:cNvPr>
          <p:cNvSpPr>
            <a:spLocks noGrp="1"/>
          </p:cNvSpPr>
          <p:nvPr>
            <p:ph type="body" idx="12"/>
          </p:nvPr>
        </p:nvSpPr>
        <p:spPr/>
        <p:txBody>
          <a:bodyPr>
            <a:normAutofit/>
          </a:bodyPr>
          <a:lstStyle/>
          <a:p>
            <a:r>
              <a:rPr lang="ru-RU" dirty="0">
                <a:latin typeface="Aptos" panose="020B0004020202020204" pitchFamily="34" charset="0"/>
              </a:rPr>
              <a:t>Москва 2025</a:t>
            </a:r>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sz="quarter" idx="13"/>
          </p:nvPr>
        </p:nvSpPr>
        <p:spPr>
          <a:xfrm>
            <a:off x="1027967" y="5151344"/>
            <a:ext cx="7625267" cy="652860"/>
          </a:xfrm>
        </p:spPr>
        <p:txBody>
          <a:bodyPr/>
          <a:lstStyle/>
          <a:p>
            <a:r>
              <a:rPr lang="ru-RU" dirty="0">
                <a:latin typeface="Aptos" panose="020B0004020202020204" pitchFamily="34" charset="0"/>
              </a:rPr>
              <a:t>Приглашенный преподаватель департамента теоретической экономики</a:t>
            </a:r>
          </a:p>
          <a:p>
            <a:r>
              <a:rPr lang="ru-RU" dirty="0">
                <a:latin typeface="Aptos" panose="020B0004020202020204" pitchFamily="34" charset="0"/>
              </a:rPr>
              <a:t>Иванова Анна Павловна</a:t>
            </a:r>
          </a:p>
        </p:txBody>
      </p:sp>
    </p:spTree>
    <p:extLst>
      <p:ext uri="{BB962C8B-B14F-4D97-AF65-F5344CB8AC3E}">
        <p14:creationId xmlns:p14="http://schemas.microsoft.com/office/powerpoint/2010/main" val="982325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43393-F96C-1F4A-53F0-8399A3BF23FA}"/>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43759500-0C02-29FB-F8E1-0DFD1CA4C0A9}"/>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3CC92EE4-8A5A-30C6-2E51-2A2F8FB6D02B}"/>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7A6911BC-258B-E7B5-FA60-93BE4BB2668D}"/>
              </a:ext>
            </a:extLst>
          </p:cNvPr>
          <p:cNvSpPr>
            <a:spLocks noGrp="1"/>
          </p:cNvSpPr>
          <p:nvPr>
            <p:ph type="body" sz="quarter" idx="15"/>
          </p:nvPr>
        </p:nvSpPr>
        <p:spPr>
          <a:xfrm>
            <a:off x="6259891" y="548720"/>
            <a:ext cx="2967235" cy="408109"/>
          </a:xfrm>
        </p:spPr>
        <p:txBody>
          <a:bodyPr/>
          <a:lstStyle/>
          <a:p>
            <a:r>
              <a:rPr lang="ru-RU" dirty="0">
                <a:latin typeface="Aptos" panose="020B0004020202020204" pitchFamily="34" charset="0"/>
              </a:rPr>
              <a:t>Департамент теоретической экономики</a:t>
            </a:r>
          </a:p>
        </p:txBody>
      </p:sp>
      <p:sp>
        <p:nvSpPr>
          <p:cNvPr id="7" name="TextBox 6">
            <a:extLst>
              <a:ext uri="{FF2B5EF4-FFF2-40B4-BE49-F238E27FC236}">
                <a16:creationId xmlns:a16="http://schemas.microsoft.com/office/drawing/2014/main" id="{9987CBD5-4D4C-2A97-5840-CC43F020F702}"/>
              </a:ext>
            </a:extLst>
          </p:cNvPr>
          <p:cNvSpPr txBox="1"/>
          <p:nvPr/>
        </p:nvSpPr>
        <p:spPr>
          <a:xfrm>
            <a:off x="434897" y="1377837"/>
            <a:ext cx="11147840" cy="1107996"/>
          </a:xfrm>
          <a:prstGeom prst="rect">
            <a:avLst/>
          </a:prstGeom>
          <a:noFill/>
        </p:spPr>
        <p:txBody>
          <a:bodyPr wrap="square">
            <a:spAutoFit/>
          </a:bodyPr>
          <a:lstStyle/>
          <a:p>
            <a:pPr algn="just"/>
            <a:r>
              <a:rPr lang="ru-RU" sz="2200" b="1" kern="100" dirty="0">
                <a:latin typeface="Aptos" panose="020B0004020202020204" pitchFamily="34" charset="0"/>
                <a:cs typeface="Times New Roman" panose="02020603050405020304" pitchFamily="18" charset="0"/>
              </a:rPr>
              <a:t>Макроэкономика </a:t>
            </a:r>
            <a:r>
              <a:rPr lang="en-GB" sz="2200" kern="100" dirty="0">
                <a:latin typeface="Aptos" panose="020B0004020202020204" pitchFamily="34" charset="0"/>
                <a:cs typeface="Times New Roman" panose="02020603050405020304" pitchFamily="18" charset="0"/>
              </a:rPr>
              <a:t>-</a:t>
            </a:r>
            <a:r>
              <a:rPr lang="ru-RU" sz="2200" b="1" kern="100" dirty="0">
                <a:latin typeface="Aptos" panose="020B0004020202020204" pitchFamily="34" charset="0"/>
                <a:cs typeface="Times New Roman" panose="02020603050405020304" pitchFamily="18" charset="0"/>
              </a:rPr>
              <a:t> </a:t>
            </a:r>
            <a:r>
              <a:rPr lang="ru-RU" sz="2200" kern="100" dirty="0">
                <a:latin typeface="Aptos" panose="020B0004020202020204" pitchFamily="34" charset="0"/>
                <a:cs typeface="Times New Roman" panose="02020603050405020304" pitchFamily="18" charset="0"/>
              </a:rPr>
              <a:t>раздел экономической теории, изучающий функционирование экономики в целом, экономическую систему как единое целое, совокупность экономических явлений.</a:t>
            </a:r>
          </a:p>
        </p:txBody>
      </p:sp>
      <p:sp>
        <p:nvSpPr>
          <p:cNvPr id="8" name="TextBox 7">
            <a:extLst>
              <a:ext uri="{FF2B5EF4-FFF2-40B4-BE49-F238E27FC236}">
                <a16:creationId xmlns:a16="http://schemas.microsoft.com/office/drawing/2014/main" id="{0804972E-C574-4E3B-2ABE-CEE7F59565C6}"/>
              </a:ext>
            </a:extLst>
          </p:cNvPr>
          <p:cNvSpPr txBox="1"/>
          <p:nvPr/>
        </p:nvSpPr>
        <p:spPr>
          <a:xfrm>
            <a:off x="434898" y="2646913"/>
            <a:ext cx="11147840" cy="1767215"/>
          </a:xfrm>
          <a:prstGeom prst="rect">
            <a:avLst/>
          </a:prstGeom>
          <a:noFill/>
        </p:spPr>
        <p:txBody>
          <a:bodyPr wrap="square" rtlCol="0">
            <a:spAutoFit/>
          </a:bodyPr>
          <a:lstStyle/>
          <a:p>
            <a:pPr lvl="0" algn="just">
              <a:lnSpc>
                <a:spcPct val="107000"/>
              </a:lnSpc>
              <a:spcAft>
                <a:spcPts val="800"/>
              </a:spcAft>
              <a:tabLst>
                <a:tab pos="457200" algn="l"/>
              </a:tabLst>
            </a:pPr>
            <a:r>
              <a:rPr lang="ru-RU" sz="2200" b="1" kern="100" dirty="0">
                <a:effectLst/>
                <a:latin typeface="Aptos" panose="020B0004020202020204" pitchFamily="34" charset="0"/>
                <a:ea typeface="Aptos" panose="020B0004020202020204" pitchFamily="34" charset="0"/>
                <a:cs typeface="Times New Roman" panose="02020603050405020304" pitchFamily="18" charset="0"/>
              </a:rPr>
              <a:t>Принцип абстрагирования </a:t>
            </a:r>
            <a:r>
              <a:rPr lang="en-GB" sz="2200" kern="100" dirty="0">
                <a:latin typeface="Aptos" panose="020B0004020202020204" pitchFamily="34" charset="0"/>
                <a:ea typeface="Aptos" panose="020B0004020202020204" pitchFamily="34" charset="0"/>
                <a:cs typeface="Times New Roman" panose="02020603050405020304" pitchFamily="18" charset="0"/>
              </a:rPr>
              <a:t>-</a:t>
            </a:r>
            <a:r>
              <a:rPr lang="ru-RU" sz="2200" kern="100" dirty="0">
                <a:effectLst/>
                <a:latin typeface="Aptos" panose="020B0004020202020204" pitchFamily="34" charset="0"/>
                <a:ea typeface="Aptos" panose="020B0004020202020204" pitchFamily="34" charset="0"/>
                <a:cs typeface="Times New Roman" panose="02020603050405020304" pitchFamily="18" charset="0"/>
              </a:rPr>
              <a:t> это мысленное выделение, вычленение некоторых элементов конкретного множества и отвлечение их от прочих элементов данного множества.</a:t>
            </a:r>
            <a:endParaRPr lang="en-GB" sz="22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07000"/>
              </a:lnSpc>
              <a:spcAft>
                <a:spcPts val="800"/>
              </a:spcAft>
              <a:tabLst>
                <a:tab pos="457200" algn="l"/>
              </a:tabLst>
            </a:pPr>
            <a:endParaRPr lang="ru-RU" sz="200" kern="100" dirty="0">
              <a:effectLst/>
              <a:latin typeface="Aptos" panose="020B0004020202020204" pitchFamily="34" charset="0"/>
              <a:ea typeface="Aptos" panose="020B0004020202020204" pitchFamily="34" charset="0"/>
              <a:cs typeface="Times New Roman" panose="02020603050405020304" pitchFamily="18" charset="0"/>
            </a:endParaRPr>
          </a:p>
          <a:p>
            <a:pPr lvl="0" algn="just">
              <a:lnSpc>
                <a:spcPct val="107000"/>
              </a:lnSpc>
              <a:spcAft>
                <a:spcPts val="800"/>
              </a:spcAft>
              <a:tabLst>
                <a:tab pos="457200" algn="l"/>
              </a:tabLst>
            </a:pPr>
            <a:r>
              <a:rPr lang="ru-RU" sz="2200" b="1" kern="100" dirty="0">
                <a:effectLst/>
                <a:latin typeface="Aptos" panose="020B0004020202020204" pitchFamily="34" charset="0"/>
                <a:ea typeface="Aptos" panose="020B0004020202020204" pitchFamily="34" charset="0"/>
                <a:cs typeface="Times New Roman" panose="02020603050405020304" pitchFamily="18" charset="0"/>
              </a:rPr>
              <a:t>Принцип агрегирования </a:t>
            </a:r>
            <a:r>
              <a:rPr lang="en-GB" sz="2200" kern="100" dirty="0">
                <a:latin typeface="Aptos" panose="020B0004020202020204" pitchFamily="34" charset="0"/>
                <a:ea typeface="Aptos" panose="020B0004020202020204" pitchFamily="34" charset="0"/>
                <a:cs typeface="Times New Roman" panose="02020603050405020304" pitchFamily="18" charset="0"/>
              </a:rPr>
              <a:t>-</a:t>
            </a:r>
            <a:r>
              <a:rPr lang="ru-RU" sz="2200" kern="100" dirty="0">
                <a:effectLst/>
                <a:latin typeface="Aptos" panose="020B0004020202020204" pitchFamily="34" charset="0"/>
                <a:ea typeface="Aptos" panose="020B0004020202020204" pitchFamily="34" charset="0"/>
                <a:cs typeface="Times New Roman" panose="02020603050405020304" pitchFamily="18" charset="0"/>
              </a:rPr>
              <a:t> это объединение нескольких элементов в единое целое. </a:t>
            </a:r>
          </a:p>
        </p:txBody>
      </p:sp>
      <p:sp>
        <p:nvSpPr>
          <p:cNvPr id="9" name="TextBox 8">
            <a:extLst>
              <a:ext uri="{FF2B5EF4-FFF2-40B4-BE49-F238E27FC236}">
                <a16:creationId xmlns:a16="http://schemas.microsoft.com/office/drawing/2014/main" id="{65CF1EF2-14F3-9AE0-7C89-9E66BEB97406}"/>
              </a:ext>
            </a:extLst>
          </p:cNvPr>
          <p:cNvSpPr txBox="1"/>
          <p:nvPr/>
        </p:nvSpPr>
        <p:spPr>
          <a:xfrm>
            <a:off x="434897" y="4651057"/>
            <a:ext cx="11147840" cy="769441"/>
          </a:xfrm>
          <a:prstGeom prst="rect">
            <a:avLst/>
          </a:prstGeom>
          <a:noFill/>
        </p:spPr>
        <p:txBody>
          <a:bodyPr wrap="square" rtlCol="0">
            <a:spAutoFit/>
          </a:bodyPr>
          <a:lstStyle/>
          <a:p>
            <a:pPr algn="just"/>
            <a:r>
              <a:rPr lang="ru-RU" sz="2200" b="1" kern="100" dirty="0">
                <a:latin typeface="Aptos" panose="020B0004020202020204" pitchFamily="34" charset="0"/>
                <a:cs typeface="Times New Roman" panose="02020603050405020304" pitchFamily="18" charset="0"/>
              </a:rPr>
              <a:t>Макроэкономические агенты: </a:t>
            </a:r>
            <a:r>
              <a:rPr lang="ru-RU" sz="2200" kern="100" dirty="0">
                <a:latin typeface="Aptos" panose="020B0004020202020204" pitchFamily="34" charset="0"/>
                <a:cs typeface="Times New Roman" panose="02020603050405020304" pitchFamily="18" charset="0"/>
              </a:rPr>
              <a:t>домашнее хозяйство, фирма, государство, иностранный сектор</a:t>
            </a:r>
          </a:p>
        </p:txBody>
      </p:sp>
      <p:sp>
        <p:nvSpPr>
          <p:cNvPr id="10" name="TextBox 9">
            <a:extLst>
              <a:ext uri="{FF2B5EF4-FFF2-40B4-BE49-F238E27FC236}">
                <a16:creationId xmlns:a16="http://schemas.microsoft.com/office/drawing/2014/main" id="{25E600FF-BEE2-3A10-B100-7E4076B316A9}"/>
              </a:ext>
            </a:extLst>
          </p:cNvPr>
          <p:cNvSpPr txBox="1"/>
          <p:nvPr/>
        </p:nvSpPr>
        <p:spPr>
          <a:xfrm>
            <a:off x="434897" y="5547655"/>
            <a:ext cx="11046240" cy="769441"/>
          </a:xfrm>
          <a:prstGeom prst="rect">
            <a:avLst/>
          </a:prstGeom>
          <a:noFill/>
        </p:spPr>
        <p:txBody>
          <a:bodyPr wrap="square" rtlCol="0">
            <a:spAutoFit/>
          </a:bodyPr>
          <a:lstStyle/>
          <a:p>
            <a:pPr algn="just"/>
            <a:r>
              <a:rPr lang="ru-RU" sz="2200" b="1" kern="100" dirty="0">
                <a:latin typeface="Aptos" panose="020B0004020202020204" pitchFamily="34" charset="0"/>
                <a:cs typeface="Times New Roman" panose="02020603050405020304" pitchFamily="18" charset="0"/>
              </a:rPr>
              <a:t>Макроэкономические рынки: </a:t>
            </a:r>
            <a:r>
              <a:rPr lang="ru-RU" sz="2200" kern="100" dirty="0">
                <a:latin typeface="Aptos" panose="020B0004020202020204" pitchFamily="34" charset="0"/>
                <a:cs typeface="Times New Roman" panose="02020603050405020304" pitchFamily="18" charset="0"/>
              </a:rPr>
              <a:t>рынок товаров и услуг, рынок ресурсов, финансовый рынок, валютный рынок</a:t>
            </a:r>
          </a:p>
        </p:txBody>
      </p:sp>
    </p:spTree>
    <p:extLst>
      <p:ext uri="{BB962C8B-B14F-4D97-AF65-F5344CB8AC3E}">
        <p14:creationId xmlns:p14="http://schemas.microsoft.com/office/powerpoint/2010/main" val="149354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67235" cy="408109"/>
          </a:xfrm>
        </p:spPr>
        <p:txBody>
          <a:bodyPr/>
          <a:lstStyle/>
          <a:p>
            <a:r>
              <a:rPr lang="ru-RU" dirty="0">
                <a:latin typeface="Aptos" panose="020B0004020202020204" pitchFamily="34" charset="0"/>
              </a:rPr>
              <a:t>Департамент теоретической экономики</a:t>
            </a:r>
          </a:p>
        </p:txBody>
      </p:sp>
      <p:sp>
        <p:nvSpPr>
          <p:cNvPr id="6" name="TextBox 5">
            <a:extLst>
              <a:ext uri="{FF2B5EF4-FFF2-40B4-BE49-F238E27FC236}">
                <a16:creationId xmlns:a16="http://schemas.microsoft.com/office/drawing/2014/main" id="{AABA1D70-2F41-EDDD-8F5E-A28F05587B56}"/>
              </a:ext>
            </a:extLst>
          </p:cNvPr>
          <p:cNvSpPr txBox="1"/>
          <p:nvPr/>
        </p:nvSpPr>
        <p:spPr>
          <a:xfrm>
            <a:off x="940368" y="2679423"/>
            <a:ext cx="10311263" cy="1938992"/>
          </a:xfrm>
          <a:prstGeom prst="rect">
            <a:avLst/>
          </a:prstGeom>
          <a:noFill/>
        </p:spPr>
        <p:txBody>
          <a:bodyPr wrap="square" rtlCol="0">
            <a:spAutoFit/>
          </a:bodyPr>
          <a:lstStyle/>
          <a:p>
            <a:pPr algn="ctr"/>
            <a:r>
              <a:rPr lang="ru-RU" sz="4000" b="1" kern="100" dirty="0">
                <a:latin typeface="Aptos" panose="020B0004020202020204" pitchFamily="34" charset="0"/>
                <a:cs typeface="Times New Roman" panose="02020603050405020304" pitchFamily="18" charset="0"/>
              </a:rPr>
              <a:t>Кругооборот продукта, расходов и доходов в двухсекторной </a:t>
            </a:r>
          </a:p>
          <a:p>
            <a:pPr algn="ctr"/>
            <a:r>
              <a:rPr lang="ru-RU" sz="4000" b="1" kern="100" dirty="0">
                <a:latin typeface="Aptos" panose="020B0004020202020204" pitchFamily="34" charset="0"/>
                <a:cs typeface="Times New Roman" panose="02020603050405020304" pitchFamily="18" charset="0"/>
              </a:rPr>
              <a:t>модели экономики</a:t>
            </a:r>
          </a:p>
        </p:txBody>
      </p:sp>
    </p:spTree>
    <p:extLst>
      <p:ext uri="{BB962C8B-B14F-4D97-AF65-F5344CB8AC3E}">
        <p14:creationId xmlns:p14="http://schemas.microsoft.com/office/powerpoint/2010/main" val="23543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B5AD9-16A8-05EC-5555-AB60095202E3}"/>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4139310E-40AC-8D94-A9A0-BEF8A023FFE5}"/>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BB49384C-A13E-6AE7-04FB-CB5553492F2E}"/>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F3CBFA17-22A9-3274-F5C1-33A5C16A50C6}"/>
              </a:ext>
            </a:extLst>
          </p:cNvPr>
          <p:cNvSpPr>
            <a:spLocks noGrp="1"/>
          </p:cNvSpPr>
          <p:nvPr>
            <p:ph type="body" sz="quarter" idx="15"/>
          </p:nvPr>
        </p:nvSpPr>
        <p:spPr>
          <a:xfrm>
            <a:off x="6259891" y="548720"/>
            <a:ext cx="2967235" cy="408109"/>
          </a:xfrm>
        </p:spPr>
        <p:txBody>
          <a:bodyPr/>
          <a:lstStyle/>
          <a:p>
            <a:r>
              <a:rPr lang="ru-RU" dirty="0">
                <a:latin typeface="Aptos" panose="020B0004020202020204" pitchFamily="34" charset="0"/>
              </a:rPr>
              <a:t>Департамент теоретической экономики</a:t>
            </a:r>
          </a:p>
        </p:txBody>
      </p:sp>
      <p:sp>
        <p:nvSpPr>
          <p:cNvPr id="6" name="TextBox 5">
            <a:extLst>
              <a:ext uri="{FF2B5EF4-FFF2-40B4-BE49-F238E27FC236}">
                <a16:creationId xmlns:a16="http://schemas.microsoft.com/office/drawing/2014/main" id="{5BAE68B6-2F39-C8E1-3CA8-FC4471B3EA0C}"/>
              </a:ext>
            </a:extLst>
          </p:cNvPr>
          <p:cNvSpPr txBox="1"/>
          <p:nvPr/>
        </p:nvSpPr>
        <p:spPr>
          <a:xfrm>
            <a:off x="134804" y="1156625"/>
            <a:ext cx="11922391" cy="1231106"/>
          </a:xfrm>
          <a:prstGeom prst="rect">
            <a:avLst/>
          </a:prstGeom>
          <a:noFill/>
        </p:spPr>
        <p:txBody>
          <a:bodyPr wrap="square" rtlCol="0">
            <a:spAutoFit/>
          </a:bodyPr>
          <a:lstStyle/>
          <a:p>
            <a:pPr algn="ctr"/>
            <a:r>
              <a:rPr lang="ru-RU" sz="2800" b="1" kern="100" dirty="0">
                <a:latin typeface="Aptos" panose="020B0004020202020204" pitchFamily="34" charset="0"/>
                <a:cs typeface="Times New Roman" panose="02020603050405020304" pitchFamily="18" charset="0"/>
              </a:rPr>
              <a:t>Кругооборот продукта, расходов и доходов в двухсекторной </a:t>
            </a:r>
          </a:p>
          <a:p>
            <a:pPr algn="ctr"/>
            <a:r>
              <a:rPr lang="ru-RU" sz="2800" b="1" kern="100" dirty="0">
                <a:latin typeface="Aptos" panose="020B0004020202020204" pitchFamily="34" charset="0"/>
                <a:cs typeface="Times New Roman" panose="02020603050405020304" pitchFamily="18" charset="0"/>
              </a:rPr>
              <a:t>модели экономики</a:t>
            </a:r>
          </a:p>
          <a:p>
            <a:endParaRPr lang="ru-RU" dirty="0">
              <a:latin typeface="Aptos" panose="020B0004020202020204" pitchFamily="34" charset="0"/>
            </a:endParaRPr>
          </a:p>
        </p:txBody>
      </p:sp>
      <p:grpSp>
        <p:nvGrpSpPr>
          <p:cNvPr id="7" name="Группа 6">
            <a:extLst>
              <a:ext uri="{FF2B5EF4-FFF2-40B4-BE49-F238E27FC236}">
                <a16:creationId xmlns:a16="http://schemas.microsoft.com/office/drawing/2014/main" id="{7C148679-D397-2F35-2F13-6D3672C3F464}"/>
              </a:ext>
            </a:extLst>
          </p:cNvPr>
          <p:cNvGrpSpPr/>
          <p:nvPr/>
        </p:nvGrpSpPr>
        <p:grpSpPr>
          <a:xfrm>
            <a:off x="495819" y="2227511"/>
            <a:ext cx="11110493" cy="4264097"/>
            <a:chOff x="518765" y="2226351"/>
            <a:chExt cx="11110493" cy="4264097"/>
          </a:xfrm>
        </p:grpSpPr>
        <p:sp>
          <p:nvSpPr>
            <p:cNvPr id="8" name="TextBox 7">
              <a:extLst>
                <a:ext uri="{FF2B5EF4-FFF2-40B4-BE49-F238E27FC236}">
                  <a16:creationId xmlns:a16="http://schemas.microsoft.com/office/drawing/2014/main" id="{FE77D3AD-E4B9-8C44-D189-6EC0AE7885B7}"/>
                </a:ext>
              </a:extLst>
            </p:cNvPr>
            <p:cNvSpPr txBox="1"/>
            <p:nvPr/>
          </p:nvSpPr>
          <p:spPr>
            <a:xfrm>
              <a:off x="9982985" y="3725851"/>
              <a:ext cx="1404594" cy="400110"/>
            </a:xfrm>
            <a:prstGeom prst="rect">
              <a:avLst/>
            </a:prstGeom>
            <a:noFill/>
            <a:ln w="6350">
              <a:solidFill>
                <a:schemeClr val="tx1"/>
              </a:solidFill>
            </a:ln>
          </p:spPr>
          <p:txBody>
            <a:bodyPr wrap="square" rtlCol="0">
              <a:spAutoFit/>
            </a:bodyPr>
            <a:lstStyle/>
            <a:p>
              <a:pPr algn="ctr"/>
              <a:r>
                <a:rPr lang="ru-RU" sz="2000" b="1" dirty="0">
                  <a:latin typeface="Aptos" panose="020B0004020202020204" pitchFamily="34" charset="0"/>
                </a:rPr>
                <a:t>ФИРМА</a:t>
              </a:r>
            </a:p>
          </p:txBody>
        </p:sp>
        <p:sp>
          <p:nvSpPr>
            <p:cNvPr id="9" name="TextBox 8">
              <a:extLst>
                <a:ext uri="{FF2B5EF4-FFF2-40B4-BE49-F238E27FC236}">
                  <a16:creationId xmlns:a16="http://schemas.microsoft.com/office/drawing/2014/main" id="{871225D3-4EF4-8E6E-85E0-241DB6C6982E}"/>
                </a:ext>
              </a:extLst>
            </p:cNvPr>
            <p:cNvSpPr txBox="1"/>
            <p:nvPr/>
          </p:nvSpPr>
          <p:spPr>
            <a:xfrm>
              <a:off x="568157" y="3873445"/>
              <a:ext cx="2605816" cy="400110"/>
            </a:xfrm>
            <a:prstGeom prst="rect">
              <a:avLst/>
            </a:prstGeom>
            <a:noFill/>
            <a:ln w="6350">
              <a:solidFill>
                <a:schemeClr val="tx1"/>
              </a:solidFill>
            </a:ln>
          </p:spPr>
          <p:txBody>
            <a:bodyPr wrap="square" rtlCol="0">
              <a:spAutoFit/>
            </a:bodyPr>
            <a:lstStyle/>
            <a:p>
              <a:pPr algn="ctr"/>
              <a:r>
                <a:rPr lang="ru-RU" sz="2000" b="1" dirty="0">
                  <a:latin typeface="Aptos" panose="020B0004020202020204" pitchFamily="34" charset="0"/>
                </a:rPr>
                <a:t>ДОМОХОЗЯЙСТВА</a:t>
              </a:r>
            </a:p>
          </p:txBody>
        </p:sp>
        <p:sp>
          <p:nvSpPr>
            <p:cNvPr id="10" name="TextBox 9">
              <a:extLst>
                <a:ext uri="{FF2B5EF4-FFF2-40B4-BE49-F238E27FC236}">
                  <a16:creationId xmlns:a16="http://schemas.microsoft.com/office/drawing/2014/main" id="{F58F1456-FFF2-1112-E545-5DA401E98ACF}"/>
                </a:ext>
              </a:extLst>
            </p:cNvPr>
            <p:cNvSpPr txBox="1"/>
            <p:nvPr/>
          </p:nvSpPr>
          <p:spPr>
            <a:xfrm>
              <a:off x="3609371" y="5842686"/>
              <a:ext cx="5101616" cy="400110"/>
            </a:xfrm>
            <a:prstGeom prst="rect">
              <a:avLst/>
            </a:prstGeom>
            <a:noFill/>
            <a:ln>
              <a:solidFill>
                <a:schemeClr val="tx1"/>
              </a:solidFill>
              <a:prstDash val="solid"/>
            </a:ln>
          </p:spPr>
          <p:txBody>
            <a:bodyPr wrap="square" rtlCol="0">
              <a:spAutoFit/>
            </a:bodyPr>
            <a:lstStyle/>
            <a:p>
              <a:pPr algn="ctr"/>
              <a:r>
                <a:rPr lang="ru-RU" sz="2000" b="1" dirty="0">
                  <a:latin typeface="Aptos" panose="020B0004020202020204" pitchFamily="34" charset="0"/>
                </a:rPr>
                <a:t>РЫНОК ЭКОНОМИЧЕСКИХ РЕСУРСОВ</a:t>
              </a:r>
            </a:p>
          </p:txBody>
        </p:sp>
        <p:sp>
          <p:nvSpPr>
            <p:cNvPr id="11" name="TextBox 10">
              <a:extLst>
                <a:ext uri="{FF2B5EF4-FFF2-40B4-BE49-F238E27FC236}">
                  <a16:creationId xmlns:a16="http://schemas.microsoft.com/office/drawing/2014/main" id="{AAA91148-B59B-1245-7D84-0408EE3DB4C4}"/>
                </a:ext>
              </a:extLst>
            </p:cNvPr>
            <p:cNvSpPr txBox="1"/>
            <p:nvPr/>
          </p:nvSpPr>
          <p:spPr>
            <a:xfrm>
              <a:off x="4280025" y="2421087"/>
              <a:ext cx="3660339" cy="400110"/>
            </a:xfrm>
            <a:prstGeom prst="rect">
              <a:avLst/>
            </a:prstGeom>
            <a:noFill/>
            <a:ln w="6350">
              <a:solidFill>
                <a:schemeClr val="tx1"/>
              </a:solidFill>
            </a:ln>
          </p:spPr>
          <p:txBody>
            <a:bodyPr wrap="square" rtlCol="0">
              <a:spAutoFit/>
            </a:bodyPr>
            <a:lstStyle/>
            <a:p>
              <a:pPr algn="ctr"/>
              <a:r>
                <a:rPr lang="ru-RU" sz="2000" b="1" dirty="0">
                  <a:latin typeface="Aptos" panose="020B0004020202020204" pitchFamily="34" charset="0"/>
                </a:rPr>
                <a:t>РЫНОК ТОВАРОВ И УСЛУГ</a:t>
              </a:r>
            </a:p>
          </p:txBody>
        </p:sp>
        <p:sp>
          <p:nvSpPr>
            <p:cNvPr id="20" name="TextBox 19">
              <a:extLst>
                <a:ext uri="{FF2B5EF4-FFF2-40B4-BE49-F238E27FC236}">
                  <a16:creationId xmlns:a16="http://schemas.microsoft.com/office/drawing/2014/main" id="{02E5E527-8654-6977-3DB0-D4C749F9F9A9}"/>
                </a:ext>
              </a:extLst>
            </p:cNvPr>
            <p:cNvSpPr txBox="1"/>
            <p:nvPr/>
          </p:nvSpPr>
          <p:spPr>
            <a:xfrm>
              <a:off x="8195589" y="2226351"/>
              <a:ext cx="3433669" cy="400110"/>
            </a:xfrm>
            <a:prstGeom prst="rect">
              <a:avLst/>
            </a:prstGeom>
            <a:noFill/>
          </p:spPr>
          <p:txBody>
            <a:bodyPr wrap="square" rtlCol="0">
              <a:spAutoFit/>
            </a:bodyPr>
            <a:lstStyle/>
            <a:p>
              <a:pPr algn="l"/>
              <a:r>
                <a:rPr lang="ru-RU" sz="2000" dirty="0">
                  <a:latin typeface="Aptos" panose="020B0004020202020204" pitchFamily="34" charset="0"/>
                </a:rPr>
                <a:t>ВЫРУЧКА ОТ ПРОДАЖ</a:t>
              </a:r>
            </a:p>
          </p:txBody>
        </p:sp>
        <p:sp>
          <p:nvSpPr>
            <p:cNvPr id="21" name="TextBox 20">
              <a:extLst>
                <a:ext uri="{FF2B5EF4-FFF2-40B4-BE49-F238E27FC236}">
                  <a16:creationId xmlns:a16="http://schemas.microsoft.com/office/drawing/2014/main" id="{A9E691B7-C409-6C49-FB02-321757CFC869}"/>
                </a:ext>
              </a:extLst>
            </p:cNvPr>
            <p:cNvSpPr txBox="1"/>
            <p:nvPr/>
          </p:nvSpPr>
          <p:spPr>
            <a:xfrm>
              <a:off x="518765" y="2242411"/>
              <a:ext cx="3997046" cy="400110"/>
            </a:xfrm>
            <a:prstGeom prst="rect">
              <a:avLst/>
            </a:prstGeom>
            <a:noFill/>
          </p:spPr>
          <p:txBody>
            <a:bodyPr wrap="square" rtlCol="0">
              <a:spAutoFit/>
            </a:bodyPr>
            <a:lstStyle/>
            <a:p>
              <a:pPr algn="l"/>
              <a:r>
                <a:rPr lang="ru-RU" sz="2000" dirty="0">
                  <a:latin typeface="Aptos" panose="020B0004020202020204" pitchFamily="34" charset="0"/>
                </a:rPr>
                <a:t>ПОТРЕБИТЕЛЬСКИЕ РАСХОДЫ</a:t>
              </a:r>
            </a:p>
          </p:txBody>
        </p:sp>
        <p:sp>
          <p:nvSpPr>
            <p:cNvPr id="22" name="TextBox 21">
              <a:extLst>
                <a:ext uri="{FF2B5EF4-FFF2-40B4-BE49-F238E27FC236}">
                  <a16:creationId xmlns:a16="http://schemas.microsoft.com/office/drawing/2014/main" id="{74D73218-8EA3-8E59-177D-EE5D51CE7776}"/>
                </a:ext>
              </a:extLst>
            </p:cNvPr>
            <p:cNvSpPr txBox="1"/>
            <p:nvPr/>
          </p:nvSpPr>
          <p:spPr>
            <a:xfrm>
              <a:off x="1902311" y="6136505"/>
              <a:ext cx="1229954" cy="353943"/>
            </a:xfrm>
            <a:prstGeom prst="rect">
              <a:avLst/>
            </a:prstGeom>
            <a:noFill/>
          </p:spPr>
          <p:txBody>
            <a:bodyPr wrap="square" rtlCol="0">
              <a:spAutoFit/>
            </a:bodyPr>
            <a:lstStyle/>
            <a:p>
              <a:pPr algn="l"/>
              <a:r>
                <a:rPr lang="ru-RU" sz="1700" dirty="0">
                  <a:latin typeface="Aptos" panose="020B0004020202020204" pitchFamily="34" charset="0"/>
                </a:rPr>
                <a:t>ДОХОДЫ</a:t>
              </a:r>
            </a:p>
          </p:txBody>
        </p:sp>
        <p:sp>
          <p:nvSpPr>
            <p:cNvPr id="23" name="TextBox 22">
              <a:extLst>
                <a:ext uri="{FF2B5EF4-FFF2-40B4-BE49-F238E27FC236}">
                  <a16:creationId xmlns:a16="http://schemas.microsoft.com/office/drawing/2014/main" id="{A773F35B-A29E-5D7A-FAD8-31BA259372D5}"/>
                </a:ext>
              </a:extLst>
            </p:cNvPr>
            <p:cNvSpPr txBox="1"/>
            <p:nvPr/>
          </p:nvSpPr>
          <p:spPr>
            <a:xfrm>
              <a:off x="9011604" y="6101043"/>
              <a:ext cx="2338271" cy="353943"/>
            </a:xfrm>
            <a:prstGeom prst="rect">
              <a:avLst/>
            </a:prstGeom>
            <a:noFill/>
          </p:spPr>
          <p:txBody>
            <a:bodyPr wrap="square" rtlCol="0">
              <a:spAutoFit/>
            </a:bodyPr>
            <a:lstStyle/>
            <a:p>
              <a:pPr algn="l"/>
              <a:r>
                <a:rPr lang="ru-RU" sz="1700" dirty="0">
                  <a:latin typeface="Aptos" panose="020B0004020202020204" pitchFamily="34" charset="0"/>
                </a:rPr>
                <a:t>ПЛАТА ЗА РЕСУРСЫ</a:t>
              </a:r>
            </a:p>
          </p:txBody>
        </p:sp>
      </p:grpSp>
      <p:cxnSp>
        <p:nvCxnSpPr>
          <p:cNvPr id="47" name="Прямая соединительная линия 46">
            <a:extLst>
              <a:ext uri="{FF2B5EF4-FFF2-40B4-BE49-F238E27FC236}">
                <a16:creationId xmlns:a16="http://schemas.microsoft.com/office/drawing/2014/main" id="{679328E4-2F50-2222-5592-D0D81EB678B0}"/>
              </a:ext>
            </a:extLst>
          </p:cNvPr>
          <p:cNvCxnSpPr/>
          <p:nvPr/>
        </p:nvCxnSpPr>
        <p:spPr>
          <a:xfrm flipV="1">
            <a:off x="10708849" y="4362718"/>
            <a:ext cx="0" cy="17022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a:extLst>
              <a:ext uri="{FF2B5EF4-FFF2-40B4-BE49-F238E27FC236}">
                <a16:creationId xmlns:a16="http://schemas.microsoft.com/office/drawing/2014/main" id="{7FF9AF0E-9BD8-44A9-9742-5FE9D3ED44A4}"/>
              </a:ext>
            </a:extLst>
          </p:cNvPr>
          <p:cNvCxnSpPr/>
          <p:nvPr/>
        </p:nvCxnSpPr>
        <p:spPr>
          <a:xfrm flipH="1">
            <a:off x="8802255" y="6064957"/>
            <a:ext cx="190659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a:extLst>
              <a:ext uri="{FF2B5EF4-FFF2-40B4-BE49-F238E27FC236}">
                <a16:creationId xmlns:a16="http://schemas.microsoft.com/office/drawing/2014/main" id="{28205161-2DF1-253A-2FEF-8A45F869372C}"/>
              </a:ext>
            </a:extLst>
          </p:cNvPr>
          <p:cNvCxnSpPr>
            <a:cxnSpLocks/>
          </p:cNvCxnSpPr>
          <p:nvPr/>
        </p:nvCxnSpPr>
        <p:spPr>
          <a:xfrm flipH="1">
            <a:off x="1470582" y="6066562"/>
            <a:ext cx="2047521" cy="1027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Прямая со стрелкой 54">
            <a:extLst>
              <a:ext uri="{FF2B5EF4-FFF2-40B4-BE49-F238E27FC236}">
                <a16:creationId xmlns:a16="http://schemas.microsoft.com/office/drawing/2014/main" id="{039D91FC-F66B-C9D4-F7E3-267F89FA4584}"/>
              </a:ext>
            </a:extLst>
          </p:cNvPr>
          <p:cNvCxnSpPr/>
          <p:nvPr/>
        </p:nvCxnSpPr>
        <p:spPr>
          <a:xfrm flipV="1">
            <a:off x="1470582" y="4470270"/>
            <a:ext cx="0" cy="16065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a:extLst>
              <a:ext uri="{FF2B5EF4-FFF2-40B4-BE49-F238E27FC236}">
                <a16:creationId xmlns:a16="http://schemas.microsoft.com/office/drawing/2014/main" id="{5C62BE4C-058A-E106-B62C-514DFE7E2C29}"/>
              </a:ext>
            </a:extLst>
          </p:cNvPr>
          <p:cNvCxnSpPr/>
          <p:nvPr/>
        </p:nvCxnSpPr>
        <p:spPr>
          <a:xfrm flipV="1">
            <a:off x="1470582" y="2651918"/>
            <a:ext cx="0" cy="107393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Прямая со стрелкой 58">
            <a:extLst>
              <a:ext uri="{FF2B5EF4-FFF2-40B4-BE49-F238E27FC236}">
                <a16:creationId xmlns:a16="http://schemas.microsoft.com/office/drawing/2014/main" id="{D43F70FC-8A98-B12C-4F8D-6672A555440C}"/>
              </a:ext>
            </a:extLst>
          </p:cNvPr>
          <p:cNvCxnSpPr/>
          <p:nvPr/>
        </p:nvCxnSpPr>
        <p:spPr>
          <a:xfrm>
            <a:off x="1471238" y="2651918"/>
            <a:ext cx="263036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a:extLst>
              <a:ext uri="{FF2B5EF4-FFF2-40B4-BE49-F238E27FC236}">
                <a16:creationId xmlns:a16="http://schemas.microsoft.com/office/drawing/2014/main" id="{CE84E6C9-9E6B-D4F1-6D13-9F11F38F38CC}"/>
              </a:ext>
            </a:extLst>
          </p:cNvPr>
          <p:cNvCxnSpPr/>
          <p:nvPr/>
        </p:nvCxnSpPr>
        <p:spPr>
          <a:xfrm>
            <a:off x="8034635" y="2603860"/>
            <a:ext cx="265064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Прямая со стрелкой 62">
            <a:extLst>
              <a:ext uri="{FF2B5EF4-FFF2-40B4-BE49-F238E27FC236}">
                <a16:creationId xmlns:a16="http://schemas.microsoft.com/office/drawing/2014/main" id="{5AC655D0-3800-D9F6-56B7-E60A53EBE5F1}"/>
              </a:ext>
            </a:extLst>
          </p:cNvPr>
          <p:cNvCxnSpPr/>
          <p:nvPr/>
        </p:nvCxnSpPr>
        <p:spPr>
          <a:xfrm>
            <a:off x="10685282" y="2603860"/>
            <a:ext cx="0" cy="9587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5341AF16-3B0E-0FDA-AC5D-84E26FD723AB}"/>
              </a:ext>
            </a:extLst>
          </p:cNvPr>
          <p:cNvCxnSpPr/>
          <p:nvPr/>
        </p:nvCxnSpPr>
        <p:spPr>
          <a:xfrm>
            <a:off x="1838036" y="2882752"/>
            <a:ext cx="0" cy="843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223251B6-95BE-4EFA-D3A1-42A4E380D8B5}"/>
              </a:ext>
            </a:extLst>
          </p:cNvPr>
          <p:cNvCxnSpPr/>
          <p:nvPr/>
        </p:nvCxnSpPr>
        <p:spPr>
          <a:xfrm>
            <a:off x="1848119" y="2882752"/>
            <a:ext cx="2152073"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981747A-3161-EAFC-CC0F-6EDEF0AA2138}"/>
              </a:ext>
            </a:extLst>
          </p:cNvPr>
          <p:cNvSpPr txBox="1"/>
          <p:nvPr/>
        </p:nvSpPr>
        <p:spPr>
          <a:xfrm>
            <a:off x="1959038" y="2958143"/>
            <a:ext cx="2260879" cy="707886"/>
          </a:xfrm>
          <a:prstGeom prst="rect">
            <a:avLst/>
          </a:prstGeom>
          <a:noFill/>
        </p:spPr>
        <p:txBody>
          <a:bodyPr wrap="square" rtlCol="0">
            <a:spAutoFit/>
          </a:bodyPr>
          <a:lstStyle/>
          <a:p>
            <a:pPr algn="l"/>
            <a:r>
              <a:rPr lang="ru-RU" sz="2000" dirty="0">
                <a:latin typeface="Aptos" panose="020B0004020202020204" pitchFamily="34" charset="0"/>
              </a:rPr>
              <a:t>ТОВАРЫ И УСЛУГИ</a:t>
            </a:r>
          </a:p>
        </p:txBody>
      </p:sp>
      <p:cxnSp>
        <p:nvCxnSpPr>
          <p:cNvPr id="17" name="Прямая со стрелкой 16">
            <a:extLst>
              <a:ext uri="{FF2B5EF4-FFF2-40B4-BE49-F238E27FC236}">
                <a16:creationId xmlns:a16="http://schemas.microsoft.com/office/drawing/2014/main" id="{036C6C92-E48E-3449-FF05-D0875D5F96CF}"/>
              </a:ext>
            </a:extLst>
          </p:cNvPr>
          <p:cNvCxnSpPr>
            <a:cxnSpLocks/>
          </p:cNvCxnSpPr>
          <p:nvPr/>
        </p:nvCxnSpPr>
        <p:spPr>
          <a:xfrm flipH="1">
            <a:off x="8091055" y="2882752"/>
            <a:ext cx="22214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4FC94F72-1D6F-6089-A2CE-E80893B5A90E}"/>
              </a:ext>
            </a:extLst>
          </p:cNvPr>
          <p:cNvCxnSpPr/>
          <p:nvPr/>
        </p:nvCxnSpPr>
        <p:spPr>
          <a:xfrm>
            <a:off x="10312499" y="2882752"/>
            <a:ext cx="0" cy="660281"/>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4CA8F77-2CC1-17ED-A831-18581FC6F2CB}"/>
              </a:ext>
            </a:extLst>
          </p:cNvPr>
          <p:cNvSpPr txBox="1"/>
          <p:nvPr/>
        </p:nvSpPr>
        <p:spPr>
          <a:xfrm>
            <a:off x="8172643" y="2915423"/>
            <a:ext cx="2060314" cy="707886"/>
          </a:xfrm>
          <a:prstGeom prst="rect">
            <a:avLst/>
          </a:prstGeom>
          <a:noFill/>
        </p:spPr>
        <p:txBody>
          <a:bodyPr wrap="square" rtlCol="0">
            <a:spAutoFit/>
          </a:bodyPr>
          <a:lstStyle/>
          <a:p>
            <a:pPr algn="ctr"/>
            <a:r>
              <a:rPr lang="ru-RU" sz="2000" dirty="0">
                <a:latin typeface="Aptos" panose="020B0004020202020204" pitchFamily="34" charset="0"/>
              </a:rPr>
              <a:t>ТОВАРЫ И УСЛУГИ</a:t>
            </a:r>
          </a:p>
        </p:txBody>
      </p:sp>
      <p:cxnSp>
        <p:nvCxnSpPr>
          <p:cNvPr id="30" name="Прямая соединительная линия 29">
            <a:extLst>
              <a:ext uri="{FF2B5EF4-FFF2-40B4-BE49-F238E27FC236}">
                <a16:creationId xmlns:a16="http://schemas.microsoft.com/office/drawing/2014/main" id="{BC97579A-C7DE-D85D-3BDD-16AD851BC0F7}"/>
              </a:ext>
            </a:extLst>
          </p:cNvPr>
          <p:cNvCxnSpPr>
            <a:cxnSpLocks/>
          </p:cNvCxnSpPr>
          <p:nvPr/>
        </p:nvCxnSpPr>
        <p:spPr>
          <a:xfrm>
            <a:off x="8876145" y="5842686"/>
            <a:ext cx="14778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Прямая со стрелкой 33">
            <a:extLst>
              <a:ext uri="{FF2B5EF4-FFF2-40B4-BE49-F238E27FC236}">
                <a16:creationId xmlns:a16="http://schemas.microsoft.com/office/drawing/2014/main" id="{9D94C2D8-3AF9-45CD-6537-4B334C7A559F}"/>
              </a:ext>
            </a:extLst>
          </p:cNvPr>
          <p:cNvCxnSpPr/>
          <p:nvPr/>
        </p:nvCxnSpPr>
        <p:spPr>
          <a:xfrm flipV="1">
            <a:off x="10353964" y="4274715"/>
            <a:ext cx="0" cy="1567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FDE2652-B6EA-125C-8B6D-C83386233983}"/>
              </a:ext>
            </a:extLst>
          </p:cNvPr>
          <p:cNvSpPr txBox="1"/>
          <p:nvPr/>
        </p:nvSpPr>
        <p:spPr>
          <a:xfrm>
            <a:off x="7743508" y="5116177"/>
            <a:ext cx="2712654" cy="707886"/>
          </a:xfrm>
          <a:prstGeom prst="rect">
            <a:avLst/>
          </a:prstGeom>
          <a:noFill/>
        </p:spPr>
        <p:txBody>
          <a:bodyPr wrap="square" rtlCol="0">
            <a:spAutoFit/>
          </a:bodyPr>
          <a:lstStyle/>
          <a:p>
            <a:pPr algn="ctr"/>
            <a:r>
              <a:rPr lang="ru-RU" sz="2000" dirty="0">
                <a:latin typeface="Aptos" panose="020B0004020202020204" pitchFamily="34" charset="0"/>
              </a:rPr>
              <a:t>ЭКОНОМИЧЕСКИЕ </a:t>
            </a:r>
          </a:p>
          <a:p>
            <a:pPr algn="ctr"/>
            <a:r>
              <a:rPr lang="ru-RU" sz="2000" dirty="0">
                <a:latin typeface="Aptos" panose="020B0004020202020204" pitchFamily="34" charset="0"/>
              </a:rPr>
              <a:t>РЕСУРСЫ</a:t>
            </a:r>
          </a:p>
        </p:txBody>
      </p:sp>
      <p:cxnSp>
        <p:nvCxnSpPr>
          <p:cNvPr id="40" name="Прямая соединительная линия 39">
            <a:extLst>
              <a:ext uri="{FF2B5EF4-FFF2-40B4-BE49-F238E27FC236}">
                <a16:creationId xmlns:a16="http://schemas.microsoft.com/office/drawing/2014/main" id="{5EA8B296-33E7-2A31-FD71-D56041C7BBE9}"/>
              </a:ext>
            </a:extLst>
          </p:cNvPr>
          <p:cNvCxnSpPr/>
          <p:nvPr/>
        </p:nvCxnSpPr>
        <p:spPr>
          <a:xfrm>
            <a:off x="1838036" y="4470270"/>
            <a:ext cx="0" cy="137241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a:extLst>
              <a:ext uri="{FF2B5EF4-FFF2-40B4-BE49-F238E27FC236}">
                <a16:creationId xmlns:a16="http://schemas.microsoft.com/office/drawing/2014/main" id="{303E9032-DF10-7805-53CC-513F8AA5DF43}"/>
              </a:ext>
            </a:extLst>
          </p:cNvPr>
          <p:cNvCxnSpPr/>
          <p:nvPr/>
        </p:nvCxnSpPr>
        <p:spPr>
          <a:xfrm>
            <a:off x="1838036" y="5842686"/>
            <a:ext cx="16211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E3815BA0-5B38-9C54-626E-DCC16DBB83AC}"/>
              </a:ext>
            </a:extLst>
          </p:cNvPr>
          <p:cNvSpPr txBox="1"/>
          <p:nvPr/>
        </p:nvSpPr>
        <p:spPr>
          <a:xfrm>
            <a:off x="1756244" y="5063698"/>
            <a:ext cx="2605815" cy="707886"/>
          </a:xfrm>
          <a:prstGeom prst="rect">
            <a:avLst/>
          </a:prstGeom>
          <a:noFill/>
        </p:spPr>
        <p:txBody>
          <a:bodyPr wrap="square" rtlCol="0">
            <a:spAutoFit/>
          </a:bodyPr>
          <a:lstStyle/>
          <a:p>
            <a:pPr algn="ctr"/>
            <a:r>
              <a:rPr lang="ru-RU" sz="2000" dirty="0">
                <a:latin typeface="Aptos" panose="020B0004020202020204" pitchFamily="34" charset="0"/>
              </a:rPr>
              <a:t>ЭКОНОМИЧЕСКИЕ </a:t>
            </a:r>
          </a:p>
          <a:p>
            <a:pPr algn="ctr"/>
            <a:r>
              <a:rPr lang="ru-RU" sz="2000" dirty="0">
                <a:latin typeface="Aptos" panose="020B0004020202020204" pitchFamily="34" charset="0"/>
              </a:rPr>
              <a:t>РЕСУРСЫ</a:t>
            </a:r>
          </a:p>
        </p:txBody>
      </p:sp>
      <mc:AlternateContent xmlns:mc="http://schemas.openxmlformats.org/markup-compatibility/2006" xmlns:p14="http://schemas.microsoft.com/office/powerpoint/2010/main">
        <mc:Choice Requires="p14">
          <p:contentPart p14:bwMode="auto" r:id="rId3">
            <p14:nvContentPartPr>
              <p14:cNvPr id="5" name="Рукописный ввод 4">
                <a:extLst>
                  <a:ext uri="{FF2B5EF4-FFF2-40B4-BE49-F238E27FC236}">
                    <a16:creationId xmlns:a16="http://schemas.microsoft.com/office/drawing/2014/main" id="{AF66E99E-90AA-FC77-282B-0C468B007AA5}"/>
                  </a:ext>
                </a:extLst>
              </p14:cNvPr>
              <p14:cNvContentPartPr/>
              <p14:nvPr/>
            </p14:nvContentPartPr>
            <p14:xfrm>
              <a:off x="3732588" y="2610958"/>
              <a:ext cx="360" cy="360"/>
            </p14:xfrm>
          </p:contentPart>
        </mc:Choice>
        <mc:Fallback xmlns="">
          <p:pic>
            <p:nvPicPr>
              <p:cNvPr id="5" name="Рукописный ввод 4">
                <a:extLst>
                  <a:ext uri="{FF2B5EF4-FFF2-40B4-BE49-F238E27FC236}">
                    <a16:creationId xmlns:a16="http://schemas.microsoft.com/office/drawing/2014/main" id="{D780287C-664E-5F23-F204-5564809E8ED3}"/>
                  </a:ext>
                </a:extLst>
              </p:cNvPr>
              <p:cNvPicPr/>
              <p:nvPr/>
            </p:nvPicPr>
            <p:blipFill>
              <a:blip r:embed="rId4"/>
              <a:stretch>
                <a:fillRect/>
              </a:stretch>
            </p:blipFill>
            <p:spPr>
              <a:xfrm>
                <a:off x="3723588" y="2602318"/>
                <a:ext cx="18000" cy="18000"/>
              </a:xfrm>
              <a:prstGeom prst="rect">
                <a:avLst/>
              </a:prstGeom>
            </p:spPr>
          </p:pic>
        </mc:Fallback>
      </mc:AlternateContent>
    </p:spTree>
    <p:extLst>
      <p:ext uri="{BB962C8B-B14F-4D97-AF65-F5344CB8AC3E}">
        <p14:creationId xmlns:p14="http://schemas.microsoft.com/office/powerpoint/2010/main" val="3804864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67235" cy="408109"/>
          </a:xfrm>
        </p:spPr>
        <p:txBody>
          <a:bodyPr/>
          <a:lstStyle/>
          <a:p>
            <a:r>
              <a:rPr lang="ru-RU" dirty="0"/>
              <a:t>Департамент теоретической экономики</a:t>
            </a:r>
          </a:p>
        </p:txBody>
      </p:sp>
      <p:sp>
        <p:nvSpPr>
          <p:cNvPr id="6" name="TextBox 5">
            <a:extLst>
              <a:ext uri="{FF2B5EF4-FFF2-40B4-BE49-F238E27FC236}">
                <a16:creationId xmlns:a16="http://schemas.microsoft.com/office/drawing/2014/main" id="{AABA1D70-2F41-EDDD-8F5E-A28F05587B56}"/>
              </a:ext>
            </a:extLst>
          </p:cNvPr>
          <p:cNvSpPr txBox="1"/>
          <p:nvPr/>
        </p:nvSpPr>
        <p:spPr>
          <a:xfrm>
            <a:off x="1028201" y="2633124"/>
            <a:ext cx="10135597" cy="1938992"/>
          </a:xfrm>
          <a:prstGeom prst="rect">
            <a:avLst/>
          </a:prstGeom>
          <a:noFill/>
        </p:spPr>
        <p:txBody>
          <a:bodyPr wrap="square" rtlCol="0">
            <a:spAutoFit/>
          </a:bodyPr>
          <a:lstStyle/>
          <a:p>
            <a:pPr algn="ctr"/>
            <a:r>
              <a:rPr lang="ru-RU" sz="4000" b="1" kern="100" dirty="0">
                <a:latin typeface="Calibri" panose="020F0502020204030204" pitchFamily="34" charset="0"/>
                <a:cs typeface="Times New Roman" panose="02020603050405020304" pitchFamily="18" charset="0"/>
              </a:rPr>
              <a:t>Кругооборот продукта, расходов и доходов в двухсекторной </a:t>
            </a:r>
          </a:p>
          <a:p>
            <a:pPr algn="ctr"/>
            <a:r>
              <a:rPr lang="ru-RU" sz="4000" b="1" kern="100" dirty="0">
                <a:latin typeface="Calibri" panose="020F0502020204030204" pitchFamily="34" charset="0"/>
                <a:cs typeface="Times New Roman" panose="02020603050405020304" pitchFamily="18" charset="0"/>
              </a:rPr>
              <a:t>модели экономики с финансовым рынком</a:t>
            </a:r>
          </a:p>
        </p:txBody>
      </p:sp>
    </p:spTree>
    <p:extLst>
      <p:ext uri="{BB962C8B-B14F-4D97-AF65-F5344CB8AC3E}">
        <p14:creationId xmlns:p14="http://schemas.microsoft.com/office/powerpoint/2010/main" val="3938671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F614F-A8D5-3850-1458-9855DA48B630}"/>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840DDF78-25D1-BA59-6A07-114BD8DBE563}"/>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EA709893-4D25-F0D5-41F7-42433C01293C}"/>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0FAFFE51-4C90-DCCA-1994-61A2C546BEDD}"/>
              </a:ext>
            </a:extLst>
          </p:cNvPr>
          <p:cNvSpPr>
            <a:spLocks noGrp="1"/>
          </p:cNvSpPr>
          <p:nvPr>
            <p:ph type="body" sz="quarter" idx="15"/>
          </p:nvPr>
        </p:nvSpPr>
        <p:spPr>
          <a:xfrm>
            <a:off x="6259891" y="548720"/>
            <a:ext cx="2967235" cy="408109"/>
          </a:xfrm>
        </p:spPr>
        <p:txBody>
          <a:bodyPr/>
          <a:lstStyle/>
          <a:p>
            <a:r>
              <a:rPr lang="ru-RU" dirty="0"/>
              <a:t>Департамент теоретической экономики</a:t>
            </a:r>
          </a:p>
        </p:txBody>
      </p:sp>
      <p:sp>
        <p:nvSpPr>
          <p:cNvPr id="6" name="TextBox 5">
            <a:extLst>
              <a:ext uri="{FF2B5EF4-FFF2-40B4-BE49-F238E27FC236}">
                <a16:creationId xmlns:a16="http://schemas.microsoft.com/office/drawing/2014/main" id="{4362D1CA-29D8-5502-C44C-3414109D7732}"/>
              </a:ext>
            </a:extLst>
          </p:cNvPr>
          <p:cNvSpPr txBox="1"/>
          <p:nvPr/>
        </p:nvSpPr>
        <p:spPr>
          <a:xfrm>
            <a:off x="134804" y="1156625"/>
            <a:ext cx="11922391" cy="1231106"/>
          </a:xfrm>
          <a:prstGeom prst="rect">
            <a:avLst/>
          </a:prstGeom>
          <a:noFill/>
        </p:spPr>
        <p:txBody>
          <a:bodyPr wrap="square" rtlCol="0">
            <a:spAutoFit/>
          </a:bodyPr>
          <a:lstStyle/>
          <a:p>
            <a:pPr algn="ctr"/>
            <a:r>
              <a:rPr lang="ru-RU" sz="2800" b="1" kern="100" dirty="0">
                <a:latin typeface="Calibri" panose="020F0502020204030204" pitchFamily="34" charset="0"/>
                <a:cs typeface="Times New Roman" panose="02020603050405020304" pitchFamily="18" charset="0"/>
              </a:rPr>
              <a:t>Кругооборот продукта, расходов и доходов в двухсекторной </a:t>
            </a:r>
          </a:p>
          <a:p>
            <a:pPr algn="ctr"/>
            <a:r>
              <a:rPr lang="ru-RU" sz="2800" b="1" kern="100" dirty="0">
                <a:latin typeface="Calibri" panose="020F0502020204030204" pitchFamily="34" charset="0"/>
                <a:cs typeface="Times New Roman" panose="02020603050405020304" pitchFamily="18" charset="0"/>
              </a:rPr>
              <a:t>модели экономики с финансовым рынком</a:t>
            </a:r>
          </a:p>
          <a:p>
            <a:endParaRPr lang="ru-RU" dirty="0"/>
          </a:p>
        </p:txBody>
      </p:sp>
      <p:grpSp>
        <p:nvGrpSpPr>
          <p:cNvPr id="64" name="Группа 63">
            <a:extLst>
              <a:ext uri="{FF2B5EF4-FFF2-40B4-BE49-F238E27FC236}">
                <a16:creationId xmlns:a16="http://schemas.microsoft.com/office/drawing/2014/main" id="{A72B6864-9C34-6A6F-6A30-71097344E6F7}"/>
              </a:ext>
            </a:extLst>
          </p:cNvPr>
          <p:cNvGrpSpPr/>
          <p:nvPr/>
        </p:nvGrpSpPr>
        <p:grpSpPr>
          <a:xfrm>
            <a:off x="536875" y="2275336"/>
            <a:ext cx="10950248" cy="4187032"/>
            <a:chOff x="536875" y="2264940"/>
            <a:chExt cx="10950248" cy="4187032"/>
          </a:xfrm>
        </p:grpSpPr>
        <p:sp>
          <p:nvSpPr>
            <p:cNvPr id="8" name="TextBox 7">
              <a:extLst>
                <a:ext uri="{FF2B5EF4-FFF2-40B4-BE49-F238E27FC236}">
                  <a16:creationId xmlns:a16="http://schemas.microsoft.com/office/drawing/2014/main" id="{2281078E-F6C0-9536-0799-3DBFF40DD13F}"/>
                </a:ext>
              </a:extLst>
            </p:cNvPr>
            <p:cNvSpPr txBox="1"/>
            <p:nvPr/>
          </p:nvSpPr>
          <p:spPr>
            <a:xfrm>
              <a:off x="9982985" y="3725851"/>
              <a:ext cx="1404594" cy="461665"/>
            </a:xfrm>
            <a:prstGeom prst="rect">
              <a:avLst/>
            </a:prstGeom>
            <a:noFill/>
            <a:ln w="6350">
              <a:solidFill>
                <a:schemeClr val="tx1"/>
              </a:solidFill>
            </a:ln>
          </p:spPr>
          <p:txBody>
            <a:bodyPr wrap="square" rtlCol="0">
              <a:spAutoFit/>
            </a:bodyPr>
            <a:lstStyle/>
            <a:p>
              <a:pPr algn="l"/>
              <a:r>
                <a:rPr lang="ru-RU" sz="2400" b="1" dirty="0">
                  <a:latin typeface="HSE Sans" panose="02000000000000000000" pitchFamily="2" charset="0"/>
                </a:rPr>
                <a:t>ФИРМА</a:t>
              </a:r>
            </a:p>
          </p:txBody>
        </p:sp>
        <p:sp>
          <p:nvSpPr>
            <p:cNvPr id="9" name="TextBox 8">
              <a:extLst>
                <a:ext uri="{FF2B5EF4-FFF2-40B4-BE49-F238E27FC236}">
                  <a16:creationId xmlns:a16="http://schemas.microsoft.com/office/drawing/2014/main" id="{B8D3D8CC-9C6F-5000-F391-135AFC15AA11}"/>
                </a:ext>
              </a:extLst>
            </p:cNvPr>
            <p:cNvSpPr txBox="1"/>
            <p:nvPr/>
          </p:nvSpPr>
          <p:spPr>
            <a:xfrm>
              <a:off x="536875" y="3813050"/>
              <a:ext cx="2605816" cy="461665"/>
            </a:xfrm>
            <a:prstGeom prst="rect">
              <a:avLst/>
            </a:prstGeom>
            <a:noFill/>
            <a:ln w="6350">
              <a:solidFill>
                <a:schemeClr val="tx1"/>
              </a:solidFill>
            </a:ln>
          </p:spPr>
          <p:txBody>
            <a:bodyPr wrap="square" rtlCol="0">
              <a:spAutoFit/>
            </a:bodyPr>
            <a:lstStyle/>
            <a:p>
              <a:r>
                <a:rPr lang="ru-RU" sz="2400" b="1" dirty="0"/>
                <a:t>ДОМОХОЗЯЙСТВА</a:t>
              </a:r>
            </a:p>
          </p:txBody>
        </p:sp>
        <p:sp>
          <p:nvSpPr>
            <p:cNvPr id="10" name="TextBox 9">
              <a:extLst>
                <a:ext uri="{FF2B5EF4-FFF2-40B4-BE49-F238E27FC236}">
                  <a16:creationId xmlns:a16="http://schemas.microsoft.com/office/drawing/2014/main" id="{138B6A84-7DA2-0DD1-1E43-3D23F18519D3}"/>
                </a:ext>
              </a:extLst>
            </p:cNvPr>
            <p:cNvSpPr txBox="1"/>
            <p:nvPr/>
          </p:nvSpPr>
          <p:spPr>
            <a:xfrm>
              <a:off x="3609371" y="5842686"/>
              <a:ext cx="5101616" cy="461665"/>
            </a:xfrm>
            <a:prstGeom prst="rect">
              <a:avLst/>
            </a:prstGeom>
            <a:noFill/>
            <a:ln>
              <a:solidFill>
                <a:schemeClr val="tx1"/>
              </a:solidFill>
              <a:prstDash val="solid"/>
            </a:ln>
          </p:spPr>
          <p:txBody>
            <a:bodyPr wrap="square" rtlCol="0">
              <a:spAutoFit/>
            </a:bodyPr>
            <a:lstStyle/>
            <a:p>
              <a:r>
                <a:rPr lang="ru-RU" sz="2400" b="1" dirty="0"/>
                <a:t>РЫНОК ЭКОНОМИЧЕСКИХ РЕСУРСОВ</a:t>
              </a:r>
            </a:p>
          </p:txBody>
        </p:sp>
        <p:sp>
          <p:nvSpPr>
            <p:cNvPr id="11" name="TextBox 10">
              <a:extLst>
                <a:ext uri="{FF2B5EF4-FFF2-40B4-BE49-F238E27FC236}">
                  <a16:creationId xmlns:a16="http://schemas.microsoft.com/office/drawing/2014/main" id="{C0D3C613-8EE0-9333-D6EC-A08F4CA7CDBD}"/>
                </a:ext>
              </a:extLst>
            </p:cNvPr>
            <p:cNvSpPr txBox="1"/>
            <p:nvPr/>
          </p:nvSpPr>
          <p:spPr>
            <a:xfrm>
              <a:off x="4280025" y="2421087"/>
              <a:ext cx="3660339" cy="461665"/>
            </a:xfrm>
            <a:prstGeom prst="rect">
              <a:avLst/>
            </a:prstGeom>
            <a:noFill/>
            <a:ln w="6350">
              <a:solidFill>
                <a:schemeClr val="tx1"/>
              </a:solidFill>
            </a:ln>
          </p:spPr>
          <p:txBody>
            <a:bodyPr wrap="square" rtlCol="0">
              <a:spAutoFit/>
            </a:bodyPr>
            <a:lstStyle/>
            <a:p>
              <a:r>
                <a:rPr lang="ru-RU" sz="2400" b="1" dirty="0"/>
                <a:t>РЫНОК ТОВАРОВ И УСЛУГ</a:t>
              </a:r>
            </a:p>
          </p:txBody>
        </p:sp>
        <p:sp>
          <p:nvSpPr>
            <p:cNvPr id="20" name="TextBox 19">
              <a:extLst>
                <a:ext uri="{FF2B5EF4-FFF2-40B4-BE49-F238E27FC236}">
                  <a16:creationId xmlns:a16="http://schemas.microsoft.com/office/drawing/2014/main" id="{83A0F619-652A-3FBB-A359-80D591C22BB0}"/>
                </a:ext>
              </a:extLst>
            </p:cNvPr>
            <p:cNvSpPr txBox="1"/>
            <p:nvPr/>
          </p:nvSpPr>
          <p:spPr>
            <a:xfrm>
              <a:off x="8478846" y="2264940"/>
              <a:ext cx="3008277" cy="369332"/>
            </a:xfrm>
            <a:prstGeom prst="rect">
              <a:avLst/>
            </a:prstGeom>
            <a:noFill/>
          </p:spPr>
          <p:txBody>
            <a:bodyPr wrap="square" rtlCol="0">
              <a:spAutoFit/>
            </a:bodyPr>
            <a:lstStyle/>
            <a:p>
              <a:pPr algn="l"/>
              <a:r>
                <a:rPr lang="ru-RU" dirty="0">
                  <a:latin typeface="HSE Sans" panose="02000000000000000000" pitchFamily="2" charset="0"/>
                </a:rPr>
                <a:t>ВЫРУЧКА ОТ ПРОДАЖ</a:t>
              </a:r>
            </a:p>
          </p:txBody>
        </p:sp>
        <p:sp>
          <p:nvSpPr>
            <p:cNvPr id="21" name="TextBox 20">
              <a:extLst>
                <a:ext uri="{FF2B5EF4-FFF2-40B4-BE49-F238E27FC236}">
                  <a16:creationId xmlns:a16="http://schemas.microsoft.com/office/drawing/2014/main" id="{78BC04FE-2BAF-3A44-589B-E9C641BD85E4}"/>
                </a:ext>
              </a:extLst>
            </p:cNvPr>
            <p:cNvSpPr txBox="1"/>
            <p:nvPr/>
          </p:nvSpPr>
          <p:spPr>
            <a:xfrm>
              <a:off x="748145" y="2266198"/>
              <a:ext cx="3437609" cy="369332"/>
            </a:xfrm>
            <a:prstGeom prst="rect">
              <a:avLst/>
            </a:prstGeom>
            <a:noFill/>
          </p:spPr>
          <p:txBody>
            <a:bodyPr wrap="square" rtlCol="0">
              <a:spAutoFit/>
            </a:bodyPr>
            <a:lstStyle/>
            <a:p>
              <a:pPr algn="l"/>
              <a:r>
                <a:rPr lang="ru-RU" dirty="0">
                  <a:latin typeface="HSE Sans" panose="02000000000000000000" pitchFamily="2" charset="0"/>
                </a:rPr>
                <a:t>ПОТРЕБИТЕЛЬСКИЕ РАСХОДЫ</a:t>
              </a:r>
            </a:p>
          </p:txBody>
        </p:sp>
        <p:sp>
          <p:nvSpPr>
            <p:cNvPr id="22" name="TextBox 21">
              <a:extLst>
                <a:ext uri="{FF2B5EF4-FFF2-40B4-BE49-F238E27FC236}">
                  <a16:creationId xmlns:a16="http://schemas.microsoft.com/office/drawing/2014/main" id="{162B9CE9-F174-05CF-13E8-6B22F57A2118}"/>
                </a:ext>
              </a:extLst>
            </p:cNvPr>
            <p:cNvSpPr txBox="1"/>
            <p:nvPr/>
          </p:nvSpPr>
          <p:spPr>
            <a:xfrm>
              <a:off x="2041505" y="6055745"/>
              <a:ext cx="1229954" cy="369332"/>
            </a:xfrm>
            <a:prstGeom prst="rect">
              <a:avLst/>
            </a:prstGeom>
            <a:noFill/>
          </p:spPr>
          <p:txBody>
            <a:bodyPr wrap="square" rtlCol="0">
              <a:spAutoFit/>
            </a:bodyPr>
            <a:lstStyle/>
            <a:p>
              <a:pPr algn="l"/>
              <a:r>
                <a:rPr lang="ru-RU" dirty="0">
                  <a:latin typeface="HSE Sans" panose="02000000000000000000" pitchFamily="2" charset="0"/>
                </a:rPr>
                <a:t>ДОХОДЫ</a:t>
              </a:r>
            </a:p>
          </p:txBody>
        </p:sp>
        <p:sp>
          <p:nvSpPr>
            <p:cNvPr id="23" name="TextBox 22">
              <a:extLst>
                <a:ext uri="{FF2B5EF4-FFF2-40B4-BE49-F238E27FC236}">
                  <a16:creationId xmlns:a16="http://schemas.microsoft.com/office/drawing/2014/main" id="{88B6B1E3-4377-59F0-5D69-35F67B5A7BB9}"/>
                </a:ext>
              </a:extLst>
            </p:cNvPr>
            <p:cNvSpPr txBox="1"/>
            <p:nvPr/>
          </p:nvSpPr>
          <p:spPr>
            <a:xfrm>
              <a:off x="8866700" y="6082640"/>
              <a:ext cx="2098981" cy="369332"/>
            </a:xfrm>
            <a:prstGeom prst="rect">
              <a:avLst/>
            </a:prstGeom>
            <a:noFill/>
          </p:spPr>
          <p:txBody>
            <a:bodyPr wrap="square" rtlCol="0">
              <a:spAutoFit/>
            </a:bodyPr>
            <a:lstStyle/>
            <a:p>
              <a:pPr algn="l"/>
              <a:r>
                <a:rPr lang="ru-RU" dirty="0">
                  <a:latin typeface="HSE Sans" panose="02000000000000000000" pitchFamily="2" charset="0"/>
                </a:rPr>
                <a:t>ПЛАТА ЗА РЕСУРСЫ</a:t>
              </a:r>
            </a:p>
          </p:txBody>
        </p:sp>
        <p:sp>
          <p:nvSpPr>
            <p:cNvPr id="24" name="TextBox 23">
              <a:extLst>
                <a:ext uri="{FF2B5EF4-FFF2-40B4-BE49-F238E27FC236}">
                  <a16:creationId xmlns:a16="http://schemas.microsoft.com/office/drawing/2014/main" id="{7AAF453B-0060-152A-E88E-D1CD54B08660}"/>
                </a:ext>
              </a:extLst>
            </p:cNvPr>
            <p:cNvSpPr txBox="1"/>
            <p:nvPr/>
          </p:nvSpPr>
          <p:spPr>
            <a:xfrm>
              <a:off x="4494213" y="4470270"/>
              <a:ext cx="3383311" cy="461665"/>
            </a:xfrm>
            <a:prstGeom prst="rect">
              <a:avLst/>
            </a:prstGeom>
            <a:noFill/>
            <a:ln w="6350">
              <a:solidFill>
                <a:schemeClr val="tx1"/>
              </a:solidFill>
            </a:ln>
          </p:spPr>
          <p:txBody>
            <a:bodyPr wrap="square" rtlCol="0">
              <a:spAutoFit/>
            </a:bodyPr>
            <a:lstStyle/>
            <a:p>
              <a:pPr algn="ctr"/>
              <a:r>
                <a:rPr lang="ru-RU" sz="2400" b="1" dirty="0"/>
                <a:t>ФИНАНСОВЫЙ РЫНОК</a:t>
              </a:r>
            </a:p>
          </p:txBody>
        </p:sp>
        <p:cxnSp>
          <p:nvCxnSpPr>
            <p:cNvPr id="26" name="Прямая соединительная линия 25">
              <a:extLst>
                <a:ext uri="{FF2B5EF4-FFF2-40B4-BE49-F238E27FC236}">
                  <a16:creationId xmlns:a16="http://schemas.microsoft.com/office/drawing/2014/main" id="{8C3BA59E-995C-57CC-B235-11AFEC684895}"/>
                </a:ext>
              </a:extLst>
            </p:cNvPr>
            <p:cNvCxnSpPr>
              <a:cxnSpLocks/>
            </p:cNvCxnSpPr>
            <p:nvPr/>
          </p:nvCxnSpPr>
          <p:spPr>
            <a:xfrm>
              <a:off x="2778202" y="4362718"/>
              <a:ext cx="0" cy="421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B80CE3BD-F30C-5289-BEB4-1D183D861473}"/>
                </a:ext>
              </a:extLst>
            </p:cNvPr>
            <p:cNvCxnSpPr>
              <a:cxnSpLocks/>
            </p:cNvCxnSpPr>
            <p:nvPr/>
          </p:nvCxnSpPr>
          <p:spPr>
            <a:xfrm>
              <a:off x="2778202" y="4784436"/>
              <a:ext cx="15941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6D84F27F-EAB9-7D09-733D-95E751F4C64B}"/>
                </a:ext>
              </a:extLst>
            </p:cNvPr>
            <p:cNvCxnSpPr>
              <a:cxnSpLocks/>
            </p:cNvCxnSpPr>
            <p:nvPr/>
          </p:nvCxnSpPr>
          <p:spPr>
            <a:xfrm>
              <a:off x="8034635" y="4784436"/>
              <a:ext cx="21715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Прямая со стрелкой 32">
              <a:extLst>
                <a:ext uri="{FF2B5EF4-FFF2-40B4-BE49-F238E27FC236}">
                  <a16:creationId xmlns:a16="http://schemas.microsoft.com/office/drawing/2014/main" id="{78A48FB9-A1C3-ACE2-4BD8-BD5A03638A26}"/>
                </a:ext>
              </a:extLst>
            </p:cNvPr>
            <p:cNvCxnSpPr>
              <a:cxnSpLocks/>
            </p:cNvCxnSpPr>
            <p:nvPr/>
          </p:nvCxnSpPr>
          <p:spPr>
            <a:xfrm flipV="1">
              <a:off x="10206182" y="4274715"/>
              <a:ext cx="0" cy="509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4AE9E73-CB0D-1851-74DD-DF509ED5594C}"/>
                </a:ext>
              </a:extLst>
            </p:cNvPr>
            <p:cNvSpPr txBox="1"/>
            <p:nvPr/>
          </p:nvSpPr>
          <p:spPr>
            <a:xfrm>
              <a:off x="2820190" y="4414982"/>
              <a:ext cx="1682699" cy="369332"/>
            </a:xfrm>
            <a:prstGeom prst="rect">
              <a:avLst/>
            </a:prstGeom>
            <a:noFill/>
          </p:spPr>
          <p:txBody>
            <a:bodyPr wrap="square" rtlCol="0">
              <a:spAutoFit/>
            </a:bodyPr>
            <a:lstStyle/>
            <a:p>
              <a:pPr algn="l"/>
              <a:r>
                <a:rPr lang="ru-RU" dirty="0">
                  <a:latin typeface="HSE Sans" panose="02000000000000000000" pitchFamily="2" charset="0"/>
                </a:rPr>
                <a:t>СБЕРЕЖЕНИЯ</a:t>
              </a:r>
            </a:p>
          </p:txBody>
        </p:sp>
        <p:sp>
          <p:nvSpPr>
            <p:cNvPr id="39" name="TextBox 38">
              <a:extLst>
                <a:ext uri="{FF2B5EF4-FFF2-40B4-BE49-F238E27FC236}">
                  <a16:creationId xmlns:a16="http://schemas.microsoft.com/office/drawing/2014/main" id="{574D0103-B200-FB23-B2CE-48051DFE1F7E}"/>
                </a:ext>
              </a:extLst>
            </p:cNvPr>
            <p:cNvSpPr txBox="1"/>
            <p:nvPr/>
          </p:nvSpPr>
          <p:spPr>
            <a:xfrm>
              <a:off x="7895184" y="4442690"/>
              <a:ext cx="2464918" cy="369332"/>
            </a:xfrm>
            <a:prstGeom prst="rect">
              <a:avLst/>
            </a:prstGeom>
            <a:noFill/>
          </p:spPr>
          <p:txBody>
            <a:bodyPr wrap="square" rtlCol="0">
              <a:spAutoFit/>
            </a:bodyPr>
            <a:lstStyle/>
            <a:p>
              <a:pPr algn="l"/>
              <a:r>
                <a:rPr lang="ru-RU" dirty="0">
                  <a:latin typeface="HSE Sans" panose="02000000000000000000" pitchFamily="2" charset="0"/>
                </a:rPr>
                <a:t>ЗАЕМНЫЕ СРЕДСТВА</a:t>
              </a:r>
            </a:p>
          </p:txBody>
        </p:sp>
        <p:cxnSp>
          <p:nvCxnSpPr>
            <p:cNvPr id="41" name="Прямая соединительная линия 40">
              <a:extLst>
                <a:ext uri="{FF2B5EF4-FFF2-40B4-BE49-F238E27FC236}">
                  <a16:creationId xmlns:a16="http://schemas.microsoft.com/office/drawing/2014/main" id="{C112509F-16EC-4C0E-948A-21A689F51F4C}"/>
                </a:ext>
              </a:extLst>
            </p:cNvPr>
            <p:cNvCxnSpPr>
              <a:cxnSpLocks/>
            </p:cNvCxnSpPr>
            <p:nvPr/>
          </p:nvCxnSpPr>
          <p:spPr>
            <a:xfrm flipV="1">
              <a:off x="10183190" y="2770909"/>
              <a:ext cx="0" cy="791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a:extLst>
                <a:ext uri="{FF2B5EF4-FFF2-40B4-BE49-F238E27FC236}">
                  <a16:creationId xmlns:a16="http://schemas.microsoft.com/office/drawing/2014/main" id="{99CCB287-895D-9402-198B-D39B791153BF}"/>
                </a:ext>
              </a:extLst>
            </p:cNvPr>
            <p:cNvCxnSpPr>
              <a:cxnSpLocks/>
            </p:cNvCxnSpPr>
            <p:nvPr/>
          </p:nvCxnSpPr>
          <p:spPr>
            <a:xfrm flipH="1">
              <a:off x="8034635" y="2770909"/>
              <a:ext cx="21485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C1B615F-25B4-D954-C6E0-C64F6828DE1C}"/>
                </a:ext>
              </a:extLst>
            </p:cNvPr>
            <p:cNvSpPr txBox="1"/>
            <p:nvPr/>
          </p:nvSpPr>
          <p:spPr>
            <a:xfrm>
              <a:off x="7845483" y="2971284"/>
              <a:ext cx="2360689" cy="646331"/>
            </a:xfrm>
            <a:prstGeom prst="rect">
              <a:avLst/>
            </a:prstGeom>
            <a:noFill/>
          </p:spPr>
          <p:txBody>
            <a:bodyPr wrap="square" rtlCol="0">
              <a:spAutoFit/>
            </a:bodyPr>
            <a:lstStyle/>
            <a:p>
              <a:pPr algn="ctr"/>
              <a:r>
                <a:rPr lang="ru-RU" dirty="0">
                  <a:latin typeface="HSE Sans" panose="02000000000000000000" pitchFamily="2" charset="0"/>
                </a:rPr>
                <a:t>ИНВЕСТИЦИОННЫЕ РАСХОДЫ</a:t>
              </a:r>
            </a:p>
          </p:txBody>
        </p:sp>
        <p:cxnSp>
          <p:nvCxnSpPr>
            <p:cNvPr id="47" name="Прямая соединительная линия 46">
              <a:extLst>
                <a:ext uri="{FF2B5EF4-FFF2-40B4-BE49-F238E27FC236}">
                  <a16:creationId xmlns:a16="http://schemas.microsoft.com/office/drawing/2014/main" id="{626A2DF1-4085-2283-7619-C1D9206247B9}"/>
                </a:ext>
              </a:extLst>
            </p:cNvPr>
            <p:cNvCxnSpPr/>
            <p:nvPr/>
          </p:nvCxnSpPr>
          <p:spPr>
            <a:xfrm flipV="1">
              <a:off x="10708849" y="4362718"/>
              <a:ext cx="0" cy="17022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a:extLst>
                <a:ext uri="{FF2B5EF4-FFF2-40B4-BE49-F238E27FC236}">
                  <a16:creationId xmlns:a16="http://schemas.microsoft.com/office/drawing/2014/main" id="{C9DBF0C1-3F94-4659-64C1-0B343AC3138A}"/>
                </a:ext>
              </a:extLst>
            </p:cNvPr>
            <p:cNvCxnSpPr/>
            <p:nvPr/>
          </p:nvCxnSpPr>
          <p:spPr>
            <a:xfrm flipH="1">
              <a:off x="8802255" y="6064957"/>
              <a:ext cx="190659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a:extLst>
                <a:ext uri="{FF2B5EF4-FFF2-40B4-BE49-F238E27FC236}">
                  <a16:creationId xmlns:a16="http://schemas.microsoft.com/office/drawing/2014/main" id="{8D9A4DD9-9611-12E6-DEE8-FC30611BC5C3}"/>
                </a:ext>
              </a:extLst>
            </p:cNvPr>
            <p:cNvCxnSpPr>
              <a:cxnSpLocks/>
            </p:cNvCxnSpPr>
            <p:nvPr/>
          </p:nvCxnSpPr>
          <p:spPr>
            <a:xfrm flipH="1">
              <a:off x="1470582" y="6066562"/>
              <a:ext cx="2047521" cy="1027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Прямая со стрелкой 54">
              <a:extLst>
                <a:ext uri="{FF2B5EF4-FFF2-40B4-BE49-F238E27FC236}">
                  <a16:creationId xmlns:a16="http://schemas.microsoft.com/office/drawing/2014/main" id="{CD5EF1A7-DFAE-57B3-48B6-C183B5F1CA30}"/>
                </a:ext>
              </a:extLst>
            </p:cNvPr>
            <p:cNvCxnSpPr/>
            <p:nvPr/>
          </p:nvCxnSpPr>
          <p:spPr>
            <a:xfrm flipV="1">
              <a:off x="1470582" y="4470270"/>
              <a:ext cx="0" cy="16065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Прямая соединительная линия 56">
              <a:extLst>
                <a:ext uri="{FF2B5EF4-FFF2-40B4-BE49-F238E27FC236}">
                  <a16:creationId xmlns:a16="http://schemas.microsoft.com/office/drawing/2014/main" id="{271BA5B8-9BB7-6C8F-6DAF-8252A03F104C}"/>
                </a:ext>
              </a:extLst>
            </p:cNvPr>
            <p:cNvCxnSpPr/>
            <p:nvPr/>
          </p:nvCxnSpPr>
          <p:spPr>
            <a:xfrm flipV="1">
              <a:off x="1470582" y="2651918"/>
              <a:ext cx="0" cy="107393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Прямая со стрелкой 58">
              <a:extLst>
                <a:ext uri="{FF2B5EF4-FFF2-40B4-BE49-F238E27FC236}">
                  <a16:creationId xmlns:a16="http://schemas.microsoft.com/office/drawing/2014/main" id="{ABAC35D0-5243-C70D-28D4-356A5FFB1DD2}"/>
                </a:ext>
              </a:extLst>
            </p:cNvPr>
            <p:cNvCxnSpPr/>
            <p:nvPr/>
          </p:nvCxnSpPr>
          <p:spPr>
            <a:xfrm>
              <a:off x="1470582" y="2651919"/>
              <a:ext cx="263036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a:extLst>
                <a:ext uri="{FF2B5EF4-FFF2-40B4-BE49-F238E27FC236}">
                  <a16:creationId xmlns:a16="http://schemas.microsoft.com/office/drawing/2014/main" id="{C226C706-BE3F-E76E-D2D3-FCB257C472AA}"/>
                </a:ext>
              </a:extLst>
            </p:cNvPr>
            <p:cNvCxnSpPr/>
            <p:nvPr/>
          </p:nvCxnSpPr>
          <p:spPr>
            <a:xfrm>
              <a:off x="8034635" y="2603860"/>
              <a:ext cx="265064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Прямая со стрелкой 62">
              <a:extLst>
                <a:ext uri="{FF2B5EF4-FFF2-40B4-BE49-F238E27FC236}">
                  <a16:creationId xmlns:a16="http://schemas.microsoft.com/office/drawing/2014/main" id="{3B1EB492-216C-3B97-B681-35BFADC5CAF3}"/>
                </a:ext>
              </a:extLst>
            </p:cNvPr>
            <p:cNvCxnSpPr/>
            <p:nvPr/>
          </p:nvCxnSpPr>
          <p:spPr>
            <a:xfrm>
              <a:off x="10685282" y="2603860"/>
              <a:ext cx="0" cy="9587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02994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67235" cy="408109"/>
          </a:xfrm>
        </p:spPr>
        <p:txBody>
          <a:bodyPr/>
          <a:lstStyle/>
          <a:p>
            <a:r>
              <a:rPr lang="ru-RU" dirty="0"/>
              <a:t>Департамент теоретической экономики</a:t>
            </a:r>
          </a:p>
        </p:txBody>
      </p:sp>
      <p:sp>
        <p:nvSpPr>
          <p:cNvPr id="9" name="TextBox 8">
            <a:extLst>
              <a:ext uri="{FF2B5EF4-FFF2-40B4-BE49-F238E27FC236}">
                <a16:creationId xmlns:a16="http://schemas.microsoft.com/office/drawing/2014/main" id="{F344B208-6A2B-669A-9505-74711930E087}"/>
              </a:ext>
            </a:extLst>
          </p:cNvPr>
          <p:cNvSpPr txBox="1"/>
          <p:nvPr/>
        </p:nvSpPr>
        <p:spPr>
          <a:xfrm>
            <a:off x="960651" y="2767280"/>
            <a:ext cx="10270697" cy="1323439"/>
          </a:xfrm>
          <a:prstGeom prst="rect">
            <a:avLst/>
          </a:prstGeom>
          <a:noFill/>
        </p:spPr>
        <p:txBody>
          <a:bodyPr wrap="square" rtlCol="0">
            <a:spAutoFit/>
          </a:bodyPr>
          <a:lstStyle/>
          <a:p>
            <a:pPr algn="ctr"/>
            <a:r>
              <a:rPr lang="ru-RU" sz="4000" b="1" kern="100" dirty="0">
                <a:latin typeface="Calibri" panose="020F0502020204030204" pitchFamily="34" charset="0"/>
                <a:cs typeface="Times New Roman" panose="02020603050405020304" pitchFamily="18" charset="0"/>
              </a:rPr>
              <a:t>Кругооборот продукта, расходов и доходов в трехсекторной модели экономики</a:t>
            </a:r>
          </a:p>
        </p:txBody>
      </p:sp>
      <mc:AlternateContent xmlns:mc="http://schemas.openxmlformats.org/markup-compatibility/2006" xmlns:p14="http://schemas.microsoft.com/office/powerpoint/2010/main">
        <mc:Choice Requires="p14">
          <p:contentPart p14:bwMode="auto" r:id="rId2">
            <p14:nvContentPartPr>
              <p14:cNvPr id="36" name="Рукописный ввод 35">
                <a:extLst>
                  <a:ext uri="{FF2B5EF4-FFF2-40B4-BE49-F238E27FC236}">
                    <a16:creationId xmlns:a16="http://schemas.microsoft.com/office/drawing/2014/main" id="{E38F8C0A-9FB8-8D17-B620-0C1527AD04A8}"/>
                  </a:ext>
                </a:extLst>
              </p14:cNvPr>
              <p14:cNvContentPartPr/>
              <p14:nvPr/>
            </p14:nvContentPartPr>
            <p14:xfrm>
              <a:off x="3770480" y="6281878"/>
              <a:ext cx="21240" cy="66960"/>
            </p14:xfrm>
          </p:contentPart>
        </mc:Choice>
        <mc:Fallback xmlns="">
          <p:pic>
            <p:nvPicPr>
              <p:cNvPr id="36" name="Рукописный ввод 35">
                <a:extLst>
                  <a:ext uri="{FF2B5EF4-FFF2-40B4-BE49-F238E27FC236}">
                    <a16:creationId xmlns:a16="http://schemas.microsoft.com/office/drawing/2014/main" id="{E38F8C0A-9FB8-8D17-B620-0C1527AD04A8}"/>
                  </a:ext>
                </a:extLst>
              </p:cNvPr>
              <p:cNvPicPr/>
              <p:nvPr/>
            </p:nvPicPr>
            <p:blipFill>
              <a:blip r:embed="rId9"/>
              <a:stretch>
                <a:fillRect/>
              </a:stretch>
            </p:blipFill>
            <p:spPr>
              <a:xfrm>
                <a:off x="3761840" y="6273238"/>
                <a:ext cx="38880" cy="84600"/>
              </a:xfrm>
              <a:prstGeom prst="rect">
                <a:avLst/>
              </a:prstGeom>
            </p:spPr>
          </p:pic>
        </mc:Fallback>
      </mc:AlternateContent>
    </p:spTree>
    <p:extLst>
      <p:ext uri="{BB962C8B-B14F-4D97-AF65-F5344CB8AC3E}">
        <p14:creationId xmlns:p14="http://schemas.microsoft.com/office/powerpoint/2010/main" val="3662452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73E72-93A1-617F-CD0B-FBC05E021A21}"/>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ADA7D540-50D9-B532-12D0-9CA3AB1B6D1C}"/>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011BC752-93CF-1B06-625E-C1102DF11049}"/>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9DB6115C-F80F-212D-2B6B-B7D45948A781}"/>
              </a:ext>
            </a:extLst>
          </p:cNvPr>
          <p:cNvSpPr>
            <a:spLocks noGrp="1"/>
          </p:cNvSpPr>
          <p:nvPr>
            <p:ph type="body" sz="quarter" idx="15"/>
          </p:nvPr>
        </p:nvSpPr>
        <p:spPr>
          <a:xfrm>
            <a:off x="6259891" y="548720"/>
            <a:ext cx="2967235" cy="408109"/>
          </a:xfrm>
        </p:spPr>
        <p:txBody>
          <a:bodyPr/>
          <a:lstStyle/>
          <a:p>
            <a:r>
              <a:rPr lang="ru-RU" dirty="0"/>
              <a:t>Департамент теоретической экономики</a:t>
            </a:r>
          </a:p>
        </p:txBody>
      </p:sp>
      <p:sp>
        <p:nvSpPr>
          <p:cNvPr id="9" name="TextBox 8">
            <a:extLst>
              <a:ext uri="{FF2B5EF4-FFF2-40B4-BE49-F238E27FC236}">
                <a16:creationId xmlns:a16="http://schemas.microsoft.com/office/drawing/2014/main" id="{41018764-5149-088F-934D-1A1B93E16707}"/>
              </a:ext>
            </a:extLst>
          </p:cNvPr>
          <p:cNvSpPr txBox="1"/>
          <p:nvPr/>
        </p:nvSpPr>
        <p:spPr>
          <a:xfrm>
            <a:off x="1194634" y="1190312"/>
            <a:ext cx="10270697" cy="954107"/>
          </a:xfrm>
          <a:prstGeom prst="rect">
            <a:avLst/>
          </a:prstGeom>
          <a:noFill/>
        </p:spPr>
        <p:txBody>
          <a:bodyPr wrap="square" rtlCol="0">
            <a:spAutoFit/>
          </a:bodyPr>
          <a:lstStyle/>
          <a:p>
            <a:pPr algn="ctr"/>
            <a:r>
              <a:rPr lang="ru-RU" sz="2800" b="1" kern="100" dirty="0">
                <a:latin typeface="Calibri" panose="020F0502020204030204" pitchFamily="34" charset="0"/>
                <a:cs typeface="Times New Roman" panose="02020603050405020304" pitchFamily="18" charset="0"/>
              </a:rPr>
              <a:t>Кругооборот продукта, расходов и доходов в трехсекторной модели экономики</a:t>
            </a:r>
          </a:p>
        </p:txBody>
      </p:sp>
      <p:grpSp>
        <p:nvGrpSpPr>
          <p:cNvPr id="67" name="Группа 66">
            <a:extLst>
              <a:ext uri="{FF2B5EF4-FFF2-40B4-BE49-F238E27FC236}">
                <a16:creationId xmlns:a16="http://schemas.microsoft.com/office/drawing/2014/main" id="{6D5BC639-9E8F-AC33-AF42-CB92F9BE2AEE}"/>
              </a:ext>
            </a:extLst>
          </p:cNvPr>
          <p:cNvGrpSpPr/>
          <p:nvPr/>
        </p:nvGrpSpPr>
        <p:grpSpPr>
          <a:xfrm>
            <a:off x="596757" y="2283872"/>
            <a:ext cx="10850704" cy="4247847"/>
            <a:chOff x="536875" y="2266062"/>
            <a:chExt cx="10850704" cy="4247847"/>
          </a:xfrm>
        </p:grpSpPr>
        <p:sp>
          <p:nvSpPr>
            <p:cNvPr id="6" name="TextBox 5">
              <a:extLst>
                <a:ext uri="{FF2B5EF4-FFF2-40B4-BE49-F238E27FC236}">
                  <a16:creationId xmlns:a16="http://schemas.microsoft.com/office/drawing/2014/main" id="{E9DF65DA-E332-6DF1-7A39-BEA8C6438661}"/>
                </a:ext>
              </a:extLst>
            </p:cNvPr>
            <p:cNvSpPr txBox="1"/>
            <p:nvPr/>
          </p:nvSpPr>
          <p:spPr>
            <a:xfrm>
              <a:off x="9982985" y="3725851"/>
              <a:ext cx="1404594" cy="461665"/>
            </a:xfrm>
            <a:prstGeom prst="rect">
              <a:avLst/>
            </a:prstGeom>
            <a:noFill/>
            <a:ln w="6350">
              <a:solidFill>
                <a:schemeClr val="tx1"/>
              </a:solidFill>
            </a:ln>
          </p:spPr>
          <p:txBody>
            <a:bodyPr wrap="square" rtlCol="0">
              <a:spAutoFit/>
            </a:bodyPr>
            <a:lstStyle/>
            <a:p>
              <a:pPr algn="l"/>
              <a:r>
                <a:rPr lang="ru-RU" sz="2400" b="1" dirty="0">
                  <a:latin typeface="HSE Sans" panose="02000000000000000000" pitchFamily="2" charset="0"/>
                </a:rPr>
                <a:t>ФИРМА</a:t>
              </a:r>
            </a:p>
          </p:txBody>
        </p:sp>
        <p:sp>
          <p:nvSpPr>
            <p:cNvPr id="7" name="TextBox 6">
              <a:extLst>
                <a:ext uri="{FF2B5EF4-FFF2-40B4-BE49-F238E27FC236}">
                  <a16:creationId xmlns:a16="http://schemas.microsoft.com/office/drawing/2014/main" id="{4789D3F5-30C6-AA32-4B13-32E87DDFBF09}"/>
                </a:ext>
              </a:extLst>
            </p:cNvPr>
            <p:cNvSpPr txBox="1"/>
            <p:nvPr/>
          </p:nvSpPr>
          <p:spPr>
            <a:xfrm>
              <a:off x="536875" y="3813050"/>
              <a:ext cx="2605816" cy="461665"/>
            </a:xfrm>
            <a:prstGeom prst="rect">
              <a:avLst/>
            </a:prstGeom>
            <a:noFill/>
            <a:ln w="6350">
              <a:solidFill>
                <a:schemeClr val="tx1"/>
              </a:solidFill>
            </a:ln>
          </p:spPr>
          <p:txBody>
            <a:bodyPr wrap="square" rtlCol="0">
              <a:spAutoFit/>
            </a:bodyPr>
            <a:lstStyle/>
            <a:p>
              <a:r>
                <a:rPr lang="ru-RU" sz="2400" b="1" dirty="0"/>
                <a:t>ДОМОХОЗЯЙСТВА</a:t>
              </a:r>
            </a:p>
          </p:txBody>
        </p:sp>
        <p:sp>
          <p:nvSpPr>
            <p:cNvPr id="10" name="TextBox 9">
              <a:extLst>
                <a:ext uri="{FF2B5EF4-FFF2-40B4-BE49-F238E27FC236}">
                  <a16:creationId xmlns:a16="http://schemas.microsoft.com/office/drawing/2014/main" id="{E3986052-51F6-72EC-30AA-6C7407D010D2}"/>
                </a:ext>
              </a:extLst>
            </p:cNvPr>
            <p:cNvSpPr txBox="1"/>
            <p:nvPr/>
          </p:nvSpPr>
          <p:spPr>
            <a:xfrm>
              <a:off x="3609371" y="5842686"/>
              <a:ext cx="5101616" cy="461665"/>
            </a:xfrm>
            <a:prstGeom prst="rect">
              <a:avLst/>
            </a:prstGeom>
            <a:noFill/>
            <a:ln>
              <a:solidFill>
                <a:schemeClr val="tx1"/>
              </a:solidFill>
              <a:prstDash val="solid"/>
            </a:ln>
          </p:spPr>
          <p:txBody>
            <a:bodyPr wrap="square" rtlCol="0">
              <a:spAutoFit/>
            </a:bodyPr>
            <a:lstStyle/>
            <a:p>
              <a:r>
                <a:rPr lang="ru-RU" sz="2400" b="1" dirty="0"/>
                <a:t>РЫНОК ЭКОНОМИЧЕСКИХ РЕСУРСОВ</a:t>
              </a:r>
            </a:p>
          </p:txBody>
        </p:sp>
        <p:sp>
          <p:nvSpPr>
            <p:cNvPr id="11" name="TextBox 10">
              <a:extLst>
                <a:ext uri="{FF2B5EF4-FFF2-40B4-BE49-F238E27FC236}">
                  <a16:creationId xmlns:a16="http://schemas.microsoft.com/office/drawing/2014/main" id="{5EF4FEE7-4FF8-6359-2EEE-B73C8FF145B7}"/>
                </a:ext>
              </a:extLst>
            </p:cNvPr>
            <p:cNvSpPr txBox="1"/>
            <p:nvPr/>
          </p:nvSpPr>
          <p:spPr>
            <a:xfrm>
              <a:off x="4280025" y="2421087"/>
              <a:ext cx="3660339" cy="461665"/>
            </a:xfrm>
            <a:prstGeom prst="rect">
              <a:avLst/>
            </a:prstGeom>
            <a:noFill/>
            <a:ln w="6350">
              <a:solidFill>
                <a:schemeClr val="tx1"/>
              </a:solidFill>
            </a:ln>
          </p:spPr>
          <p:txBody>
            <a:bodyPr wrap="square" rtlCol="0">
              <a:spAutoFit/>
            </a:bodyPr>
            <a:lstStyle/>
            <a:p>
              <a:r>
                <a:rPr lang="ru-RU" sz="2400" b="1" dirty="0"/>
                <a:t>РЫНОК ТОВАРОВ И УСЛУГ</a:t>
              </a:r>
            </a:p>
          </p:txBody>
        </p:sp>
        <p:sp>
          <p:nvSpPr>
            <p:cNvPr id="12" name="TextBox 11">
              <a:extLst>
                <a:ext uri="{FF2B5EF4-FFF2-40B4-BE49-F238E27FC236}">
                  <a16:creationId xmlns:a16="http://schemas.microsoft.com/office/drawing/2014/main" id="{545705BB-7486-4AF0-BD15-EA2E8A55E03B}"/>
                </a:ext>
              </a:extLst>
            </p:cNvPr>
            <p:cNvSpPr txBox="1"/>
            <p:nvPr/>
          </p:nvSpPr>
          <p:spPr>
            <a:xfrm>
              <a:off x="8305458" y="2266062"/>
              <a:ext cx="2721096" cy="369332"/>
            </a:xfrm>
            <a:prstGeom prst="rect">
              <a:avLst/>
            </a:prstGeom>
            <a:noFill/>
          </p:spPr>
          <p:txBody>
            <a:bodyPr wrap="square" rtlCol="0">
              <a:spAutoFit/>
            </a:bodyPr>
            <a:lstStyle/>
            <a:p>
              <a:pPr algn="l"/>
              <a:r>
                <a:rPr lang="ru-RU" dirty="0">
                  <a:latin typeface="HSE Sans" panose="02000000000000000000" pitchFamily="2" charset="0"/>
                </a:rPr>
                <a:t>ВЫРУЧКА ОТ ПРОДАЖ</a:t>
              </a:r>
            </a:p>
          </p:txBody>
        </p:sp>
        <p:sp>
          <p:nvSpPr>
            <p:cNvPr id="13" name="TextBox 12">
              <a:extLst>
                <a:ext uri="{FF2B5EF4-FFF2-40B4-BE49-F238E27FC236}">
                  <a16:creationId xmlns:a16="http://schemas.microsoft.com/office/drawing/2014/main" id="{72FCA816-60AD-269B-5BB9-85B747579267}"/>
                </a:ext>
              </a:extLst>
            </p:cNvPr>
            <p:cNvSpPr txBox="1"/>
            <p:nvPr/>
          </p:nvSpPr>
          <p:spPr>
            <a:xfrm>
              <a:off x="697544" y="2274485"/>
              <a:ext cx="3660339" cy="369332"/>
            </a:xfrm>
            <a:prstGeom prst="rect">
              <a:avLst/>
            </a:prstGeom>
            <a:noFill/>
          </p:spPr>
          <p:txBody>
            <a:bodyPr wrap="square" rtlCol="0">
              <a:spAutoFit/>
            </a:bodyPr>
            <a:lstStyle/>
            <a:p>
              <a:pPr algn="l"/>
              <a:r>
                <a:rPr lang="ru-RU" dirty="0">
                  <a:latin typeface="HSE Sans" panose="02000000000000000000" pitchFamily="2" charset="0"/>
                </a:rPr>
                <a:t>ПОТРЕБИТЕЛЬСКИЕ РАСХОДЫ</a:t>
              </a:r>
            </a:p>
          </p:txBody>
        </p:sp>
        <p:sp>
          <p:nvSpPr>
            <p:cNvPr id="14" name="TextBox 13">
              <a:extLst>
                <a:ext uri="{FF2B5EF4-FFF2-40B4-BE49-F238E27FC236}">
                  <a16:creationId xmlns:a16="http://schemas.microsoft.com/office/drawing/2014/main" id="{26DB80B9-E7F4-60E0-C346-1C148108AB6D}"/>
                </a:ext>
              </a:extLst>
            </p:cNvPr>
            <p:cNvSpPr txBox="1"/>
            <p:nvPr/>
          </p:nvSpPr>
          <p:spPr>
            <a:xfrm>
              <a:off x="2001230" y="6121741"/>
              <a:ext cx="1229954" cy="369332"/>
            </a:xfrm>
            <a:prstGeom prst="rect">
              <a:avLst/>
            </a:prstGeom>
            <a:noFill/>
          </p:spPr>
          <p:txBody>
            <a:bodyPr wrap="square" rtlCol="0">
              <a:spAutoFit/>
            </a:bodyPr>
            <a:lstStyle/>
            <a:p>
              <a:pPr algn="l"/>
              <a:r>
                <a:rPr lang="ru-RU" dirty="0">
                  <a:latin typeface="HSE Sans" panose="02000000000000000000" pitchFamily="2" charset="0"/>
                </a:rPr>
                <a:t>ДОХОДЫ</a:t>
              </a:r>
            </a:p>
          </p:txBody>
        </p:sp>
        <p:sp>
          <p:nvSpPr>
            <p:cNvPr id="15" name="TextBox 14">
              <a:extLst>
                <a:ext uri="{FF2B5EF4-FFF2-40B4-BE49-F238E27FC236}">
                  <a16:creationId xmlns:a16="http://schemas.microsoft.com/office/drawing/2014/main" id="{5942A485-13ED-AF6D-261E-0F4151D3D915}"/>
                </a:ext>
              </a:extLst>
            </p:cNvPr>
            <p:cNvSpPr txBox="1"/>
            <p:nvPr/>
          </p:nvSpPr>
          <p:spPr>
            <a:xfrm>
              <a:off x="8901813" y="6144577"/>
              <a:ext cx="2117456" cy="369332"/>
            </a:xfrm>
            <a:prstGeom prst="rect">
              <a:avLst/>
            </a:prstGeom>
            <a:noFill/>
          </p:spPr>
          <p:txBody>
            <a:bodyPr wrap="square" rtlCol="0">
              <a:spAutoFit/>
            </a:bodyPr>
            <a:lstStyle/>
            <a:p>
              <a:pPr algn="l"/>
              <a:r>
                <a:rPr lang="ru-RU" dirty="0">
                  <a:latin typeface="HSE Sans" panose="02000000000000000000" pitchFamily="2" charset="0"/>
                </a:rPr>
                <a:t>ПЛАТА ЗА РЕСУРСЫ</a:t>
              </a:r>
            </a:p>
          </p:txBody>
        </p:sp>
        <p:sp>
          <p:nvSpPr>
            <p:cNvPr id="16" name="TextBox 15">
              <a:extLst>
                <a:ext uri="{FF2B5EF4-FFF2-40B4-BE49-F238E27FC236}">
                  <a16:creationId xmlns:a16="http://schemas.microsoft.com/office/drawing/2014/main" id="{BCC6D1C5-C099-21C1-F1F4-7B3CE1D63876}"/>
                </a:ext>
              </a:extLst>
            </p:cNvPr>
            <p:cNvSpPr txBox="1"/>
            <p:nvPr/>
          </p:nvSpPr>
          <p:spPr>
            <a:xfrm>
              <a:off x="4494213" y="4470270"/>
              <a:ext cx="3383311" cy="461665"/>
            </a:xfrm>
            <a:prstGeom prst="rect">
              <a:avLst/>
            </a:prstGeom>
            <a:noFill/>
            <a:ln w="6350">
              <a:solidFill>
                <a:schemeClr val="tx1"/>
              </a:solidFill>
            </a:ln>
          </p:spPr>
          <p:txBody>
            <a:bodyPr wrap="square" rtlCol="0">
              <a:spAutoFit/>
            </a:bodyPr>
            <a:lstStyle/>
            <a:p>
              <a:pPr algn="ctr"/>
              <a:r>
                <a:rPr lang="ru-RU" sz="2400" b="1" dirty="0"/>
                <a:t>ФИНАНСОВЫЙ РЫНОК</a:t>
              </a:r>
            </a:p>
          </p:txBody>
        </p:sp>
        <p:cxnSp>
          <p:nvCxnSpPr>
            <p:cNvPr id="17" name="Прямая соединительная линия 16">
              <a:extLst>
                <a:ext uri="{FF2B5EF4-FFF2-40B4-BE49-F238E27FC236}">
                  <a16:creationId xmlns:a16="http://schemas.microsoft.com/office/drawing/2014/main" id="{2A65151A-9C43-58E7-9E04-041C6B86100F}"/>
                </a:ext>
              </a:extLst>
            </p:cNvPr>
            <p:cNvCxnSpPr>
              <a:cxnSpLocks/>
            </p:cNvCxnSpPr>
            <p:nvPr/>
          </p:nvCxnSpPr>
          <p:spPr>
            <a:xfrm>
              <a:off x="2778202" y="4362718"/>
              <a:ext cx="0" cy="421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3CBD6D4F-F4AC-2C3F-D31E-FB56B227CF07}"/>
                </a:ext>
              </a:extLst>
            </p:cNvPr>
            <p:cNvCxnSpPr>
              <a:cxnSpLocks/>
            </p:cNvCxnSpPr>
            <p:nvPr/>
          </p:nvCxnSpPr>
          <p:spPr>
            <a:xfrm>
              <a:off x="2778202" y="4784436"/>
              <a:ext cx="15941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A7C7E497-89CB-621F-BCA3-240E067B37F2}"/>
                </a:ext>
              </a:extLst>
            </p:cNvPr>
            <p:cNvCxnSpPr>
              <a:cxnSpLocks/>
            </p:cNvCxnSpPr>
            <p:nvPr/>
          </p:nvCxnSpPr>
          <p:spPr>
            <a:xfrm>
              <a:off x="8034635" y="4784436"/>
              <a:ext cx="21715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1E3A7A0C-4526-5C6B-9A7F-B6989F28A5F2}"/>
                </a:ext>
              </a:extLst>
            </p:cNvPr>
            <p:cNvCxnSpPr>
              <a:cxnSpLocks/>
            </p:cNvCxnSpPr>
            <p:nvPr/>
          </p:nvCxnSpPr>
          <p:spPr>
            <a:xfrm flipV="1">
              <a:off x="10206182" y="4274715"/>
              <a:ext cx="0" cy="509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95899BE-B36C-A04B-AD7E-CF9671D7DA37}"/>
                </a:ext>
              </a:extLst>
            </p:cNvPr>
            <p:cNvSpPr txBox="1"/>
            <p:nvPr/>
          </p:nvSpPr>
          <p:spPr>
            <a:xfrm>
              <a:off x="2763710" y="4488707"/>
              <a:ext cx="1594173" cy="369332"/>
            </a:xfrm>
            <a:prstGeom prst="rect">
              <a:avLst/>
            </a:prstGeom>
            <a:noFill/>
          </p:spPr>
          <p:txBody>
            <a:bodyPr wrap="square" rtlCol="0">
              <a:spAutoFit/>
            </a:bodyPr>
            <a:lstStyle/>
            <a:p>
              <a:pPr algn="l"/>
              <a:r>
                <a:rPr lang="ru-RU" dirty="0">
                  <a:latin typeface="HSE Sans" panose="02000000000000000000" pitchFamily="2" charset="0"/>
                </a:rPr>
                <a:t>СБЕРЕЖЕНИЯ</a:t>
              </a:r>
            </a:p>
          </p:txBody>
        </p:sp>
        <p:sp>
          <p:nvSpPr>
            <p:cNvPr id="22" name="TextBox 21">
              <a:extLst>
                <a:ext uri="{FF2B5EF4-FFF2-40B4-BE49-F238E27FC236}">
                  <a16:creationId xmlns:a16="http://schemas.microsoft.com/office/drawing/2014/main" id="{ECD05718-DE00-7A80-7458-A14714C3A4D8}"/>
                </a:ext>
              </a:extLst>
            </p:cNvPr>
            <p:cNvSpPr txBox="1"/>
            <p:nvPr/>
          </p:nvSpPr>
          <p:spPr>
            <a:xfrm>
              <a:off x="7984015" y="4504861"/>
              <a:ext cx="2272786" cy="369332"/>
            </a:xfrm>
            <a:prstGeom prst="rect">
              <a:avLst/>
            </a:prstGeom>
            <a:noFill/>
          </p:spPr>
          <p:txBody>
            <a:bodyPr wrap="square" rtlCol="0">
              <a:spAutoFit/>
            </a:bodyPr>
            <a:lstStyle/>
            <a:p>
              <a:pPr algn="l"/>
              <a:r>
                <a:rPr lang="ru-RU" dirty="0">
                  <a:latin typeface="HSE Sans" panose="02000000000000000000" pitchFamily="2" charset="0"/>
                </a:rPr>
                <a:t>ЗАЕМНЫЕ СРЕДСТВА</a:t>
              </a:r>
            </a:p>
          </p:txBody>
        </p:sp>
        <p:cxnSp>
          <p:nvCxnSpPr>
            <p:cNvPr id="23" name="Прямая соединительная линия 22">
              <a:extLst>
                <a:ext uri="{FF2B5EF4-FFF2-40B4-BE49-F238E27FC236}">
                  <a16:creationId xmlns:a16="http://schemas.microsoft.com/office/drawing/2014/main" id="{79BF097E-80A7-4478-9257-22A7B9B0F02C}"/>
                </a:ext>
              </a:extLst>
            </p:cNvPr>
            <p:cNvCxnSpPr>
              <a:cxnSpLocks/>
            </p:cNvCxnSpPr>
            <p:nvPr/>
          </p:nvCxnSpPr>
          <p:spPr>
            <a:xfrm flipV="1">
              <a:off x="10183190" y="2785671"/>
              <a:ext cx="0" cy="7769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a:extLst>
                <a:ext uri="{FF2B5EF4-FFF2-40B4-BE49-F238E27FC236}">
                  <a16:creationId xmlns:a16="http://schemas.microsoft.com/office/drawing/2014/main" id="{71E603D1-9F89-75BA-B5A6-CF7BB8ADDD5B}"/>
                </a:ext>
              </a:extLst>
            </p:cNvPr>
            <p:cNvCxnSpPr>
              <a:cxnSpLocks/>
            </p:cNvCxnSpPr>
            <p:nvPr/>
          </p:nvCxnSpPr>
          <p:spPr>
            <a:xfrm flipH="1" flipV="1">
              <a:off x="8034635" y="2770909"/>
              <a:ext cx="2148555" cy="14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a:extLst>
                <a:ext uri="{FF2B5EF4-FFF2-40B4-BE49-F238E27FC236}">
                  <a16:creationId xmlns:a16="http://schemas.microsoft.com/office/drawing/2014/main" id="{94CEC580-AFA4-B08E-E957-F8773C762D74}"/>
                </a:ext>
              </a:extLst>
            </p:cNvPr>
            <p:cNvCxnSpPr/>
            <p:nvPr/>
          </p:nvCxnSpPr>
          <p:spPr>
            <a:xfrm flipV="1">
              <a:off x="10708849" y="4362718"/>
              <a:ext cx="0" cy="17022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a:extLst>
                <a:ext uri="{FF2B5EF4-FFF2-40B4-BE49-F238E27FC236}">
                  <a16:creationId xmlns:a16="http://schemas.microsoft.com/office/drawing/2014/main" id="{130178F6-51F3-BF43-C170-F5A112BCE6C6}"/>
                </a:ext>
              </a:extLst>
            </p:cNvPr>
            <p:cNvCxnSpPr/>
            <p:nvPr/>
          </p:nvCxnSpPr>
          <p:spPr>
            <a:xfrm flipH="1">
              <a:off x="8802255" y="6064957"/>
              <a:ext cx="190659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a:extLst>
                <a:ext uri="{FF2B5EF4-FFF2-40B4-BE49-F238E27FC236}">
                  <a16:creationId xmlns:a16="http://schemas.microsoft.com/office/drawing/2014/main" id="{5A93639E-2170-00E0-7A8C-F9682462C8BA}"/>
                </a:ext>
              </a:extLst>
            </p:cNvPr>
            <p:cNvCxnSpPr>
              <a:cxnSpLocks/>
            </p:cNvCxnSpPr>
            <p:nvPr/>
          </p:nvCxnSpPr>
          <p:spPr>
            <a:xfrm flipH="1">
              <a:off x="1470582" y="6066562"/>
              <a:ext cx="2047521" cy="1027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a:extLst>
                <a:ext uri="{FF2B5EF4-FFF2-40B4-BE49-F238E27FC236}">
                  <a16:creationId xmlns:a16="http://schemas.microsoft.com/office/drawing/2014/main" id="{9E44AA00-F58B-1FD5-4CE1-42530F98B059}"/>
                </a:ext>
              </a:extLst>
            </p:cNvPr>
            <p:cNvCxnSpPr/>
            <p:nvPr/>
          </p:nvCxnSpPr>
          <p:spPr>
            <a:xfrm flipV="1">
              <a:off x="1470582" y="4470270"/>
              <a:ext cx="0" cy="16065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a:extLst>
                <a:ext uri="{FF2B5EF4-FFF2-40B4-BE49-F238E27FC236}">
                  <a16:creationId xmlns:a16="http://schemas.microsoft.com/office/drawing/2014/main" id="{864B8D32-8EF2-B520-D508-B6BA47F36AC5}"/>
                </a:ext>
              </a:extLst>
            </p:cNvPr>
            <p:cNvCxnSpPr/>
            <p:nvPr/>
          </p:nvCxnSpPr>
          <p:spPr>
            <a:xfrm flipV="1">
              <a:off x="1470582" y="2651918"/>
              <a:ext cx="0" cy="107393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842C4EDC-FDD7-56F4-0E00-82D1C558D888}"/>
                </a:ext>
              </a:extLst>
            </p:cNvPr>
            <p:cNvCxnSpPr/>
            <p:nvPr/>
          </p:nvCxnSpPr>
          <p:spPr>
            <a:xfrm>
              <a:off x="1470582" y="2651919"/>
              <a:ext cx="263036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47579C1A-0539-4F84-3A49-741C1F714715}"/>
                </a:ext>
              </a:extLst>
            </p:cNvPr>
            <p:cNvCxnSpPr/>
            <p:nvPr/>
          </p:nvCxnSpPr>
          <p:spPr>
            <a:xfrm>
              <a:off x="8034635" y="2603860"/>
              <a:ext cx="265064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32">
              <a:extLst>
                <a:ext uri="{FF2B5EF4-FFF2-40B4-BE49-F238E27FC236}">
                  <a16:creationId xmlns:a16="http://schemas.microsoft.com/office/drawing/2014/main" id="{B072A743-5752-89AD-20D1-34634F627AD4}"/>
                </a:ext>
              </a:extLst>
            </p:cNvPr>
            <p:cNvCxnSpPr/>
            <p:nvPr/>
          </p:nvCxnSpPr>
          <p:spPr>
            <a:xfrm>
              <a:off x="10685282" y="2603860"/>
              <a:ext cx="0" cy="9587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F3008B7-7CB4-D719-3493-ACDE1F81A3D3}"/>
                </a:ext>
              </a:extLst>
            </p:cNvPr>
            <p:cNvSpPr txBox="1"/>
            <p:nvPr/>
          </p:nvSpPr>
          <p:spPr>
            <a:xfrm>
              <a:off x="4857271" y="3799739"/>
              <a:ext cx="2605816" cy="461665"/>
            </a:xfrm>
            <a:prstGeom prst="rect">
              <a:avLst/>
            </a:prstGeom>
            <a:noFill/>
            <a:ln w="6350">
              <a:solidFill>
                <a:schemeClr val="tx1"/>
              </a:solidFill>
            </a:ln>
          </p:spPr>
          <p:txBody>
            <a:bodyPr wrap="square" rtlCol="0">
              <a:spAutoFit/>
            </a:bodyPr>
            <a:lstStyle/>
            <a:p>
              <a:pPr algn="ctr"/>
              <a:r>
                <a:rPr lang="ru-RU" sz="2400" b="1" dirty="0"/>
                <a:t>ГОСУДАРСТВО</a:t>
              </a:r>
            </a:p>
          </p:txBody>
        </p:sp>
        <p:cxnSp>
          <p:nvCxnSpPr>
            <p:cNvPr id="37" name="Прямая со стрелкой 36">
              <a:extLst>
                <a:ext uri="{FF2B5EF4-FFF2-40B4-BE49-F238E27FC236}">
                  <a16:creationId xmlns:a16="http://schemas.microsoft.com/office/drawing/2014/main" id="{F78F2D6D-DB95-A3DB-0B8F-0973E5520C11}"/>
                </a:ext>
              </a:extLst>
            </p:cNvPr>
            <p:cNvCxnSpPr>
              <a:cxnSpLocks/>
            </p:cNvCxnSpPr>
            <p:nvPr/>
          </p:nvCxnSpPr>
          <p:spPr>
            <a:xfrm>
              <a:off x="3300958" y="3911983"/>
              <a:ext cx="14316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Прямая со стрелкой 38">
              <a:extLst>
                <a:ext uri="{FF2B5EF4-FFF2-40B4-BE49-F238E27FC236}">
                  <a16:creationId xmlns:a16="http://schemas.microsoft.com/office/drawing/2014/main" id="{B43BEB1F-35B0-A5CD-F87D-E80AFDD930EE}"/>
                </a:ext>
              </a:extLst>
            </p:cNvPr>
            <p:cNvCxnSpPr>
              <a:cxnSpLocks/>
            </p:cNvCxnSpPr>
            <p:nvPr/>
          </p:nvCxnSpPr>
          <p:spPr>
            <a:xfrm>
              <a:off x="7718301" y="4043882"/>
              <a:ext cx="2037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a:extLst>
                <a:ext uri="{FF2B5EF4-FFF2-40B4-BE49-F238E27FC236}">
                  <a16:creationId xmlns:a16="http://schemas.microsoft.com/office/drawing/2014/main" id="{C8840FE6-BE92-8642-16AC-BB2999C06F15}"/>
                </a:ext>
              </a:extLst>
            </p:cNvPr>
            <p:cNvCxnSpPr>
              <a:cxnSpLocks/>
            </p:cNvCxnSpPr>
            <p:nvPr/>
          </p:nvCxnSpPr>
          <p:spPr>
            <a:xfrm flipH="1">
              <a:off x="7654943" y="3911983"/>
              <a:ext cx="2100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a:extLst>
                <a:ext uri="{FF2B5EF4-FFF2-40B4-BE49-F238E27FC236}">
                  <a16:creationId xmlns:a16="http://schemas.microsoft.com/office/drawing/2014/main" id="{68DA154C-C7FD-B955-E5DB-D7B0A6CF89D7}"/>
                </a:ext>
              </a:extLst>
            </p:cNvPr>
            <p:cNvCxnSpPr>
              <a:cxnSpLocks/>
            </p:cNvCxnSpPr>
            <p:nvPr/>
          </p:nvCxnSpPr>
          <p:spPr>
            <a:xfrm flipH="1">
              <a:off x="3231184" y="4046135"/>
              <a:ext cx="1501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7C97B114-96A6-B814-5AD3-A8FAC01BB8A4}"/>
                </a:ext>
              </a:extLst>
            </p:cNvPr>
            <p:cNvSpPr txBox="1"/>
            <p:nvPr/>
          </p:nvSpPr>
          <p:spPr>
            <a:xfrm>
              <a:off x="3515621" y="3607466"/>
              <a:ext cx="1141413" cy="369332"/>
            </a:xfrm>
            <a:prstGeom prst="rect">
              <a:avLst/>
            </a:prstGeom>
            <a:noFill/>
          </p:spPr>
          <p:txBody>
            <a:bodyPr wrap="square" rtlCol="0">
              <a:spAutoFit/>
            </a:bodyPr>
            <a:lstStyle/>
            <a:p>
              <a:pPr algn="l"/>
              <a:r>
                <a:rPr lang="ru-RU" dirty="0">
                  <a:latin typeface="HSE Sans" panose="02000000000000000000" pitchFamily="2" charset="0"/>
                </a:rPr>
                <a:t>НАЛОГИ</a:t>
              </a:r>
            </a:p>
          </p:txBody>
        </p:sp>
        <p:sp>
          <p:nvSpPr>
            <p:cNvPr id="51" name="TextBox 50">
              <a:extLst>
                <a:ext uri="{FF2B5EF4-FFF2-40B4-BE49-F238E27FC236}">
                  <a16:creationId xmlns:a16="http://schemas.microsoft.com/office/drawing/2014/main" id="{EB09BC0D-8B07-A8F7-A058-B633D8847C83}"/>
                </a:ext>
              </a:extLst>
            </p:cNvPr>
            <p:cNvSpPr txBox="1"/>
            <p:nvPr/>
          </p:nvSpPr>
          <p:spPr>
            <a:xfrm>
              <a:off x="8331107" y="3582947"/>
              <a:ext cx="1141413" cy="369332"/>
            </a:xfrm>
            <a:prstGeom prst="rect">
              <a:avLst/>
            </a:prstGeom>
            <a:noFill/>
          </p:spPr>
          <p:txBody>
            <a:bodyPr wrap="square" rtlCol="0">
              <a:spAutoFit/>
            </a:bodyPr>
            <a:lstStyle/>
            <a:p>
              <a:pPr algn="l"/>
              <a:r>
                <a:rPr lang="ru-RU" dirty="0">
                  <a:latin typeface="HSE Sans" panose="02000000000000000000" pitchFamily="2" charset="0"/>
                </a:rPr>
                <a:t>НАЛОГИ</a:t>
              </a:r>
            </a:p>
          </p:txBody>
        </p:sp>
        <p:sp>
          <p:nvSpPr>
            <p:cNvPr id="52" name="TextBox 51">
              <a:extLst>
                <a:ext uri="{FF2B5EF4-FFF2-40B4-BE49-F238E27FC236}">
                  <a16:creationId xmlns:a16="http://schemas.microsoft.com/office/drawing/2014/main" id="{66685558-FD77-C6FE-C5FF-890778C051A9}"/>
                </a:ext>
              </a:extLst>
            </p:cNvPr>
            <p:cNvSpPr txBox="1"/>
            <p:nvPr/>
          </p:nvSpPr>
          <p:spPr>
            <a:xfrm>
              <a:off x="3294827" y="4002850"/>
              <a:ext cx="1575411" cy="369332"/>
            </a:xfrm>
            <a:prstGeom prst="rect">
              <a:avLst/>
            </a:prstGeom>
            <a:noFill/>
          </p:spPr>
          <p:txBody>
            <a:bodyPr wrap="square" rtlCol="0">
              <a:spAutoFit/>
            </a:bodyPr>
            <a:lstStyle/>
            <a:p>
              <a:pPr algn="l"/>
              <a:r>
                <a:rPr lang="ru-RU" dirty="0">
                  <a:latin typeface="HSE Sans" panose="02000000000000000000" pitchFamily="2" charset="0"/>
                </a:rPr>
                <a:t>ТРАНСФЕРТЫ</a:t>
              </a:r>
            </a:p>
          </p:txBody>
        </p:sp>
        <p:sp>
          <p:nvSpPr>
            <p:cNvPr id="53" name="TextBox 52">
              <a:extLst>
                <a:ext uri="{FF2B5EF4-FFF2-40B4-BE49-F238E27FC236}">
                  <a16:creationId xmlns:a16="http://schemas.microsoft.com/office/drawing/2014/main" id="{ECBD9D91-F186-5E7F-B540-E9A2AF5B32B0}"/>
                </a:ext>
              </a:extLst>
            </p:cNvPr>
            <p:cNvSpPr txBox="1"/>
            <p:nvPr/>
          </p:nvSpPr>
          <p:spPr>
            <a:xfrm>
              <a:off x="8185984" y="4030571"/>
              <a:ext cx="1449986" cy="369332"/>
            </a:xfrm>
            <a:prstGeom prst="rect">
              <a:avLst/>
            </a:prstGeom>
            <a:noFill/>
          </p:spPr>
          <p:txBody>
            <a:bodyPr wrap="square" rtlCol="0">
              <a:spAutoFit/>
            </a:bodyPr>
            <a:lstStyle/>
            <a:p>
              <a:pPr algn="l"/>
              <a:r>
                <a:rPr lang="ru-RU" dirty="0">
                  <a:latin typeface="HSE Sans" panose="02000000000000000000" pitchFamily="2" charset="0"/>
                </a:rPr>
                <a:t>СУБСИДИИ</a:t>
              </a:r>
            </a:p>
          </p:txBody>
        </p:sp>
        <p:cxnSp>
          <p:nvCxnSpPr>
            <p:cNvPr id="56" name="Прямая со стрелкой 55">
              <a:extLst>
                <a:ext uri="{FF2B5EF4-FFF2-40B4-BE49-F238E27FC236}">
                  <a16:creationId xmlns:a16="http://schemas.microsoft.com/office/drawing/2014/main" id="{5669D0C0-8F4A-BD49-7527-E2C91B778268}"/>
                </a:ext>
              </a:extLst>
            </p:cNvPr>
            <p:cNvCxnSpPr/>
            <p:nvPr/>
          </p:nvCxnSpPr>
          <p:spPr>
            <a:xfrm flipV="1">
              <a:off x="5846618" y="3001125"/>
              <a:ext cx="0" cy="66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9D3BA89-5A61-2A81-8EF8-7F4C923EAFCA}"/>
                </a:ext>
              </a:extLst>
            </p:cNvPr>
            <p:cNvSpPr txBox="1"/>
            <p:nvPr/>
          </p:nvSpPr>
          <p:spPr>
            <a:xfrm>
              <a:off x="5870217" y="3051434"/>
              <a:ext cx="2176862" cy="646331"/>
            </a:xfrm>
            <a:prstGeom prst="rect">
              <a:avLst/>
            </a:prstGeom>
            <a:noFill/>
          </p:spPr>
          <p:txBody>
            <a:bodyPr wrap="square" rtlCol="0">
              <a:spAutoFit/>
            </a:bodyPr>
            <a:lstStyle/>
            <a:p>
              <a:pPr algn="ctr"/>
              <a:r>
                <a:rPr lang="ru-RU" dirty="0">
                  <a:latin typeface="HSE Sans" panose="02000000000000000000" pitchFamily="2" charset="0"/>
                </a:rPr>
                <a:t>ГОСУДАРСТВЕННЫЕ ЗАКУПКИ</a:t>
              </a:r>
            </a:p>
          </p:txBody>
        </p:sp>
        <p:cxnSp>
          <p:nvCxnSpPr>
            <p:cNvPr id="61" name="Прямая со стрелкой 60">
              <a:extLst>
                <a:ext uri="{FF2B5EF4-FFF2-40B4-BE49-F238E27FC236}">
                  <a16:creationId xmlns:a16="http://schemas.microsoft.com/office/drawing/2014/main" id="{8F09069B-F075-4716-2FCA-73746BD33B59}"/>
                </a:ext>
              </a:extLst>
            </p:cNvPr>
            <p:cNvCxnSpPr/>
            <p:nvPr/>
          </p:nvCxnSpPr>
          <p:spPr>
            <a:xfrm>
              <a:off x="5708072" y="4276792"/>
              <a:ext cx="0" cy="193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Прямая со стрелкой 62">
              <a:extLst>
                <a:ext uri="{FF2B5EF4-FFF2-40B4-BE49-F238E27FC236}">
                  <a16:creationId xmlns:a16="http://schemas.microsoft.com/office/drawing/2014/main" id="{B6041711-2AA4-B826-F60E-71ED74D91CAC}"/>
                </a:ext>
              </a:extLst>
            </p:cNvPr>
            <p:cNvCxnSpPr>
              <a:cxnSpLocks/>
            </p:cNvCxnSpPr>
            <p:nvPr/>
          </p:nvCxnSpPr>
          <p:spPr>
            <a:xfrm flipV="1">
              <a:off x="6022109" y="4276792"/>
              <a:ext cx="0" cy="193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36" name="Рукописный ввод 35">
                <a:extLst>
                  <a:ext uri="{FF2B5EF4-FFF2-40B4-BE49-F238E27FC236}">
                    <a16:creationId xmlns:a16="http://schemas.microsoft.com/office/drawing/2014/main" id="{CC52DFAC-C49B-CF6D-FDFC-1F2973588C89}"/>
                  </a:ext>
                </a:extLst>
              </p14:cNvPr>
              <p14:cNvContentPartPr/>
              <p14:nvPr/>
            </p14:nvContentPartPr>
            <p14:xfrm>
              <a:off x="3770480" y="6281878"/>
              <a:ext cx="21240" cy="66960"/>
            </p14:xfrm>
          </p:contentPart>
        </mc:Choice>
        <mc:Fallback xmlns="">
          <p:pic>
            <p:nvPicPr>
              <p:cNvPr id="36" name="Рукописный ввод 35">
                <a:extLst>
                  <a:ext uri="{FF2B5EF4-FFF2-40B4-BE49-F238E27FC236}">
                    <a16:creationId xmlns:a16="http://schemas.microsoft.com/office/drawing/2014/main" id="{E38F8C0A-9FB8-8D17-B620-0C1527AD04A8}"/>
                  </a:ext>
                </a:extLst>
              </p:cNvPr>
              <p:cNvPicPr/>
              <p:nvPr/>
            </p:nvPicPr>
            <p:blipFill>
              <a:blip r:embed="rId9"/>
              <a:stretch>
                <a:fillRect/>
              </a:stretch>
            </p:blipFill>
            <p:spPr>
              <a:xfrm>
                <a:off x="3761840" y="6273238"/>
                <a:ext cx="38880" cy="84600"/>
              </a:xfrm>
              <a:prstGeom prst="rect">
                <a:avLst/>
              </a:prstGeom>
            </p:spPr>
          </p:pic>
        </mc:Fallback>
      </mc:AlternateContent>
    </p:spTree>
    <p:extLst>
      <p:ext uri="{BB962C8B-B14F-4D97-AF65-F5344CB8AC3E}">
        <p14:creationId xmlns:p14="http://schemas.microsoft.com/office/powerpoint/2010/main" val="106764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67235" cy="408109"/>
          </a:xfrm>
        </p:spPr>
        <p:txBody>
          <a:bodyPr/>
          <a:lstStyle/>
          <a:p>
            <a:r>
              <a:rPr lang="ru-RU" dirty="0"/>
              <a:t>Департамент теоретической экономики</a:t>
            </a:r>
          </a:p>
        </p:txBody>
      </p:sp>
      <p:sp>
        <p:nvSpPr>
          <p:cNvPr id="6" name="TextBox 5">
            <a:extLst>
              <a:ext uri="{FF2B5EF4-FFF2-40B4-BE49-F238E27FC236}">
                <a16:creationId xmlns:a16="http://schemas.microsoft.com/office/drawing/2014/main" id="{997D8610-965A-6F24-096D-C4BDFF70753A}"/>
              </a:ext>
            </a:extLst>
          </p:cNvPr>
          <p:cNvSpPr txBox="1"/>
          <p:nvPr/>
        </p:nvSpPr>
        <p:spPr>
          <a:xfrm>
            <a:off x="356377" y="2767280"/>
            <a:ext cx="11479245" cy="1323439"/>
          </a:xfrm>
          <a:prstGeom prst="rect">
            <a:avLst/>
          </a:prstGeom>
          <a:noFill/>
        </p:spPr>
        <p:txBody>
          <a:bodyPr wrap="square" rtlCol="0">
            <a:spAutoFit/>
          </a:bodyPr>
          <a:lstStyle/>
          <a:p>
            <a:pPr algn="ctr"/>
            <a:r>
              <a:rPr lang="ru-RU" sz="4000" b="1" dirty="0"/>
              <a:t>Кругооборот продукта, расходов и доходов в четырехсекторной модели экономики</a:t>
            </a:r>
          </a:p>
        </p:txBody>
      </p:sp>
      <p:grpSp>
        <p:nvGrpSpPr>
          <p:cNvPr id="104" name="Группа 103">
            <a:extLst>
              <a:ext uri="{FF2B5EF4-FFF2-40B4-BE49-F238E27FC236}">
                <a16:creationId xmlns:a16="http://schemas.microsoft.com/office/drawing/2014/main" id="{E0D6A3B9-DBCB-3D49-9D1C-B5435A20790F}"/>
              </a:ext>
            </a:extLst>
          </p:cNvPr>
          <p:cNvGrpSpPr/>
          <p:nvPr/>
        </p:nvGrpSpPr>
        <p:grpSpPr>
          <a:xfrm>
            <a:off x="11174600" y="4185958"/>
            <a:ext cx="59400" cy="19800"/>
            <a:chOff x="11174600" y="4185958"/>
            <a:chExt cx="59400" cy="19800"/>
          </a:xfrm>
        </p:grpSpPr>
        <mc:AlternateContent xmlns:mc="http://schemas.openxmlformats.org/markup-compatibility/2006" xmlns:p14="http://schemas.microsoft.com/office/powerpoint/2010/main">
          <mc:Choice Requires="p14">
            <p:contentPart p14:bwMode="auto" r:id="rId2">
              <p14:nvContentPartPr>
                <p14:cNvPr id="102" name="Рукописный ввод 101">
                  <a:extLst>
                    <a:ext uri="{FF2B5EF4-FFF2-40B4-BE49-F238E27FC236}">
                      <a16:creationId xmlns:a16="http://schemas.microsoft.com/office/drawing/2014/main" id="{5C3B3E94-556B-04A9-92F2-F6EF5688507D}"/>
                    </a:ext>
                  </a:extLst>
                </p14:cNvPr>
                <p14:cNvContentPartPr/>
                <p14:nvPr/>
              </p14:nvContentPartPr>
              <p14:xfrm>
                <a:off x="11185040" y="4191718"/>
                <a:ext cx="10800" cy="6120"/>
              </p14:xfrm>
            </p:contentPart>
          </mc:Choice>
          <mc:Fallback xmlns="">
            <p:pic>
              <p:nvPicPr>
                <p:cNvPr id="102" name="Рукописный ввод 101">
                  <a:extLst>
                    <a:ext uri="{FF2B5EF4-FFF2-40B4-BE49-F238E27FC236}">
                      <a16:creationId xmlns:a16="http://schemas.microsoft.com/office/drawing/2014/main" id="{5C3B3E94-556B-04A9-92F2-F6EF5688507D}"/>
                    </a:ext>
                  </a:extLst>
                </p:cNvPr>
                <p:cNvPicPr/>
                <p:nvPr/>
              </p:nvPicPr>
              <p:blipFill>
                <a:blip r:embed="rId3"/>
                <a:stretch>
                  <a:fillRect/>
                </a:stretch>
              </p:blipFill>
              <p:spPr>
                <a:xfrm>
                  <a:off x="11176400" y="4183078"/>
                  <a:ext cx="284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3" name="Рукописный ввод 102">
                  <a:extLst>
                    <a:ext uri="{FF2B5EF4-FFF2-40B4-BE49-F238E27FC236}">
                      <a16:creationId xmlns:a16="http://schemas.microsoft.com/office/drawing/2014/main" id="{9D1FB778-1A8B-3B3C-967F-FF6046CBBEAC}"/>
                    </a:ext>
                  </a:extLst>
                </p14:cNvPr>
                <p14:cNvContentPartPr/>
                <p14:nvPr/>
              </p14:nvContentPartPr>
              <p14:xfrm>
                <a:off x="11174600" y="4185958"/>
                <a:ext cx="59400" cy="19800"/>
              </p14:xfrm>
            </p:contentPart>
          </mc:Choice>
          <mc:Fallback xmlns="">
            <p:pic>
              <p:nvPicPr>
                <p:cNvPr id="103" name="Рукописный ввод 102">
                  <a:extLst>
                    <a:ext uri="{FF2B5EF4-FFF2-40B4-BE49-F238E27FC236}">
                      <a16:creationId xmlns:a16="http://schemas.microsoft.com/office/drawing/2014/main" id="{9D1FB778-1A8B-3B3C-967F-FF6046CBBEAC}"/>
                    </a:ext>
                  </a:extLst>
                </p:cNvPr>
                <p:cNvPicPr/>
                <p:nvPr/>
              </p:nvPicPr>
              <p:blipFill>
                <a:blip r:embed="rId5"/>
                <a:stretch>
                  <a:fillRect/>
                </a:stretch>
              </p:blipFill>
              <p:spPr>
                <a:xfrm>
                  <a:off x="11165960" y="4176958"/>
                  <a:ext cx="77040" cy="37440"/>
                </a:xfrm>
                <a:prstGeom prst="rect">
                  <a:avLst/>
                </a:prstGeom>
              </p:spPr>
            </p:pic>
          </mc:Fallback>
        </mc:AlternateContent>
      </p:grpSp>
    </p:spTree>
    <p:extLst>
      <p:ext uri="{BB962C8B-B14F-4D97-AF65-F5344CB8AC3E}">
        <p14:creationId xmlns:p14="http://schemas.microsoft.com/office/powerpoint/2010/main" val="3577694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C406D-DFC8-9CB8-9D89-E52B0A88207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20A4D3A6-94B3-2839-5732-D45714EFAC2F}"/>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E3982D5E-8F41-DF3B-4752-98DF2BF56D71}"/>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88EAFA0-F0B6-3C65-504D-6522827E7FD8}"/>
              </a:ext>
            </a:extLst>
          </p:cNvPr>
          <p:cNvSpPr>
            <a:spLocks noGrp="1"/>
          </p:cNvSpPr>
          <p:nvPr>
            <p:ph type="body" sz="quarter" idx="15"/>
          </p:nvPr>
        </p:nvSpPr>
        <p:spPr>
          <a:xfrm>
            <a:off x="6259891" y="548720"/>
            <a:ext cx="2967235" cy="408109"/>
          </a:xfrm>
        </p:spPr>
        <p:txBody>
          <a:bodyPr/>
          <a:lstStyle/>
          <a:p>
            <a:r>
              <a:rPr lang="ru-RU" dirty="0"/>
              <a:t>Департамент теоретической экономики</a:t>
            </a:r>
          </a:p>
        </p:txBody>
      </p:sp>
      <p:sp>
        <p:nvSpPr>
          <p:cNvPr id="6" name="TextBox 5">
            <a:extLst>
              <a:ext uri="{FF2B5EF4-FFF2-40B4-BE49-F238E27FC236}">
                <a16:creationId xmlns:a16="http://schemas.microsoft.com/office/drawing/2014/main" id="{11D1D771-6E6C-4EA8-5B27-C95DC9589288}"/>
              </a:ext>
            </a:extLst>
          </p:cNvPr>
          <p:cNvSpPr txBox="1"/>
          <p:nvPr/>
        </p:nvSpPr>
        <p:spPr>
          <a:xfrm>
            <a:off x="282486" y="917400"/>
            <a:ext cx="11479245" cy="954107"/>
          </a:xfrm>
          <a:prstGeom prst="rect">
            <a:avLst/>
          </a:prstGeom>
          <a:noFill/>
        </p:spPr>
        <p:txBody>
          <a:bodyPr wrap="square" rtlCol="0">
            <a:spAutoFit/>
          </a:bodyPr>
          <a:lstStyle/>
          <a:p>
            <a:pPr algn="ctr"/>
            <a:r>
              <a:rPr lang="ru-RU" sz="2800" b="1" dirty="0"/>
              <a:t>Кругооборот продукта, расходов и доходов в четырехсекторной модели экономики</a:t>
            </a:r>
          </a:p>
        </p:txBody>
      </p:sp>
      <p:grpSp>
        <p:nvGrpSpPr>
          <p:cNvPr id="7" name="Группа 6">
            <a:extLst>
              <a:ext uri="{FF2B5EF4-FFF2-40B4-BE49-F238E27FC236}">
                <a16:creationId xmlns:a16="http://schemas.microsoft.com/office/drawing/2014/main" id="{CF7B457C-FA27-3E46-0F03-14BA6D35812C}"/>
              </a:ext>
            </a:extLst>
          </p:cNvPr>
          <p:cNvGrpSpPr/>
          <p:nvPr/>
        </p:nvGrpSpPr>
        <p:grpSpPr>
          <a:xfrm>
            <a:off x="536875" y="2320387"/>
            <a:ext cx="10850704" cy="3983964"/>
            <a:chOff x="536875" y="2320387"/>
            <a:chExt cx="10850704" cy="3983964"/>
          </a:xfrm>
        </p:grpSpPr>
        <p:sp>
          <p:nvSpPr>
            <p:cNvPr id="8" name="TextBox 7">
              <a:extLst>
                <a:ext uri="{FF2B5EF4-FFF2-40B4-BE49-F238E27FC236}">
                  <a16:creationId xmlns:a16="http://schemas.microsoft.com/office/drawing/2014/main" id="{CF72F034-2630-FB3A-AB8D-B7D1790F0B7D}"/>
                </a:ext>
              </a:extLst>
            </p:cNvPr>
            <p:cNvSpPr txBox="1"/>
            <p:nvPr/>
          </p:nvSpPr>
          <p:spPr>
            <a:xfrm>
              <a:off x="9982985" y="3725851"/>
              <a:ext cx="1404594" cy="461665"/>
            </a:xfrm>
            <a:prstGeom prst="rect">
              <a:avLst/>
            </a:prstGeom>
            <a:noFill/>
            <a:ln w="6350">
              <a:solidFill>
                <a:schemeClr val="tx1"/>
              </a:solidFill>
            </a:ln>
          </p:spPr>
          <p:txBody>
            <a:bodyPr wrap="square" rtlCol="0">
              <a:spAutoFit/>
            </a:bodyPr>
            <a:lstStyle/>
            <a:p>
              <a:pPr algn="l"/>
              <a:r>
                <a:rPr lang="ru-RU" sz="2400" b="1" dirty="0">
                  <a:latin typeface="HSE Sans" panose="02000000000000000000" pitchFamily="2" charset="0"/>
                </a:rPr>
                <a:t>ФИРМА</a:t>
              </a:r>
            </a:p>
          </p:txBody>
        </p:sp>
        <p:sp>
          <p:nvSpPr>
            <p:cNvPr id="9" name="TextBox 8">
              <a:extLst>
                <a:ext uri="{FF2B5EF4-FFF2-40B4-BE49-F238E27FC236}">
                  <a16:creationId xmlns:a16="http://schemas.microsoft.com/office/drawing/2014/main" id="{68B53C82-DB07-6E0E-07C8-5D8941E1ACBF}"/>
                </a:ext>
              </a:extLst>
            </p:cNvPr>
            <p:cNvSpPr txBox="1"/>
            <p:nvPr/>
          </p:nvSpPr>
          <p:spPr>
            <a:xfrm>
              <a:off x="536875" y="3813050"/>
              <a:ext cx="2605816" cy="461665"/>
            </a:xfrm>
            <a:prstGeom prst="rect">
              <a:avLst/>
            </a:prstGeom>
            <a:noFill/>
            <a:ln w="6350">
              <a:solidFill>
                <a:schemeClr val="tx1"/>
              </a:solidFill>
            </a:ln>
          </p:spPr>
          <p:txBody>
            <a:bodyPr wrap="square" rtlCol="0">
              <a:spAutoFit/>
            </a:bodyPr>
            <a:lstStyle/>
            <a:p>
              <a:r>
                <a:rPr lang="ru-RU" sz="2400" b="1" dirty="0"/>
                <a:t>ДОМОХОЗЯЙСТВА</a:t>
              </a:r>
            </a:p>
          </p:txBody>
        </p:sp>
        <p:sp>
          <p:nvSpPr>
            <p:cNvPr id="10" name="TextBox 9">
              <a:extLst>
                <a:ext uri="{FF2B5EF4-FFF2-40B4-BE49-F238E27FC236}">
                  <a16:creationId xmlns:a16="http://schemas.microsoft.com/office/drawing/2014/main" id="{A3D68C65-E5E9-C7BD-5B2A-EE5DF62B1976}"/>
                </a:ext>
              </a:extLst>
            </p:cNvPr>
            <p:cNvSpPr txBox="1"/>
            <p:nvPr/>
          </p:nvSpPr>
          <p:spPr>
            <a:xfrm>
              <a:off x="3609371" y="5842686"/>
              <a:ext cx="5101616" cy="461665"/>
            </a:xfrm>
            <a:prstGeom prst="rect">
              <a:avLst/>
            </a:prstGeom>
            <a:noFill/>
            <a:ln>
              <a:solidFill>
                <a:schemeClr val="tx1"/>
              </a:solidFill>
              <a:prstDash val="solid"/>
            </a:ln>
          </p:spPr>
          <p:txBody>
            <a:bodyPr wrap="square" rtlCol="0">
              <a:spAutoFit/>
            </a:bodyPr>
            <a:lstStyle/>
            <a:p>
              <a:r>
                <a:rPr lang="ru-RU" sz="2400" b="1" dirty="0"/>
                <a:t>РЫНОК ЭКОНОМИЧЕСКИХ РЕСУРСОВ</a:t>
              </a:r>
            </a:p>
          </p:txBody>
        </p:sp>
        <p:sp>
          <p:nvSpPr>
            <p:cNvPr id="11" name="TextBox 10">
              <a:extLst>
                <a:ext uri="{FF2B5EF4-FFF2-40B4-BE49-F238E27FC236}">
                  <a16:creationId xmlns:a16="http://schemas.microsoft.com/office/drawing/2014/main" id="{A98FCF50-4F39-2B20-631C-56D3FA76F174}"/>
                </a:ext>
              </a:extLst>
            </p:cNvPr>
            <p:cNvSpPr txBox="1"/>
            <p:nvPr/>
          </p:nvSpPr>
          <p:spPr>
            <a:xfrm>
              <a:off x="4280025" y="2421087"/>
              <a:ext cx="3660339" cy="461665"/>
            </a:xfrm>
            <a:prstGeom prst="rect">
              <a:avLst/>
            </a:prstGeom>
            <a:noFill/>
            <a:ln w="6350">
              <a:solidFill>
                <a:schemeClr val="tx1"/>
              </a:solidFill>
            </a:ln>
          </p:spPr>
          <p:txBody>
            <a:bodyPr wrap="square" rtlCol="0">
              <a:spAutoFit/>
            </a:bodyPr>
            <a:lstStyle/>
            <a:p>
              <a:r>
                <a:rPr lang="ru-RU" sz="2400" b="1" dirty="0"/>
                <a:t>РЫНОК ТОВАРОВ И УСЛУГ</a:t>
              </a:r>
            </a:p>
          </p:txBody>
        </p:sp>
        <p:sp>
          <p:nvSpPr>
            <p:cNvPr id="12" name="TextBox 11">
              <a:extLst>
                <a:ext uri="{FF2B5EF4-FFF2-40B4-BE49-F238E27FC236}">
                  <a16:creationId xmlns:a16="http://schemas.microsoft.com/office/drawing/2014/main" id="{443FD753-025E-313A-4915-3C3D9B11F627}"/>
                </a:ext>
              </a:extLst>
            </p:cNvPr>
            <p:cNvSpPr txBox="1"/>
            <p:nvPr/>
          </p:nvSpPr>
          <p:spPr>
            <a:xfrm>
              <a:off x="8208863" y="2386742"/>
              <a:ext cx="2650645" cy="369332"/>
            </a:xfrm>
            <a:prstGeom prst="rect">
              <a:avLst/>
            </a:prstGeom>
            <a:noFill/>
          </p:spPr>
          <p:txBody>
            <a:bodyPr wrap="square" rtlCol="0">
              <a:spAutoFit/>
            </a:bodyPr>
            <a:lstStyle/>
            <a:p>
              <a:pPr algn="l"/>
              <a:r>
                <a:rPr lang="ru-RU" dirty="0">
                  <a:latin typeface="HSE Sans" panose="02000000000000000000" pitchFamily="2" charset="0"/>
                </a:rPr>
                <a:t>ВЫРУЧКА ОТ ПРОДАЖ</a:t>
              </a:r>
            </a:p>
          </p:txBody>
        </p:sp>
        <p:sp>
          <p:nvSpPr>
            <p:cNvPr id="13" name="TextBox 12">
              <a:extLst>
                <a:ext uri="{FF2B5EF4-FFF2-40B4-BE49-F238E27FC236}">
                  <a16:creationId xmlns:a16="http://schemas.microsoft.com/office/drawing/2014/main" id="{8FB10695-F4A5-BB1D-3E05-4ADC85D1A1A2}"/>
                </a:ext>
              </a:extLst>
            </p:cNvPr>
            <p:cNvSpPr txBox="1"/>
            <p:nvPr/>
          </p:nvSpPr>
          <p:spPr>
            <a:xfrm>
              <a:off x="995458" y="2320387"/>
              <a:ext cx="3417945" cy="369332"/>
            </a:xfrm>
            <a:prstGeom prst="rect">
              <a:avLst/>
            </a:prstGeom>
            <a:noFill/>
          </p:spPr>
          <p:txBody>
            <a:bodyPr wrap="square" rtlCol="0">
              <a:spAutoFit/>
            </a:bodyPr>
            <a:lstStyle/>
            <a:p>
              <a:pPr algn="l"/>
              <a:r>
                <a:rPr lang="ru-RU" dirty="0">
                  <a:latin typeface="HSE Sans" panose="02000000000000000000" pitchFamily="2" charset="0"/>
                </a:rPr>
                <a:t>ПОТРЕБИТЕЛЬСКИЕ РАСХОДЫ</a:t>
              </a:r>
            </a:p>
          </p:txBody>
        </p:sp>
        <p:sp>
          <p:nvSpPr>
            <p:cNvPr id="14" name="TextBox 13">
              <a:extLst>
                <a:ext uri="{FF2B5EF4-FFF2-40B4-BE49-F238E27FC236}">
                  <a16:creationId xmlns:a16="http://schemas.microsoft.com/office/drawing/2014/main" id="{4F8FC6FB-2A51-83F3-9D0E-7613000CA58E}"/>
                </a:ext>
              </a:extLst>
            </p:cNvPr>
            <p:cNvSpPr txBox="1"/>
            <p:nvPr/>
          </p:nvSpPr>
          <p:spPr>
            <a:xfrm>
              <a:off x="1839783" y="5713284"/>
              <a:ext cx="1229954" cy="369332"/>
            </a:xfrm>
            <a:prstGeom prst="rect">
              <a:avLst/>
            </a:prstGeom>
            <a:noFill/>
          </p:spPr>
          <p:txBody>
            <a:bodyPr wrap="square" rtlCol="0">
              <a:spAutoFit/>
            </a:bodyPr>
            <a:lstStyle/>
            <a:p>
              <a:pPr algn="l"/>
              <a:r>
                <a:rPr lang="ru-RU" dirty="0">
                  <a:latin typeface="HSE Sans" panose="02000000000000000000" pitchFamily="2" charset="0"/>
                </a:rPr>
                <a:t>ДОХОДЫ</a:t>
              </a:r>
            </a:p>
          </p:txBody>
        </p:sp>
        <p:sp>
          <p:nvSpPr>
            <p:cNvPr id="15" name="TextBox 14">
              <a:extLst>
                <a:ext uri="{FF2B5EF4-FFF2-40B4-BE49-F238E27FC236}">
                  <a16:creationId xmlns:a16="http://schemas.microsoft.com/office/drawing/2014/main" id="{F6EBDFEF-4C76-A41B-177B-4E7283ECA7D2}"/>
                </a:ext>
              </a:extLst>
            </p:cNvPr>
            <p:cNvSpPr txBox="1"/>
            <p:nvPr/>
          </p:nvSpPr>
          <p:spPr>
            <a:xfrm>
              <a:off x="8736926" y="5695624"/>
              <a:ext cx="2244431" cy="369332"/>
            </a:xfrm>
            <a:prstGeom prst="rect">
              <a:avLst/>
            </a:prstGeom>
            <a:noFill/>
          </p:spPr>
          <p:txBody>
            <a:bodyPr wrap="square" rtlCol="0">
              <a:spAutoFit/>
            </a:bodyPr>
            <a:lstStyle/>
            <a:p>
              <a:pPr algn="l"/>
              <a:r>
                <a:rPr lang="ru-RU" dirty="0">
                  <a:latin typeface="HSE Sans" panose="02000000000000000000" pitchFamily="2" charset="0"/>
                </a:rPr>
                <a:t>ПЛАТА ЗА РЕСУРСЫ</a:t>
              </a:r>
            </a:p>
          </p:txBody>
        </p:sp>
        <p:sp>
          <p:nvSpPr>
            <p:cNvPr id="16" name="TextBox 15">
              <a:extLst>
                <a:ext uri="{FF2B5EF4-FFF2-40B4-BE49-F238E27FC236}">
                  <a16:creationId xmlns:a16="http://schemas.microsoft.com/office/drawing/2014/main" id="{AD78E92F-E889-A570-F35C-329460A862F8}"/>
                </a:ext>
              </a:extLst>
            </p:cNvPr>
            <p:cNvSpPr txBox="1"/>
            <p:nvPr/>
          </p:nvSpPr>
          <p:spPr>
            <a:xfrm>
              <a:off x="4494213" y="4470270"/>
              <a:ext cx="3383311" cy="461665"/>
            </a:xfrm>
            <a:prstGeom prst="rect">
              <a:avLst/>
            </a:prstGeom>
            <a:noFill/>
            <a:ln w="6350">
              <a:solidFill>
                <a:schemeClr val="tx1"/>
              </a:solidFill>
            </a:ln>
          </p:spPr>
          <p:txBody>
            <a:bodyPr wrap="square" rtlCol="0">
              <a:spAutoFit/>
            </a:bodyPr>
            <a:lstStyle/>
            <a:p>
              <a:pPr algn="ctr"/>
              <a:r>
                <a:rPr lang="ru-RU" sz="2400" b="1" dirty="0"/>
                <a:t>ФИНАНСОВЫЙ РЫНОК</a:t>
              </a:r>
            </a:p>
          </p:txBody>
        </p:sp>
        <p:cxnSp>
          <p:nvCxnSpPr>
            <p:cNvPr id="17" name="Прямая соединительная линия 16">
              <a:extLst>
                <a:ext uri="{FF2B5EF4-FFF2-40B4-BE49-F238E27FC236}">
                  <a16:creationId xmlns:a16="http://schemas.microsoft.com/office/drawing/2014/main" id="{97D0F7E9-4208-B0B7-C782-42177F901A75}"/>
                </a:ext>
              </a:extLst>
            </p:cNvPr>
            <p:cNvCxnSpPr>
              <a:cxnSpLocks/>
            </p:cNvCxnSpPr>
            <p:nvPr/>
          </p:nvCxnSpPr>
          <p:spPr>
            <a:xfrm>
              <a:off x="2778202" y="4362718"/>
              <a:ext cx="0" cy="421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F1493952-4F47-71DE-0EEB-46341162FACB}"/>
                </a:ext>
              </a:extLst>
            </p:cNvPr>
            <p:cNvCxnSpPr>
              <a:cxnSpLocks/>
            </p:cNvCxnSpPr>
            <p:nvPr/>
          </p:nvCxnSpPr>
          <p:spPr>
            <a:xfrm>
              <a:off x="2778202" y="4784436"/>
              <a:ext cx="15941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A5C7294E-9934-32FF-5FC5-315E10279A42}"/>
                </a:ext>
              </a:extLst>
            </p:cNvPr>
            <p:cNvCxnSpPr>
              <a:cxnSpLocks/>
            </p:cNvCxnSpPr>
            <p:nvPr/>
          </p:nvCxnSpPr>
          <p:spPr>
            <a:xfrm>
              <a:off x="8034635" y="4784436"/>
              <a:ext cx="21715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EFAED47D-CED5-6B7B-F397-4C34E8A4A5E4}"/>
                </a:ext>
              </a:extLst>
            </p:cNvPr>
            <p:cNvCxnSpPr>
              <a:cxnSpLocks/>
            </p:cNvCxnSpPr>
            <p:nvPr/>
          </p:nvCxnSpPr>
          <p:spPr>
            <a:xfrm flipV="1">
              <a:off x="10206182" y="4274715"/>
              <a:ext cx="0" cy="509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BD2CF67-5854-ABC6-9D63-5784860F4F33}"/>
                </a:ext>
              </a:extLst>
            </p:cNvPr>
            <p:cNvSpPr txBox="1"/>
            <p:nvPr/>
          </p:nvSpPr>
          <p:spPr>
            <a:xfrm>
              <a:off x="2792335" y="4479044"/>
              <a:ext cx="1750343" cy="369332"/>
            </a:xfrm>
            <a:prstGeom prst="rect">
              <a:avLst/>
            </a:prstGeom>
            <a:noFill/>
          </p:spPr>
          <p:txBody>
            <a:bodyPr wrap="square" rtlCol="0">
              <a:spAutoFit/>
            </a:bodyPr>
            <a:lstStyle/>
            <a:p>
              <a:pPr algn="l"/>
              <a:r>
                <a:rPr lang="ru-RU" dirty="0">
                  <a:latin typeface="HSE Sans" panose="02000000000000000000" pitchFamily="2" charset="0"/>
                </a:rPr>
                <a:t>СБЕРЕЖЕНИЯ</a:t>
              </a:r>
            </a:p>
          </p:txBody>
        </p:sp>
        <p:sp>
          <p:nvSpPr>
            <p:cNvPr id="22" name="TextBox 21">
              <a:extLst>
                <a:ext uri="{FF2B5EF4-FFF2-40B4-BE49-F238E27FC236}">
                  <a16:creationId xmlns:a16="http://schemas.microsoft.com/office/drawing/2014/main" id="{F86D18D0-0C72-0716-7DF2-7DE61616A150}"/>
                </a:ext>
              </a:extLst>
            </p:cNvPr>
            <p:cNvSpPr txBox="1"/>
            <p:nvPr/>
          </p:nvSpPr>
          <p:spPr>
            <a:xfrm>
              <a:off x="7868288" y="4461727"/>
              <a:ext cx="2244431" cy="369332"/>
            </a:xfrm>
            <a:prstGeom prst="rect">
              <a:avLst/>
            </a:prstGeom>
            <a:noFill/>
          </p:spPr>
          <p:txBody>
            <a:bodyPr wrap="square" rtlCol="0">
              <a:spAutoFit/>
            </a:bodyPr>
            <a:lstStyle/>
            <a:p>
              <a:pPr algn="l"/>
              <a:r>
                <a:rPr lang="ru-RU" dirty="0">
                  <a:latin typeface="HSE Sans" panose="02000000000000000000" pitchFamily="2" charset="0"/>
                </a:rPr>
                <a:t>ЗАЕМНЫЕ СРЕДСТВА</a:t>
              </a:r>
            </a:p>
          </p:txBody>
        </p:sp>
        <p:cxnSp>
          <p:nvCxnSpPr>
            <p:cNvPr id="23" name="Прямая соединительная линия 22">
              <a:extLst>
                <a:ext uri="{FF2B5EF4-FFF2-40B4-BE49-F238E27FC236}">
                  <a16:creationId xmlns:a16="http://schemas.microsoft.com/office/drawing/2014/main" id="{AAB6EC04-E224-27EC-C109-279407600596}"/>
                </a:ext>
              </a:extLst>
            </p:cNvPr>
            <p:cNvCxnSpPr>
              <a:cxnSpLocks/>
            </p:cNvCxnSpPr>
            <p:nvPr/>
          </p:nvCxnSpPr>
          <p:spPr>
            <a:xfrm flipV="1">
              <a:off x="10183190" y="2778088"/>
              <a:ext cx="0" cy="78449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a:extLst>
                <a:ext uri="{FF2B5EF4-FFF2-40B4-BE49-F238E27FC236}">
                  <a16:creationId xmlns:a16="http://schemas.microsoft.com/office/drawing/2014/main" id="{A2ED76AF-B70A-6B03-0936-F944FD165EC9}"/>
                </a:ext>
              </a:extLst>
            </p:cNvPr>
            <p:cNvCxnSpPr>
              <a:cxnSpLocks/>
            </p:cNvCxnSpPr>
            <p:nvPr/>
          </p:nvCxnSpPr>
          <p:spPr>
            <a:xfrm flipH="1" flipV="1">
              <a:off x="8034635" y="2770909"/>
              <a:ext cx="2148555" cy="7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B2B78B3-FFCC-E782-3177-1D89DBEE60A4}"/>
                </a:ext>
              </a:extLst>
            </p:cNvPr>
            <p:cNvSpPr txBox="1"/>
            <p:nvPr/>
          </p:nvSpPr>
          <p:spPr>
            <a:xfrm>
              <a:off x="7971787" y="2860040"/>
              <a:ext cx="2259179" cy="584775"/>
            </a:xfrm>
            <a:prstGeom prst="rect">
              <a:avLst/>
            </a:prstGeom>
            <a:noFill/>
          </p:spPr>
          <p:txBody>
            <a:bodyPr wrap="square" rtlCol="0">
              <a:spAutoFit/>
            </a:bodyPr>
            <a:lstStyle/>
            <a:p>
              <a:pPr algn="ctr"/>
              <a:r>
                <a:rPr lang="ru-RU" sz="1600" dirty="0">
                  <a:latin typeface="HSE Sans" panose="02000000000000000000" pitchFamily="2" charset="0"/>
                </a:rPr>
                <a:t>ИНВЕСТИЦИОННЫЕ РАСХОДЫ</a:t>
              </a:r>
            </a:p>
          </p:txBody>
        </p:sp>
        <p:cxnSp>
          <p:nvCxnSpPr>
            <p:cNvPr id="26" name="Прямая соединительная линия 25">
              <a:extLst>
                <a:ext uri="{FF2B5EF4-FFF2-40B4-BE49-F238E27FC236}">
                  <a16:creationId xmlns:a16="http://schemas.microsoft.com/office/drawing/2014/main" id="{0E1E4920-08FE-EF60-4EC2-2C0281E20FCF}"/>
                </a:ext>
              </a:extLst>
            </p:cNvPr>
            <p:cNvCxnSpPr/>
            <p:nvPr/>
          </p:nvCxnSpPr>
          <p:spPr>
            <a:xfrm flipV="1">
              <a:off x="10708849" y="4362718"/>
              <a:ext cx="0" cy="17022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a:extLst>
                <a:ext uri="{FF2B5EF4-FFF2-40B4-BE49-F238E27FC236}">
                  <a16:creationId xmlns:a16="http://schemas.microsoft.com/office/drawing/2014/main" id="{67E66339-529F-5D93-3258-1CFFED163983}"/>
                </a:ext>
              </a:extLst>
            </p:cNvPr>
            <p:cNvCxnSpPr/>
            <p:nvPr/>
          </p:nvCxnSpPr>
          <p:spPr>
            <a:xfrm flipH="1">
              <a:off x="8802255" y="6064957"/>
              <a:ext cx="190659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a:extLst>
                <a:ext uri="{FF2B5EF4-FFF2-40B4-BE49-F238E27FC236}">
                  <a16:creationId xmlns:a16="http://schemas.microsoft.com/office/drawing/2014/main" id="{03129018-D898-DC44-7687-48C3FCC7B41F}"/>
                </a:ext>
              </a:extLst>
            </p:cNvPr>
            <p:cNvCxnSpPr>
              <a:cxnSpLocks/>
            </p:cNvCxnSpPr>
            <p:nvPr/>
          </p:nvCxnSpPr>
          <p:spPr>
            <a:xfrm flipH="1">
              <a:off x="1470582" y="6066562"/>
              <a:ext cx="2047521" cy="1027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a:extLst>
                <a:ext uri="{FF2B5EF4-FFF2-40B4-BE49-F238E27FC236}">
                  <a16:creationId xmlns:a16="http://schemas.microsoft.com/office/drawing/2014/main" id="{58A0D71F-9EC2-CA32-5EEC-8F7C611327DE}"/>
                </a:ext>
              </a:extLst>
            </p:cNvPr>
            <p:cNvCxnSpPr/>
            <p:nvPr/>
          </p:nvCxnSpPr>
          <p:spPr>
            <a:xfrm flipV="1">
              <a:off x="1470582" y="4470270"/>
              <a:ext cx="0" cy="16065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a:extLst>
                <a:ext uri="{FF2B5EF4-FFF2-40B4-BE49-F238E27FC236}">
                  <a16:creationId xmlns:a16="http://schemas.microsoft.com/office/drawing/2014/main" id="{A59C174E-6AA6-FD3A-8D43-5ED50BA34569}"/>
                </a:ext>
              </a:extLst>
            </p:cNvPr>
            <p:cNvCxnSpPr/>
            <p:nvPr/>
          </p:nvCxnSpPr>
          <p:spPr>
            <a:xfrm flipV="1">
              <a:off x="1470582" y="2651918"/>
              <a:ext cx="0" cy="107393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961673AC-6574-2785-E48E-7F3B4108A782}"/>
                </a:ext>
              </a:extLst>
            </p:cNvPr>
            <p:cNvCxnSpPr>
              <a:cxnSpLocks/>
            </p:cNvCxnSpPr>
            <p:nvPr/>
          </p:nvCxnSpPr>
          <p:spPr>
            <a:xfrm>
              <a:off x="1470582" y="2651919"/>
              <a:ext cx="263036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84837326-00F1-32F8-0552-93BB7B80D33F}"/>
                </a:ext>
              </a:extLst>
            </p:cNvPr>
            <p:cNvCxnSpPr/>
            <p:nvPr/>
          </p:nvCxnSpPr>
          <p:spPr>
            <a:xfrm>
              <a:off x="8018296" y="2701208"/>
              <a:ext cx="265064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32">
              <a:extLst>
                <a:ext uri="{FF2B5EF4-FFF2-40B4-BE49-F238E27FC236}">
                  <a16:creationId xmlns:a16="http://schemas.microsoft.com/office/drawing/2014/main" id="{A3572D75-E0B2-4893-BE84-67FF4F660888}"/>
                </a:ext>
              </a:extLst>
            </p:cNvPr>
            <p:cNvCxnSpPr/>
            <p:nvPr/>
          </p:nvCxnSpPr>
          <p:spPr>
            <a:xfrm>
              <a:off x="10668943" y="2707043"/>
              <a:ext cx="0" cy="9587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5C3222ED-ED61-838E-0EB2-D77C9746AD7B}"/>
                </a:ext>
              </a:extLst>
            </p:cNvPr>
            <p:cNvSpPr txBox="1"/>
            <p:nvPr/>
          </p:nvSpPr>
          <p:spPr>
            <a:xfrm>
              <a:off x="4857271" y="3799739"/>
              <a:ext cx="2605816" cy="461665"/>
            </a:xfrm>
            <a:prstGeom prst="rect">
              <a:avLst/>
            </a:prstGeom>
            <a:noFill/>
            <a:ln w="6350">
              <a:solidFill>
                <a:schemeClr val="tx1"/>
              </a:solidFill>
            </a:ln>
          </p:spPr>
          <p:txBody>
            <a:bodyPr wrap="square" rtlCol="0">
              <a:spAutoFit/>
            </a:bodyPr>
            <a:lstStyle/>
            <a:p>
              <a:pPr algn="ctr"/>
              <a:r>
                <a:rPr lang="ru-RU" sz="2400" b="1" dirty="0"/>
                <a:t>ГОСУДАРСТВО</a:t>
              </a:r>
            </a:p>
          </p:txBody>
        </p:sp>
        <p:cxnSp>
          <p:nvCxnSpPr>
            <p:cNvPr id="35" name="Прямая со стрелкой 34">
              <a:extLst>
                <a:ext uri="{FF2B5EF4-FFF2-40B4-BE49-F238E27FC236}">
                  <a16:creationId xmlns:a16="http://schemas.microsoft.com/office/drawing/2014/main" id="{D5CF4B2A-160C-055A-DD38-71391F77B24D}"/>
                </a:ext>
              </a:extLst>
            </p:cNvPr>
            <p:cNvCxnSpPr>
              <a:cxnSpLocks/>
            </p:cNvCxnSpPr>
            <p:nvPr/>
          </p:nvCxnSpPr>
          <p:spPr>
            <a:xfrm>
              <a:off x="3300958" y="3911983"/>
              <a:ext cx="14316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35">
              <a:extLst>
                <a:ext uri="{FF2B5EF4-FFF2-40B4-BE49-F238E27FC236}">
                  <a16:creationId xmlns:a16="http://schemas.microsoft.com/office/drawing/2014/main" id="{66B0BFB8-0446-BF71-6267-C8AA6ADAA981}"/>
                </a:ext>
              </a:extLst>
            </p:cNvPr>
            <p:cNvCxnSpPr>
              <a:cxnSpLocks/>
            </p:cNvCxnSpPr>
            <p:nvPr/>
          </p:nvCxnSpPr>
          <p:spPr>
            <a:xfrm>
              <a:off x="7718301" y="4043882"/>
              <a:ext cx="2037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Прямая со стрелкой 36">
              <a:extLst>
                <a:ext uri="{FF2B5EF4-FFF2-40B4-BE49-F238E27FC236}">
                  <a16:creationId xmlns:a16="http://schemas.microsoft.com/office/drawing/2014/main" id="{CEE486A9-838D-3694-5C46-012C97060CBC}"/>
                </a:ext>
              </a:extLst>
            </p:cNvPr>
            <p:cNvCxnSpPr>
              <a:cxnSpLocks/>
            </p:cNvCxnSpPr>
            <p:nvPr/>
          </p:nvCxnSpPr>
          <p:spPr>
            <a:xfrm flipH="1">
              <a:off x="7654943" y="3911983"/>
              <a:ext cx="2100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Прямая со стрелкой 37">
              <a:extLst>
                <a:ext uri="{FF2B5EF4-FFF2-40B4-BE49-F238E27FC236}">
                  <a16:creationId xmlns:a16="http://schemas.microsoft.com/office/drawing/2014/main" id="{2616C5D5-7189-92CC-10F2-AFEEC121F06A}"/>
                </a:ext>
              </a:extLst>
            </p:cNvPr>
            <p:cNvCxnSpPr>
              <a:cxnSpLocks/>
            </p:cNvCxnSpPr>
            <p:nvPr/>
          </p:nvCxnSpPr>
          <p:spPr>
            <a:xfrm flipH="1">
              <a:off x="3231184" y="4046135"/>
              <a:ext cx="1501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3024F72-9644-F9EF-992A-86EABCF8F428}"/>
                </a:ext>
              </a:extLst>
            </p:cNvPr>
            <p:cNvSpPr txBox="1"/>
            <p:nvPr/>
          </p:nvSpPr>
          <p:spPr>
            <a:xfrm>
              <a:off x="3471012" y="3578406"/>
              <a:ext cx="1141413" cy="369332"/>
            </a:xfrm>
            <a:prstGeom prst="rect">
              <a:avLst/>
            </a:prstGeom>
            <a:noFill/>
          </p:spPr>
          <p:txBody>
            <a:bodyPr wrap="square" rtlCol="0">
              <a:spAutoFit/>
            </a:bodyPr>
            <a:lstStyle/>
            <a:p>
              <a:pPr algn="l"/>
              <a:r>
                <a:rPr lang="ru-RU" dirty="0">
                  <a:latin typeface="HSE Sans" panose="02000000000000000000" pitchFamily="2" charset="0"/>
                </a:rPr>
                <a:t>НАЛОГИ</a:t>
              </a:r>
            </a:p>
          </p:txBody>
        </p:sp>
        <p:sp>
          <p:nvSpPr>
            <p:cNvPr id="40" name="TextBox 39">
              <a:extLst>
                <a:ext uri="{FF2B5EF4-FFF2-40B4-BE49-F238E27FC236}">
                  <a16:creationId xmlns:a16="http://schemas.microsoft.com/office/drawing/2014/main" id="{06212E76-D83B-3C23-DC6D-19CC53FECC23}"/>
                </a:ext>
              </a:extLst>
            </p:cNvPr>
            <p:cNvSpPr txBox="1"/>
            <p:nvPr/>
          </p:nvSpPr>
          <p:spPr>
            <a:xfrm>
              <a:off x="8366517" y="3620017"/>
              <a:ext cx="1141413" cy="369332"/>
            </a:xfrm>
            <a:prstGeom prst="rect">
              <a:avLst/>
            </a:prstGeom>
            <a:noFill/>
          </p:spPr>
          <p:txBody>
            <a:bodyPr wrap="square" rtlCol="0">
              <a:spAutoFit/>
            </a:bodyPr>
            <a:lstStyle/>
            <a:p>
              <a:pPr algn="l"/>
              <a:r>
                <a:rPr lang="ru-RU" dirty="0">
                  <a:latin typeface="HSE Sans" panose="02000000000000000000" pitchFamily="2" charset="0"/>
                </a:rPr>
                <a:t>НАЛОГИ</a:t>
              </a:r>
            </a:p>
          </p:txBody>
        </p:sp>
        <p:sp>
          <p:nvSpPr>
            <p:cNvPr id="41" name="TextBox 40">
              <a:extLst>
                <a:ext uri="{FF2B5EF4-FFF2-40B4-BE49-F238E27FC236}">
                  <a16:creationId xmlns:a16="http://schemas.microsoft.com/office/drawing/2014/main" id="{91E26C29-E390-DD71-D86C-C10672EEB137}"/>
                </a:ext>
              </a:extLst>
            </p:cNvPr>
            <p:cNvSpPr txBox="1"/>
            <p:nvPr/>
          </p:nvSpPr>
          <p:spPr>
            <a:xfrm>
              <a:off x="3121043" y="4030571"/>
              <a:ext cx="1538473" cy="369332"/>
            </a:xfrm>
            <a:prstGeom prst="rect">
              <a:avLst/>
            </a:prstGeom>
            <a:noFill/>
          </p:spPr>
          <p:txBody>
            <a:bodyPr wrap="square" rtlCol="0">
              <a:spAutoFit/>
            </a:bodyPr>
            <a:lstStyle/>
            <a:p>
              <a:pPr algn="l"/>
              <a:r>
                <a:rPr lang="ru-RU" dirty="0">
                  <a:latin typeface="HSE Sans" panose="02000000000000000000" pitchFamily="2" charset="0"/>
                </a:rPr>
                <a:t>ТРАНСФЕРТЫ</a:t>
              </a:r>
            </a:p>
          </p:txBody>
        </p:sp>
        <p:sp>
          <p:nvSpPr>
            <p:cNvPr id="42" name="TextBox 41">
              <a:extLst>
                <a:ext uri="{FF2B5EF4-FFF2-40B4-BE49-F238E27FC236}">
                  <a16:creationId xmlns:a16="http://schemas.microsoft.com/office/drawing/2014/main" id="{3E1DC65C-9CDC-BF1C-67C0-1D954D4ACCED}"/>
                </a:ext>
              </a:extLst>
            </p:cNvPr>
            <p:cNvSpPr txBox="1"/>
            <p:nvPr/>
          </p:nvSpPr>
          <p:spPr>
            <a:xfrm>
              <a:off x="8208863" y="4030571"/>
              <a:ext cx="1415605" cy="369332"/>
            </a:xfrm>
            <a:prstGeom prst="rect">
              <a:avLst/>
            </a:prstGeom>
            <a:noFill/>
          </p:spPr>
          <p:txBody>
            <a:bodyPr wrap="square" rtlCol="0">
              <a:spAutoFit/>
            </a:bodyPr>
            <a:lstStyle/>
            <a:p>
              <a:pPr algn="l"/>
              <a:r>
                <a:rPr lang="ru-RU" dirty="0">
                  <a:latin typeface="HSE Sans" panose="02000000000000000000" pitchFamily="2" charset="0"/>
                </a:rPr>
                <a:t>СУБСИДИИ</a:t>
              </a:r>
            </a:p>
          </p:txBody>
        </p:sp>
        <p:cxnSp>
          <p:nvCxnSpPr>
            <p:cNvPr id="43" name="Прямая со стрелкой 42">
              <a:extLst>
                <a:ext uri="{FF2B5EF4-FFF2-40B4-BE49-F238E27FC236}">
                  <a16:creationId xmlns:a16="http://schemas.microsoft.com/office/drawing/2014/main" id="{7EB9B60C-61A4-FBCA-BA3E-7ABB668DE712}"/>
                </a:ext>
              </a:extLst>
            </p:cNvPr>
            <p:cNvCxnSpPr/>
            <p:nvPr/>
          </p:nvCxnSpPr>
          <p:spPr>
            <a:xfrm flipV="1">
              <a:off x="5846618" y="3001125"/>
              <a:ext cx="0" cy="66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7961518-129B-86E1-D462-F9EA366F5E91}"/>
                </a:ext>
              </a:extLst>
            </p:cNvPr>
            <p:cNvSpPr txBox="1"/>
            <p:nvPr/>
          </p:nvSpPr>
          <p:spPr>
            <a:xfrm>
              <a:off x="5845406" y="3085380"/>
              <a:ext cx="2133210" cy="646331"/>
            </a:xfrm>
            <a:prstGeom prst="rect">
              <a:avLst/>
            </a:prstGeom>
            <a:noFill/>
          </p:spPr>
          <p:txBody>
            <a:bodyPr wrap="square" rtlCol="0">
              <a:spAutoFit/>
            </a:bodyPr>
            <a:lstStyle/>
            <a:p>
              <a:pPr algn="l"/>
              <a:r>
                <a:rPr lang="ru-RU" dirty="0">
                  <a:latin typeface="HSE Sans" panose="02000000000000000000" pitchFamily="2" charset="0"/>
                </a:rPr>
                <a:t>ГОСУДАРСТВЕННЫЕ ЗАКУПКИ</a:t>
              </a:r>
            </a:p>
          </p:txBody>
        </p:sp>
        <p:cxnSp>
          <p:nvCxnSpPr>
            <p:cNvPr id="45" name="Прямая со стрелкой 44">
              <a:extLst>
                <a:ext uri="{FF2B5EF4-FFF2-40B4-BE49-F238E27FC236}">
                  <a16:creationId xmlns:a16="http://schemas.microsoft.com/office/drawing/2014/main" id="{25D67A85-D52C-26BE-4CB6-31FC6A5342FF}"/>
                </a:ext>
              </a:extLst>
            </p:cNvPr>
            <p:cNvCxnSpPr/>
            <p:nvPr/>
          </p:nvCxnSpPr>
          <p:spPr>
            <a:xfrm>
              <a:off x="5708072" y="4276792"/>
              <a:ext cx="0" cy="193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Прямая со стрелкой 45">
              <a:extLst>
                <a:ext uri="{FF2B5EF4-FFF2-40B4-BE49-F238E27FC236}">
                  <a16:creationId xmlns:a16="http://schemas.microsoft.com/office/drawing/2014/main" id="{2E8309E6-C473-7F46-6C87-DB8964228E6F}"/>
                </a:ext>
              </a:extLst>
            </p:cNvPr>
            <p:cNvCxnSpPr>
              <a:cxnSpLocks/>
            </p:cNvCxnSpPr>
            <p:nvPr/>
          </p:nvCxnSpPr>
          <p:spPr>
            <a:xfrm flipV="1">
              <a:off x="6022109" y="4276792"/>
              <a:ext cx="0" cy="193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50104D3E-EA9F-4E88-80B7-9A4F814B1011}"/>
              </a:ext>
            </a:extLst>
          </p:cNvPr>
          <p:cNvSpPr txBox="1"/>
          <p:nvPr/>
        </p:nvSpPr>
        <p:spPr>
          <a:xfrm>
            <a:off x="241088" y="1821886"/>
            <a:ext cx="3678979" cy="461665"/>
          </a:xfrm>
          <a:prstGeom prst="rect">
            <a:avLst/>
          </a:prstGeom>
          <a:noFill/>
          <a:ln w="6350">
            <a:solidFill>
              <a:schemeClr val="tx1"/>
            </a:solidFill>
          </a:ln>
        </p:spPr>
        <p:txBody>
          <a:bodyPr wrap="square" rtlCol="0">
            <a:spAutoFit/>
          </a:bodyPr>
          <a:lstStyle/>
          <a:p>
            <a:r>
              <a:rPr lang="ru-RU" sz="2400" b="1" dirty="0"/>
              <a:t>ИНОСТРАННЫЙ СЕКТОР</a:t>
            </a:r>
          </a:p>
        </p:txBody>
      </p:sp>
      <p:cxnSp>
        <p:nvCxnSpPr>
          <p:cNvPr id="63" name="Прямая со стрелкой 62">
            <a:extLst>
              <a:ext uri="{FF2B5EF4-FFF2-40B4-BE49-F238E27FC236}">
                <a16:creationId xmlns:a16="http://schemas.microsoft.com/office/drawing/2014/main" id="{DADC599B-8DDD-D8B7-B292-9E44FBD64855}"/>
              </a:ext>
            </a:extLst>
          </p:cNvPr>
          <p:cNvCxnSpPr/>
          <p:nvPr/>
        </p:nvCxnSpPr>
        <p:spPr>
          <a:xfrm flipH="1">
            <a:off x="4016776" y="2203306"/>
            <a:ext cx="14093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a:extLst>
              <a:ext uri="{FF2B5EF4-FFF2-40B4-BE49-F238E27FC236}">
                <a16:creationId xmlns:a16="http://schemas.microsoft.com/office/drawing/2014/main" id="{CB20DD85-CFF7-8277-2AB0-9A5EAD827BBA}"/>
              </a:ext>
            </a:extLst>
          </p:cNvPr>
          <p:cNvCxnSpPr>
            <a:cxnSpLocks/>
          </p:cNvCxnSpPr>
          <p:nvPr/>
        </p:nvCxnSpPr>
        <p:spPr>
          <a:xfrm>
            <a:off x="5426091" y="2203306"/>
            <a:ext cx="0" cy="154333"/>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Прямая со стрелкой 66">
            <a:extLst>
              <a:ext uri="{FF2B5EF4-FFF2-40B4-BE49-F238E27FC236}">
                <a16:creationId xmlns:a16="http://schemas.microsoft.com/office/drawing/2014/main" id="{CE4BCFB7-6B3F-90E5-9037-9DAE8D760855}"/>
              </a:ext>
            </a:extLst>
          </p:cNvPr>
          <p:cNvCxnSpPr/>
          <p:nvPr/>
        </p:nvCxnSpPr>
        <p:spPr>
          <a:xfrm>
            <a:off x="5606472" y="1990193"/>
            <a:ext cx="0" cy="426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Прямая соединительная линия 69">
            <a:extLst>
              <a:ext uri="{FF2B5EF4-FFF2-40B4-BE49-F238E27FC236}">
                <a16:creationId xmlns:a16="http://schemas.microsoft.com/office/drawing/2014/main" id="{921C36A5-D69D-8C92-DF70-C10CEE359316}"/>
              </a:ext>
            </a:extLst>
          </p:cNvPr>
          <p:cNvCxnSpPr/>
          <p:nvPr/>
        </p:nvCxnSpPr>
        <p:spPr>
          <a:xfrm flipH="1">
            <a:off x="4016776" y="1990193"/>
            <a:ext cx="1589696" cy="0"/>
          </a:xfrm>
          <a:prstGeom prst="line">
            <a:avLst/>
          </a:prstGeom>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BA9DAD32-791D-A63D-213D-F573D08B6FB5}"/>
              </a:ext>
            </a:extLst>
          </p:cNvPr>
          <p:cNvSpPr txBox="1"/>
          <p:nvPr/>
        </p:nvSpPr>
        <p:spPr>
          <a:xfrm>
            <a:off x="4108545" y="1682914"/>
            <a:ext cx="1420718" cy="369332"/>
          </a:xfrm>
          <a:prstGeom prst="rect">
            <a:avLst/>
          </a:prstGeom>
          <a:noFill/>
        </p:spPr>
        <p:txBody>
          <a:bodyPr wrap="square" rtlCol="0">
            <a:spAutoFit/>
          </a:bodyPr>
          <a:lstStyle/>
          <a:p>
            <a:pPr algn="l"/>
            <a:r>
              <a:rPr lang="ru-RU" dirty="0">
                <a:latin typeface="HSE Sans" panose="02000000000000000000" pitchFamily="2" charset="0"/>
              </a:rPr>
              <a:t>ЭКСПОРТ</a:t>
            </a:r>
          </a:p>
        </p:txBody>
      </p:sp>
      <p:sp>
        <p:nvSpPr>
          <p:cNvPr id="72" name="TextBox 71">
            <a:extLst>
              <a:ext uri="{FF2B5EF4-FFF2-40B4-BE49-F238E27FC236}">
                <a16:creationId xmlns:a16="http://schemas.microsoft.com/office/drawing/2014/main" id="{E2A64C74-3744-8C31-A358-E9B8969330BB}"/>
              </a:ext>
            </a:extLst>
          </p:cNvPr>
          <p:cNvSpPr txBox="1"/>
          <p:nvPr/>
        </p:nvSpPr>
        <p:spPr>
          <a:xfrm>
            <a:off x="4161887" y="1928082"/>
            <a:ext cx="1524070" cy="369332"/>
          </a:xfrm>
          <a:prstGeom prst="rect">
            <a:avLst/>
          </a:prstGeom>
          <a:noFill/>
        </p:spPr>
        <p:txBody>
          <a:bodyPr wrap="square" rtlCol="0">
            <a:spAutoFit/>
          </a:bodyPr>
          <a:lstStyle/>
          <a:p>
            <a:pPr algn="l"/>
            <a:r>
              <a:rPr lang="ru-RU" dirty="0">
                <a:latin typeface="HSE Sans" panose="02000000000000000000" pitchFamily="2" charset="0"/>
              </a:rPr>
              <a:t>ИМПОРТ</a:t>
            </a:r>
          </a:p>
        </p:txBody>
      </p:sp>
      <p:grpSp>
        <p:nvGrpSpPr>
          <p:cNvPr id="104" name="Группа 103">
            <a:extLst>
              <a:ext uri="{FF2B5EF4-FFF2-40B4-BE49-F238E27FC236}">
                <a16:creationId xmlns:a16="http://schemas.microsoft.com/office/drawing/2014/main" id="{CF6CA750-96F6-5954-D258-7EBD984C1A21}"/>
              </a:ext>
            </a:extLst>
          </p:cNvPr>
          <p:cNvGrpSpPr/>
          <p:nvPr/>
        </p:nvGrpSpPr>
        <p:grpSpPr>
          <a:xfrm>
            <a:off x="11174600" y="4185958"/>
            <a:ext cx="59400" cy="19800"/>
            <a:chOff x="11174600" y="4185958"/>
            <a:chExt cx="59400" cy="19800"/>
          </a:xfrm>
        </p:grpSpPr>
        <mc:AlternateContent xmlns:mc="http://schemas.openxmlformats.org/markup-compatibility/2006" xmlns:p14="http://schemas.microsoft.com/office/powerpoint/2010/main">
          <mc:Choice Requires="p14">
            <p:contentPart p14:bwMode="auto" r:id="rId2">
              <p14:nvContentPartPr>
                <p14:cNvPr id="102" name="Рукописный ввод 101">
                  <a:extLst>
                    <a:ext uri="{FF2B5EF4-FFF2-40B4-BE49-F238E27FC236}">
                      <a16:creationId xmlns:a16="http://schemas.microsoft.com/office/drawing/2014/main" id="{07A3F238-9227-3CF1-F6FC-7FF11B6EAB1F}"/>
                    </a:ext>
                  </a:extLst>
                </p14:cNvPr>
                <p14:cNvContentPartPr/>
                <p14:nvPr/>
              </p14:nvContentPartPr>
              <p14:xfrm>
                <a:off x="11185040" y="4191718"/>
                <a:ext cx="10800" cy="6120"/>
              </p14:xfrm>
            </p:contentPart>
          </mc:Choice>
          <mc:Fallback xmlns="">
            <p:pic>
              <p:nvPicPr>
                <p:cNvPr id="102" name="Рукописный ввод 101">
                  <a:extLst>
                    <a:ext uri="{FF2B5EF4-FFF2-40B4-BE49-F238E27FC236}">
                      <a16:creationId xmlns:a16="http://schemas.microsoft.com/office/drawing/2014/main" id="{5C3B3E94-556B-04A9-92F2-F6EF5688507D}"/>
                    </a:ext>
                  </a:extLst>
                </p:cNvPr>
                <p:cNvPicPr/>
                <p:nvPr/>
              </p:nvPicPr>
              <p:blipFill>
                <a:blip r:embed="rId3"/>
                <a:stretch>
                  <a:fillRect/>
                </a:stretch>
              </p:blipFill>
              <p:spPr>
                <a:xfrm>
                  <a:off x="11176400" y="4183078"/>
                  <a:ext cx="284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3" name="Рукописный ввод 102">
                  <a:extLst>
                    <a:ext uri="{FF2B5EF4-FFF2-40B4-BE49-F238E27FC236}">
                      <a16:creationId xmlns:a16="http://schemas.microsoft.com/office/drawing/2014/main" id="{FD501725-2562-E17D-863F-36EA59FF1055}"/>
                    </a:ext>
                  </a:extLst>
                </p14:cNvPr>
                <p14:cNvContentPartPr/>
                <p14:nvPr/>
              </p14:nvContentPartPr>
              <p14:xfrm>
                <a:off x="11174600" y="4185958"/>
                <a:ext cx="59400" cy="19800"/>
              </p14:xfrm>
            </p:contentPart>
          </mc:Choice>
          <mc:Fallback xmlns="">
            <p:pic>
              <p:nvPicPr>
                <p:cNvPr id="103" name="Рукописный ввод 102">
                  <a:extLst>
                    <a:ext uri="{FF2B5EF4-FFF2-40B4-BE49-F238E27FC236}">
                      <a16:creationId xmlns:a16="http://schemas.microsoft.com/office/drawing/2014/main" id="{9D1FB778-1A8B-3B3C-967F-FF6046CBBEAC}"/>
                    </a:ext>
                  </a:extLst>
                </p:cNvPr>
                <p:cNvPicPr/>
                <p:nvPr/>
              </p:nvPicPr>
              <p:blipFill>
                <a:blip r:embed="rId5"/>
                <a:stretch>
                  <a:fillRect/>
                </a:stretch>
              </p:blipFill>
              <p:spPr>
                <a:xfrm>
                  <a:off x="11165960" y="4176958"/>
                  <a:ext cx="77040" cy="37440"/>
                </a:xfrm>
                <a:prstGeom prst="rect">
                  <a:avLst/>
                </a:prstGeom>
              </p:spPr>
            </p:pic>
          </mc:Fallback>
        </mc:AlternateContent>
      </p:grpSp>
      <p:grpSp>
        <p:nvGrpSpPr>
          <p:cNvPr id="107" name="Группа 106">
            <a:extLst>
              <a:ext uri="{FF2B5EF4-FFF2-40B4-BE49-F238E27FC236}">
                <a16:creationId xmlns:a16="http://schemas.microsoft.com/office/drawing/2014/main" id="{7D56B5A5-EDCB-7D9D-1AE3-A98B146C2E25}"/>
              </a:ext>
            </a:extLst>
          </p:cNvPr>
          <p:cNvGrpSpPr/>
          <p:nvPr/>
        </p:nvGrpSpPr>
        <p:grpSpPr>
          <a:xfrm>
            <a:off x="3339200" y="2097598"/>
            <a:ext cx="2536920" cy="438480"/>
            <a:chOff x="3339200" y="2097598"/>
            <a:chExt cx="2536920" cy="438480"/>
          </a:xfrm>
        </p:grpSpPr>
        <mc:AlternateContent xmlns:mc="http://schemas.openxmlformats.org/markup-compatibility/2006" xmlns:p14="http://schemas.microsoft.com/office/powerpoint/2010/main">
          <mc:Choice Requires="p14">
            <p:contentPart p14:bwMode="auto" r:id="rId6">
              <p14:nvContentPartPr>
                <p14:cNvPr id="59" name="Рукописный ввод 58">
                  <a:extLst>
                    <a:ext uri="{FF2B5EF4-FFF2-40B4-BE49-F238E27FC236}">
                      <a16:creationId xmlns:a16="http://schemas.microsoft.com/office/drawing/2014/main" id="{210F812D-9653-28BD-BF2F-646C4AFDFA02}"/>
                    </a:ext>
                  </a:extLst>
                </p14:cNvPr>
                <p14:cNvContentPartPr/>
                <p14:nvPr/>
              </p14:nvContentPartPr>
              <p14:xfrm>
                <a:off x="3339200" y="2097598"/>
                <a:ext cx="14400" cy="10080"/>
              </p14:xfrm>
            </p:contentPart>
          </mc:Choice>
          <mc:Fallback xmlns="">
            <p:pic>
              <p:nvPicPr>
                <p:cNvPr id="59" name="Рукописный ввод 58">
                  <a:extLst>
                    <a:ext uri="{FF2B5EF4-FFF2-40B4-BE49-F238E27FC236}">
                      <a16:creationId xmlns:a16="http://schemas.microsoft.com/office/drawing/2014/main" id="{3A186F94-0490-A22F-E571-5D6EC55B865A}"/>
                    </a:ext>
                  </a:extLst>
                </p:cNvPr>
                <p:cNvPicPr/>
                <p:nvPr/>
              </p:nvPicPr>
              <p:blipFill>
                <a:blip r:embed="rId7"/>
                <a:stretch>
                  <a:fillRect/>
                </a:stretch>
              </p:blipFill>
              <p:spPr>
                <a:xfrm>
                  <a:off x="3330200" y="2088958"/>
                  <a:ext cx="320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8" name="Рукописный ввод 87">
                  <a:extLst>
                    <a:ext uri="{FF2B5EF4-FFF2-40B4-BE49-F238E27FC236}">
                      <a16:creationId xmlns:a16="http://schemas.microsoft.com/office/drawing/2014/main" id="{F5ACB21F-B759-B8A5-845C-95D08D0DEA92}"/>
                    </a:ext>
                  </a:extLst>
                </p14:cNvPr>
                <p14:cNvContentPartPr/>
                <p14:nvPr/>
              </p14:nvContentPartPr>
              <p14:xfrm>
                <a:off x="5854880" y="2504758"/>
                <a:ext cx="21240" cy="31320"/>
              </p14:xfrm>
            </p:contentPart>
          </mc:Choice>
          <mc:Fallback xmlns="">
            <p:pic>
              <p:nvPicPr>
                <p:cNvPr id="88" name="Рукописный ввод 87">
                  <a:extLst>
                    <a:ext uri="{FF2B5EF4-FFF2-40B4-BE49-F238E27FC236}">
                      <a16:creationId xmlns:a16="http://schemas.microsoft.com/office/drawing/2014/main" id="{EC4A3B1D-9A47-121A-86F9-ABCF3FDFA8F1}"/>
                    </a:ext>
                  </a:extLst>
                </p:cNvPr>
                <p:cNvPicPr/>
                <p:nvPr/>
              </p:nvPicPr>
              <p:blipFill>
                <a:blip r:embed="rId9"/>
                <a:stretch>
                  <a:fillRect/>
                </a:stretch>
              </p:blipFill>
              <p:spPr>
                <a:xfrm>
                  <a:off x="5845880" y="2495758"/>
                  <a:ext cx="38880" cy="48960"/>
                </a:xfrm>
                <a:prstGeom prst="rect">
                  <a:avLst/>
                </a:prstGeom>
              </p:spPr>
            </p:pic>
          </mc:Fallback>
        </mc:AlternateContent>
      </p:grpSp>
    </p:spTree>
    <p:extLst>
      <p:ext uri="{BB962C8B-B14F-4D97-AF65-F5344CB8AC3E}">
        <p14:creationId xmlns:p14="http://schemas.microsoft.com/office/powerpoint/2010/main" val="792860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55BB-603D-57F5-6C08-D849F4E1FFAF}"/>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E32B9F8F-14EF-8F98-A6DD-CB305D2ED13E}"/>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270C88C5-B572-03BB-D38D-2D8F40C96B9C}"/>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1163AF35-7D2A-2A5F-0ADC-4C4237E42187}"/>
              </a:ext>
            </a:extLst>
          </p:cNvPr>
          <p:cNvSpPr>
            <a:spLocks noGrp="1"/>
          </p:cNvSpPr>
          <p:nvPr>
            <p:ph type="body" sz="quarter" idx="15"/>
          </p:nvPr>
        </p:nvSpPr>
        <p:spPr>
          <a:xfrm>
            <a:off x="6259891" y="548720"/>
            <a:ext cx="2967235" cy="408109"/>
          </a:xfrm>
        </p:spPr>
        <p:txBody>
          <a:bodyPr/>
          <a:lstStyle/>
          <a:p>
            <a:r>
              <a:rPr lang="ru-RU" dirty="0">
                <a:latin typeface="Aptos" panose="020B0004020202020204" pitchFamily="34" charset="0"/>
              </a:rPr>
              <a:t>Департамент теоретической экономики</a:t>
            </a:r>
          </a:p>
        </p:txBody>
      </p:sp>
      <p:sp>
        <p:nvSpPr>
          <p:cNvPr id="6" name="TextBox 5">
            <a:extLst>
              <a:ext uri="{FF2B5EF4-FFF2-40B4-BE49-F238E27FC236}">
                <a16:creationId xmlns:a16="http://schemas.microsoft.com/office/drawing/2014/main" id="{AEB6602A-23FB-A202-A7C9-3FF6242EBE54}"/>
              </a:ext>
            </a:extLst>
          </p:cNvPr>
          <p:cNvSpPr txBox="1"/>
          <p:nvPr/>
        </p:nvSpPr>
        <p:spPr>
          <a:xfrm>
            <a:off x="828628" y="1191984"/>
            <a:ext cx="10534745" cy="1107996"/>
          </a:xfrm>
          <a:prstGeom prst="rect">
            <a:avLst/>
          </a:prstGeom>
          <a:noFill/>
        </p:spPr>
        <p:txBody>
          <a:bodyPr wrap="square">
            <a:spAutoFit/>
          </a:bodyPr>
          <a:lstStyle/>
          <a:p>
            <a:pPr algn="ctr"/>
            <a:r>
              <a:rPr lang="ru-RU" altLang="ru-RU" sz="2800" b="1" dirty="0">
                <a:latin typeface="Aptos" panose="020B0004020202020204" pitchFamily="34" charset="0"/>
              </a:rPr>
              <a:t>Макроэкономическое</a:t>
            </a:r>
            <a:r>
              <a:rPr lang="en-GB" altLang="ru-RU" sz="2800" b="1" dirty="0">
                <a:latin typeface="Aptos" panose="020B0004020202020204" pitchFamily="34" charset="0"/>
              </a:rPr>
              <a:t> </a:t>
            </a:r>
            <a:r>
              <a:rPr lang="ru-RU" altLang="ru-RU" sz="2800" b="1" dirty="0">
                <a:latin typeface="Aptos" panose="020B0004020202020204" pitchFamily="34" charset="0"/>
              </a:rPr>
              <a:t>тождество</a:t>
            </a:r>
            <a:r>
              <a:rPr lang="en-GB" altLang="ru-RU" sz="2800" b="1" dirty="0">
                <a:latin typeface="Aptos" panose="020B0004020202020204" pitchFamily="34" charset="0"/>
              </a:rPr>
              <a:t>:</a:t>
            </a:r>
          </a:p>
          <a:p>
            <a:pPr algn="ctr"/>
            <a:endParaRPr lang="ru-RU" altLang="ru-RU" sz="1000" b="1" dirty="0">
              <a:latin typeface="Aptos" panose="020B0004020202020204" pitchFamily="34" charset="0"/>
            </a:endParaRPr>
          </a:p>
          <a:p>
            <a:pPr algn="ctr"/>
            <a:r>
              <a:rPr lang="ru-RU" altLang="ru-RU" sz="2800" b="1" dirty="0">
                <a:latin typeface="Aptos" panose="020B0004020202020204" pitchFamily="34" charset="0"/>
              </a:rPr>
              <a:t>С</a:t>
            </a:r>
            <a:r>
              <a:rPr lang="en-US" altLang="ru-RU" sz="2800" b="1" dirty="0">
                <a:latin typeface="Aptos" panose="020B0004020202020204" pitchFamily="34" charset="0"/>
              </a:rPr>
              <a:t>+</a:t>
            </a:r>
            <a:r>
              <a:rPr lang="en-US" altLang="ru-RU" sz="2800" b="1" dirty="0" err="1">
                <a:latin typeface="Aptos" panose="020B0004020202020204" pitchFamily="34" charset="0"/>
              </a:rPr>
              <a:t>I+G+Xn</a:t>
            </a:r>
            <a:r>
              <a:rPr lang="en-US" altLang="ru-RU" sz="2800" b="1" dirty="0">
                <a:latin typeface="Aptos" panose="020B0004020202020204" pitchFamily="34" charset="0"/>
              </a:rPr>
              <a:t>= </a:t>
            </a:r>
            <a:r>
              <a:rPr lang="en-US" altLang="ru-RU" sz="2800" b="1" dirty="0" err="1">
                <a:latin typeface="Aptos" panose="020B0004020202020204" pitchFamily="34" charset="0"/>
              </a:rPr>
              <a:t>C+Sp+T</a:t>
            </a:r>
            <a:endParaRPr lang="en-US" altLang="ru-RU" sz="2800" b="1" dirty="0">
              <a:latin typeface="Aptos" panose="020B0004020202020204" pitchFamily="34" charset="0"/>
            </a:endParaRPr>
          </a:p>
        </p:txBody>
      </p:sp>
      <p:sp>
        <p:nvSpPr>
          <p:cNvPr id="8" name="TextBox 7">
            <a:extLst>
              <a:ext uri="{FF2B5EF4-FFF2-40B4-BE49-F238E27FC236}">
                <a16:creationId xmlns:a16="http://schemas.microsoft.com/office/drawing/2014/main" id="{0717AD37-86BF-68A3-7919-E0CBD0D3E87B}"/>
              </a:ext>
            </a:extLst>
          </p:cNvPr>
          <p:cNvSpPr txBox="1"/>
          <p:nvPr/>
        </p:nvSpPr>
        <p:spPr>
          <a:xfrm>
            <a:off x="1923306" y="2803695"/>
            <a:ext cx="8183344" cy="1754326"/>
          </a:xfrm>
          <a:prstGeom prst="rect">
            <a:avLst/>
          </a:prstGeom>
          <a:noFill/>
        </p:spPr>
        <p:txBody>
          <a:bodyPr wrap="square">
            <a:spAutoFit/>
          </a:bodyPr>
          <a:lstStyle/>
          <a:p>
            <a:pPr algn="ctr"/>
            <a:r>
              <a:rPr lang="ru-RU" sz="1800" b="1" i="1" dirty="0">
                <a:latin typeface="Aptos" panose="020B0004020202020204" pitchFamily="34" charset="0"/>
              </a:rPr>
              <a:t>С</a:t>
            </a:r>
            <a:r>
              <a:rPr lang="ru-RU" sz="1800" i="1" dirty="0">
                <a:latin typeface="Aptos" panose="020B0004020202020204" pitchFamily="34" charset="0"/>
              </a:rPr>
              <a:t> </a:t>
            </a:r>
            <a:r>
              <a:rPr lang="ru-RU" sz="1800" b="1" i="1" dirty="0">
                <a:latin typeface="Aptos" panose="020B0004020202020204" pitchFamily="34" charset="0"/>
              </a:rPr>
              <a:t>(</a:t>
            </a:r>
            <a:r>
              <a:rPr lang="en-US" sz="1800" b="1" i="1" dirty="0">
                <a:latin typeface="Aptos" panose="020B0004020202020204" pitchFamily="34" charset="0"/>
              </a:rPr>
              <a:t>consumption spending</a:t>
            </a:r>
            <a:r>
              <a:rPr lang="ru-RU" sz="1800" b="1" i="1" dirty="0">
                <a:latin typeface="Aptos" panose="020B0004020202020204" pitchFamily="34" charset="0"/>
              </a:rPr>
              <a:t>)</a:t>
            </a:r>
            <a:r>
              <a:rPr lang="en-US" sz="1800" b="1" i="1" dirty="0">
                <a:latin typeface="Aptos" panose="020B0004020202020204" pitchFamily="34" charset="0"/>
              </a:rPr>
              <a:t> </a:t>
            </a:r>
            <a:r>
              <a:rPr lang="en-US" b="1" i="1" dirty="0">
                <a:latin typeface="Aptos" panose="020B0004020202020204" pitchFamily="34" charset="0"/>
              </a:rPr>
              <a:t>-</a:t>
            </a:r>
            <a:r>
              <a:rPr lang="en-US" sz="1800" i="1" dirty="0">
                <a:latin typeface="Aptos" panose="020B0004020202020204" pitchFamily="34" charset="0"/>
              </a:rPr>
              <a:t> </a:t>
            </a:r>
            <a:r>
              <a:rPr lang="ru-RU" sz="1800" i="1" dirty="0">
                <a:latin typeface="Aptos" panose="020B0004020202020204" pitchFamily="34" charset="0"/>
              </a:rPr>
              <a:t>потребительские расходы</a:t>
            </a:r>
            <a:endParaRPr lang="en-US" sz="1800" i="1" dirty="0">
              <a:latin typeface="Aptos" panose="020B0004020202020204" pitchFamily="34" charset="0"/>
            </a:endParaRPr>
          </a:p>
          <a:p>
            <a:pPr algn="ctr"/>
            <a:r>
              <a:rPr lang="en-US" sz="1800" b="1" i="1" dirty="0">
                <a:latin typeface="Aptos" panose="020B0004020202020204" pitchFamily="34" charset="0"/>
              </a:rPr>
              <a:t>I</a:t>
            </a:r>
            <a:r>
              <a:rPr lang="en-US" sz="1800" i="1" dirty="0">
                <a:latin typeface="Aptos" panose="020B0004020202020204" pitchFamily="34" charset="0"/>
              </a:rPr>
              <a:t> </a:t>
            </a:r>
            <a:r>
              <a:rPr lang="ru-RU" sz="1800" b="1" i="1" dirty="0">
                <a:latin typeface="Aptos" panose="020B0004020202020204" pitchFamily="34" charset="0"/>
              </a:rPr>
              <a:t>(</a:t>
            </a:r>
            <a:r>
              <a:rPr lang="en-US" sz="1800" b="1" i="1" dirty="0">
                <a:latin typeface="Aptos" panose="020B0004020202020204" pitchFamily="34" charset="0"/>
              </a:rPr>
              <a:t>investment spending</a:t>
            </a:r>
            <a:r>
              <a:rPr lang="ru-RU" sz="1800" b="1" i="1" dirty="0">
                <a:latin typeface="Aptos" panose="020B0004020202020204" pitchFamily="34" charset="0"/>
              </a:rPr>
              <a:t>)</a:t>
            </a:r>
            <a:r>
              <a:rPr lang="en-US" sz="1800" b="1" i="1" dirty="0">
                <a:latin typeface="Aptos" panose="020B0004020202020204" pitchFamily="34" charset="0"/>
              </a:rPr>
              <a:t> </a:t>
            </a:r>
            <a:r>
              <a:rPr lang="en-US" b="1" i="1" dirty="0">
                <a:latin typeface="Aptos" panose="020B0004020202020204" pitchFamily="34" charset="0"/>
              </a:rPr>
              <a:t>-</a:t>
            </a:r>
            <a:r>
              <a:rPr lang="en-US" sz="1800" i="1" dirty="0">
                <a:latin typeface="Aptos" panose="020B0004020202020204" pitchFamily="34" charset="0"/>
              </a:rPr>
              <a:t> </a:t>
            </a:r>
            <a:r>
              <a:rPr lang="ru-RU" sz="1800" i="1" dirty="0">
                <a:latin typeface="Aptos" panose="020B0004020202020204" pitchFamily="34" charset="0"/>
              </a:rPr>
              <a:t>инвестиционные расходы</a:t>
            </a:r>
            <a:endParaRPr lang="en-GB" sz="1800" i="1" dirty="0">
              <a:latin typeface="Aptos" panose="020B0004020202020204" pitchFamily="34" charset="0"/>
            </a:endParaRPr>
          </a:p>
          <a:p>
            <a:pPr algn="ctr"/>
            <a:r>
              <a:rPr lang="en-US" b="1" i="1" dirty="0">
                <a:latin typeface="Aptos" panose="020B0004020202020204" pitchFamily="34" charset="0"/>
              </a:rPr>
              <a:t>G</a:t>
            </a:r>
            <a:r>
              <a:rPr lang="en-US" i="1" dirty="0">
                <a:latin typeface="Aptos" panose="020B0004020202020204" pitchFamily="34" charset="0"/>
              </a:rPr>
              <a:t> </a:t>
            </a:r>
            <a:r>
              <a:rPr lang="ru-RU" b="1" i="1" dirty="0">
                <a:latin typeface="Aptos" panose="020B0004020202020204" pitchFamily="34" charset="0"/>
              </a:rPr>
              <a:t>(</a:t>
            </a:r>
            <a:r>
              <a:rPr lang="en-US" b="1" i="1" dirty="0">
                <a:latin typeface="Aptos" panose="020B0004020202020204" pitchFamily="34" charset="0"/>
              </a:rPr>
              <a:t>government spending</a:t>
            </a:r>
            <a:r>
              <a:rPr lang="ru-RU" b="1" i="1" dirty="0">
                <a:latin typeface="Aptos" panose="020B0004020202020204" pitchFamily="34" charset="0"/>
              </a:rPr>
              <a:t>)</a:t>
            </a:r>
            <a:r>
              <a:rPr lang="en-US" b="1" i="1" dirty="0">
                <a:latin typeface="Aptos" panose="020B0004020202020204" pitchFamily="34" charset="0"/>
              </a:rPr>
              <a:t> -</a:t>
            </a:r>
            <a:r>
              <a:rPr lang="en-US" i="1" dirty="0">
                <a:latin typeface="Aptos" panose="020B0004020202020204" pitchFamily="34" charset="0"/>
              </a:rPr>
              <a:t> </a:t>
            </a:r>
            <a:r>
              <a:rPr lang="ru-RU" i="1" dirty="0">
                <a:latin typeface="Aptos" panose="020B0004020202020204" pitchFamily="34" charset="0"/>
              </a:rPr>
              <a:t>государственные расходы на  товары  и услуги</a:t>
            </a:r>
            <a:endParaRPr lang="en-GB" i="1" dirty="0">
              <a:latin typeface="Aptos" panose="020B0004020202020204" pitchFamily="34" charset="0"/>
            </a:endParaRPr>
          </a:p>
          <a:p>
            <a:pPr algn="ctr"/>
            <a:r>
              <a:rPr lang="en-US" b="1" i="1" dirty="0" err="1">
                <a:latin typeface="Aptos" panose="020B0004020202020204" pitchFamily="34" charset="0"/>
              </a:rPr>
              <a:t>Xn</a:t>
            </a:r>
            <a:r>
              <a:rPr lang="en-US" i="1" dirty="0">
                <a:latin typeface="Aptos" panose="020B0004020202020204" pitchFamily="34" charset="0"/>
              </a:rPr>
              <a:t> </a:t>
            </a:r>
            <a:r>
              <a:rPr lang="ru-RU" i="1" dirty="0">
                <a:latin typeface="Aptos" panose="020B0004020202020204" pitchFamily="34" charset="0"/>
              </a:rPr>
              <a:t> </a:t>
            </a:r>
            <a:r>
              <a:rPr lang="ru-RU" b="1" i="1" dirty="0">
                <a:latin typeface="Aptos" panose="020B0004020202020204" pitchFamily="34" charset="0"/>
              </a:rPr>
              <a:t>(</a:t>
            </a:r>
            <a:r>
              <a:rPr lang="en-US" b="1" i="1" dirty="0">
                <a:latin typeface="Aptos" panose="020B0004020202020204" pitchFamily="34" charset="0"/>
              </a:rPr>
              <a:t>net export</a:t>
            </a:r>
            <a:r>
              <a:rPr lang="ru-RU" b="1" i="1" dirty="0">
                <a:latin typeface="Aptos" panose="020B0004020202020204" pitchFamily="34" charset="0"/>
              </a:rPr>
              <a:t>)</a:t>
            </a:r>
            <a:r>
              <a:rPr lang="en-US" b="1" i="1" dirty="0">
                <a:latin typeface="Aptos" panose="020B0004020202020204" pitchFamily="34" charset="0"/>
              </a:rPr>
              <a:t> -</a:t>
            </a:r>
            <a:r>
              <a:rPr lang="en-US" i="1" dirty="0">
                <a:latin typeface="Aptos" panose="020B0004020202020204" pitchFamily="34" charset="0"/>
              </a:rPr>
              <a:t> </a:t>
            </a:r>
            <a:r>
              <a:rPr lang="ru-RU" i="1" dirty="0">
                <a:latin typeface="Aptos" panose="020B0004020202020204" pitchFamily="34" charset="0"/>
              </a:rPr>
              <a:t>чистый экспорт</a:t>
            </a:r>
            <a:endParaRPr lang="en-GB" i="1" dirty="0">
              <a:latin typeface="Aptos" panose="020B0004020202020204" pitchFamily="34" charset="0"/>
            </a:endParaRPr>
          </a:p>
          <a:p>
            <a:pPr algn="ctr"/>
            <a:r>
              <a:rPr lang="en-US" b="1" i="1" dirty="0">
                <a:latin typeface="Aptos" panose="020B0004020202020204" pitchFamily="34" charset="0"/>
              </a:rPr>
              <a:t>S</a:t>
            </a:r>
            <a:r>
              <a:rPr lang="ru-RU" b="1" i="1" dirty="0">
                <a:latin typeface="Aptos" panose="020B0004020202020204" pitchFamily="34" charset="0"/>
              </a:rPr>
              <a:t>р</a:t>
            </a:r>
            <a:r>
              <a:rPr lang="en-US" i="1" dirty="0">
                <a:latin typeface="Aptos" panose="020B0004020202020204" pitchFamily="34" charset="0"/>
              </a:rPr>
              <a:t> </a:t>
            </a:r>
            <a:r>
              <a:rPr lang="ru-RU" b="1" i="1" dirty="0">
                <a:latin typeface="Aptos" panose="020B0004020202020204" pitchFamily="34" charset="0"/>
              </a:rPr>
              <a:t>(</a:t>
            </a:r>
            <a:r>
              <a:rPr lang="en-US" b="1" i="1" dirty="0">
                <a:latin typeface="Aptos" panose="020B0004020202020204" pitchFamily="34" charset="0"/>
              </a:rPr>
              <a:t>saving</a:t>
            </a:r>
            <a:r>
              <a:rPr lang="ru-RU" b="1" i="1" dirty="0">
                <a:latin typeface="Aptos" panose="020B0004020202020204" pitchFamily="34" charset="0"/>
              </a:rPr>
              <a:t>)</a:t>
            </a:r>
            <a:r>
              <a:rPr lang="en-US" b="1" i="1" dirty="0">
                <a:latin typeface="Aptos" panose="020B0004020202020204" pitchFamily="34" charset="0"/>
              </a:rPr>
              <a:t> </a:t>
            </a:r>
            <a:r>
              <a:rPr lang="ru-RU" b="1" i="1" dirty="0">
                <a:latin typeface="Aptos" panose="020B0004020202020204" pitchFamily="34" charset="0"/>
              </a:rPr>
              <a:t>-</a:t>
            </a:r>
            <a:r>
              <a:rPr lang="en-US" i="1" dirty="0">
                <a:latin typeface="Aptos" panose="020B0004020202020204" pitchFamily="34" charset="0"/>
              </a:rPr>
              <a:t> </a:t>
            </a:r>
            <a:r>
              <a:rPr lang="ru-RU" i="1" dirty="0">
                <a:latin typeface="Aptos" panose="020B0004020202020204" pitchFamily="34" charset="0"/>
              </a:rPr>
              <a:t>сбережения частного сектора</a:t>
            </a:r>
          </a:p>
          <a:p>
            <a:pPr algn="ctr"/>
            <a:r>
              <a:rPr lang="en-GB" b="1" i="1" dirty="0">
                <a:latin typeface="Aptos" panose="020B0004020202020204" pitchFamily="34" charset="0"/>
              </a:rPr>
              <a:t>T </a:t>
            </a:r>
            <a:r>
              <a:rPr lang="ru-RU" b="1" i="1" dirty="0">
                <a:latin typeface="Aptos" panose="020B0004020202020204" pitchFamily="34" charset="0"/>
              </a:rPr>
              <a:t>(</a:t>
            </a:r>
            <a:r>
              <a:rPr lang="en-GB" b="1" i="1" dirty="0">
                <a:latin typeface="Aptos" panose="020B0004020202020204" pitchFamily="34" charset="0"/>
              </a:rPr>
              <a:t>Taxes) </a:t>
            </a:r>
            <a:r>
              <a:rPr lang="en-GB" i="1" dirty="0">
                <a:latin typeface="Aptos" panose="020B0004020202020204" pitchFamily="34" charset="0"/>
              </a:rPr>
              <a:t>- </a:t>
            </a:r>
            <a:r>
              <a:rPr lang="ru-RU" i="1" dirty="0">
                <a:latin typeface="Aptos" panose="020B0004020202020204" pitchFamily="34" charset="0"/>
              </a:rPr>
              <a:t>налоги</a:t>
            </a:r>
            <a:endParaRPr lang="en-US" i="1" dirty="0">
              <a:latin typeface="Aptos" panose="020B0004020202020204" pitchFamily="34" charset="0"/>
            </a:endParaRPr>
          </a:p>
        </p:txBody>
      </p:sp>
      <p:sp>
        <p:nvSpPr>
          <p:cNvPr id="10" name="TextBox 9">
            <a:extLst>
              <a:ext uri="{FF2B5EF4-FFF2-40B4-BE49-F238E27FC236}">
                <a16:creationId xmlns:a16="http://schemas.microsoft.com/office/drawing/2014/main" id="{E0A64AA8-E383-9E2E-9BDC-AFB791F8ACB5}"/>
              </a:ext>
            </a:extLst>
          </p:cNvPr>
          <p:cNvSpPr txBox="1"/>
          <p:nvPr/>
        </p:nvSpPr>
        <p:spPr>
          <a:xfrm>
            <a:off x="4413192" y="2302874"/>
            <a:ext cx="1473759" cy="369332"/>
          </a:xfrm>
          <a:prstGeom prst="rect">
            <a:avLst/>
          </a:prstGeom>
          <a:noFill/>
        </p:spPr>
        <p:txBody>
          <a:bodyPr wrap="square">
            <a:spAutoFit/>
          </a:bodyPr>
          <a:lstStyle/>
          <a:p>
            <a:pPr algn="ctr"/>
            <a:r>
              <a:rPr lang="ru-RU" sz="1800" i="1" dirty="0">
                <a:latin typeface="Aptos" panose="020B0004020202020204" pitchFamily="34" charset="0"/>
              </a:rPr>
              <a:t>Что купили</a:t>
            </a:r>
            <a:endParaRPr lang="en-RU" dirty="0">
              <a:latin typeface="Aptos" panose="020B0004020202020204" pitchFamily="34" charset="0"/>
            </a:endParaRPr>
          </a:p>
        </p:txBody>
      </p:sp>
      <p:sp>
        <p:nvSpPr>
          <p:cNvPr id="11" name="TextBox 10">
            <a:extLst>
              <a:ext uri="{FF2B5EF4-FFF2-40B4-BE49-F238E27FC236}">
                <a16:creationId xmlns:a16="http://schemas.microsoft.com/office/drawing/2014/main" id="{0C7A7469-6C65-088E-8DC8-C6336F35282E}"/>
              </a:ext>
            </a:extLst>
          </p:cNvPr>
          <p:cNvSpPr txBox="1"/>
          <p:nvPr/>
        </p:nvSpPr>
        <p:spPr>
          <a:xfrm>
            <a:off x="6014978" y="2302874"/>
            <a:ext cx="2214494" cy="369332"/>
          </a:xfrm>
          <a:prstGeom prst="rect">
            <a:avLst/>
          </a:prstGeom>
          <a:noFill/>
        </p:spPr>
        <p:txBody>
          <a:bodyPr wrap="square">
            <a:spAutoFit/>
          </a:bodyPr>
          <a:lstStyle/>
          <a:p>
            <a:pPr algn="ctr"/>
            <a:r>
              <a:rPr lang="ru-RU" sz="1800" i="1" dirty="0">
                <a:latin typeface="Aptos" panose="020B0004020202020204" pitchFamily="34" charset="0"/>
              </a:rPr>
              <a:t>Куда доход пошел</a:t>
            </a:r>
            <a:endParaRPr lang="en-RU" dirty="0">
              <a:latin typeface="Aptos" panose="020B0004020202020204" pitchFamily="34" charset="0"/>
            </a:endParaRPr>
          </a:p>
        </p:txBody>
      </p:sp>
      <p:sp>
        <p:nvSpPr>
          <p:cNvPr id="13" name="TextBox 12">
            <a:extLst>
              <a:ext uri="{FF2B5EF4-FFF2-40B4-BE49-F238E27FC236}">
                <a16:creationId xmlns:a16="http://schemas.microsoft.com/office/drawing/2014/main" id="{43F0DCD7-5678-6DCD-8B36-5BE89D8C13DD}"/>
              </a:ext>
            </a:extLst>
          </p:cNvPr>
          <p:cNvSpPr txBox="1"/>
          <p:nvPr/>
        </p:nvSpPr>
        <p:spPr>
          <a:xfrm>
            <a:off x="2367988" y="4689510"/>
            <a:ext cx="7293980" cy="523220"/>
          </a:xfrm>
          <a:prstGeom prst="rect">
            <a:avLst/>
          </a:prstGeom>
          <a:noFill/>
        </p:spPr>
        <p:txBody>
          <a:bodyPr wrap="square">
            <a:spAutoFit/>
          </a:bodyPr>
          <a:lstStyle/>
          <a:p>
            <a:pPr algn="ctr"/>
            <a:r>
              <a:rPr lang="en-US" altLang="ru-RU" sz="2800" b="1" dirty="0">
                <a:latin typeface="Aptos" panose="020B0004020202020204" pitchFamily="34" charset="0"/>
              </a:rPr>
              <a:t>I</a:t>
            </a:r>
            <a:r>
              <a:rPr lang="ru-RU" altLang="ru-RU" sz="2800" b="1" dirty="0">
                <a:latin typeface="Aptos" panose="020B0004020202020204" pitchFamily="34" charset="0"/>
              </a:rPr>
              <a:t> </a:t>
            </a:r>
            <a:r>
              <a:rPr lang="en-US" altLang="ru-RU" sz="2800" b="1" dirty="0">
                <a:latin typeface="Aptos" panose="020B0004020202020204" pitchFamily="34" charset="0"/>
              </a:rPr>
              <a:t>=</a:t>
            </a:r>
            <a:r>
              <a:rPr lang="ru-RU" altLang="ru-RU" sz="2800" b="1" dirty="0">
                <a:latin typeface="Aptos" panose="020B0004020202020204" pitchFamily="34" charset="0"/>
              </a:rPr>
              <a:t> </a:t>
            </a:r>
            <a:r>
              <a:rPr lang="en-US" altLang="ru-RU" sz="2800" b="1" dirty="0" err="1">
                <a:latin typeface="Aptos" panose="020B0004020202020204" pitchFamily="34" charset="0"/>
              </a:rPr>
              <a:t>Sp</a:t>
            </a:r>
            <a:r>
              <a:rPr lang="en-US" altLang="ru-RU" sz="2800" b="1" dirty="0">
                <a:latin typeface="Aptos" panose="020B0004020202020204" pitchFamily="34" charset="0"/>
              </a:rPr>
              <a:t>+(T-G)+(</a:t>
            </a:r>
            <a:r>
              <a:rPr lang="en-US" altLang="ru-RU" sz="2800" b="1" dirty="0" err="1">
                <a:latin typeface="Aptos" panose="020B0004020202020204" pitchFamily="34" charset="0"/>
              </a:rPr>
              <a:t>Im</a:t>
            </a:r>
            <a:r>
              <a:rPr lang="en-US" altLang="ru-RU" sz="2800" b="1" dirty="0">
                <a:latin typeface="Aptos" panose="020B0004020202020204" pitchFamily="34" charset="0"/>
              </a:rPr>
              <a:t>-Ex) = </a:t>
            </a:r>
            <a:r>
              <a:rPr lang="en-US" altLang="ru-RU" sz="2800" b="1" dirty="0" err="1">
                <a:latin typeface="Aptos" panose="020B0004020202020204" pitchFamily="34" charset="0"/>
              </a:rPr>
              <a:t>Sp+Sg+Sf</a:t>
            </a:r>
            <a:r>
              <a:rPr lang="ru-RU" altLang="ru-RU" sz="2800" b="1" dirty="0">
                <a:latin typeface="Aptos" panose="020B0004020202020204" pitchFamily="34" charset="0"/>
              </a:rPr>
              <a:t> </a:t>
            </a:r>
            <a:r>
              <a:rPr lang="en-US" altLang="ru-RU" sz="2800" b="1" dirty="0">
                <a:latin typeface="Aptos" panose="020B0004020202020204" pitchFamily="34" charset="0"/>
              </a:rPr>
              <a:t> = Sn+Sf</a:t>
            </a:r>
          </a:p>
        </p:txBody>
      </p:sp>
      <p:sp>
        <p:nvSpPr>
          <p:cNvPr id="15" name="TextBox 14">
            <a:extLst>
              <a:ext uri="{FF2B5EF4-FFF2-40B4-BE49-F238E27FC236}">
                <a16:creationId xmlns:a16="http://schemas.microsoft.com/office/drawing/2014/main" id="{C505BF98-009C-2833-E0CB-D87EDA7A1C18}"/>
              </a:ext>
            </a:extLst>
          </p:cNvPr>
          <p:cNvSpPr txBox="1"/>
          <p:nvPr/>
        </p:nvSpPr>
        <p:spPr>
          <a:xfrm>
            <a:off x="3045514" y="5344219"/>
            <a:ext cx="6099858" cy="923330"/>
          </a:xfrm>
          <a:prstGeom prst="rect">
            <a:avLst/>
          </a:prstGeom>
          <a:noFill/>
        </p:spPr>
        <p:txBody>
          <a:bodyPr wrap="square">
            <a:spAutoFit/>
          </a:bodyPr>
          <a:lstStyle/>
          <a:p>
            <a:pPr algn="ctr"/>
            <a:r>
              <a:rPr lang="en-US" altLang="ru-RU" sz="1800" b="1" i="1" dirty="0">
                <a:latin typeface="Aptos" panose="020B0004020202020204" pitchFamily="34" charset="0"/>
              </a:rPr>
              <a:t>Sn</a:t>
            </a:r>
            <a:r>
              <a:rPr lang="ru-RU" altLang="ru-RU" sz="1800" b="1" i="1" dirty="0">
                <a:latin typeface="Aptos" panose="020B0004020202020204" pitchFamily="34" charset="0"/>
              </a:rPr>
              <a:t> - </a:t>
            </a:r>
            <a:r>
              <a:rPr lang="ru-RU" altLang="ru-RU" sz="1800" i="1" dirty="0">
                <a:latin typeface="Aptos" panose="020B0004020202020204" pitchFamily="34" charset="0"/>
              </a:rPr>
              <a:t>национальные сбережения </a:t>
            </a:r>
            <a:endParaRPr lang="ru-RU" altLang="ru-RU" sz="1800" b="1" i="1" dirty="0">
              <a:latin typeface="Aptos" panose="020B0004020202020204" pitchFamily="34" charset="0"/>
            </a:endParaRPr>
          </a:p>
          <a:p>
            <a:pPr algn="ctr"/>
            <a:r>
              <a:rPr lang="en-US" altLang="ru-RU" sz="1800" b="1" i="1" dirty="0">
                <a:latin typeface="Aptos" panose="020B0004020202020204" pitchFamily="34" charset="0"/>
              </a:rPr>
              <a:t>Sg</a:t>
            </a:r>
            <a:r>
              <a:rPr lang="ru-RU" altLang="ru-RU" sz="1800" b="1" i="1" dirty="0">
                <a:latin typeface="Aptos" panose="020B0004020202020204" pitchFamily="34" charset="0"/>
              </a:rPr>
              <a:t> - </a:t>
            </a:r>
            <a:r>
              <a:rPr lang="ru-RU" altLang="ru-RU" sz="1800" i="1" dirty="0">
                <a:latin typeface="Aptos" panose="020B0004020202020204" pitchFamily="34" charset="0"/>
              </a:rPr>
              <a:t>сбережения государства</a:t>
            </a:r>
          </a:p>
          <a:p>
            <a:pPr algn="ctr"/>
            <a:r>
              <a:rPr lang="en-US" altLang="ru-RU" sz="1800" b="1" i="1" dirty="0">
                <a:latin typeface="Aptos" panose="020B0004020202020204" pitchFamily="34" charset="0"/>
              </a:rPr>
              <a:t>Sf</a:t>
            </a:r>
            <a:r>
              <a:rPr lang="ru-RU" altLang="ru-RU" sz="1800" b="1" i="1" dirty="0">
                <a:latin typeface="Aptos" panose="020B0004020202020204" pitchFamily="34" charset="0"/>
              </a:rPr>
              <a:t> - </a:t>
            </a:r>
            <a:r>
              <a:rPr lang="ru-RU" altLang="ru-RU" sz="1800" i="1" dirty="0">
                <a:latin typeface="Aptos" panose="020B0004020202020204" pitchFamily="34" charset="0"/>
              </a:rPr>
              <a:t>сбережения иностранного сектора</a:t>
            </a:r>
            <a:endParaRPr lang="ru-RU" sz="1800" i="1" dirty="0">
              <a:latin typeface="Aptos" panose="020B0004020202020204" pitchFamily="34" charset="0"/>
            </a:endParaRPr>
          </a:p>
        </p:txBody>
      </p:sp>
    </p:spTree>
    <p:extLst>
      <p:ext uri="{BB962C8B-B14F-4D97-AF65-F5344CB8AC3E}">
        <p14:creationId xmlns:p14="http://schemas.microsoft.com/office/powerpoint/2010/main" val="692248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B6064-836E-FF25-53E2-E039C6CD081F}"/>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DAFA9422-A024-940E-04FF-A3B78A0DD473}"/>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5E306216-AC78-F3F3-3E7F-D5C2C4BD38CE}"/>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C87FF542-11FD-3204-9CFE-5633274D546F}"/>
              </a:ext>
            </a:extLst>
          </p:cNvPr>
          <p:cNvSpPr>
            <a:spLocks noGrp="1"/>
          </p:cNvSpPr>
          <p:nvPr>
            <p:ph type="body" sz="quarter" idx="15"/>
          </p:nvPr>
        </p:nvSpPr>
        <p:spPr>
          <a:xfrm>
            <a:off x="6259891" y="548720"/>
            <a:ext cx="2967235" cy="408109"/>
          </a:xfrm>
        </p:spPr>
        <p:txBody>
          <a:bodyPr/>
          <a:lstStyle/>
          <a:p>
            <a:r>
              <a:rPr lang="ru-RU" dirty="0">
                <a:latin typeface="Aptos" panose="020B0004020202020204" pitchFamily="34" charset="0"/>
              </a:rPr>
              <a:t>Департамент теоретической экономики</a:t>
            </a:r>
          </a:p>
        </p:txBody>
      </p:sp>
      <p:sp>
        <p:nvSpPr>
          <p:cNvPr id="6" name="TextBox 5">
            <a:extLst>
              <a:ext uri="{FF2B5EF4-FFF2-40B4-BE49-F238E27FC236}">
                <a16:creationId xmlns:a16="http://schemas.microsoft.com/office/drawing/2014/main" id="{E28646E4-020F-B1E0-1837-8DC79DD60814}"/>
              </a:ext>
            </a:extLst>
          </p:cNvPr>
          <p:cNvSpPr txBox="1"/>
          <p:nvPr/>
        </p:nvSpPr>
        <p:spPr>
          <a:xfrm>
            <a:off x="3459163" y="3379620"/>
            <a:ext cx="5278286" cy="1938992"/>
          </a:xfrm>
          <a:prstGeom prst="rect">
            <a:avLst/>
          </a:prstGeom>
          <a:noFill/>
        </p:spPr>
        <p:txBody>
          <a:bodyPr wrap="square">
            <a:spAutoFit/>
          </a:bodyPr>
          <a:lstStyle/>
          <a:p>
            <a:pPr algn="ctr"/>
            <a:endParaRPr lang="ru-RU" altLang="ru-RU" sz="3000" b="1" dirty="0">
              <a:latin typeface="Aptos" panose="020B0004020202020204" pitchFamily="34" charset="0"/>
            </a:endParaRPr>
          </a:p>
          <a:p>
            <a:pPr algn="ctr"/>
            <a:r>
              <a:rPr lang="en-US" altLang="ru-RU" sz="3000" b="1" dirty="0" err="1">
                <a:latin typeface="Aptos" panose="020B0004020202020204" pitchFamily="34" charset="0"/>
              </a:rPr>
              <a:t>I+G+Ex+Tr</a:t>
            </a:r>
            <a:r>
              <a:rPr lang="en-US" altLang="ru-RU" sz="3000" b="1" dirty="0">
                <a:latin typeface="Aptos" panose="020B0004020202020204" pitchFamily="34" charset="0"/>
              </a:rPr>
              <a:t>=</a:t>
            </a:r>
            <a:r>
              <a:rPr lang="en-US" altLang="ru-RU" sz="3000" b="1" dirty="0" err="1">
                <a:latin typeface="Aptos" panose="020B0004020202020204" pitchFamily="34" charset="0"/>
              </a:rPr>
              <a:t>Sp+T+Im</a:t>
            </a:r>
            <a:endParaRPr lang="en-US" altLang="ru-RU" sz="3000" b="1" dirty="0">
              <a:latin typeface="Aptos" panose="020B0004020202020204" pitchFamily="34" charset="0"/>
            </a:endParaRPr>
          </a:p>
          <a:p>
            <a:pPr algn="ctr"/>
            <a:r>
              <a:rPr lang="ru-RU" altLang="ru-RU" sz="3000" dirty="0">
                <a:latin typeface="Aptos" panose="020B0004020202020204" pitchFamily="34" charset="0"/>
              </a:rPr>
              <a:t>инъекции   изъятия</a:t>
            </a:r>
            <a:endParaRPr lang="en-US" altLang="ru-RU" sz="3000" b="1" dirty="0">
              <a:latin typeface="Aptos" panose="020B0004020202020204" pitchFamily="34" charset="0"/>
            </a:endParaRPr>
          </a:p>
          <a:p>
            <a:pPr algn="ctr"/>
            <a:endParaRPr lang="ru-RU" altLang="ru-RU" sz="3000" dirty="0">
              <a:latin typeface="Aptos" panose="020B0004020202020204" pitchFamily="34" charset="0"/>
            </a:endParaRPr>
          </a:p>
        </p:txBody>
      </p:sp>
      <p:sp>
        <p:nvSpPr>
          <p:cNvPr id="5" name="TextBox 4">
            <a:extLst>
              <a:ext uri="{FF2B5EF4-FFF2-40B4-BE49-F238E27FC236}">
                <a16:creationId xmlns:a16="http://schemas.microsoft.com/office/drawing/2014/main" id="{622B53DE-26D3-91CA-280B-6EAFA2F7FB04}"/>
              </a:ext>
            </a:extLst>
          </p:cNvPr>
          <p:cNvSpPr txBox="1"/>
          <p:nvPr/>
        </p:nvSpPr>
        <p:spPr>
          <a:xfrm>
            <a:off x="522080" y="2294683"/>
            <a:ext cx="11147840" cy="1165960"/>
          </a:xfrm>
          <a:prstGeom prst="rect">
            <a:avLst/>
          </a:prstGeom>
          <a:noFill/>
        </p:spPr>
        <p:txBody>
          <a:bodyPr wrap="square" rtlCol="0">
            <a:spAutoFit/>
          </a:bodyPr>
          <a:lstStyle/>
          <a:p>
            <a:pPr lvl="0" algn="ctr">
              <a:lnSpc>
                <a:spcPct val="107000"/>
              </a:lnSpc>
              <a:spcAft>
                <a:spcPts val="800"/>
              </a:spcAft>
              <a:tabLst>
                <a:tab pos="457200" algn="l"/>
              </a:tabLst>
            </a:pPr>
            <a:r>
              <a:rPr lang="ru-RU" sz="3000" b="1" kern="100" dirty="0">
                <a:latin typeface="Aptos" panose="020B0004020202020204" pitchFamily="34" charset="0"/>
                <a:ea typeface="Aptos" panose="020B0004020202020204" pitchFamily="34" charset="0"/>
                <a:cs typeface="Times New Roman" panose="02020603050405020304" pitchFamily="18" charset="0"/>
              </a:rPr>
              <a:t>Инъекции – добавляют расходы</a:t>
            </a:r>
          </a:p>
          <a:p>
            <a:pPr lvl="0" algn="ctr">
              <a:lnSpc>
                <a:spcPct val="107000"/>
              </a:lnSpc>
              <a:spcAft>
                <a:spcPts val="800"/>
              </a:spcAft>
              <a:tabLst>
                <a:tab pos="457200" algn="l"/>
              </a:tabLst>
            </a:pPr>
            <a:r>
              <a:rPr lang="ru-RU" sz="3000" b="1" kern="100" dirty="0">
                <a:effectLst/>
                <a:latin typeface="Aptos" panose="020B0004020202020204" pitchFamily="34" charset="0"/>
                <a:ea typeface="Aptos" panose="020B0004020202020204" pitchFamily="34" charset="0"/>
                <a:cs typeface="Times New Roman" panose="02020603050405020304" pitchFamily="18" charset="0"/>
              </a:rPr>
              <a:t>Изъятия – уменьшают поток расходов.</a:t>
            </a:r>
            <a:endParaRPr lang="ru-RU" sz="3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16218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67235" cy="408109"/>
          </a:xfrm>
        </p:spPr>
        <p:txBody>
          <a:bodyPr/>
          <a:lstStyle/>
          <a:p>
            <a:r>
              <a:rPr lang="ru-RU" dirty="0">
                <a:latin typeface="Aptos" panose="020B0004020202020204" pitchFamily="34" charset="0"/>
              </a:rPr>
              <a:t>Департамент теоретической экономики</a:t>
            </a:r>
          </a:p>
        </p:txBody>
      </p:sp>
      <p:sp>
        <p:nvSpPr>
          <p:cNvPr id="5" name="TextBox 4">
            <a:extLst>
              <a:ext uri="{FF2B5EF4-FFF2-40B4-BE49-F238E27FC236}">
                <a16:creationId xmlns:a16="http://schemas.microsoft.com/office/drawing/2014/main" id="{B6919D8E-C849-4D71-A655-AC95BDC5AEEF}"/>
              </a:ext>
            </a:extLst>
          </p:cNvPr>
          <p:cNvSpPr txBox="1"/>
          <p:nvPr/>
        </p:nvSpPr>
        <p:spPr>
          <a:xfrm>
            <a:off x="193964" y="1822265"/>
            <a:ext cx="11804072" cy="3406958"/>
          </a:xfrm>
          <a:prstGeom prst="rect">
            <a:avLst/>
          </a:prstGeom>
          <a:noFill/>
        </p:spPr>
        <p:txBody>
          <a:bodyPr wrap="square">
            <a:spAutoFit/>
          </a:bodyPr>
          <a:lstStyle/>
          <a:p>
            <a:pPr algn="ctr"/>
            <a:r>
              <a:rPr lang="ru-RU" sz="3200" b="1" dirty="0">
                <a:latin typeface="Aptos" panose="020B0004020202020204" pitchFamily="34" charset="0"/>
              </a:rPr>
              <a:t>Основные цели государства в </a:t>
            </a:r>
          </a:p>
          <a:p>
            <a:pPr algn="ctr"/>
            <a:r>
              <a:rPr lang="ru-RU" sz="3200" b="1" dirty="0">
                <a:latin typeface="Aptos" panose="020B0004020202020204" pitchFamily="34" charset="0"/>
              </a:rPr>
              <a:t>рыночной экономике: </a:t>
            </a:r>
            <a:endParaRPr lang="en-GB" sz="3200" b="1" dirty="0">
              <a:latin typeface="Aptos" panose="020B0004020202020204" pitchFamily="34" charset="0"/>
            </a:endParaRPr>
          </a:p>
          <a:p>
            <a:pPr algn="ctr"/>
            <a:endParaRPr lang="ru-RU" sz="500" b="1" dirty="0">
              <a:latin typeface="Aptos" panose="020B0004020202020204" pitchFamily="34" charset="0"/>
            </a:endParaRPr>
          </a:p>
          <a:p>
            <a:pPr algn="ctr">
              <a:lnSpc>
                <a:spcPct val="150000"/>
              </a:lnSpc>
            </a:pPr>
            <a:r>
              <a:rPr lang="ru-RU" sz="2500" spc="-1" dirty="0">
                <a:solidFill>
                  <a:srgbClr val="0F2C68"/>
                </a:solidFill>
                <a:latin typeface="Aptos" panose="020B0004020202020204" pitchFamily="34" charset="0"/>
              </a:rPr>
              <a:t>1. Поддержание устойчивых темпов экономического роста; </a:t>
            </a:r>
          </a:p>
          <a:p>
            <a:pPr algn="ctr">
              <a:lnSpc>
                <a:spcPct val="150000"/>
              </a:lnSpc>
            </a:pPr>
            <a:r>
              <a:rPr lang="ru-RU" sz="2500" spc="-1" dirty="0">
                <a:solidFill>
                  <a:srgbClr val="0F2C68"/>
                </a:solidFill>
                <a:latin typeface="Aptos" panose="020B0004020202020204" pitchFamily="34" charset="0"/>
              </a:rPr>
              <a:t>2. Обеспечение полной занятости - поддержание </a:t>
            </a:r>
          </a:p>
          <a:p>
            <a:pPr algn="ctr">
              <a:lnSpc>
                <a:spcPct val="150000"/>
              </a:lnSpc>
            </a:pPr>
            <a:r>
              <a:rPr lang="ru-RU" sz="2500" spc="-1" dirty="0">
                <a:solidFill>
                  <a:srgbClr val="0F2C68"/>
                </a:solidFill>
                <a:latin typeface="Aptos" panose="020B0004020202020204" pitchFamily="34" charset="0"/>
              </a:rPr>
              <a:t>безработицы на ее «естественном»</a:t>
            </a:r>
            <a:r>
              <a:rPr lang="en-GB" sz="2500" spc="-1" dirty="0">
                <a:solidFill>
                  <a:srgbClr val="0F2C68"/>
                </a:solidFill>
                <a:latin typeface="Aptos" panose="020B0004020202020204" pitchFamily="34" charset="0"/>
              </a:rPr>
              <a:t> </a:t>
            </a:r>
            <a:r>
              <a:rPr lang="ru-RU" sz="2500" spc="-1" dirty="0">
                <a:solidFill>
                  <a:srgbClr val="0F2C68"/>
                </a:solidFill>
                <a:latin typeface="Aptos" panose="020B0004020202020204" pitchFamily="34" charset="0"/>
              </a:rPr>
              <a:t>уровне;</a:t>
            </a:r>
          </a:p>
          <a:p>
            <a:pPr algn="ctr">
              <a:lnSpc>
                <a:spcPct val="150000"/>
              </a:lnSpc>
            </a:pPr>
            <a:r>
              <a:rPr lang="ru-RU" sz="2500" spc="-1" dirty="0">
                <a:solidFill>
                  <a:srgbClr val="0F2C68"/>
                </a:solidFill>
                <a:latin typeface="Aptos" panose="020B0004020202020204" pitchFamily="34" charset="0"/>
              </a:rPr>
              <a:t>3. Сдерживание инфляции, обеспечение стабильности цен. </a:t>
            </a:r>
          </a:p>
        </p:txBody>
      </p:sp>
    </p:spTree>
    <p:extLst>
      <p:ext uri="{BB962C8B-B14F-4D97-AF65-F5344CB8AC3E}">
        <p14:creationId xmlns:p14="http://schemas.microsoft.com/office/powerpoint/2010/main" val="2333238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67235" cy="408109"/>
          </a:xfrm>
        </p:spPr>
        <p:txBody>
          <a:bodyPr/>
          <a:lstStyle/>
          <a:p>
            <a:r>
              <a:rPr lang="ru-RU" dirty="0">
                <a:latin typeface="Aptos" panose="020B0004020202020204" pitchFamily="34" charset="0"/>
              </a:rPr>
              <a:t>Департамент теоретической экономики</a:t>
            </a:r>
          </a:p>
        </p:txBody>
      </p:sp>
      <p:sp>
        <p:nvSpPr>
          <p:cNvPr id="7" name="TextBox 6">
            <a:extLst>
              <a:ext uri="{FF2B5EF4-FFF2-40B4-BE49-F238E27FC236}">
                <a16:creationId xmlns:a16="http://schemas.microsoft.com/office/drawing/2014/main" id="{2F3BE05E-3105-B175-7473-6D2A8C2724E7}"/>
              </a:ext>
            </a:extLst>
          </p:cNvPr>
          <p:cNvSpPr txBox="1"/>
          <p:nvPr/>
        </p:nvSpPr>
        <p:spPr>
          <a:xfrm>
            <a:off x="1519753" y="2145529"/>
            <a:ext cx="9152493" cy="2862322"/>
          </a:xfrm>
          <a:prstGeom prst="rect">
            <a:avLst/>
          </a:prstGeom>
          <a:noFill/>
        </p:spPr>
        <p:txBody>
          <a:bodyPr wrap="square">
            <a:spAutoFit/>
          </a:bodyPr>
          <a:lstStyle/>
          <a:p>
            <a:pPr algn="ctr"/>
            <a:r>
              <a:rPr lang="ru-RU" sz="6000" b="1" dirty="0">
                <a:latin typeface="Aptos" panose="020B0004020202020204" pitchFamily="34" charset="0"/>
              </a:rPr>
              <a:t>Поддержание устойчивых темпов экономического роста</a:t>
            </a:r>
          </a:p>
        </p:txBody>
      </p:sp>
    </p:spTree>
    <p:extLst>
      <p:ext uri="{BB962C8B-B14F-4D97-AF65-F5344CB8AC3E}">
        <p14:creationId xmlns:p14="http://schemas.microsoft.com/office/powerpoint/2010/main" val="1269397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sz="900" dirty="0">
                <a:latin typeface="Aptos" panose="020B0004020202020204" pitchFamily="34" charset="0"/>
              </a:rPr>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sz="900"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699381" cy="408109"/>
          </a:xfrm>
        </p:spPr>
        <p:txBody>
          <a:bodyPr/>
          <a:lstStyle/>
          <a:p>
            <a:r>
              <a:rPr lang="ru-RU" sz="900" dirty="0">
                <a:latin typeface="Aptos" panose="020B0004020202020204" pitchFamily="34" charset="0"/>
              </a:rPr>
              <a:t>Департамент теоретической экономики</a:t>
            </a:r>
          </a:p>
        </p:txBody>
      </p:sp>
      <p:sp>
        <p:nvSpPr>
          <p:cNvPr id="5" name="TextBox 4">
            <a:extLst>
              <a:ext uri="{FF2B5EF4-FFF2-40B4-BE49-F238E27FC236}">
                <a16:creationId xmlns:a16="http://schemas.microsoft.com/office/drawing/2014/main" id="{9E610E77-DF8F-132D-A4FB-E72777AA4FB8}"/>
              </a:ext>
            </a:extLst>
          </p:cNvPr>
          <p:cNvSpPr txBox="1"/>
          <p:nvPr/>
        </p:nvSpPr>
        <p:spPr>
          <a:xfrm>
            <a:off x="288688" y="1229526"/>
            <a:ext cx="11332293" cy="1354217"/>
          </a:xfrm>
          <a:prstGeom prst="rect">
            <a:avLst/>
          </a:prstGeom>
          <a:noFill/>
        </p:spPr>
        <p:txBody>
          <a:bodyPr wrap="square" rtlCol="0">
            <a:spAutoFit/>
          </a:bodyPr>
          <a:lstStyle/>
          <a:p>
            <a:pPr algn="just"/>
            <a:r>
              <a:rPr lang="ru-RU" sz="2400" b="1" kern="100" dirty="0">
                <a:latin typeface="Aptos" panose="020B0004020202020204" pitchFamily="34" charset="0"/>
                <a:cs typeface="Times New Roman" panose="02020603050405020304" pitchFamily="18" charset="0"/>
              </a:rPr>
              <a:t>Валовой внутренний продукт </a:t>
            </a:r>
            <a:r>
              <a:rPr lang="en-GB" sz="2400" b="1" kern="100" dirty="0">
                <a:latin typeface="Aptos" panose="020B0004020202020204" pitchFamily="34" charset="0"/>
                <a:cs typeface="Times New Roman" panose="02020603050405020304" pitchFamily="18" charset="0"/>
              </a:rPr>
              <a:t>-</a:t>
            </a:r>
            <a:r>
              <a:rPr lang="ru-RU" sz="2400" kern="100" dirty="0">
                <a:effectLst/>
                <a:latin typeface="Aptos" panose="020B0004020202020204" pitchFamily="34" charset="0"/>
                <a:ea typeface="Aptos" panose="020B0004020202020204" pitchFamily="34" charset="0"/>
                <a:cs typeface="Times New Roman" panose="02020603050405020304" pitchFamily="18" charset="0"/>
              </a:rPr>
              <a:t> это совокупная рыночная стоимость всех конечных товаров и услуг, произведенных в экономике (внутри страны) в течение одного года.</a:t>
            </a:r>
          </a:p>
          <a:p>
            <a:pPr algn="l"/>
            <a:endParaRPr lang="ru-RU" sz="900" dirty="0">
              <a:latin typeface="Aptos" panose="020B0004020202020204" pitchFamily="34" charset="0"/>
            </a:endParaRPr>
          </a:p>
        </p:txBody>
      </p:sp>
      <p:sp>
        <p:nvSpPr>
          <p:cNvPr id="7" name="TextBox 6">
            <a:extLst>
              <a:ext uri="{FF2B5EF4-FFF2-40B4-BE49-F238E27FC236}">
                <a16:creationId xmlns:a16="http://schemas.microsoft.com/office/drawing/2014/main" id="{68FF4E31-D22E-21E2-83B6-138A54839717}"/>
              </a:ext>
            </a:extLst>
          </p:cNvPr>
          <p:cNvSpPr txBox="1"/>
          <p:nvPr/>
        </p:nvSpPr>
        <p:spPr>
          <a:xfrm>
            <a:off x="759332" y="3046534"/>
            <a:ext cx="3304667" cy="461665"/>
          </a:xfrm>
          <a:prstGeom prst="rect">
            <a:avLst/>
          </a:prstGeom>
          <a:noFill/>
        </p:spPr>
        <p:txBody>
          <a:bodyPr wrap="square">
            <a:spAutoFit/>
          </a:bodyPr>
          <a:lstStyle/>
          <a:p>
            <a:r>
              <a:rPr lang="ru-RU" sz="2400" b="1" kern="100" dirty="0">
                <a:latin typeface="Aptos" panose="020B0004020202020204" pitchFamily="34" charset="0"/>
                <a:cs typeface="Times New Roman" panose="02020603050405020304" pitchFamily="18" charset="0"/>
              </a:rPr>
              <a:t>Совокупная - …</a:t>
            </a:r>
          </a:p>
        </p:txBody>
      </p:sp>
      <p:sp>
        <p:nvSpPr>
          <p:cNvPr id="9" name="TextBox 8">
            <a:extLst>
              <a:ext uri="{FF2B5EF4-FFF2-40B4-BE49-F238E27FC236}">
                <a16:creationId xmlns:a16="http://schemas.microsoft.com/office/drawing/2014/main" id="{90B62FB7-B586-F9D8-B7F7-91D966CCFB67}"/>
              </a:ext>
            </a:extLst>
          </p:cNvPr>
          <p:cNvSpPr txBox="1"/>
          <p:nvPr/>
        </p:nvSpPr>
        <p:spPr>
          <a:xfrm>
            <a:off x="2270197" y="4197585"/>
            <a:ext cx="2553855" cy="461665"/>
          </a:xfrm>
          <a:prstGeom prst="rect">
            <a:avLst/>
          </a:prstGeom>
          <a:noFill/>
        </p:spPr>
        <p:txBody>
          <a:bodyPr wrap="square">
            <a:spAutoFit/>
          </a:bodyPr>
          <a:lstStyle/>
          <a:p>
            <a:r>
              <a:rPr lang="ru-RU" sz="2400" b="1" kern="100" dirty="0">
                <a:latin typeface="Aptos" panose="020B0004020202020204" pitchFamily="34" charset="0"/>
                <a:cs typeface="Times New Roman" panose="02020603050405020304" pitchFamily="18" charset="0"/>
              </a:rPr>
              <a:t>Конечных - …</a:t>
            </a:r>
          </a:p>
        </p:txBody>
      </p:sp>
      <p:sp>
        <p:nvSpPr>
          <p:cNvPr id="11" name="TextBox 10">
            <a:extLst>
              <a:ext uri="{FF2B5EF4-FFF2-40B4-BE49-F238E27FC236}">
                <a16:creationId xmlns:a16="http://schemas.microsoft.com/office/drawing/2014/main" id="{4811DC43-003C-7B16-0A7E-B0522DDC4748}"/>
              </a:ext>
            </a:extLst>
          </p:cNvPr>
          <p:cNvSpPr txBox="1"/>
          <p:nvPr/>
        </p:nvSpPr>
        <p:spPr>
          <a:xfrm>
            <a:off x="8196452" y="2904511"/>
            <a:ext cx="2750795" cy="461665"/>
          </a:xfrm>
          <a:prstGeom prst="rect">
            <a:avLst/>
          </a:prstGeom>
          <a:noFill/>
        </p:spPr>
        <p:txBody>
          <a:bodyPr wrap="square">
            <a:spAutoFit/>
          </a:bodyPr>
          <a:lstStyle/>
          <a:p>
            <a:r>
              <a:rPr lang="ru-RU" sz="2400" b="1" kern="100" dirty="0">
                <a:latin typeface="Aptos" panose="020B0004020202020204" pitchFamily="34" charset="0"/>
                <a:cs typeface="Times New Roman" panose="02020603050405020304" pitchFamily="18" charset="0"/>
              </a:rPr>
              <a:t>Стоимость - …</a:t>
            </a:r>
          </a:p>
        </p:txBody>
      </p:sp>
      <p:sp>
        <p:nvSpPr>
          <p:cNvPr id="13" name="TextBox 12">
            <a:extLst>
              <a:ext uri="{FF2B5EF4-FFF2-40B4-BE49-F238E27FC236}">
                <a16:creationId xmlns:a16="http://schemas.microsoft.com/office/drawing/2014/main" id="{8CF950E8-7BFB-2510-8EE5-134A900D3B1E}"/>
              </a:ext>
            </a:extLst>
          </p:cNvPr>
          <p:cNvSpPr txBox="1"/>
          <p:nvPr/>
        </p:nvSpPr>
        <p:spPr>
          <a:xfrm>
            <a:off x="4824052" y="3569754"/>
            <a:ext cx="2543896" cy="461665"/>
          </a:xfrm>
          <a:prstGeom prst="rect">
            <a:avLst/>
          </a:prstGeom>
          <a:noFill/>
        </p:spPr>
        <p:txBody>
          <a:bodyPr wrap="square">
            <a:spAutoFit/>
          </a:bodyPr>
          <a:lstStyle/>
          <a:p>
            <a:r>
              <a:rPr lang="ru-RU" sz="2400" b="1" kern="100" dirty="0">
                <a:latin typeface="Aptos" panose="020B0004020202020204" pitchFamily="34" charset="0"/>
                <a:cs typeface="Times New Roman" panose="02020603050405020304" pitchFamily="18" charset="0"/>
              </a:rPr>
              <a:t>Рыночная - …</a:t>
            </a:r>
          </a:p>
        </p:txBody>
      </p:sp>
      <p:sp>
        <p:nvSpPr>
          <p:cNvPr id="15" name="TextBox 14">
            <a:extLst>
              <a:ext uri="{FF2B5EF4-FFF2-40B4-BE49-F238E27FC236}">
                <a16:creationId xmlns:a16="http://schemas.microsoft.com/office/drawing/2014/main" id="{E6106DE4-355F-B932-F037-FA6A209A42AF}"/>
              </a:ext>
            </a:extLst>
          </p:cNvPr>
          <p:cNvSpPr txBox="1"/>
          <p:nvPr/>
        </p:nvSpPr>
        <p:spPr>
          <a:xfrm>
            <a:off x="6805254" y="4459195"/>
            <a:ext cx="4021714" cy="461665"/>
          </a:xfrm>
          <a:prstGeom prst="rect">
            <a:avLst/>
          </a:prstGeom>
          <a:noFill/>
        </p:spPr>
        <p:txBody>
          <a:bodyPr wrap="square">
            <a:spAutoFit/>
          </a:bodyPr>
          <a:lstStyle/>
          <a:p>
            <a:r>
              <a:rPr lang="ru-RU" sz="2400" b="1" kern="100" dirty="0">
                <a:latin typeface="Aptos" panose="020B0004020202020204" pitchFamily="34" charset="0"/>
                <a:cs typeface="Times New Roman" panose="02020603050405020304" pitchFamily="18" charset="0"/>
              </a:rPr>
              <a:t>Товаров и услуг - …</a:t>
            </a:r>
          </a:p>
        </p:txBody>
      </p:sp>
      <p:sp>
        <p:nvSpPr>
          <p:cNvPr id="17" name="TextBox 16">
            <a:extLst>
              <a:ext uri="{FF2B5EF4-FFF2-40B4-BE49-F238E27FC236}">
                <a16:creationId xmlns:a16="http://schemas.microsoft.com/office/drawing/2014/main" id="{14C4BA98-C1C4-EC86-2537-C3785F409039}"/>
              </a:ext>
            </a:extLst>
          </p:cNvPr>
          <p:cNvSpPr txBox="1"/>
          <p:nvPr/>
        </p:nvSpPr>
        <p:spPr>
          <a:xfrm>
            <a:off x="709254" y="5348637"/>
            <a:ext cx="6096000" cy="461665"/>
          </a:xfrm>
          <a:prstGeom prst="rect">
            <a:avLst/>
          </a:prstGeom>
          <a:noFill/>
        </p:spPr>
        <p:txBody>
          <a:bodyPr wrap="square">
            <a:spAutoFit/>
          </a:bodyPr>
          <a:lstStyle/>
          <a:p>
            <a:r>
              <a:rPr lang="ru-RU" sz="2400" b="1" kern="100" dirty="0">
                <a:latin typeface="Aptos" panose="020B0004020202020204" pitchFamily="34" charset="0"/>
                <a:cs typeface="Times New Roman" panose="02020603050405020304" pitchFamily="18" charset="0"/>
              </a:rPr>
              <a:t>Произведенных в экономике - … </a:t>
            </a:r>
          </a:p>
        </p:txBody>
      </p:sp>
      <p:sp>
        <p:nvSpPr>
          <p:cNvPr id="19" name="TextBox 18">
            <a:extLst>
              <a:ext uri="{FF2B5EF4-FFF2-40B4-BE49-F238E27FC236}">
                <a16:creationId xmlns:a16="http://schemas.microsoft.com/office/drawing/2014/main" id="{B10DD2CB-D52E-7F24-9FCE-2022424A888A}"/>
              </a:ext>
            </a:extLst>
          </p:cNvPr>
          <p:cNvSpPr txBox="1"/>
          <p:nvPr/>
        </p:nvSpPr>
        <p:spPr>
          <a:xfrm>
            <a:off x="6884988" y="5855435"/>
            <a:ext cx="4518024" cy="461665"/>
          </a:xfrm>
          <a:prstGeom prst="rect">
            <a:avLst/>
          </a:prstGeom>
          <a:noFill/>
        </p:spPr>
        <p:txBody>
          <a:bodyPr wrap="square">
            <a:spAutoFit/>
          </a:bodyPr>
          <a:lstStyle/>
          <a:p>
            <a:r>
              <a:rPr lang="ru-RU" sz="2400" b="1" kern="100" dirty="0">
                <a:latin typeface="Aptos" panose="020B0004020202020204" pitchFamily="34" charset="0"/>
                <a:cs typeface="Times New Roman" panose="02020603050405020304" pitchFamily="18" charset="0"/>
              </a:rPr>
              <a:t>В течение одного года - …</a:t>
            </a:r>
          </a:p>
        </p:txBody>
      </p:sp>
    </p:spTree>
    <p:extLst>
      <p:ext uri="{BB962C8B-B14F-4D97-AF65-F5344CB8AC3E}">
        <p14:creationId xmlns:p14="http://schemas.microsoft.com/office/powerpoint/2010/main" val="3627249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3124253" cy="408109"/>
          </a:xfrm>
        </p:spPr>
        <p:txBody>
          <a:bodyPr/>
          <a:lstStyle/>
          <a:p>
            <a:r>
              <a:rPr lang="ru-RU" dirty="0">
                <a:latin typeface="Aptos" panose="020B0004020202020204" pitchFamily="34" charset="0"/>
              </a:rPr>
              <a:t>Департамент теоретической экономики</a:t>
            </a:r>
          </a:p>
        </p:txBody>
      </p:sp>
      <p:sp>
        <p:nvSpPr>
          <p:cNvPr id="6" name="TextBox 5">
            <a:extLst>
              <a:ext uri="{FF2B5EF4-FFF2-40B4-BE49-F238E27FC236}">
                <a16:creationId xmlns:a16="http://schemas.microsoft.com/office/drawing/2014/main" id="{6CE971B4-05E4-5330-6658-0DAC6ED9E3CB}"/>
              </a:ext>
            </a:extLst>
          </p:cNvPr>
          <p:cNvSpPr txBox="1"/>
          <p:nvPr/>
        </p:nvSpPr>
        <p:spPr>
          <a:xfrm>
            <a:off x="498764" y="1291166"/>
            <a:ext cx="11379199" cy="5201424"/>
          </a:xfrm>
          <a:prstGeom prst="rect">
            <a:avLst/>
          </a:prstGeom>
          <a:noFill/>
        </p:spPr>
        <p:txBody>
          <a:bodyPr wrap="square">
            <a:spAutoFit/>
          </a:bodyPr>
          <a:lstStyle/>
          <a:p>
            <a:r>
              <a:rPr lang="ru-RU" sz="3200" b="1" kern="100" dirty="0">
                <a:latin typeface="Aptos" panose="020B0004020202020204" pitchFamily="34" charset="0"/>
                <a:cs typeface="Times New Roman" panose="02020603050405020304" pitchFamily="18" charset="0"/>
              </a:rPr>
              <a:t>Сделки, не включаемые в подсчет ВВП:</a:t>
            </a:r>
          </a:p>
          <a:p>
            <a:endParaRPr lang="ru-RU" sz="1000" dirty="0">
              <a:latin typeface="Aptos" panose="020B0004020202020204" pitchFamily="34" charset="0"/>
              <a:cs typeface="Times New Roman" panose="02020603050405020304" pitchFamily="18" charset="0"/>
            </a:endParaRPr>
          </a:p>
          <a:p>
            <a:pPr algn="just"/>
            <a:r>
              <a:rPr lang="en-GB" sz="2000" dirty="0">
                <a:latin typeface="Aptos" panose="020B0004020202020204" pitchFamily="34" charset="0"/>
                <a:cs typeface="Times New Roman" panose="02020603050405020304" pitchFamily="18" charset="0"/>
              </a:rPr>
              <a:t>1</a:t>
            </a:r>
            <a:r>
              <a:rPr lang="en-GB" sz="2000" b="1" dirty="0">
                <a:latin typeface="Aptos" panose="020B0004020202020204" pitchFamily="34" charset="0"/>
                <a:cs typeface="Times New Roman" panose="02020603050405020304" pitchFamily="18" charset="0"/>
              </a:rPr>
              <a:t>. </a:t>
            </a:r>
            <a:r>
              <a:rPr lang="ru-RU" sz="2000" b="1" dirty="0">
                <a:latin typeface="Aptos" panose="020B0004020202020204" pitchFamily="34" charset="0"/>
                <a:cs typeface="Times New Roman" panose="02020603050405020304" pitchFamily="18" charset="0"/>
              </a:rPr>
              <a:t>Нерыночные операции (работа на дому) </a:t>
            </a:r>
            <a:r>
              <a:rPr lang="ru-RU" sz="2000" dirty="0">
                <a:latin typeface="Aptos" panose="020B0004020202020204" pitchFamily="34" charset="0"/>
                <a:cs typeface="Times New Roman" panose="02020603050405020304" pitchFamily="18" charset="0"/>
              </a:rPr>
              <a:t>- труд на себя невозможно измерить и оценить</a:t>
            </a:r>
          </a:p>
          <a:p>
            <a:pPr algn="just"/>
            <a:endParaRPr lang="ru-RU" sz="1000" dirty="0">
              <a:latin typeface="Aptos" panose="020B0004020202020204" pitchFamily="34" charset="0"/>
              <a:cs typeface="Times New Roman" panose="02020603050405020304" pitchFamily="18" charset="0"/>
            </a:endParaRPr>
          </a:p>
          <a:p>
            <a:pPr algn="just"/>
            <a:r>
              <a:rPr lang="ru-RU" sz="2000" dirty="0">
                <a:latin typeface="Aptos" panose="020B0004020202020204" pitchFamily="34" charset="0"/>
                <a:cs typeface="Times New Roman" panose="02020603050405020304" pitchFamily="18" charset="0"/>
              </a:rPr>
              <a:t>2. </a:t>
            </a:r>
            <a:r>
              <a:rPr lang="ru-RU" sz="2000" b="1" dirty="0">
                <a:latin typeface="Aptos" panose="020B0004020202020204" pitchFamily="34" charset="0"/>
                <a:cs typeface="Times New Roman" panose="02020603050405020304" pitchFamily="18" charset="0"/>
              </a:rPr>
              <a:t>Нелегальные операции </a:t>
            </a:r>
            <a:r>
              <a:rPr lang="ru-RU" sz="2000" dirty="0">
                <a:latin typeface="Aptos" panose="020B0004020202020204" pitchFamily="34" charset="0"/>
                <a:cs typeface="Times New Roman" panose="02020603050405020304" pitchFamily="18" charset="0"/>
              </a:rPr>
              <a:t>- производство ряда товаров/услуг запрещено или из-за нарушений субъектов производящих товар/услугу «невидимо» для налоговых и статистических органов. Теневая экономика может включаться в ВВП, однако расчет ее размеров не очень точный из-за сложности оценки. У Росстата есть даже специальный показатель — «ненаблюдаемая экономика». </a:t>
            </a:r>
          </a:p>
          <a:p>
            <a:pPr algn="just"/>
            <a:endParaRPr lang="ru-RU" sz="1000" dirty="0">
              <a:latin typeface="Aptos" panose="020B0004020202020204" pitchFamily="34" charset="0"/>
              <a:cs typeface="Times New Roman" panose="02020603050405020304" pitchFamily="18" charset="0"/>
            </a:endParaRPr>
          </a:p>
          <a:p>
            <a:pPr algn="just"/>
            <a:r>
              <a:rPr lang="ru-RU" sz="2000" dirty="0">
                <a:latin typeface="Aptos" panose="020B0004020202020204" pitchFamily="34" charset="0"/>
                <a:cs typeface="Times New Roman" panose="02020603050405020304" pitchFamily="18" charset="0"/>
              </a:rPr>
              <a:t>3. </a:t>
            </a:r>
            <a:r>
              <a:rPr lang="ru-RU" sz="2000" b="1" dirty="0">
                <a:latin typeface="Aptos" panose="020B0004020202020204" pitchFamily="34" charset="0"/>
                <a:cs typeface="Times New Roman" panose="02020603050405020304" pitchFamily="18" charset="0"/>
              </a:rPr>
              <a:t>Перепродажа товаров </a:t>
            </a:r>
            <a:r>
              <a:rPr lang="ru-RU" sz="2000" dirty="0">
                <a:latin typeface="Aptos" panose="020B0004020202020204" pitchFamily="34" charset="0"/>
                <a:cs typeface="Times New Roman" panose="02020603050405020304" pitchFamily="18" charset="0"/>
              </a:rPr>
              <a:t>- сделки по покупке подержанных вещей, поскольку они были уже учтены в ВВП прошлых лет. </a:t>
            </a:r>
          </a:p>
          <a:p>
            <a:pPr algn="just"/>
            <a:endParaRPr lang="ru-RU" sz="1000" dirty="0">
              <a:latin typeface="Aptos" panose="020B0004020202020204" pitchFamily="34" charset="0"/>
              <a:cs typeface="Times New Roman" panose="02020603050405020304" pitchFamily="18" charset="0"/>
            </a:endParaRPr>
          </a:p>
          <a:p>
            <a:pPr algn="just"/>
            <a:r>
              <a:rPr lang="ru-RU" sz="2000" dirty="0">
                <a:latin typeface="Aptos" panose="020B0004020202020204" pitchFamily="34" charset="0"/>
                <a:cs typeface="Times New Roman" panose="02020603050405020304" pitchFamily="18" charset="0"/>
              </a:rPr>
              <a:t>4. </a:t>
            </a:r>
            <a:r>
              <a:rPr lang="ru-RU" sz="2000" b="1" dirty="0">
                <a:latin typeface="Aptos" panose="020B0004020202020204" pitchFamily="34" charset="0"/>
                <a:cs typeface="Times New Roman" panose="02020603050405020304" pitchFamily="18" charset="0"/>
              </a:rPr>
              <a:t>Финансовые сделки </a:t>
            </a:r>
            <a:r>
              <a:rPr lang="ru-RU" sz="2000" dirty="0">
                <a:latin typeface="Aptos" panose="020B0004020202020204" pitchFamily="34" charset="0"/>
                <a:cs typeface="Times New Roman" panose="02020603050405020304" pitchFamily="18" charset="0"/>
              </a:rPr>
              <a:t>- сделки с ценными бумагами, поскольку они не связаны с производством. </a:t>
            </a:r>
          </a:p>
          <a:p>
            <a:pPr algn="just"/>
            <a:endParaRPr lang="ru-RU" sz="1000" dirty="0">
              <a:latin typeface="Aptos" panose="020B0004020202020204" pitchFamily="34" charset="0"/>
              <a:cs typeface="Times New Roman" panose="02020603050405020304" pitchFamily="18" charset="0"/>
            </a:endParaRPr>
          </a:p>
          <a:p>
            <a:r>
              <a:rPr lang="ru-RU" sz="2000" dirty="0">
                <a:latin typeface="Aptos" panose="020B0004020202020204" pitchFamily="34" charset="0"/>
                <a:cs typeface="Times New Roman" panose="02020603050405020304" pitchFamily="18" charset="0"/>
              </a:rPr>
              <a:t>5. </a:t>
            </a:r>
            <a:r>
              <a:rPr lang="ru-RU" sz="2000" b="1" dirty="0">
                <a:latin typeface="Aptos" panose="020B0004020202020204" pitchFamily="34" charset="0"/>
                <a:cs typeface="Times New Roman" panose="02020603050405020304" pitchFamily="18" charset="0"/>
              </a:rPr>
              <a:t>Трансферты</a:t>
            </a:r>
            <a:r>
              <a:rPr lang="ru-RU" sz="2000" dirty="0">
                <a:latin typeface="Aptos" panose="020B0004020202020204" pitchFamily="34" charset="0"/>
                <a:cs typeface="Times New Roman" panose="02020603050405020304" pitchFamily="18" charset="0"/>
              </a:rPr>
              <a:t> - частные подарки, поскольку это перераспределение средств. Государственные трансферты - социальная помощь и пособия. </a:t>
            </a:r>
          </a:p>
        </p:txBody>
      </p:sp>
    </p:spTree>
    <p:extLst>
      <p:ext uri="{BB962C8B-B14F-4D97-AF65-F5344CB8AC3E}">
        <p14:creationId xmlns:p14="http://schemas.microsoft.com/office/powerpoint/2010/main" val="2464122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66B4-8A97-0CCD-AEC7-F7F29EB5D690}"/>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2AC7ABB2-4F03-3CC5-62F9-6B0B3596419A}"/>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5036006A-A4CC-121B-78FB-FAFA119BC850}"/>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AD0F5151-188F-4BA7-0CCE-4D2904195B21}"/>
              </a:ext>
            </a:extLst>
          </p:cNvPr>
          <p:cNvSpPr>
            <a:spLocks noGrp="1"/>
          </p:cNvSpPr>
          <p:nvPr>
            <p:ph type="body" sz="quarter" idx="15"/>
          </p:nvPr>
        </p:nvSpPr>
        <p:spPr>
          <a:xfrm>
            <a:off x="6259891" y="548720"/>
            <a:ext cx="2902581" cy="408109"/>
          </a:xfrm>
        </p:spPr>
        <p:txBody>
          <a:bodyPr/>
          <a:lstStyle/>
          <a:p>
            <a:r>
              <a:rPr lang="ru-RU" dirty="0">
                <a:latin typeface="Aptos" panose="020B0004020202020204" pitchFamily="34" charset="0"/>
              </a:rPr>
              <a:t>Департамент теоретической экономики</a:t>
            </a:r>
          </a:p>
        </p:txBody>
      </p:sp>
      <p:sp>
        <p:nvSpPr>
          <p:cNvPr id="5" name="TextBox 4">
            <a:extLst>
              <a:ext uri="{FF2B5EF4-FFF2-40B4-BE49-F238E27FC236}">
                <a16:creationId xmlns:a16="http://schemas.microsoft.com/office/drawing/2014/main" id="{4A6AAA30-B749-AF40-2D12-ACF4A3AC8AAB}"/>
              </a:ext>
            </a:extLst>
          </p:cNvPr>
          <p:cNvSpPr txBox="1"/>
          <p:nvPr/>
        </p:nvSpPr>
        <p:spPr>
          <a:xfrm>
            <a:off x="440679" y="1743421"/>
            <a:ext cx="11046691" cy="4661276"/>
          </a:xfrm>
          <a:prstGeom prst="rect">
            <a:avLst/>
          </a:prstGeom>
          <a:noFill/>
        </p:spPr>
        <p:txBody>
          <a:bodyPr wrap="square">
            <a:spAutoFit/>
          </a:bodyPr>
          <a:lstStyle/>
          <a:p>
            <a:pPr marL="342900" indent="-342900">
              <a:lnSpc>
                <a:spcPct val="150000"/>
              </a:lnSpc>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Стоимость работы плотника по строительству собственной дачи. </a:t>
            </a:r>
          </a:p>
          <a:p>
            <a:pPr marL="342900" indent="-342900">
              <a:lnSpc>
                <a:spcPct val="150000"/>
              </a:lnSpc>
              <a:buFontTx/>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Расходы на покупку домохозяйством земельного участка. </a:t>
            </a:r>
          </a:p>
          <a:p>
            <a:pPr marL="342900" indent="-342900">
              <a:lnSpc>
                <a:spcPct val="150000"/>
              </a:lnSpc>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Рост товарно-материальных запасов фирмы. </a:t>
            </a:r>
          </a:p>
          <a:p>
            <a:pPr marL="342900" indent="-342900">
              <a:lnSpc>
                <a:spcPct val="150000"/>
              </a:lnSpc>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Зарплата врача, работающею в государственной больнице. </a:t>
            </a:r>
          </a:p>
          <a:p>
            <a:pPr marL="342900" indent="-342900">
              <a:lnSpc>
                <a:spcPct val="150000"/>
              </a:lnSpc>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Доходы дельцов наркобизнеса.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6. Покупка картины Леонардо да Винчи частным коллекционером.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7. Зарплата дворников.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8. Проценты по государственным облигациям.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9. Жалование государственного чиновника.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10. Расходы фирмы на строительство нового цеха. </a:t>
            </a:r>
            <a:endParaRPr lang="ru-RU" sz="2000" dirty="0">
              <a:latin typeface="Aptos" panose="020B0004020202020204" pitchFamily="34" charset="0"/>
            </a:endParaRPr>
          </a:p>
        </p:txBody>
      </p:sp>
      <p:sp>
        <p:nvSpPr>
          <p:cNvPr id="6" name="TextBox 5">
            <a:extLst>
              <a:ext uri="{FF2B5EF4-FFF2-40B4-BE49-F238E27FC236}">
                <a16:creationId xmlns:a16="http://schemas.microsoft.com/office/drawing/2014/main" id="{7B2F1EF1-4B99-2E67-9101-E155BA52F592}"/>
              </a:ext>
            </a:extLst>
          </p:cNvPr>
          <p:cNvSpPr txBox="1"/>
          <p:nvPr/>
        </p:nvSpPr>
        <p:spPr>
          <a:xfrm>
            <a:off x="572655" y="1150070"/>
            <a:ext cx="8062298" cy="400110"/>
          </a:xfrm>
          <a:prstGeom prst="rect">
            <a:avLst/>
          </a:prstGeom>
          <a:noFill/>
        </p:spPr>
        <p:txBody>
          <a:bodyPr wrap="square" rtlCol="0">
            <a:spAutoFit/>
          </a:bodyPr>
          <a:lstStyle/>
          <a:p>
            <a:pPr algn="l"/>
            <a:r>
              <a:rPr lang="ru-RU" sz="2000" b="1" i="1" dirty="0">
                <a:latin typeface="Aptos" panose="020B0004020202020204" pitchFamily="34" charset="0"/>
                <a:cs typeface="Times New Roman" panose="02020603050405020304" pitchFamily="18" charset="0"/>
              </a:rPr>
              <a:t>Определите, какие виды работ увеличивают ВВП?</a:t>
            </a:r>
          </a:p>
        </p:txBody>
      </p:sp>
    </p:spTree>
    <p:extLst>
      <p:ext uri="{BB962C8B-B14F-4D97-AF65-F5344CB8AC3E}">
        <p14:creationId xmlns:p14="http://schemas.microsoft.com/office/powerpoint/2010/main" val="548517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C8E17-C60B-34F3-113E-A557B30934D3}"/>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BF0859E7-254C-8A7F-25EE-9F633A72F024}"/>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1ADDBB63-646E-D6D2-DBFD-E6218A3B7075}"/>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C136C4EA-D736-2010-CEE0-8CD1E7D7DB2F}"/>
              </a:ext>
            </a:extLst>
          </p:cNvPr>
          <p:cNvSpPr>
            <a:spLocks noGrp="1"/>
          </p:cNvSpPr>
          <p:nvPr>
            <p:ph type="body" sz="quarter" idx="15"/>
          </p:nvPr>
        </p:nvSpPr>
        <p:spPr>
          <a:xfrm>
            <a:off x="6259891" y="548720"/>
            <a:ext cx="2902581" cy="408109"/>
          </a:xfrm>
        </p:spPr>
        <p:txBody>
          <a:bodyPr/>
          <a:lstStyle/>
          <a:p>
            <a:r>
              <a:rPr lang="ru-RU" dirty="0">
                <a:latin typeface="Aptos" panose="020B0004020202020204" pitchFamily="34" charset="0"/>
              </a:rPr>
              <a:t>Департамент теоретической экономики</a:t>
            </a:r>
          </a:p>
        </p:txBody>
      </p:sp>
      <p:sp>
        <p:nvSpPr>
          <p:cNvPr id="5" name="TextBox 4">
            <a:extLst>
              <a:ext uri="{FF2B5EF4-FFF2-40B4-BE49-F238E27FC236}">
                <a16:creationId xmlns:a16="http://schemas.microsoft.com/office/drawing/2014/main" id="{880ED363-34DC-1522-1EC9-769C76D3A3DA}"/>
              </a:ext>
            </a:extLst>
          </p:cNvPr>
          <p:cNvSpPr txBox="1"/>
          <p:nvPr/>
        </p:nvSpPr>
        <p:spPr>
          <a:xfrm>
            <a:off x="445329" y="1744944"/>
            <a:ext cx="11046691" cy="4661276"/>
          </a:xfrm>
          <a:prstGeom prst="rect">
            <a:avLst/>
          </a:prstGeom>
          <a:noFill/>
        </p:spPr>
        <p:txBody>
          <a:bodyPr wrap="square">
            <a:spAutoFit/>
          </a:bodyPr>
          <a:lstStyle/>
          <a:p>
            <a:pPr marL="342900" indent="-342900">
              <a:lnSpc>
                <a:spcPct val="150000"/>
              </a:lnSpc>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Стоимость работы плотника по строительству собственной дачи. - </a:t>
            </a:r>
          </a:p>
          <a:p>
            <a:pPr marL="342900" indent="-342900">
              <a:lnSpc>
                <a:spcPct val="150000"/>
              </a:lnSpc>
              <a:buFontTx/>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Расходы на покупку домохозяйством земельного участка. </a:t>
            </a:r>
            <a:r>
              <a:rPr lang="ru-RU" sz="2000" dirty="0">
                <a:latin typeface="Aptos" panose="020B0004020202020204" pitchFamily="34" charset="0"/>
                <a:ea typeface="Calibri" panose="020F0502020204030204" pitchFamily="34" charset="0"/>
                <a:cs typeface="Times New Roman" panose="02020603050405020304" pitchFamily="18" charset="0"/>
              </a:rPr>
              <a:t>- </a:t>
            </a:r>
            <a:endParaRPr lang="ru-RU" sz="2000" dirty="0">
              <a:effectLst/>
              <a:latin typeface="Aptos" panose="020B0004020202020204" pitchFamily="34" charset="0"/>
              <a:ea typeface="Calibri" panose="020F0502020204030204" pitchFamily="34" charset="0"/>
              <a:cs typeface="Times New Roman" panose="02020603050405020304" pitchFamily="18" charset="0"/>
            </a:endParaRPr>
          </a:p>
          <a:p>
            <a:pPr marL="342900" indent="-342900">
              <a:lnSpc>
                <a:spcPct val="150000"/>
              </a:lnSpc>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Рост товарно-материальных запасов фирмы. </a:t>
            </a:r>
            <a:r>
              <a:rPr lang="ru-RU" sz="2000" dirty="0">
                <a:latin typeface="Aptos" panose="020B0004020202020204" pitchFamily="34" charset="0"/>
                <a:ea typeface="Calibri" panose="020F0502020204030204" pitchFamily="34" charset="0"/>
                <a:cs typeface="Times New Roman" panose="02020603050405020304" pitchFamily="18" charset="0"/>
              </a:rPr>
              <a:t>+</a:t>
            </a:r>
            <a:endParaRPr lang="ru-RU" sz="2000" dirty="0">
              <a:effectLst/>
              <a:latin typeface="Aptos" panose="020B0004020202020204" pitchFamily="34" charset="0"/>
              <a:ea typeface="Calibri" panose="020F0502020204030204" pitchFamily="34" charset="0"/>
              <a:cs typeface="Times New Roman" panose="02020603050405020304" pitchFamily="18" charset="0"/>
            </a:endParaRPr>
          </a:p>
          <a:p>
            <a:pPr marL="342900" indent="-342900">
              <a:lnSpc>
                <a:spcPct val="150000"/>
              </a:lnSpc>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Зарплата врача, работающею в государственной больнице. +</a:t>
            </a:r>
          </a:p>
          <a:p>
            <a:pPr marL="342900" indent="-342900">
              <a:lnSpc>
                <a:spcPct val="150000"/>
              </a:lnSpc>
              <a:buAutoNum type="arabicPeriod"/>
            </a:pPr>
            <a:r>
              <a:rPr lang="ru-RU" sz="2000" dirty="0">
                <a:effectLst/>
                <a:latin typeface="Aptos" panose="020B0004020202020204" pitchFamily="34" charset="0"/>
                <a:ea typeface="Calibri" panose="020F0502020204030204" pitchFamily="34" charset="0"/>
                <a:cs typeface="Times New Roman" panose="02020603050405020304" pitchFamily="18" charset="0"/>
              </a:rPr>
              <a:t>Доходы дельцов наркобизнеса.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6. Покупка картины Леонардо да Винчи частным коллекционером.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7. Зарплата дворников.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8. Проценты по государственным облигациям.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9. Жалование государственного чиновника. +</a:t>
            </a:r>
          </a:p>
          <a:p>
            <a:pPr>
              <a:lnSpc>
                <a:spcPct val="150000"/>
              </a:lnSpc>
            </a:pPr>
            <a:r>
              <a:rPr lang="ru-RU" sz="2000" dirty="0">
                <a:effectLst/>
                <a:latin typeface="Aptos" panose="020B0004020202020204" pitchFamily="34" charset="0"/>
                <a:ea typeface="Calibri" panose="020F0502020204030204" pitchFamily="34" charset="0"/>
                <a:cs typeface="Times New Roman" panose="02020603050405020304" pitchFamily="18" charset="0"/>
              </a:rPr>
              <a:t>10. Расходы фирмы на строительство нового цеха. +</a:t>
            </a:r>
            <a:endParaRPr lang="ru-RU" sz="2000" dirty="0">
              <a:latin typeface="Aptos" panose="020B0004020202020204" pitchFamily="34" charset="0"/>
            </a:endParaRPr>
          </a:p>
        </p:txBody>
      </p:sp>
      <p:sp>
        <p:nvSpPr>
          <p:cNvPr id="6" name="TextBox 5">
            <a:extLst>
              <a:ext uri="{FF2B5EF4-FFF2-40B4-BE49-F238E27FC236}">
                <a16:creationId xmlns:a16="http://schemas.microsoft.com/office/drawing/2014/main" id="{ADFBB040-189D-001D-6F4E-DA5C3ECA8B92}"/>
              </a:ext>
            </a:extLst>
          </p:cNvPr>
          <p:cNvSpPr txBox="1"/>
          <p:nvPr/>
        </p:nvSpPr>
        <p:spPr>
          <a:xfrm>
            <a:off x="572655" y="1150070"/>
            <a:ext cx="8062298" cy="400110"/>
          </a:xfrm>
          <a:prstGeom prst="rect">
            <a:avLst/>
          </a:prstGeom>
          <a:noFill/>
        </p:spPr>
        <p:txBody>
          <a:bodyPr wrap="square" rtlCol="0">
            <a:spAutoFit/>
          </a:bodyPr>
          <a:lstStyle/>
          <a:p>
            <a:pPr algn="l"/>
            <a:r>
              <a:rPr lang="ru-RU" sz="2000" b="1" i="1" dirty="0">
                <a:latin typeface="Aptos" panose="020B0004020202020204" pitchFamily="34" charset="0"/>
                <a:cs typeface="Times New Roman" panose="02020603050405020304" pitchFamily="18" charset="0"/>
              </a:rPr>
              <a:t>Определите, какие виды работ увеличивают ВВП?</a:t>
            </a:r>
          </a:p>
        </p:txBody>
      </p:sp>
    </p:spTree>
    <p:extLst>
      <p:ext uri="{BB962C8B-B14F-4D97-AF65-F5344CB8AC3E}">
        <p14:creationId xmlns:p14="http://schemas.microsoft.com/office/powerpoint/2010/main" val="1891655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latin typeface="Aptos" panose="020B0004020202020204" pitchFamily="34" charset="0"/>
              </a:rPr>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latin typeface="Aptos" panose="020B0004020202020204" pitchFamily="34" charset="0"/>
              </a:rPr>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67235" cy="408109"/>
          </a:xfrm>
        </p:spPr>
        <p:txBody>
          <a:bodyPr/>
          <a:lstStyle/>
          <a:p>
            <a:r>
              <a:rPr lang="ru-RU" dirty="0">
                <a:latin typeface="Aptos" panose="020B0004020202020204" pitchFamily="34" charset="0"/>
              </a:rPr>
              <a:t>Департамент теоретической экономики</a:t>
            </a:r>
          </a:p>
        </p:txBody>
      </p:sp>
      <p:sp>
        <p:nvSpPr>
          <p:cNvPr id="6" name="Объект 2">
            <a:extLst>
              <a:ext uri="{FF2B5EF4-FFF2-40B4-BE49-F238E27FC236}">
                <a16:creationId xmlns:a16="http://schemas.microsoft.com/office/drawing/2014/main" id="{9A3EE722-804E-CB0F-74F5-3E19A7489A40}"/>
              </a:ext>
            </a:extLst>
          </p:cNvPr>
          <p:cNvSpPr txBox="1">
            <a:spLocks/>
          </p:cNvSpPr>
          <p:nvPr/>
        </p:nvSpPr>
        <p:spPr>
          <a:xfrm>
            <a:off x="1885684" y="2582377"/>
            <a:ext cx="8748413" cy="2295453"/>
          </a:xfrm>
          <a:prstGeom prst="rect">
            <a:avLst/>
          </a:prstGeom>
        </p:spPr>
        <p:txBody>
          <a:bodyPr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buFontTx/>
              <a:buNone/>
            </a:pPr>
            <a:r>
              <a:rPr lang="ru-RU" sz="2500" b="1" dirty="0">
                <a:latin typeface="Aptos" panose="020B0004020202020204" pitchFamily="34" charset="0"/>
                <a:cs typeface="Times New Roman" panose="02020603050405020304" pitchFamily="18" charset="0"/>
              </a:rPr>
              <a:t>Существует три способа измерения ВВП:</a:t>
            </a:r>
            <a:endParaRPr lang="en-GB" sz="2500" b="1" dirty="0">
              <a:latin typeface="Aptos" panose="020B0004020202020204" pitchFamily="34" charset="0"/>
              <a:cs typeface="Times New Roman" panose="02020603050405020304" pitchFamily="18" charset="0"/>
            </a:endParaRPr>
          </a:p>
          <a:p>
            <a:pPr marL="609600" indent="-609600">
              <a:buFontTx/>
              <a:buNone/>
            </a:pPr>
            <a:endParaRPr lang="ru-RU" sz="1000" b="1" dirty="0">
              <a:latin typeface="Aptos" panose="020B0004020202020204" pitchFamily="34" charset="0"/>
              <a:cs typeface="Times New Roman" panose="02020603050405020304" pitchFamily="18" charset="0"/>
            </a:endParaRPr>
          </a:p>
          <a:p>
            <a:pPr marL="609600" indent="-609600">
              <a:buFontTx/>
              <a:buAutoNum type="arabicPeriod"/>
            </a:pPr>
            <a:r>
              <a:rPr lang="ru-RU" sz="2500" dirty="0">
                <a:latin typeface="Aptos" panose="020B0004020202020204" pitchFamily="34" charset="0"/>
                <a:cs typeface="Times New Roman" panose="02020603050405020304" pitchFamily="18" charset="0"/>
              </a:rPr>
              <a:t>По добавленной стоимости (производственный метод)</a:t>
            </a:r>
          </a:p>
          <a:p>
            <a:pPr marL="609600" indent="-609600">
              <a:buFontTx/>
              <a:buAutoNum type="arabicPeriod"/>
            </a:pPr>
            <a:r>
              <a:rPr lang="ru-RU" sz="2500" dirty="0">
                <a:latin typeface="Aptos" panose="020B0004020202020204" pitchFamily="34" charset="0"/>
                <a:cs typeface="Times New Roman" panose="02020603050405020304" pitchFamily="18" charset="0"/>
              </a:rPr>
              <a:t>По расходам (метод конечного использования)</a:t>
            </a:r>
          </a:p>
          <a:p>
            <a:pPr marL="609600" indent="-609600">
              <a:buFontTx/>
              <a:buAutoNum type="arabicPeriod"/>
            </a:pPr>
            <a:r>
              <a:rPr lang="ru-RU" sz="2500" dirty="0">
                <a:latin typeface="Aptos" panose="020B0004020202020204" pitchFamily="34" charset="0"/>
                <a:cs typeface="Times New Roman" panose="02020603050405020304" pitchFamily="18" charset="0"/>
              </a:rPr>
              <a:t>По доходам (распределительный метод)</a:t>
            </a:r>
            <a:endParaRPr lang="ru-RU" sz="2500" dirty="0">
              <a:latin typeface="Aptos" panose="020B0004020202020204" pitchFamily="34" charset="0"/>
            </a:endParaRPr>
          </a:p>
        </p:txBody>
      </p:sp>
    </p:spTree>
    <p:extLst>
      <p:ext uri="{BB962C8B-B14F-4D97-AF65-F5344CB8AC3E}">
        <p14:creationId xmlns:p14="http://schemas.microsoft.com/office/powerpoint/2010/main" val="3474556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67235" cy="408109"/>
          </a:xfrm>
        </p:spPr>
        <p:txBody>
          <a:bodyPr/>
          <a:lstStyle/>
          <a:p>
            <a:r>
              <a:rPr lang="ru-RU" dirty="0"/>
              <a:t>Департамент теоретической экономики</a:t>
            </a:r>
          </a:p>
        </p:txBody>
      </p:sp>
      <p:sp>
        <p:nvSpPr>
          <p:cNvPr id="7" name="TextBox 6">
            <a:extLst>
              <a:ext uri="{FF2B5EF4-FFF2-40B4-BE49-F238E27FC236}">
                <a16:creationId xmlns:a16="http://schemas.microsoft.com/office/drawing/2014/main" id="{A430E435-BA64-9D2F-7680-EA837387BCC2}"/>
              </a:ext>
            </a:extLst>
          </p:cNvPr>
          <p:cNvSpPr txBox="1"/>
          <p:nvPr/>
        </p:nvSpPr>
        <p:spPr>
          <a:xfrm>
            <a:off x="394853" y="1826505"/>
            <a:ext cx="11402293" cy="3785652"/>
          </a:xfrm>
          <a:prstGeom prst="rect">
            <a:avLst/>
          </a:prstGeom>
          <a:noFill/>
        </p:spPr>
        <p:txBody>
          <a:bodyPr wrap="square">
            <a:spAutoFit/>
          </a:bodyPr>
          <a:lstStyle/>
          <a:p>
            <a:r>
              <a:rPr lang="ru-RU" sz="2000" b="1" dirty="0"/>
              <a:t>Расчёт ВВП по добавленной стоимости</a:t>
            </a:r>
          </a:p>
          <a:p>
            <a:endParaRPr lang="ru-RU" sz="1000" dirty="0"/>
          </a:p>
          <a:p>
            <a:r>
              <a:rPr lang="ru-RU" sz="2000" dirty="0"/>
              <a:t>Добавленная стоимость фирмы = выручка от продаж − стоимость промежуточных товаров</a:t>
            </a:r>
          </a:p>
          <a:p>
            <a:endParaRPr lang="ru-RU" sz="1000" dirty="0"/>
          </a:p>
          <a:p>
            <a:r>
              <a:rPr lang="ru-RU" sz="2000" dirty="0"/>
              <a:t>ВВП = сумма добавленных стоимостей всех фирм</a:t>
            </a:r>
          </a:p>
          <a:p>
            <a:endParaRPr lang="ru-RU" sz="1000" dirty="0"/>
          </a:p>
          <a:p>
            <a:r>
              <a:rPr lang="ru-RU" sz="2000" dirty="0"/>
              <a:t>Этот метод позволяет избежать двойного счёта и учесть вклад каждой стадии производства.</a:t>
            </a:r>
          </a:p>
          <a:p>
            <a:endParaRPr lang="ru-RU" sz="1000" dirty="0"/>
          </a:p>
          <a:p>
            <a:r>
              <a:rPr lang="ru-RU" sz="2000" i="1" dirty="0"/>
              <a:t>Пример:</a:t>
            </a:r>
          </a:p>
          <a:p>
            <a:r>
              <a:rPr lang="ru-RU" sz="2000" dirty="0"/>
              <a:t>Пшеница </a:t>
            </a:r>
            <a:r>
              <a:rPr lang="en-GB" sz="2000" dirty="0"/>
              <a:t>-</a:t>
            </a:r>
            <a:r>
              <a:rPr lang="ru-RU" sz="2000" dirty="0"/>
              <a:t> 100</a:t>
            </a:r>
          </a:p>
          <a:p>
            <a:r>
              <a:rPr lang="ru-RU" sz="2000" dirty="0"/>
              <a:t>Мука </a:t>
            </a:r>
            <a:r>
              <a:rPr lang="en-GB" sz="2000" dirty="0"/>
              <a:t>-</a:t>
            </a:r>
            <a:r>
              <a:rPr lang="ru-RU" sz="2000" dirty="0"/>
              <a:t> 180</a:t>
            </a:r>
          </a:p>
          <a:p>
            <a:r>
              <a:rPr lang="ru-RU" sz="2000" dirty="0"/>
              <a:t>Хлеб </a:t>
            </a:r>
            <a:r>
              <a:rPr lang="en-GB" sz="2000" dirty="0"/>
              <a:t>-</a:t>
            </a:r>
            <a:r>
              <a:rPr lang="ru-RU" sz="2000" dirty="0"/>
              <a:t> 250</a:t>
            </a:r>
          </a:p>
          <a:p>
            <a:br>
              <a:rPr lang="ru-RU" sz="2000" dirty="0"/>
            </a:br>
            <a:endParaRPr lang="ru-RU" sz="2000" dirty="0"/>
          </a:p>
        </p:txBody>
      </p:sp>
      <p:sp>
        <p:nvSpPr>
          <p:cNvPr id="11" name="TextBox 10">
            <a:extLst>
              <a:ext uri="{FF2B5EF4-FFF2-40B4-BE49-F238E27FC236}">
                <a16:creationId xmlns:a16="http://schemas.microsoft.com/office/drawing/2014/main" id="{B5007FA1-B9CA-CF95-9F73-0BF4998D194C}"/>
              </a:ext>
            </a:extLst>
          </p:cNvPr>
          <p:cNvSpPr txBox="1"/>
          <p:nvPr/>
        </p:nvSpPr>
        <p:spPr>
          <a:xfrm>
            <a:off x="3127268" y="3769279"/>
            <a:ext cx="6099858" cy="1200329"/>
          </a:xfrm>
          <a:prstGeom prst="rect">
            <a:avLst/>
          </a:prstGeom>
          <a:noFill/>
        </p:spPr>
        <p:txBody>
          <a:bodyPr wrap="square">
            <a:spAutoFit/>
          </a:bodyPr>
          <a:lstStyle/>
          <a:p>
            <a:r>
              <a:rPr lang="ru-RU" sz="1800" i="1" dirty="0"/>
              <a:t>Добавленная стоимость:</a:t>
            </a:r>
          </a:p>
          <a:p>
            <a:r>
              <a:rPr lang="ru-RU" sz="1800" dirty="0"/>
              <a:t>Фермер </a:t>
            </a:r>
            <a:r>
              <a:rPr lang="en-GB" sz="1800" dirty="0"/>
              <a:t>-</a:t>
            </a:r>
            <a:r>
              <a:rPr lang="ru-RU" sz="1800" dirty="0"/>
              <a:t> 100</a:t>
            </a:r>
          </a:p>
          <a:p>
            <a:r>
              <a:rPr lang="ru-RU" sz="1800" dirty="0"/>
              <a:t>Мельница </a:t>
            </a:r>
            <a:r>
              <a:rPr lang="en-GB" sz="1800" dirty="0"/>
              <a:t>-</a:t>
            </a:r>
            <a:r>
              <a:rPr lang="ru-RU" sz="1800" dirty="0"/>
              <a:t> 80</a:t>
            </a:r>
          </a:p>
          <a:p>
            <a:r>
              <a:rPr lang="ru-RU" sz="1800" dirty="0"/>
              <a:t>Пекарня </a:t>
            </a:r>
            <a:r>
              <a:rPr lang="en-GB" sz="1800" dirty="0"/>
              <a:t>-</a:t>
            </a:r>
            <a:r>
              <a:rPr lang="ru-RU" sz="1800" dirty="0"/>
              <a:t> 70</a:t>
            </a:r>
          </a:p>
        </p:txBody>
      </p:sp>
      <p:sp>
        <p:nvSpPr>
          <p:cNvPr id="13" name="TextBox 12">
            <a:extLst>
              <a:ext uri="{FF2B5EF4-FFF2-40B4-BE49-F238E27FC236}">
                <a16:creationId xmlns:a16="http://schemas.microsoft.com/office/drawing/2014/main" id="{CF123CEA-7803-9340-04DF-BE51F8A77D24}"/>
              </a:ext>
            </a:extLst>
          </p:cNvPr>
          <p:cNvSpPr txBox="1"/>
          <p:nvPr/>
        </p:nvSpPr>
        <p:spPr>
          <a:xfrm>
            <a:off x="1674646" y="5106216"/>
            <a:ext cx="1452622" cy="369332"/>
          </a:xfrm>
          <a:prstGeom prst="rect">
            <a:avLst/>
          </a:prstGeom>
          <a:noFill/>
        </p:spPr>
        <p:txBody>
          <a:bodyPr wrap="square">
            <a:spAutoFit/>
          </a:bodyPr>
          <a:lstStyle/>
          <a:p>
            <a:pPr algn="ctr"/>
            <a:r>
              <a:rPr lang="ru-RU" sz="1800" b="1" dirty="0"/>
              <a:t>ВВП = 250</a:t>
            </a:r>
          </a:p>
        </p:txBody>
      </p:sp>
    </p:spTree>
    <p:extLst>
      <p:ext uri="{BB962C8B-B14F-4D97-AF65-F5344CB8AC3E}">
        <p14:creationId xmlns:p14="http://schemas.microsoft.com/office/powerpoint/2010/main" val="2928819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FB855-BA7C-4988-C718-D116DFD04ABF}"/>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0A10AEDD-DCC3-C4B2-6675-E17ED573C1DB}"/>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2FDC833B-06E4-00BF-120C-37C07478CEC1}"/>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517E5285-8FF7-8737-C468-5CF7D9C77A3C}"/>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D2B9FE96-7DCC-FA6A-5BB4-E3BB712BEE82}"/>
              </a:ext>
            </a:extLst>
          </p:cNvPr>
          <p:cNvSpPr txBox="1"/>
          <p:nvPr/>
        </p:nvSpPr>
        <p:spPr>
          <a:xfrm>
            <a:off x="287511" y="1271221"/>
            <a:ext cx="11361881" cy="2554545"/>
          </a:xfrm>
          <a:prstGeom prst="rect">
            <a:avLst/>
          </a:prstGeom>
          <a:noFill/>
        </p:spPr>
        <p:txBody>
          <a:bodyPr wrap="square">
            <a:spAutoFit/>
          </a:bodyPr>
          <a:lstStyle/>
          <a:p>
            <a:pPr algn="just"/>
            <a:r>
              <a:rPr lang="ru-RU" sz="1600" b="1" dirty="0">
                <a:effectLst/>
                <a:ea typeface="Calibri" panose="020F0502020204030204" pitchFamily="34" charset="0"/>
                <a:cs typeface="Times New Roman" panose="02020603050405020304" pitchFamily="18" charset="0"/>
              </a:rPr>
              <a:t>Задача</a:t>
            </a:r>
            <a:r>
              <a:rPr lang="en-US" sz="1600" b="1" dirty="0">
                <a:effectLst/>
                <a:ea typeface="Calibri" panose="020F0502020204030204" pitchFamily="34" charset="0"/>
                <a:cs typeface="Times New Roman" panose="02020603050405020304" pitchFamily="18" charset="0"/>
              </a:rPr>
              <a:t> 1</a:t>
            </a:r>
            <a:r>
              <a:rPr lang="ru-RU" sz="1600" b="1" dirty="0">
                <a:effectLst/>
                <a:ea typeface="Calibri" panose="020F0502020204030204" pitchFamily="34" charset="0"/>
                <a:cs typeface="Times New Roman" panose="02020603050405020304" pitchFamily="18" charset="0"/>
              </a:rPr>
              <a:t>. </a:t>
            </a:r>
            <a:r>
              <a:rPr lang="ru-RU" sz="1600" dirty="0">
                <a:effectLst/>
                <a:ea typeface="Calibri" panose="020F0502020204030204" pitchFamily="34" charset="0"/>
                <a:cs typeface="Times New Roman" panose="02020603050405020304" pitchFamily="18" charset="0"/>
              </a:rPr>
              <a:t>Фермер использовал для посева зерно урожая прошлого года стоимостью 100 тыс. руб., произвел зерно стоимостью 500 тыс. руб. Часть нового урожая (на сумму 150 тыс. руб.) фермер оставил в качестве посевного материала на следующий год, остальное зерно (стоимостью 350 тыс. руб.) было продано мукомольному комбинату. Произведенную из этого зерна муку комбинат продал за 800 тыс. руб. пекарен, которая часть муки (стоимостью 50 тыс. руб.) оставила в запасах, а из оставшейся части произвела хлеб, который был куплен магазинами (на 900 тыс. руб.)  и предприятиями общественного питания (на 300 </a:t>
            </a:r>
            <a:r>
              <a:rPr lang="ru-RU" sz="1600" dirty="0" err="1">
                <a:effectLst/>
                <a:ea typeface="Calibri" panose="020F0502020204030204" pitchFamily="34" charset="0"/>
                <a:cs typeface="Times New Roman" panose="02020603050405020304" pitchFamily="18" charset="0"/>
              </a:rPr>
              <a:t>тыс.руб</a:t>
            </a:r>
            <a:r>
              <a:rPr lang="ru-RU" sz="1600" dirty="0">
                <a:effectLst/>
                <a:ea typeface="Calibri" panose="020F0502020204030204" pitchFamily="34" charset="0"/>
                <a:cs typeface="Times New Roman" panose="02020603050405020304" pitchFamily="18" charset="0"/>
              </a:rPr>
              <a:t>.). Выручка магазинов от продажи хлеба составила 1400 тыс. руб. Предприятия общественного питания получили от продажи хлеба 380 тыс. руб. Определите ВВП как рыночную стоимость конечной продукции и как сумму добавленной стоимости.</a:t>
            </a:r>
            <a:endParaRPr lang="en-GB" sz="1600" dirty="0">
              <a:effectLst/>
              <a:ea typeface="Calibri" panose="020F0502020204030204" pitchFamily="34" charset="0"/>
              <a:cs typeface="Times New Roman" panose="02020603050405020304" pitchFamily="18" charset="0"/>
            </a:endParaRPr>
          </a:p>
          <a:p>
            <a:pPr algn="just"/>
            <a:endParaRPr lang="en-GB" sz="1600" dirty="0">
              <a:cs typeface="Times New Roman" panose="02020603050405020304" pitchFamily="18" charset="0"/>
            </a:endParaRPr>
          </a:p>
          <a:p>
            <a:pPr algn="just"/>
            <a:endParaRPr lang="ru-RU" sz="1600" b="1" dirty="0"/>
          </a:p>
        </p:txBody>
      </p:sp>
    </p:spTree>
    <p:extLst>
      <p:ext uri="{BB962C8B-B14F-4D97-AF65-F5344CB8AC3E}">
        <p14:creationId xmlns:p14="http://schemas.microsoft.com/office/powerpoint/2010/main" val="2229674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7AC8064E-5791-204C-B92F-A01827949435}"/>
              </a:ext>
            </a:extLst>
          </p:cNvPr>
          <p:cNvSpPr>
            <a:spLocks noGrp="1"/>
          </p:cNvSpPr>
          <p:nvPr>
            <p:ph type="body" sz="quarter" idx="13"/>
          </p:nvPr>
        </p:nvSpPr>
        <p:spPr/>
        <p:txBody>
          <a:bodyPr/>
          <a:lstStyle/>
          <a:p>
            <a:r>
              <a:rPr lang="ru-RU" dirty="0"/>
              <a:t>НИУ ВШЭ</a:t>
            </a:r>
          </a:p>
        </p:txBody>
      </p:sp>
      <p:sp>
        <p:nvSpPr>
          <p:cNvPr id="3" name="Текст 2">
            <a:extLst>
              <a:ext uri="{FF2B5EF4-FFF2-40B4-BE49-F238E27FC236}">
                <a16:creationId xmlns:a16="http://schemas.microsoft.com/office/drawing/2014/main" id="{C5A111DD-C00C-2D48-9F7A-4E23C5BA0C63}"/>
              </a:ext>
            </a:extLst>
          </p:cNvPr>
          <p:cNvSpPr>
            <a:spLocks noGrp="1"/>
          </p:cNvSpPr>
          <p:nvPr>
            <p:ph type="body" sz="quarter" idx="14"/>
          </p:nvPr>
        </p:nvSpPr>
        <p:spPr/>
        <p:txBody>
          <a:bodyPr/>
          <a:lstStyle/>
          <a:p>
            <a:r>
              <a:rPr lang="ru-RU" dirty="0"/>
              <a:t>Факультет экономических наук</a:t>
            </a:r>
          </a:p>
        </p:txBody>
      </p:sp>
      <p:sp>
        <p:nvSpPr>
          <p:cNvPr id="4" name="Текст 3">
            <a:extLst>
              <a:ext uri="{FF2B5EF4-FFF2-40B4-BE49-F238E27FC236}">
                <a16:creationId xmlns:a16="http://schemas.microsoft.com/office/drawing/2014/main" id="{D7B3E517-ED8B-0241-AB87-BE49B315EEBF}"/>
              </a:ext>
            </a:extLst>
          </p:cNvPr>
          <p:cNvSpPr>
            <a:spLocks noGrp="1"/>
          </p:cNvSpPr>
          <p:nvPr>
            <p:ph type="body" sz="quarter" idx="15"/>
          </p:nvPr>
        </p:nvSpPr>
        <p:spPr>
          <a:xfrm>
            <a:off x="6259891" y="548720"/>
            <a:ext cx="2902581" cy="408109"/>
          </a:xfrm>
        </p:spPr>
        <p:txBody>
          <a:bodyPr/>
          <a:lstStyle/>
          <a:p>
            <a:r>
              <a:rPr lang="ru-RU" dirty="0"/>
              <a:t>Департамент теоретической экономики</a:t>
            </a:r>
          </a:p>
        </p:txBody>
      </p:sp>
      <p:sp>
        <p:nvSpPr>
          <p:cNvPr id="5" name="TextBox 4">
            <a:extLst>
              <a:ext uri="{FF2B5EF4-FFF2-40B4-BE49-F238E27FC236}">
                <a16:creationId xmlns:a16="http://schemas.microsoft.com/office/drawing/2014/main" id="{3D323995-EA7B-2450-BDCD-765DD1264E16}"/>
              </a:ext>
            </a:extLst>
          </p:cNvPr>
          <p:cNvSpPr txBox="1"/>
          <p:nvPr/>
        </p:nvSpPr>
        <p:spPr>
          <a:xfrm>
            <a:off x="287511" y="1271221"/>
            <a:ext cx="11361881" cy="5262979"/>
          </a:xfrm>
          <a:prstGeom prst="rect">
            <a:avLst/>
          </a:prstGeom>
          <a:noFill/>
        </p:spPr>
        <p:txBody>
          <a:bodyPr wrap="square">
            <a:spAutoFit/>
          </a:bodyPr>
          <a:lstStyle/>
          <a:p>
            <a:pPr algn="just"/>
            <a:r>
              <a:rPr lang="ru-RU" sz="1600" b="1" dirty="0">
                <a:effectLst/>
                <a:ea typeface="Calibri" panose="020F0502020204030204" pitchFamily="34" charset="0"/>
                <a:cs typeface="Times New Roman" panose="02020603050405020304" pitchFamily="18" charset="0"/>
              </a:rPr>
              <a:t>Задача</a:t>
            </a:r>
            <a:r>
              <a:rPr lang="en-US" sz="1600" b="1" dirty="0">
                <a:effectLst/>
                <a:ea typeface="Calibri" panose="020F0502020204030204" pitchFamily="34" charset="0"/>
                <a:cs typeface="Times New Roman" panose="02020603050405020304" pitchFamily="18" charset="0"/>
              </a:rPr>
              <a:t> 1</a:t>
            </a:r>
            <a:r>
              <a:rPr lang="ru-RU" sz="1600" b="1" dirty="0">
                <a:effectLst/>
                <a:ea typeface="Calibri" panose="020F0502020204030204" pitchFamily="34" charset="0"/>
                <a:cs typeface="Times New Roman" panose="02020603050405020304" pitchFamily="18" charset="0"/>
              </a:rPr>
              <a:t>. </a:t>
            </a:r>
            <a:r>
              <a:rPr lang="ru-RU" sz="1600" dirty="0">
                <a:effectLst/>
                <a:ea typeface="Calibri" panose="020F0502020204030204" pitchFamily="34" charset="0"/>
                <a:cs typeface="Times New Roman" panose="02020603050405020304" pitchFamily="18" charset="0"/>
              </a:rPr>
              <a:t>Фермер использовал для посева зерно урожая прошлого года стоимостью 100 тыс. руб., произвел зерно стоимостью 500 тыс. руб. Часть нового урожая (на сумму 150 тыс. руб.) фермер оставил в качестве посевного материала на следующий год, остальное зерно (стоимостью 350 тыс. руб.) было продано мукомольному комбинату. Произведенную из этого зерна муку комбинат продал за 800 тыс. руб. пекарен, которая часть муки (стоимостью 50 тыс. руб.) оставила в запасах, а из оставшейся части произвела хлеб, который был куплен магазинами (на 900 тыс. руб.)  и предприятиями общественного питания (на 300 </a:t>
            </a:r>
            <a:r>
              <a:rPr lang="ru-RU" sz="1600" dirty="0" err="1">
                <a:effectLst/>
                <a:ea typeface="Calibri" panose="020F0502020204030204" pitchFamily="34" charset="0"/>
                <a:cs typeface="Times New Roman" panose="02020603050405020304" pitchFamily="18" charset="0"/>
              </a:rPr>
              <a:t>тыс.руб</a:t>
            </a:r>
            <a:r>
              <a:rPr lang="ru-RU" sz="1600" dirty="0">
                <a:effectLst/>
                <a:ea typeface="Calibri" panose="020F0502020204030204" pitchFamily="34" charset="0"/>
                <a:cs typeface="Times New Roman" panose="02020603050405020304" pitchFamily="18" charset="0"/>
              </a:rPr>
              <a:t>.). Выручка магазинов от продажи хлеба составила 1400 тыс. руб. Предприятия общественного питания получили от продажи хлеба 380 тыс. руб. Определите ВВП как рыночную стоимость конечной продукции и как сумму добавленной стоимости.</a:t>
            </a:r>
            <a:endParaRPr lang="en-GB" sz="1600" dirty="0">
              <a:effectLst/>
              <a:ea typeface="Calibri" panose="020F0502020204030204" pitchFamily="34" charset="0"/>
              <a:cs typeface="Times New Roman" panose="02020603050405020304" pitchFamily="18" charset="0"/>
            </a:endParaRPr>
          </a:p>
          <a:p>
            <a:pPr algn="just"/>
            <a:endParaRPr lang="en-GB" sz="1600" dirty="0">
              <a:cs typeface="Times New Roman" panose="02020603050405020304" pitchFamily="18" charset="0"/>
            </a:endParaRPr>
          </a:p>
          <a:p>
            <a:pPr algn="just"/>
            <a:r>
              <a:rPr lang="ru-RU" sz="1600" b="1" dirty="0">
                <a:cs typeface="Times New Roman" panose="02020603050405020304" pitchFamily="18" charset="0"/>
              </a:rPr>
              <a:t>Рыночная стоимость конечной продукции:</a:t>
            </a:r>
          </a:p>
          <a:p>
            <a:pPr algn="just"/>
            <a:endParaRPr lang="ru-RU" sz="1600" b="1" dirty="0">
              <a:cs typeface="Times New Roman" panose="02020603050405020304" pitchFamily="18" charset="0"/>
            </a:endParaRPr>
          </a:p>
          <a:p>
            <a:pPr algn="just"/>
            <a:r>
              <a:rPr lang="ru-RU" sz="1600" b="1" dirty="0">
                <a:cs typeface="Times New Roman" panose="02020603050405020304" pitchFamily="18" charset="0"/>
              </a:rPr>
              <a:t>150 + 50 + 1400 + 380 = 1980</a:t>
            </a:r>
          </a:p>
          <a:p>
            <a:pPr algn="just"/>
            <a:endParaRPr lang="ru-RU" sz="1600" b="1" dirty="0">
              <a:cs typeface="Times New Roman" panose="02020603050405020304" pitchFamily="18" charset="0"/>
            </a:endParaRPr>
          </a:p>
          <a:p>
            <a:pPr algn="just"/>
            <a:r>
              <a:rPr lang="ru-RU" sz="1600" b="1" dirty="0">
                <a:cs typeface="Times New Roman" panose="02020603050405020304" pitchFamily="18" charset="0"/>
              </a:rPr>
              <a:t>Сумма добавленной стоимости:</a:t>
            </a:r>
          </a:p>
          <a:p>
            <a:pPr algn="just"/>
            <a:endParaRPr lang="ru-RU" sz="1600" b="1" dirty="0">
              <a:cs typeface="Times New Roman" panose="02020603050405020304" pitchFamily="18" charset="0"/>
            </a:endParaRPr>
          </a:p>
          <a:p>
            <a:pPr algn="just"/>
            <a:r>
              <a:rPr lang="ru-RU" sz="1600" b="1" dirty="0">
                <a:cs typeface="Times New Roman" panose="02020603050405020304" pitchFamily="18" charset="0"/>
              </a:rPr>
              <a:t>Фермер (ДС) = 500</a:t>
            </a:r>
          </a:p>
          <a:p>
            <a:pPr algn="just"/>
            <a:r>
              <a:rPr lang="ru-RU" sz="1600" b="1" dirty="0">
                <a:cs typeface="Times New Roman" panose="02020603050405020304" pitchFamily="18" charset="0"/>
              </a:rPr>
              <a:t>Мукомольный комбинат (ДС) = 800 – 350 = 450</a:t>
            </a:r>
          </a:p>
          <a:p>
            <a:pPr algn="just"/>
            <a:r>
              <a:rPr lang="ru-RU" sz="1600" b="1" dirty="0">
                <a:cs typeface="Times New Roman" panose="02020603050405020304" pitchFamily="18" charset="0"/>
              </a:rPr>
              <a:t>Пекарня (ДС) = 900 + 300 – (800 – 50) =  1200 – 750 = 450</a:t>
            </a:r>
          </a:p>
          <a:p>
            <a:pPr algn="just"/>
            <a:r>
              <a:rPr lang="ru-RU" sz="1600" b="1" dirty="0">
                <a:cs typeface="Times New Roman" panose="02020603050405020304" pitchFamily="18" charset="0"/>
              </a:rPr>
              <a:t>Магазины = 1400 – 900 = 500</a:t>
            </a:r>
          </a:p>
          <a:p>
            <a:pPr algn="just"/>
            <a:r>
              <a:rPr lang="ru-RU" sz="1600" b="1" dirty="0">
                <a:cs typeface="Times New Roman" panose="02020603050405020304" pitchFamily="18" charset="0"/>
              </a:rPr>
              <a:t>Общепит = 380 – 300 = 80</a:t>
            </a:r>
          </a:p>
          <a:p>
            <a:pPr algn="just"/>
            <a:endParaRPr lang="ru-RU" sz="1600" b="1" dirty="0"/>
          </a:p>
        </p:txBody>
      </p:sp>
      <p:sp>
        <p:nvSpPr>
          <p:cNvPr id="7" name="TextBox 6">
            <a:extLst>
              <a:ext uri="{FF2B5EF4-FFF2-40B4-BE49-F238E27FC236}">
                <a16:creationId xmlns:a16="http://schemas.microsoft.com/office/drawing/2014/main" id="{D82A1155-B6B8-F9C3-2603-AAAE8E392D81}"/>
              </a:ext>
            </a:extLst>
          </p:cNvPr>
          <p:cNvSpPr txBox="1"/>
          <p:nvPr/>
        </p:nvSpPr>
        <p:spPr>
          <a:xfrm>
            <a:off x="5968451" y="5417502"/>
            <a:ext cx="6099858" cy="338554"/>
          </a:xfrm>
          <a:prstGeom prst="rect">
            <a:avLst/>
          </a:prstGeom>
          <a:noFill/>
        </p:spPr>
        <p:txBody>
          <a:bodyPr wrap="square">
            <a:spAutoFit/>
          </a:bodyPr>
          <a:lstStyle/>
          <a:p>
            <a:pPr algn="just"/>
            <a:r>
              <a:rPr lang="ru-RU" sz="1600" b="1" dirty="0">
                <a:cs typeface="Times New Roman" panose="02020603050405020304" pitchFamily="18" charset="0"/>
              </a:rPr>
              <a:t>ВВП = 500 + 450 + 450 + 500 + 80 = 1980</a:t>
            </a:r>
          </a:p>
        </p:txBody>
      </p:sp>
      <p:sp>
        <p:nvSpPr>
          <p:cNvPr id="8" name="Rectangle 7">
            <a:extLst>
              <a:ext uri="{FF2B5EF4-FFF2-40B4-BE49-F238E27FC236}">
                <a16:creationId xmlns:a16="http://schemas.microsoft.com/office/drawing/2014/main" id="{9D1FDFFD-DB30-2123-1DF7-CFC180472FBA}"/>
              </a:ext>
            </a:extLst>
          </p:cNvPr>
          <p:cNvSpPr/>
          <p:nvPr/>
        </p:nvSpPr>
        <p:spPr>
          <a:xfrm>
            <a:off x="5956876" y="5301205"/>
            <a:ext cx="3603812" cy="54401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06086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2161965"/>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customXml/itemProps2.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3.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15977</TotalTime>
  <Words>1495</Words>
  <Application>Microsoft Macintosh PowerPoint</Application>
  <PresentationFormat>Widescreen</PresentationFormat>
  <Paragraphs>260</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Calibri</vt:lpstr>
      <vt:lpstr>Calibri Light</vt:lpstr>
      <vt:lpstr>HSE Sans</vt:lpstr>
      <vt:lpstr>Times New Roman</vt:lpstr>
      <vt:lpstr>Office Theme</vt:lpstr>
      <vt:lpstr>Дисциплина «ЭКОНОМИКА»  Семинар 6.1 Экономический рост и безработица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Анна Иванова</cp:lastModifiedBy>
  <cp:revision>75</cp:revision>
  <cp:lastPrinted>2021-11-11T13:08:42Z</cp:lastPrinted>
  <dcterms:created xsi:type="dcterms:W3CDTF">2021-11-11T08:52:47Z</dcterms:created>
  <dcterms:modified xsi:type="dcterms:W3CDTF">2026-04-18T10:16:22Z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