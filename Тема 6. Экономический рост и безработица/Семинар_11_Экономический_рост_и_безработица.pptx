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7"/>
  </p:notesMasterIdLst>
  <p:sldIdLst>
    <p:sldId id="271" r:id="rId5"/>
    <p:sldId id="309" r:id="rId6"/>
    <p:sldId id="306" r:id="rId7"/>
    <p:sldId id="332" r:id="rId8"/>
    <p:sldId id="333" r:id="rId9"/>
    <p:sldId id="335" r:id="rId10"/>
    <p:sldId id="334" r:id="rId11"/>
    <p:sldId id="299" r:id="rId12"/>
    <p:sldId id="324" r:id="rId13"/>
    <p:sldId id="329" r:id="rId14"/>
    <p:sldId id="311" r:id="rId15"/>
    <p:sldId id="310" r:id="rId16"/>
    <p:sldId id="336" r:id="rId17"/>
    <p:sldId id="337" r:id="rId18"/>
    <p:sldId id="316" r:id="rId19"/>
    <p:sldId id="339" r:id="rId20"/>
    <p:sldId id="338" r:id="rId21"/>
    <p:sldId id="340" r:id="rId22"/>
    <p:sldId id="341" r:id="rId23"/>
    <p:sldId id="318" r:id="rId24"/>
    <p:sldId id="319" r:id="rId25"/>
    <p:sldId id="285" r:id="rId26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25" userDrawn="1">
          <p15:clr>
            <a:srgbClr val="A4A3A4"/>
          </p15:clr>
        </p15:guide>
        <p15:guide id="4" pos="1209" userDrawn="1">
          <p15:clr>
            <a:srgbClr val="A4A3A4"/>
          </p15:clr>
        </p15:guide>
        <p15:guide id="5" pos="2955" userDrawn="1">
          <p15:clr>
            <a:srgbClr val="A4A3A4"/>
          </p15:clr>
        </p15:guide>
        <p15:guide id="6" pos="2071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702" userDrawn="1">
          <p15:clr>
            <a:srgbClr val="A4A3A4"/>
          </p15:clr>
        </p15:guide>
        <p15:guide id="11" pos="5586" userDrawn="1">
          <p15:clr>
            <a:srgbClr val="A4A3A4"/>
          </p15:clr>
        </p15:guide>
        <p15:guide id="12" pos="7333" userDrawn="1">
          <p15:clr>
            <a:srgbClr val="A4A3A4"/>
          </p15:clr>
        </p15:guide>
        <p15:guide id="13" orient="horz" pos="3952" userDrawn="1">
          <p15:clr>
            <a:srgbClr val="A4A3A4"/>
          </p15:clr>
        </p15:guide>
        <p15:guide id="15" pos="6471" userDrawn="1">
          <p15:clr>
            <a:srgbClr val="A4A3A4"/>
          </p15:clr>
        </p15:guide>
        <p15:guide id="16" orient="horz" pos="91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утьков Юрий Юрьевич" initials="КЮЮ" lastIdx="4" clrIdx="0">
    <p:extLst>
      <p:ext uri="{19B8F6BF-5375-455C-9EA6-DF929625EA0E}">
        <p15:presenceInfo xmlns:p15="http://schemas.microsoft.com/office/powerpoint/2012/main" userId="S::ykutkov@hse.ru::45dbd1ed-eea1-4925-9fa4-5001421b49d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2D69"/>
    <a:srgbClr val="029C63"/>
    <a:srgbClr val="96628C"/>
    <a:srgbClr val="11A0D7"/>
    <a:srgbClr val="E61F3D"/>
    <a:srgbClr val="CD5A5A"/>
    <a:srgbClr val="FFD746"/>
    <a:srgbClr val="D9D9D9"/>
    <a:srgbClr val="EB681F"/>
    <a:srgbClr val="234A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29" autoAdjust="0"/>
    <p:restoredTop sz="94752"/>
  </p:normalViewPr>
  <p:slideViewPr>
    <p:cSldViewPr snapToGrid="0" snapToObjects="1">
      <p:cViewPr varScale="1">
        <p:scale>
          <a:sx n="111" d="100"/>
          <a:sy n="111" d="100"/>
        </p:scale>
        <p:origin x="576" y="208"/>
      </p:cViewPr>
      <p:guideLst>
        <p:guide pos="325"/>
        <p:guide pos="1209"/>
        <p:guide pos="2955"/>
        <p:guide pos="2071"/>
        <p:guide pos="3840"/>
        <p:guide pos="4702"/>
        <p:guide pos="5586"/>
        <p:guide pos="7333"/>
        <p:guide orient="horz" pos="3952"/>
        <p:guide pos="6471"/>
        <p:guide orient="horz" pos="9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34" d="100"/>
          <a:sy n="134" d="100"/>
        </p:scale>
        <p:origin x="3648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5T11:27:47.80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223 1 1168 0 0,'-13'5'6018'0'0,"-2"1"-4935"0"0,2-2-1777 0 0,0-2 1 0 0,0 0 0 0 0,0 0 0 0 0,-1-1-1 0 0,1-1 1 0 0,-17-2 0 0 0,-9-2-1022 0 0,-8-2 198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5T11:27:49.17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33 1260 0 0,'0'-11'1712'0'0,"0"5"128"0"0,0 1 933 0 0,0-1-2121 0 0,0 1-612 0 0,10 5-84 0 0,-1 0-376 0 0,1 0-336 0 0,0 5-608 0 0,-1-5-253 0 0,11-5-47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28T17:20:03.88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62 916 0 0,'20'-9'7276'0'0,"-17"7"-7246"0"0,0 1 1 0 0,0-1-1 0 0,0 1 1 0 0,0-1-1 0 0,0 1 0 0 0,0 0 1 0 0,0 0-1 0 0,0 0 1 0 0,4 0-1 0 0,-2 0 35 0 0,-1 1 0 0 0,1-1 0 0 0,0-1-1 0 0,-1 1 1 0 0,0-1 0 0 0,0 1 0 0 0,0-1-1 0 0,0 0 1 0 0,0-1 0 0 0,0 1 0 0 0,6-6 0 0 0,3-1-470 0 0,-11 8-559 0 0,-10 0-4254 0 0,0-2 3451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28T17:20:03.88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62 916 0 0,'20'-9'7276'0'0,"-17"7"-7246"0"0,0 1 1 0 0,0-1-1 0 0,0 1 1 0 0,0-1-1 0 0,0 1 0 0 0,0 0 1 0 0,0 0-1 0 0,0 0 1 0 0,4 0-1 0 0,-2 0 35 0 0,-1 1 0 0 0,0-1 0 0 0,1-1-1 0 0,-1 1 1 0 0,0-1 0 0 0,0 1 0 0 0,0-1-1 0 0,0 0 1 0 0,0-1 0 0 0,0 1 0 0 0,6-6 0 0 0,3-1-470 0 0,-11 8-559 0 0,-10 0-4254 0 0,0-2 3451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28T17:20:03.88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62 916 0 0,'20'-9'7276'0'0,"-17"7"-7246"0"0,0 1 1 0 0,0-1-1 0 0,0 1 1 0 0,0-1-1 0 0,0 1 0 0 0,0 0 1 0 0,0 0-1 0 0,0 0 1 0 0,4 0-1 0 0,-2 0 35 0 0,-1 1 0 0 0,0-1 0 0 0,1-1-1 0 0,-1 1 1 0 0,0-1 0 0 0,0 1 0 0 0,0-1-1 0 0,0 0 1 0 0,0-1 0 0 0,0 1 0 0 0,6-6 0 0 0,3-1-470 0 0,-11 8-559 0 0,-10 0-4254 0 0,0-2 3451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28T17:20:03.88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62 916 0 0,'20'-9'7276'0'0,"-17"7"-7246"0"0,0 1 1 0 0,0-1-1 0 0,0 1 1 0 0,0-1-1 0 0,0 1 0 0 0,0 0 1 0 0,0 0-1 0 0,0 0 1 0 0,4 0-1 0 0,-2 0 35 0 0,-1 1 0 0 0,0-1 0 0 0,1-1-1 0 0,-1 1 1 0 0,0-1 0 0 0,0 1 0 0 0,0-1-1 0 0,0 0 1 0 0,0-1 0 0 0,0 1 0 0 0,6-6 0 0 0,3-1-470 0 0,-11 8-559 0 0,-10 0-4254 0 0,0-2 3451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261BF4-8B2C-784B-9959-B59A059012C3}" type="datetimeFigureOut">
              <a:rPr lang="en-RU" smtClean="0"/>
              <a:t>18.04.2026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48903-8EB5-294E-A216-6B54B0368783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31680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8" descr="A blue circle with white text&#10;&#10;Description automatically generated with low confidence">
            <a:extLst>
              <a:ext uri="{FF2B5EF4-FFF2-40B4-BE49-F238E27FC236}">
                <a16:creationId xmlns:a16="http://schemas.microsoft.com/office/drawing/2014/main" id="{BA292C80-0DA8-194A-9A66-279048FA2A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3859" y="962173"/>
            <a:ext cx="886499" cy="886499"/>
          </a:xfrm>
          <a:prstGeom prst="rect">
            <a:avLst/>
          </a:prstGeom>
        </p:spPr>
      </p:pic>
      <p:cxnSp>
        <p:nvCxnSpPr>
          <p:cNvPr id="11" name="Straight Connector 48">
            <a:extLst>
              <a:ext uri="{FF2B5EF4-FFF2-40B4-BE49-F238E27FC236}">
                <a16:creationId xmlns:a16="http://schemas.microsoft.com/office/drawing/2014/main" id="{313EF906-5BAC-0141-A198-076E155DF9E2}"/>
              </a:ext>
            </a:extLst>
          </p:cNvPr>
          <p:cNvCxnSpPr>
            <a:cxnSpLocks/>
          </p:cNvCxnSpPr>
          <p:nvPr userDrawn="1"/>
        </p:nvCxnSpPr>
        <p:spPr>
          <a:xfrm>
            <a:off x="6090212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50">
            <a:extLst>
              <a:ext uri="{FF2B5EF4-FFF2-40B4-BE49-F238E27FC236}">
                <a16:creationId xmlns:a16="http://schemas.microsoft.com/office/drawing/2014/main" id="{61206A97-26F2-E646-8775-9928FEF465B5}"/>
              </a:ext>
            </a:extLst>
          </p:cNvPr>
          <p:cNvCxnSpPr>
            <a:cxnSpLocks/>
          </p:cNvCxnSpPr>
          <p:nvPr userDrawn="1"/>
        </p:nvCxnSpPr>
        <p:spPr>
          <a:xfrm>
            <a:off x="8642581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51">
            <a:extLst>
              <a:ext uri="{FF2B5EF4-FFF2-40B4-BE49-F238E27FC236}">
                <a16:creationId xmlns:a16="http://schemas.microsoft.com/office/drawing/2014/main" id="{28E0E5F6-C1CA-9B41-B1DB-6E4FB509084D}"/>
              </a:ext>
            </a:extLst>
          </p:cNvPr>
          <p:cNvCxnSpPr>
            <a:cxnSpLocks/>
          </p:cNvCxnSpPr>
          <p:nvPr userDrawn="1"/>
        </p:nvCxnSpPr>
        <p:spPr>
          <a:xfrm>
            <a:off x="11179047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967" y="2404670"/>
            <a:ext cx="7634059" cy="1978323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300" b="0" i="0" baseline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презентации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может быть набрано в две 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или три строки (43 </a:t>
            </a:r>
            <a:r>
              <a:rPr lang="en-GB" sz="4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4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4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947" y="1187841"/>
            <a:ext cx="3848717" cy="43516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latin typeface="HSE Sans" panose="02000000000000000000" pitchFamily="2" charset="0"/>
              </a:defRPr>
            </a:lvl1pPr>
            <a:lvl2pPr marL="457200" indent="0" algn="l">
              <a:buNone/>
              <a:defRPr sz="1600" b="0" i="0">
                <a:latin typeface="HSE Sans" panose="02000000000000000000" pitchFamily="2" charset="0"/>
              </a:defRPr>
            </a:lvl2pPr>
            <a:lvl3pPr marL="914400" indent="0" algn="l">
              <a:buNone/>
              <a:defRPr sz="1600" b="0" i="0">
                <a:latin typeface="HSE Sans" panose="02000000000000000000" pitchFamily="2" charset="0"/>
              </a:defRPr>
            </a:lvl3pPr>
            <a:lvl4pPr marL="1371600" indent="0" algn="l">
              <a:buNone/>
              <a:defRPr sz="1600" b="0" i="0">
                <a:latin typeface="HSE Sans" panose="02000000000000000000" pitchFamily="2" charset="0"/>
              </a:defRPr>
            </a:lvl4pPr>
            <a:lvl5pPr marL="1828800" indent="0" algn="l">
              <a:buNone/>
              <a:defRPr sz="1600" b="0" i="0">
                <a:latin typeface="HSE Sans" panose="02000000000000000000" pitchFamily="2" charset="0"/>
              </a:defRPr>
            </a:lvl5pPr>
          </a:lstStyle>
          <a:p>
            <a:r>
              <a:rPr lang="ru-RU" dirty="0">
                <a:latin typeface="HSE Sans" panose="02000000000000000000" pitchFamily="2" charset="0"/>
              </a:rPr>
              <a:t>Название факультета</a:t>
            </a:r>
            <a:br>
              <a:rPr lang="ru-RU" dirty="0">
                <a:latin typeface="HSE Sans" panose="02000000000000000000" pitchFamily="2" charset="0"/>
              </a:rPr>
            </a:br>
            <a:r>
              <a:rPr lang="ru-RU" dirty="0">
                <a:latin typeface="HSE Sans" panose="02000000000000000000" pitchFamily="2" charset="0"/>
              </a:rPr>
              <a:t>в две строки</a:t>
            </a:r>
            <a:r>
              <a:rPr lang="en-GB" dirty="0">
                <a:latin typeface="HSE Sans" panose="02000000000000000000" pitchFamily="2" charset="0"/>
              </a:rPr>
              <a:t> (16 </a:t>
            </a:r>
            <a:r>
              <a:rPr lang="en-GB" dirty="0" err="1">
                <a:latin typeface="HSE Sans" panose="02000000000000000000" pitchFamily="2" charset="0"/>
              </a:rPr>
              <a:t>pt</a:t>
            </a:r>
            <a:r>
              <a:rPr lang="en-GB" dirty="0">
                <a:latin typeface="HSE Sans" panose="02000000000000000000" pitchFamily="2" charset="0"/>
              </a:rPr>
              <a:t>)</a:t>
            </a:r>
            <a:endParaRPr lang="ru-RU" dirty="0">
              <a:latin typeface="HSE Sans" panose="02000000000000000000" pitchFamily="2" charset="0"/>
            </a:endParaRP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9420" y="1173829"/>
            <a:ext cx="2278063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786720" y="1173829"/>
            <a:ext cx="2217738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Москва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2022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967" y="4824914"/>
            <a:ext cx="7625267" cy="652860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latin typeface="HSE Sans" panose="02000000000000000000" pitchFamily="2" charset="0"/>
              </a:rPr>
              <a:t>Если нужно больше места, то используйте подзаголовок</a:t>
            </a:r>
            <a:r>
              <a:rPr lang="en-GB" sz="1600" dirty="0">
                <a:latin typeface="HSE Sans" panose="02000000000000000000" pitchFamily="2" charset="0"/>
              </a:rPr>
              <a:t> (16 </a:t>
            </a:r>
            <a:r>
              <a:rPr lang="en-GB" sz="1600" dirty="0" err="1">
                <a:latin typeface="HSE Sans" panose="02000000000000000000" pitchFamily="2" charset="0"/>
              </a:rPr>
              <a:t>pt</a:t>
            </a:r>
            <a:r>
              <a:rPr lang="en-GB" sz="1600" dirty="0">
                <a:latin typeface="HSE Sans" panose="02000000000000000000" pitchFamily="2" charset="0"/>
              </a:rPr>
              <a:t>)</a:t>
            </a:r>
            <a:endParaRPr lang="ru-RU" sz="16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895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Icon&#10;&#10;Description automatically generated">
            <a:extLst>
              <a:ext uri="{FF2B5EF4-FFF2-40B4-BE49-F238E27FC236}">
                <a16:creationId xmlns:a16="http://schemas.microsoft.com/office/drawing/2014/main" id="{4A1436AC-5F96-2A4F-BFC7-B3442083EB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11" name="Straight Connector 19">
            <a:extLst>
              <a:ext uri="{FF2B5EF4-FFF2-40B4-BE49-F238E27FC236}">
                <a16:creationId xmlns:a16="http://schemas.microsoft.com/office/drawing/2014/main" id="{067DD2ED-246D-7D41-B51F-FED98BF873F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21">
            <a:extLst>
              <a:ext uri="{FF2B5EF4-FFF2-40B4-BE49-F238E27FC236}">
                <a16:creationId xmlns:a16="http://schemas.microsoft.com/office/drawing/2014/main" id="{68E8C250-D449-A743-8975-B5BFB04D9744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25">
            <a:extLst>
              <a:ext uri="{FF2B5EF4-FFF2-40B4-BE49-F238E27FC236}">
                <a16:creationId xmlns:a16="http://schemas.microsoft.com/office/drawing/2014/main" id="{DD1C71CA-B883-AF42-959D-BCA5690AAA4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9" name="Straight Connector 59">
            <a:extLst>
              <a:ext uri="{FF2B5EF4-FFF2-40B4-BE49-F238E27FC236}">
                <a16:creationId xmlns:a16="http://schemas.microsoft.com/office/drawing/2014/main" id="{3447008E-4F3B-FC4E-B96D-3927FAE1ED1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84653" y="1447790"/>
            <a:ext cx="4325167" cy="4325107"/>
          </a:xfrm>
          <a:solidFill>
            <a:srgbClr val="D9D9D9"/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800" dirty="0">
                <a:solidFill>
                  <a:schemeClr val="tx1"/>
                </a:solidFill>
                <a:latin typeface="HSE Sans" panose="02000000000000000000" pitchFamily="2" charset="0"/>
              </a:rPr>
              <a:t>Чтобы слайд не выглядел пустым, сюда можно поставить иллюстрацию или фотографию</a:t>
            </a:r>
            <a:endParaRPr lang="en-RU" sz="2800">
              <a:solidFill>
                <a:schemeClr val="tx1"/>
              </a:solidFill>
              <a:latin typeface="HSE Sans" panose="02000000000000000000" pitchFamily="2" charset="0"/>
            </a:endParaRPr>
          </a:p>
        </p:txBody>
      </p:sp>
      <p:sp>
        <p:nvSpPr>
          <p:cNvPr id="32" name="Заголовок 31">
            <a:extLst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8" y="1447790"/>
            <a:ext cx="524556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5245561" cy="3393234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38" name="Текст 37">
            <a:extLst>
              <a:ext uri="{FF2B5EF4-FFF2-40B4-BE49-F238E27FC236}">
                <a16:creationId xmlns:a16="http://schemas.microsoft.com/office/drawing/2014/main" id="{7FB4A275-856E-364D-8AA4-2071AADC6A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58FBA0EA-8BE0-A643-B258-4E5C344671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0BEC062F-1BEB-DE4C-B7EE-C552C9D45F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287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FDC66DB8-29BC-5940-A721-40F1002145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DE27C859-478F-3648-8A9D-2C85DBDCAC0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58EA1144-CFD8-1D47-B430-7014F576043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96EDC73C-5A3C-014E-8E52-04CAFCA9B20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5E88681-53A8-3B45-B80A-372EDFB53883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EDA7D8BF-DF37-704F-B77F-7E40752ACE25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5026DBD8-54A3-1446-9D3B-BA2B38460F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E8AA3569-5054-7D47-AB14-BCFB0440D0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Заголовок 31">
            <a:extLst>
              <a:ext uri="{FF2B5EF4-FFF2-40B4-BE49-F238E27FC236}">
                <a16:creationId xmlns:a16="http://schemas.microsoft.com/office/drawing/2014/main" id="{76942483-EB13-0A4B-8060-DB65024C2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66FAD63B-F743-0F47-BBE3-D773176670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11057971" cy="3745092"/>
          </a:xfrm>
        </p:spPr>
        <p:txBody>
          <a:bodyPr lIns="0" tIns="0" rIns="0" numCol="3" spcCol="252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300" dirty="0">
                <a:latin typeface="HSE Sans" panose="02000000000000000000" pitchFamily="2" charset="0"/>
              </a:rPr>
              <a:t>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8A048480-30C9-044E-8C2E-0F67398FEE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183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0E78CA68-7A0C-CF41-9AC6-A547FB9EC3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45DC512A-A23B-B24D-A1F6-6793976867CF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21F91649-DF0F-5F45-A43B-2CED9ACDD04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3137B760-1A50-1845-B7F2-1EF31C71C72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5ECCF8F-5855-7943-B503-5573887A534D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FB81B23D-CDD8-E64C-9887-3540F7EE1C4B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C2D710AE-3CBE-5940-A7EB-F96132E659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FCC5A33D-0A3C-F140-B745-367744A5F3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5163BE0A-A745-414A-AF21-D968BD69D2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B3D47CF6-5FC1-2346-8894-A7CC39063D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CD14B8F3-89C2-9F45-809E-D1EAF85AC5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9892" y="2379663"/>
            <a:ext cx="5383968" cy="3451794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3200" dirty="0">
                <a:solidFill>
                  <a:srgbClr val="102D69"/>
                </a:solidFill>
                <a:latin typeface="HSE Sans" panose="02000000000000000000" pitchFamily="2" charset="0"/>
              </a:rPr>
              <a:t>Небольшую фразу, с важной информацией, можно выделить, набрав ее более крупным кеглем, чем обычный  текст. Делать это часто не рекомендуется.</a:t>
            </a:r>
          </a:p>
          <a:p>
            <a:pPr lvl="0"/>
            <a:endParaRPr lang="ru-RU" dirty="0"/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3BE4279A-8109-B244-B721-18F10C696B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5" name="Заголовок 31">
            <a:extLst>
              <a:ext uri="{FF2B5EF4-FFF2-40B4-BE49-F238E27FC236}">
                <a16:creationId xmlns:a16="http://schemas.microsoft.com/office/drawing/2014/main" id="{B32DC3D4-97A5-3E4F-A29B-422D5E312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795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E89D752-CAC6-0943-9A3D-4C52DBF50C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64D89E64-93BB-044D-B3D4-8F2679C5CA4C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D0C3B169-866D-C645-AF76-00F8C2A97E9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FDDF48AB-D8AE-0E42-A544-8EA5B8744778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6DF89EC-1E7C-3B40-85F4-6D19A7D29AC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019D6862-BD52-734D-9E19-38C147CA2D2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A9BD5ADD-B3F2-C342-82F7-83683F040D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4F15CBC0-FC8B-744E-95A7-C9863CDC31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BC3B54AA-A0BD-E646-B3B7-C0E724D26D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B3F16318-C9C3-B948-A508-4BC53D0B77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23B3E5FB-BBCE-4149-AD9A-8CAB06CC9F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658542D3-7E45-6E46-8039-27C4C43DD6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57965DCA-4776-7546-97FD-A69317A34CF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7113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11D7C3EB-CCEB-E142-9753-8B2D75A0A8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527C9F89-51CC-D243-9351-73AB081DB944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F09EE119-6C80-E846-95F9-BB3907664128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C0A681B-44BF-6A46-98D8-483EF13B9114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5A5D7C-EB12-9D4D-A99A-4B26C81B738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D4C3D74D-BE91-9547-ADCA-ACCE93C1878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3E0AB43B-5E98-6042-A282-C61E0C5A37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7388A8DF-D130-5445-A3F8-F96E1202BA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02CBC466-1703-7541-94E4-AC76F4E6D9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5812BF3C-1D24-3640-84D2-BFFCA525AE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BCBBDD44-9DC9-F74E-979F-120A7BBD4EE1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7C68DF7B-E804-E44B-83DF-5DC36AF76F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8" y="1447064"/>
            <a:ext cx="4322762" cy="703205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графика. Обратите внимание, что название графика набирается меньшим кеглем, чем заголовок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 (16pt)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8" name="Текст 35">
            <a:extLst>
              <a:ext uri="{FF2B5EF4-FFF2-40B4-BE49-F238E27FC236}">
                <a16:creationId xmlns:a16="http://schemas.microsoft.com/office/drawing/2014/main" id="{89E931D8-2901-A54D-86EA-096E47B818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889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фры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Icon&#10;&#10;Description automatically generated">
            <a:extLst>
              <a:ext uri="{FF2B5EF4-FFF2-40B4-BE49-F238E27FC236}">
                <a16:creationId xmlns:a16="http://schemas.microsoft.com/office/drawing/2014/main" id="{E9A64721-E55E-8749-B29E-51DD895593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7" name="Straight Connector 19">
            <a:extLst>
              <a:ext uri="{FF2B5EF4-FFF2-40B4-BE49-F238E27FC236}">
                <a16:creationId xmlns:a16="http://schemas.microsoft.com/office/drawing/2014/main" id="{B0C162B7-B84F-874A-960E-31F512518C6E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1">
            <a:extLst>
              <a:ext uri="{FF2B5EF4-FFF2-40B4-BE49-F238E27FC236}">
                <a16:creationId xmlns:a16="http://schemas.microsoft.com/office/drawing/2014/main" id="{1CB321BB-9FE3-294F-85D8-AA7DC75CA4AF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5">
            <a:extLst>
              <a:ext uri="{FF2B5EF4-FFF2-40B4-BE49-F238E27FC236}">
                <a16:creationId xmlns:a16="http://schemas.microsoft.com/office/drawing/2014/main" id="{0A610A45-8712-8A45-AFB3-931CF468EC3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0460EF6-ECAD-8941-8132-1B3E005D606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1" name="Straight Connector 59">
            <a:extLst>
              <a:ext uri="{FF2B5EF4-FFF2-40B4-BE49-F238E27FC236}">
                <a16:creationId xmlns:a16="http://schemas.microsoft.com/office/drawing/2014/main" id="{41AE56A2-5FAA-FD44-AE1A-338E1E304184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Текст 37">
            <a:extLst>
              <a:ext uri="{FF2B5EF4-FFF2-40B4-BE49-F238E27FC236}">
                <a16:creationId xmlns:a16="http://schemas.microsoft.com/office/drawing/2014/main" id="{D9986185-6D5E-FD48-A5CA-AF2D5B58A3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5DBFD327-E3A8-944A-AABF-7D813AD0F1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D206FCE0-05C3-2C45-A7D6-1FC287C017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3B28B62E-5EE9-834C-9BB6-BD66079B81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4" name="Текст 35">
            <a:extLst>
              <a:ext uri="{FF2B5EF4-FFF2-40B4-BE49-F238E27FC236}">
                <a16:creationId xmlns:a16="http://schemas.microsoft.com/office/drawing/2014/main" id="{621215DE-C1FD-2B4C-B236-AF679CF906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5076" y="4103994"/>
            <a:ext cx="2758143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5" name="Текст 35">
            <a:extLst>
              <a:ext uri="{FF2B5EF4-FFF2-40B4-BE49-F238E27FC236}">
                <a16:creationId xmlns:a16="http://schemas.microsoft.com/office/drawing/2014/main" id="{8BC2F90D-0CE0-574C-A7C1-EAA3E6F1AB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47007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6" name="Текст 35">
            <a:extLst>
              <a:ext uri="{FF2B5EF4-FFF2-40B4-BE49-F238E27FC236}">
                <a16:creationId xmlns:a16="http://schemas.microsoft.com/office/drawing/2014/main" id="{239E188B-2696-8A48-9F8A-36223EEF61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18938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379BF4C6-F899-294C-B88E-8363AFBEEC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5076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152</a:t>
            </a:r>
            <a:endParaRPr lang="ru-RU" dirty="0"/>
          </a:p>
        </p:txBody>
      </p:sp>
      <p:sp>
        <p:nvSpPr>
          <p:cNvPr id="29" name="Текст 27">
            <a:extLst>
              <a:ext uri="{FF2B5EF4-FFF2-40B4-BE49-F238E27FC236}">
                <a16:creationId xmlns:a16="http://schemas.microsoft.com/office/drawing/2014/main" id="{DE7F352B-F6D9-B545-A835-443A55956E7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47007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95</a:t>
            </a:r>
            <a:endParaRPr lang="ru-RU" dirty="0"/>
          </a:p>
        </p:txBody>
      </p:sp>
      <p:sp>
        <p:nvSpPr>
          <p:cNvPr id="30" name="Текст 27">
            <a:extLst>
              <a:ext uri="{FF2B5EF4-FFF2-40B4-BE49-F238E27FC236}">
                <a16:creationId xmlns:a16="http://schemas.microsoft.com/office/drawing/2014/main" id="{D1D5AF9F-C1B0-7842-8789-1DB8963D98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18938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284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7052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C5425806-16DD-844E-927C-26E7143A9E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479746FF-3282-DF46-9D7C-D80431604A55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21">
            <a:extLst>
              <a:ext uri="{FF2B5EF4-FFF2-40B4-BE49-F238E27FC236}">
                <a16:creationId xmlns:a16="http://schemas.microsoft.com/office/drawing/2014/main" id="{51B44297-B0E7-D74D-B291-D39A0D468B42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5">
            <a:extLst>
              <a:ext uri="{FF2B5EF4-FFF2-40B4-BE49-F238E27FC236}">
                <a16:creationId xmlns:a16="http://schemas.microsoft.com/office/drawing/2014/main" id="{0EA4A057-F0CB-E04F-B472-4A1ABFB64C66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64502F5-56EE-354B-A3B1-E79F8B00517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0" name="Straight Connector 59">
            <a:extLst>
              <a:ext uri="{FF2B5EF4-FFF2-40B4-BE49-F238E27FC236}">
                <a16:creationId xmlns:a16="http://schemas.microsoft.com/office/drawing/2014/main" id="{A80E0956-5C10-CC40-A426-CBD2E0C4158E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Текст 37">
            <a:extLst>
              <a:ext uri="{FF2B5EF4-FFF2-40B4-BE49-F238E27FC236}">
                <a16:creationId xmlns:a16="http://schemas.microsoft.com/office/drawing/2014/main" id="{6EC59AAD-5962-8D49-BF4D-7DA5D57307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2" name="Текст 39">
            <a:extLst>
              <a:ext uri="{FF2B5EF4-FFF2-40B4-BE49-F238E27FC236}">
                <a16:creationId xmlns:a16="http://schemas.microsoft.com/office/drawing/2014/main" id="{49041ACC-EEF4-D34B-A7DE-87B1AF2ED3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BF93B2CC-81A4-0943-AF6C-C8657679299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22">
            <a:extLst>
              <a:ext uri="{FF2B5EF4-FFF2-40B4-BE49-F238E27FC236}">
                <a16:creationId xmlns:a16="http://schemas.microsoft.com/office/drawing/2014/main" id="{51340CB4-0355-3640-A212-F684523CDC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5"/>
            <a:ext cx="11058065" cy="30777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8C6F2EA4-CEDC-324C-9C06-8713118041E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en-RU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19" name="Таблица 18">
            <a:extLst>
              <a:ext uri="{FF2B5EF4-FFF2-40B4-BE49-F238E27FC236}">
                <a16:creationId xmlns:a16="http://schemas.microsoft.com/office/drawing/2014/main" id="{7B291085-A9B9-D842-B1A7-96258FAF012C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1984076"/>
            <a:ext cx="11058527" cy="3519576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0160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259ABC72-D738-1143-BF2A-D85AE9A4F7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237A1E42-2FC3-8841-8C41-992C5BC2368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47503EA0-3883-E24D-9EB8-7B617518292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E0144DF2-9891-324D-B34E-AFA025FBCBF9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33F65D6-1072-F140-B6A5-758D7B595A9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5F1F09D4-22FA-7B4B-9488-F8FDDCC2D44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44D0326E-FD7A-3541-A998-62A1C30E2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279CCCA0-F959-5245-8321-106D3C5E83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8B839C6B-8494-8841-9714-4C8F710F84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8" name="Текст 22">
            <a:extLst>
              <a:ext uri="{FF2B5EF4-FFF2-40B4-BE49-F238E27FC236}">
                <a16:creationId xmlns:a16="http://schemas.microsoft.com/office/drawing/2014/main" id="{4D940599-2B77-CE47-91E6-CDB51ADE18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4"/>
            <a:ext cx="7617877" cy="53701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9" name="Текст 16">
            <a:extLst>
              <a:ext uri="{FF2B5EF4-FFF2-40B4-BE49-F238E27FC236}">
                <a16:creationId xmlns:a16="http://schemas.microsoft.com/office/drawing/2014/main" id="{A7333712-9DED-4F4B-B209-2F13075EDB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en-RU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20" name="Таблица 18">
            <a:extLst>
              <a:ext uri="{FF2B5EF4-FFF2-40B4-BE49-F238E27FC236}">
                <a16:creationId xmlns:a16="http://schemas.microsoft.com/office/drawing/2014/main" id="{DD467C42-8209-B740-8419-DBB6A6F7D5EE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2208362"/>
            <a:ext cx="7617895" cy="3295290"/>
          </a:xfrm>
        </p:spPr>
        <p:txBody>
          <a:bodyPr/>
          <a:lstStyle/>
          <a:p>
            <a:endParaRPr lang="ru-RU"/>
          </a:p>
        </p:txBody>
      </p:sp>
      <p:sp>
        <p:nvSpPr>
          <p:cNvPr id="21" name="Текст 35">
            <a:extLst>
              <a:ext uri="{FF2B5EF4-FFF2-40B4-BE49-F238E27FC236}">
                <a16:creationId xmlns:a16="http://schemas.microsoft.com/office/drawing/2014/main" id="{B4309850-76EA-224C-A9E2-B6BBDBF99D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86807" y="2208363"/>
            <a:ext cx="2930666" cy="2570672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77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328428E-0D3D-6E4B-BAC0-3F63BAF7DB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86CF47C6-D972-9E44-A717-6848F348939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412FEF63-77C0-7C4A-B9BE-4BC0EEEEB78C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C4F550E9-E979-284D-B65F-44E092DD9D0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A39D099-B515-F343-BF7A-A95468DA3860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396B1F99-9711-C64F-A7C9-4F1D89E7F11D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9C21DFE9-C3B2-C54E-9275-7776355F7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5A73F99D-6D58-724E-ADB3-150D9B24F8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7E89E360-BE39-5041-BAD6-C7B708340A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9" name="Заголовок 31">
            <a:extLst>
              <a:ext uri="{FF2B5EF4-FFF2-40B4-BE49-F238E27FC236}">
                <a16:creationId xmlns:a16="http://schemas.microsoft.com/office/drawing/2014/main" id="{1C20890C-BC1C-0745-9AF3-46700BA27C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Дополнительная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цветовая гамма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CA2589F7-4500-024F-8E07-D726629A59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Вышки для этих целей.</a:t>
            </a:r>
          </a:p>
        </p:txBody>
      </p:sp>
      <p:sp>
        <p:nvSpPr>
          <p:cNvPr id="21" name="Oval 5">
            <a:extLst>
              <a:ext uri="{FF2B5EF4-FFF2-40B4-BE49-F238E27FC236}">
                <a16:creationId xmlns:a16="http://schemas.microsoft.com/office/drawing/2014/main" id="{D2CA403A-98E7-6C42-8F44-30AB6622C802}"/>
              </a:ext>
            </a:extLst>
          </p:cNvPr>
          <p:cNvSpPr/>
          <p:nvPr userDrawn="1"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2" name="Oval 20">
            <a:extLst>
              <a:ext uri="{FF2B5EF4-FFF2-40B4-BE49-F238E27FC236}">
                <a16:creationId xmlns:a16="http://schemas.microsoft.com/office/drawing/2014/main" id="{42ABAA5D-E7AB-6E48-9D43-A48178C9BDD4}"/>
              </a:ext>
            </a:extLst>
          </p:cNvPr>
          <p:cNvSpPr/>
          <p:nvPr userDrawn="1"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09F185A-8F67-9C42-A7C5-87E483F4FC19}"/>
              </a:ext>
            </a:extLst>
          </p:cNvPr>
          <p:cNvSpPr/>
          <p:nvPr userDrawn="1"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79AE0F6-4E37-6C4D-AF45-824EEE489A15}"/>
              </a:ext>
            </a:extLst>
          </p:cNvPr>
          <p:cNvSpPr/>
          <p:nvPr userDrawn="1"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5" name="Oval 26">
            <a:extLst>
              <a:ext uri="{FF2B5EF4-FFF2-40B4-BE49-F238E27FC236}">
                <a16:creationId xmlns:a16="http://schemas.microsoft.com/office/drawing/2014/main" id="{330C0EA4-7FD1-CE4D-AC95-8C484C5AC790}"/>
              </a:ext>
            </a:extLst>
          </p:cNvPr>
          <p:cNvSpPr/>
          <p:nvPr userDrawn="1"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6" name="Oval 29">
            <a:extLst>
              <a:ext uri="{FF2B5EF4-FFF2-40B4-BE49-F238E27FC236}">
                <a16:creationId xmlns:a16="http://schemas.microsoft.com/office/drawing/2014/main" id="{4C53CF3D-7EFB-DF4F-8EA6-5644574E9AFB}"/>
              </a:ext>
            </a:extLst>
          </p:cNvPr>
          <p:cNvSpPr/>
          <p:nvPr userDrawn="1"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7" name="Oval 33">
            <a:extLst>
              <a:ext uri="{FF2B5EF4-FFF2-40B4-BE49-F238E27FC236}">
                <a16:creationId xmlns:a16="http://schemas.microsoft.com/office/drawing/2014/main" id="{B42CE88A-E9A3-2A4E-BD50-EB37311F39EC}"/>
              </a:ext>
            </a:extLst>
          </p:cNvPr>
          <p:cNvSpPr/>
          <p:nvPr userDrawn="1"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8" name="Oval 34">
            <a:extLst>
              <a:ext uri="{FF2B5EF4-FFF2-40B4-BE49-F238E27FC236}">
                <a16:creationId xmlns:a16="http://schemas.microsoft.com/office/drawing/2014/main" id="{B699EFDF-DB9D-3C4F-9D1F-461508017BDA}"/>
              </a:ext>
            </a:extLst>
          </p:cNvPr>
          <p:cNvSpPr/>
          <p:nvPr userDrawn="1"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9" name="Oval 35">
            <a:extLst>
              <a:ext uri="{FF2B5EF4-FFF2-40B4-BE49-F238E27FC236}">
                <a16:creationId xmlns:a16="http://schemas.microsoft.com/office/drawing/2014/main" id="{5DF3131C-EEA1-5446-B567-C9DA0A2A1AFF}"/>
              </a:ext>
            </a:extLst>
          </p:cNvPr>
          <p:cNvSpPr/>
          <p:nvPr userDrawn="1"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0" name="Oval 36">
            <a:extLst>
              <a:ext uri="{FF2B5EF4-FFF2-40B4-BE49-F238E27FC236}">
                <a16:creationId xmlns:a16="http://schemas.microsoft.com/office/drawing/2014/main" id="{6D03B317-B61D-2945-8C0A-A6EBD87ACD07}"/>
              </a:ext>
            </a:extLst>
          </p:cNvPr>
          <p:cNvSpPr/>
          <p:nvPr userDrawn="1"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1" name="Oval 37">
            <a:extLst>
              <a:ext uri="{FF2B5EF4-FFF2-40B4-BE49-F238E27FC236}">
                <a16:creationId xmlns:a16="http://schemas.microsoft.com/office/drawing/2014/main" id="{9C0266F1-C0B7-624A-A873-5F2C8801E766}"/>
              </a:ext>
            </a:extLst>
          </p:cNvPr>
          <p:cNvSpPr/>
          <p:nvPr userDrawn="1"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2" name="Oval 38">
            <a:extLst>
              <a:ext uri="{FF2B5EF4-FFF2-40B4-BE49-F238E27FC236}">
                <a16:creationId xmlns:a16="http://schemas.microsoft.com/office/drawing/2014/main" id="{30C0C10E-388C-9843-8270-19D471BD3756}"/>
              </a:ext>
            </a:extLst>
          </p:cNvPr>
          <p:cNvSpPr/>
          <p:nvPr userDrawn="1"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3" name="Oval 39">
            <a:extLst>
              <a:ext uri="{FF2B5EF4-FFF2-40B4-BE49-F238E27FC236}">
                <a16:creationId xmlns:a16="http://schemas.microsoft.com/office/drawing/2014/main" id="{87047EA3-79D2-8644-A568-E64AA1D7D370}"/>
              </a:ext>
            </a:extLst>
          </p:cNvPr>
          <p:cNvSpPr/>
          <p:nvPr userDrawn="1"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4" name="Oval 40">
            <a:extLst>
              <a:ext uri="{FF2B5EF4-FFF2-40B4-BE49-F238E27FC236}">
                <a16:creationId xmlns:a16="http://schemas.microsoft.com/office/drawing/2014/main" id="{7F5D1C6B-4E6B-0346-A5DC-C511DB14EFD6}"/>
              </a:ext>
            </a:extLst>
          </p:cNvPr>
          <p:cNvSpPr/>
          <p:nvPr userDrawn="1"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5" name="Oval 41">
            <a:extLst>
              <a:ext uri="{FF2B5EF4-FFF2-40B4-BE49-F238E27FC236}">
                <a16:creationId xmlns:a16="http://schemas.microsoft.com/office/drawing/2014/main" id="{EB421DBA-35DE-2C4F-A89E-27F0998EF4E8}"/>
              </a:ext>
            </a:extLst>
          </p:cNvPr>
          <p:cNvSpPr/>
          <p:nvPr userDrawn="1"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6" name="Oval 42">
            <a:extLst>
              <a:ext uri="{FF2B5EF4-FFF2-40B4-BE49-F238E27FC236}">
                <a16:creationId xmlns:a16="http://schemas.microsoft.com/office/drawing/2014/main" id="{081BD842-A9A1-5B44-81ED-A97BA390032B}"/>
              </a:ext>
            </a:extLst>
          </p:cNvPr>
          <p:cNvSpPr/>
          <p:nvPr userDrawn="1"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7" name="Oval 43">
            <a:extLst>
              <a:ext uri="{FF2B5EF4-FFF2-40B4-BE49-F238E27FC236}">
                <a16:creationId xmlns:a16="http://schemas.microsoft.com/office/drawing/2014/main" id="{036EE7D2-A33A-434C-B272-C82E2CDD4D4D}"/>
              </a:ext>
            </a:extLst>
          </p:cNvPr>
          <p:cNvSpPr/>
          <p:nvPr userDrawn="1"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8" name="Oval 44">
            <a:extLst>
              <a:ext uri="{FF2B5EF4-FFF2-40B4-BE49-F238E27FC236}">
                <a16:creationId xmlns:a16="http://schemas.microsoft.com/office/drawing/2014/main" id="{7DD65DA4-F076-C242-813E-8C17DCABCCFB}"/>
              </a:ext>
            </a:extLst>
          </p:cNvPr>
          <p:cNvSpPr/>
          <p:nvPr userDrawn="1"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9" name="Oval 45">
            <a:extLst>
              <a:ext uri="{FF2B5EF4-FFF2-40B4-BE49-F238E27FC236}">
                <a16:creationId xmlns:a16="http://schemas.microsoft.com/office/drawing/2014/main" id="{8A44D99D-BF66-2848-B460-F59D8ECF5690}"/>
              </a:ext>
            </a:extLst>
          </p:cNvPr>
          <p:cNvSpPr/>
          <p:nvPr userDrawn="1"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0" name="Oval 46">
            <a:extLst>
              <a:ext uri="{FF2B5EF4-FFF2-40B4-BE49-F238E27FC236}">
                <a16:creationId xmlns:a16="http://schemas.microsoft.com/office/drawing/2014/main" id="{9B130CEB-3D74-B647-BA6B-32F7D70FD354}"/>
              </a:ext>
            </a:extLst>
          </p:cNvPr>
          <p:cNvSpPr/>
          <p:nvPr userDrawn="1"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867054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A7FA04E4-3213-8F41-B068-4DC28144142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938052A0-3DF0-DC47-B7E0-C20EF981C230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8C6147F0-3CA1-264C-B2B2-F88597196943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2CDF50E-4D58-AF4A-ABFD-140AF88B3681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2171D1-2A5B-7A4A-9760-17CCE51B980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3C71A0C3-CD3E-0748-98E5-6B2507CAB296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9856D01B-EC9A-6047-B7FB-D47084AB3F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83E23342-AC91-354A-9A28-A14FF7BADC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BB1CCE68-8F57-1A41-BC43-633D2EFC80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20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5234703-C735-5D41-99C2-019C7EBECCF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2F59B5-E815-AE43-BAE2-FA594BB42C0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310809" y="2643809"/>
            <a:ext cx="1570383" cy="157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064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3F8FDE-7383-E947-8568-FF6B7A776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E6541-45CA-8B42-98B4-D42737B85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0645B-C5D9-8544-BBF2-E4A13F8E40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63DFB-8595-A44B-9F09-A50FA310E559}" type="datetimeFigureOut">
              <a:rPr lang="en-RU" smtClean="0"/>
              <a:t>18.04.2026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52289-7F57-544F-95EE-F8B2E10627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C5F56-F795-5643-ABE3-DDED218698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578506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50" r:id="rId4"/>
    <p:sldLayoutId id="2147483651" r:id="rId5"/>
    <p:sldLayoutId id="2147483652" r:id="rId6"/>
    <p:sldLayoutId id="2147483654" r:id="rId7"/>
    <p:sldLayoutId id="2147483655" r:id="rId8"/>
    <p:sldLayoutId id="2147483656" r:id="rId9"/>
    <p:sldLayoutId id="2147483658" r:id="rId10"/>
    <p:sldLayoutId id="2147483657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69" Type="http://schemas.openxmlformats.org/officeDocument/2006/relationships/image" Target="../media/image167.png"/><Relationship Id="rId2" Type="http://schemas.openxmlformats.org/officeDocument/2006/relationships/customXml" Target="../ink/ink1.xml"/><Relationship Id="rId268" Type="http://schemas.openxmlformats.org/officeDocument/2006/relationships/customXml" Target="../ink/ink2.xml"/><Relationship Id="rId1" Type="http://schemas.openxmlformats.org/officeDocument/2006/relationships/slideLayout" Target="../slideLayouts/slideLayout11.xml"/><Relationship Id="rId267" Type="http://schemas.openxmlformats.org/officeDocument/2006/relationships/image" Target="../media/image16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://ssl.rosstat.gov.ru/storage/mediabank/osn-09-2025.pdf" TargetMode="Externa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4.tmp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7.png"/><Relationship Id="rId4" Type="http://schemas.openxmlformats.org/officeDocument/2006/relationships/image" Target="../media/image14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4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44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D95C0D-D7DC-EF40-9E45-F5F0A4817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967" y="2033086"/>
            <a:ext cx="9976491" cy="1978323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Aptos" panose="020B0004020202020204" pitchFamily="34" charset="0"/>
              </a:rPr>
              <a:t>Дисциплина «ЭКОНОМИКА»</a:t>
            </a:r>
            <a:br>
              <a:rPr lang="ru-RU" dirty="0">
                <a:latin typeface="Aptos" panose="020B0004020202020204" pitchFamily="34" charset="0"/>
              </a:rPr>
            </a:br>
            <a:br>
              <a:rPr lang="ru-RU" dirty="0">
                <a:latin typeface="Aptos" panose="020B0004020202020204" pitchFamily="34" charset="0"/>
              </a:rPr>
            </a:br>
            <a:r>
              <a:rPr lang="ru-RU" b="1" dirty="0">
                <a:latin typeface="Aptos" panose="020B0004020202020204" pitchFamily="34" charset="0"/>
              </a:rPr>
              <a:t>Семинар 12. Экономический рост и безработица </a:t>
            </a:r>
            <a:br>
              <a:rPr lang="ru-RU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</a:br>
            <a:br>
              <a:rPr lang="ru-RU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</a:br>
            <a:endParaRPr lang="ru-RU" sz="3200" b="1" i="1" dirty="0">
              <a:latin typeface="Aptos" panose="020B0004020202020204" pitchFamily="34" charset="0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B85EA7E-BEC4-B745-B2A8-D4E4AFC614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НИУ ВШЭ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B8D49EC-434A-5443-AC3F-85F01995E6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Факультет экономических наук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6FAE0FA-3CAF-BA4B-8F9F-5FEF3C2F3CC6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Aptos" panose="020B0004020202020204" pitchFamily="34" charset="0"/>
              </a:rPr>
              <a:t>Москва 2025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4AFB2BF-A7AB-5648-ADCD-2A7F1BD358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27967" y="5151344"/>
            <a:ext cx="7625267" cy="652860"/>
          </a:xfrm>
        </p:spPr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Приглашенный преподаватель департамента теоретической экономики</a:t>
            </a:r>
          </a:p>
          <a:p>
            <a:r>
              <a:rPr lang="ru-RU" dirty="0">
                <a:latin typeface="Aptos" panose="020B0004020202020204" pitchFamily="34" charset="0"/>
              </a:rPr>
              <a:t>Иванова Анна Павловна</a:t>
            </a:r>
          </a:p>
        </p:txBody>
      </p:sp>
    </p:spTree>
    <p:extLst>
      <p:ext uri="{BB962C8B-B14F-4D97-AF65-F5344CB8AC3E}">
        <p14:creationId xmlns:p14="http://schemas.microsoft.com/office/powerpoint/2010/main" val="982325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7AC8064E-5791-204C-B92F-A018279494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НИУ ВШЭ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5A111DD-C00C-2D48-9F7A-4E23C5BA0C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Факультет экономических 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7B3E517-ED8B-0241-AB87-BE49B315EEB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1" y="548720"/>
            <a:ext cx="2967235" cy="408109"/>
          </a:xfrm>
        </p:spPr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Департамент теоретической экономики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FE773D-8B98-7DD4-CAF4-51890BE46E84}"/>
              </a:ext>
            </a:extLst>
          </p:cNvPr>
          <p:cNvSpPr txBox="1"/>
          <p:nvPr/>
        </p:nvSpPr>
        <p:spPr>
          <a:xfrm>
            <a:off x="1986542" y="1650996"/>
            <a:ext cx="854669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latin typeface="Aptos" panose="020B0004020202020204" pitchFamily="34" charset="0"/>
              </a:rPr>
              <a:t>Поддержание устойчивых темпов экономического роста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9574B6-A419-B303-B77C-AD8BD841CA72}"/>
              </a:ext>
            </a:extLst>
          </p:cNvPr>
          <p:cNvSpPr txBox="1"/>
          <p:nvPr/>
        </p:nvSpPr>
        <p:spPr>
          <a:xfrm>
            <a:off x="258618" y="4641118"/>
            <a:ext cx="116747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dirty="0">
                <a:solidFill>
                  <a:srgbClr val="0F2C68"/>
                </a:solidFill>
                <a:effectLst/>
                <a:latin typeface="Aptos" panose="020B0004020202020204" pitchFamily="34" charset="0"/>
              </a:rPr>
              <a:t>Если увеличился ВВП, то можно ли утверждать, что в стране наблюдается экономический рост?</a:t>
            </a:r>
            <a:endParaRPr lang="ru-RU" sz="3000" dirty="0"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0310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7AC8064E-5791-204C-B92F-A018279494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НИУ ВШЭ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5A111DD-C00C-2D48-9F7A-4E23C5BA0C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Факультет экономических 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7B3E517-ED8B-0241-AB87-BE49B315EEB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1" y="548720"/>
            <a:ext cx="2967235" cy="408109"/>
          </a:xfrm>
        </p:spPr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Департамент теоретической экономики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4582EA3-164F-4429-4128-698FF78F157F}"/>
                  </a:ext>
                </a:extLst>
              </p:cNvPr>
              <p:cNvSpPr txBox="1"/>
              <p:nvPr/>
            </p:nvSpPr>
            <p:spPr>
              <a:xfrm>
                <a:off x="2128676" y="2804237"/>
                <a:ext cx="7934646" cy="2595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2400" b="1" dirty="0">
                    <a:latin typeface="Aptos" panose="020B0004020202020204" pitchFamily="34" charset="0"/>
                  </a:rPr>
                  <a:t>Номинальный ВВП</a:t>
                </a:r>
                <a:r>
                  <a:rPr lang="ru-RU" sz="2400" dirty="0">
                    <a:latin typeface="Aptos" panose="020B0004020202020204" pitchFamily="34" charset="0"/>
                  </a:rPr>
                  <a:t> </a:t>
                </a:r>
                <a:r>
                  <a:rPr lang="en-GB" sz="2400" dirty="0">
                    <a:latin typeface="Aptos" panose="020B0004020202020204" pitchFamily="34" charset="0"/>
                  </a:rPr>
                  <a:t>-</a:t>
                </a:r>
                <a:r>
                  <a:rPr lang="ru-RU" sz="2400" dirty="0">
                    <a:latin typeface="Aptos" panose="020B0004020202020204" pitchFamily="34" charset="0"/>
                  </a:rPr>
                  <a:t> это ВВП, рассчитанный в текущих ценах.</a:t>
                </a:r>
              </a:p>
              <a:p>
                <a:pPr algn="ctr"/>
                <a:endParaRPr lang="ru-RU" sz="2400" i="1" dirty="0">
                  <a:latin typeface="Aptos" panose="020B000402020202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∗</m:t>
                          </m:r>
                          <m:sSubSup>
                            <m:sSubSup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ru-RU" sz="2400" dirty="0">
                  <a:latin typeface="Aptos" panose="020B000402020202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bSup>
                            <m:sSubSup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ru-RU" sz="2400" i="1">
                          <a:latin typeface="Cambria Math" panose="02040503050406030204" pitchFamily="18" charset="0"/>
                        </a:rPr>
                        <m:t>количество и цены текущего года</m:t>
                      </m:r>
                    </m:oMath>
                  </m:oMathPara>
                </a14:m>
                <a:endParaRPr lang="ru-RU" sz="2400" i="1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4582EA3-164F-4429-4128-698FF78F15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8676" y="2804237"/>
                <a:ext cx="7934646" cy="2595326"/>
              </a:xfrm>
              <a:prstGeom prst="rect">
                <a:avLst/>
              </a:prstGeom>
              <a:blipFill>
                <a:blip r:embed="rId2"/>
                <a:stretch>
                  <a:fillRect l="-319" t="-3398" r="-1118" b="-53398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056F8A1-764C-9E2A-D7AB-CACB40F37BFB}"/>
              </a:ext>
            </a:extLst>
          </p:cNvPr>
          <p:cNvSpPr txBox="1"/>
          <p:nvPr/>
        </p:nvSpPr>
        <p:spPr>
          <a:xfrm>
            <a:off x="0" y="1458437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>
                <a:latin typeface="Aptos" panose="020B0004020202020204" pitchFamily="34" charset="0"/>
              </a:rPr>
              <a:t>НОМИНАЛЬНЫЙ И РЕАЛЬНЫЙ ВВП</a:t>
            </a:r>
          </a:p>
        </p:txBody>
      </p:sp>
    </p:spTree>
    <p:extLst>
      <p:ext uri="{BB962C8B-B14F-4D97-AF65-F5344CB8AC3E}">
        <p14:creationId xmlns:p14="http://schemas.microsoft.com/office/powerpoint/2010/main" val="121180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911EB-B1BD-26BC-B4DD-4BF669E0D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BD06CB8F-8939-C1FF-1F76-E7BEC05F20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НИУ ВШЭ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3C4E84B-6225-CA50-3F8A-8D3BBAF63DF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Факультет экономических 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C7D2520-C62F-8C06-4DA4-AEB271BE79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1" y="548720"/>
            <a:ext cx="2967235" cy="408109"/>
          </a:xfrm>
        </p:spPr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Департамент теоретической экономики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CC3B61B-EFB6-2B36-A949-B16CE77E5B2F}"/>
                  </a:ext>
                </a:extLst>
              </p:cNvPr>
              <p:cNvSpPr txBox="1"/>
              <p:nvPr/>
            </p:nvSpPr>
            <p:spPr>
              <a:xfrm>
                <a:off x="1772322" y="2838962"/>
                <a:ext cx="8647354" cy="26925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2400" b="1" dirty="0">
                    <a:latin typeface="Aptos" panose="020B0004020202020204" pitchFamily="34" charset="0"/>
                  </a:rPr>
                  <a:t>Реальный</a:t>
                </a:r>
                <a:r>
                  <a:rPr lang="ru-RU" sz="2400" dirty="0">
                    <a:latin typeface="Aptos" panose="020B0004020202020204" pitchFamily="34" charset="0"/>
                  </a:rPr>
                  <a:t> </a:t>
                </a:r>
                <a:r>
                  <a:rPr lang="ru-RU" sz="2400" b="1" dirty="0">
                    <a:latin typeface="Aptos" panose="020B0004020202020204" pitchFamily="34" charset="0"/>
                  </a:rPr>
                  <a:t>ВВП</a:t>
                </a:r>
                <a:r>
                  <a:rPr lang="ru-RU" sz="2400" dirty="0">
                    <a:latin typeface="Aptos" panose="020B0004020202020204" pitchFamily="34" charset="0"/>
                  </a:rPr>
                  <a:t> – это ВВП, рассчитанный в ценах базового года</a:t>
                </a:r>
                <a:endParaRPr lang="en-GB" sz="2400" dirty="0">
                  <a:latin typeface="Aptos" panose="020B0004020202020204" pitchFamily="34" charset="0"/>
                </a:endParaRPr>
              </a:p>
              <a:p>
                <a:pPr algn="ctr"/>
                <a:endParaRPr lang="ru-RU" sz="1500" dirty="0">
                  <a:latin typeface="Aptos" panose="020B000402020202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ru-RU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bSup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∗</m:t>
                          </m:r>
                          <m:sSubSup>
                            <m:sSubSup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GB" sz="2400" dirty="0">
                  <a:latin typeface="Aptos" panose="020B0004020202020204" pitchFamily="34" charset="0"/>
                </a:endParaRPr>
              </a:p>
              <a:p>
                <a:pPr algn="ctr"/>
                <a:endParaRPr lang="ru-RU" sz="1500" dirty="0">
                  <a:latin typeface="Aptos" panose="020B000402020202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bSup>
                            <m:sSubSup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bSup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  <m:r>
                        <a:rPr lang="ru-RU" sz="2400" i="1">
                          <a:latin typeface="Cambria Math" panose="02040503050406030204" pitchFamily="18" charset="0"/>
                        </a:rPr>
                        <m:t>−количество и цены базового года</m:t>
                      </m:r>
                    </m:oMath>
                  </m:oMathPara>
                </a14:m>
                <a:endParaRPr lang="ru-RU" sz="24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CC3B61B-EFB6-2B36-A949-B16CE77E5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2322" y="2838962"/>
                <a:ext cx="8647354" cy="2692532"/>
              </a:xfrm>
              <a:prstGeom prst="rect">
                <a:avLst/>
              </a:prstGeom>
              <a:blipFill>
                <a:blip r:embed="rId2"/>
                <a:stretch>
                  <a:fillRect t="-8920" b="-43192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C0C6427-507A-6BC6-C0BA-6814B095C228}"/>
              </a:ext>
            </a:extLst>
          </p:cNvPr>
          <p:cNvSpPr txBox="1"/>
          <p:nvPr/>
        </p:nvSpPr>
        <p:spPr>
          <a:xfrm>
            <a:off x="0" y="1458437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>
                <a:latin typeface="Aptos" panose="020B0004020202020204" pitchFamily="34" charset="0"/>
              </a:rPr>
              <a:t>НОМИНАЛЬНЫЙ И РЕАЛЬНЫЙ ВВП</a:t>
            </a:r>
          </a:p>
        </p:txBody>
      </p:sp>
    </p:spTree>
    <p:extLst>
      <p:ext uri="{BB962C8B-B14F-4D97-AF65-F5344CB8AC3E}">
        <p14:creationId xmlns:p14="http://schemas.microsoft.com/office/powerpoint/2010/main" val="3816949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17D9A-D997-3F31-F89E-D9A7824B3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1EE18745-0A26-F6DB-3512-2BB76918D9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НИУ ВШЭ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FCB8ADD-BA4A-B28D-321F-3D4154B6988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Факультет экономических 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7A21B0E-8DD7-A4D3-2628-9BED238CFB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1" y="548720"/>
            <a:ext cx="2967235" cy="408109"/>
          </a:xfrm>
        </p:spPr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Департамент теоретической экономики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A46046-50C6-96AE-D028-4C57C30767B3}"/>
              </a:ext>
            </a:extLst>
          </p:cNvPr>
          <p:cNvSpPr txBox="1"/>
          <p:nvPr/>
        </p:nvSpPr>
        <p:spPr>
          <a:xfrm>
            <a:off x="0" y="1458437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>
                <a:latin typeface="Aptos" panose="020B0004020202020204" pitchFamily="34" charset="0"/>
              </a:rPr>
              <a:t>НОМИНАЛЬНЫЙ И РЕАЛЬНЫЙ ВВП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8357F25-4F10-5B7A-8CC6-794E4D10CE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70" t="1548" r="1660"/>
          <a:stretch>
            <a:fillRect/>
          </a:stretch>
        </p:blipFill>
        <p:spPr>
          <a:xfrm>
            <a:off x="539958" y="2500132"/>
            <a:ext cx="5201086" cy="368182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6095B5A-5C89-B6CE-2133-94CDEA4854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769"/>
          <a:stretch>
            <a:fillRect/>
          </a:stretch>
        </p:blipFill>
        <p:spPr>
          <a:xfrm>
            <a:off x="6095999" y="2341020"/>
            <a:ext cx="5528837" cy="3840938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74186B2-5BE2-1CA2-E30C-5BD21A229266}"/>
              </a:ext>
            </a:extLst>
          </p:cNvPr>
          <p:cNvCxnSpPr/>
          <p:nvPr/>
        </p:nvCxnSpPr>
        <p:spPr>
          <a:xfrm flipV="1">
            <a:off x="7929349" y="2975212"/>
            <a:ext cx="2852382" cy="25657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0496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2B80F-057C-BCC2-A3D5-CB48653B2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8F26E1CC-1567-54ED-2F6B-79185B4117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НИУ ВШЭ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198845-D493-68F4-7F94-2F278FD143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Факультет экономических 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A237A75-3F11-2128-8487-1BDFEEC78AD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1" y="548720"/>
            <a:ext cx="2967235" cy="408109"/>
          </a:xfrm>
        </p:spPr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Департамент теоретической экономики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9780AF-E600-923A-A4AB-20EE29E414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313" r="3622"/>
          <a:stretch>
            <a:fillRect/>
          </a:stretch>
        </p:blipFill>
        <p:spPr>
          <a:xfrm>
            <a:off x="858918" y="1904176"/>
            <a:ext cx="4303742" cy="455262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4554657-09D4-2189-C21C-0E6834ED94B1}"/>
              </a:ext>
            </a:extLst>
          </p:cNvPr>
          <p:cNvSpPr txBox="1"/>
          <p:nvPr/>
        </p:nvSpPr>
        <p:spPr>
          <a:xfrm>
            <a:off x="-98385" y="1296251"/>
            <a:ext cx="60998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latin typeface="Aptos" panose="020B0004020202020204" pitchFamily="34" charset="0"/>
              </a:rPr>
              <a:t>2010</a:t>
            </a:r>
            <a:endParaRPr lang="en-RU" sz="3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E907FF7-5FD1-E453-ADCB-4813F166D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8155" y="1694325"/>
            <a:ext cx="6281595" cy="184752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26380F9-1364-9057-9E7B-2C96A157CCD8}"/>
              </a:ext>
            </a:extLst>
          </p:cNvPr>
          <p:cNvSpPr txBox="1"/>
          <p:nvPr/>
        </p:nvSpPr>
        <p:spPr>
          <a:xfrm>
            <a:off x="5810683" y="1296250"/>
            <a:ext cx="60998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latin typeface="Aptos" panose="020B0004020202020204" pitchFamily="34" charset="0"/>
              </a:rPr>
              <a:t>20</a:t>
            </a:r>
            <a:r>
              <a:rPr lang="en-GB" sz="3200" b="1" dirty="0">
                <a:latin typeface="Aptos" panose="020B0004020202020204" pitchFamily="34" charset="0"/>
              </a:rPr>
              <a:t>26</a:t>
            </a:r>
            <a:endParaRPr lang="en-RU" sz="32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A9E6E00-2A21-4063-CAB8-A99F402772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9263" y="3460828"/>
            <a:ext cx="6281595" cy="153669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7CC6597-413C-4D7C-8E73-CC8F3A1936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8155" y="4930676"/>
            <a:ext cx="6281595" cy="1608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740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F72D6-D81A-8442-EB94-46A1B1199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FCA0FDF4-45B6-CC69-16C7-AC533C8B6C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НИУ ВШЭ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5A006FB-376B-6B37-CA3E-D30F8C41C8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Факультет экономических 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B34B833-CE55-3B49-7FAD-DF15FBF8055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1" y="548720"/>
            <a:ext cx="2967235" cy="408109"/>
          </a:xfrm>
        </p:spPr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Департамент теоретической экономики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FCE407-841A-C8A9-AF6F-AD4BEA9EE6D4}"/>
              </a:ext>
            </a:extLst>
          </p:cNvPr>
          <p:cNvSpPr txBox="1"/>
          <p:nvPr/>
        </p:nvSpPr>
        <p:spPr>
          <a:xfrm>
            <a:off x="738907" y="3090110"/>
            <a:ext cx="10714183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dirty="0">
                <a:solidFill>
                  <a:srgbClr val="0F2C68"/>
                </a:solidFill>
                <a:effectLst/>
                <a:latin typeface="Aptos" panose="020B0004020202020204" pitchFamily="34" charset="0"/>
              </a:rPr>
              <a:t>Любые макро-данные </a:t>
            </a:r>
            <a:r>
              <a:rPr lang="ru-RU" sz="3000" b="1" u="sng" dirty="0">
                <a:solidFill>
                  <a:srgbClr val="0F2C68"/>
                </a:solidFill>
                <a:effectLst/>
                <a:latin typeface="Aptos" panose="020B0004020202020204" pitchFamily="34" charset="0"/>
              </a:rPr>
              <a:t>всегда</a:t>
            </a:r>
            <a:r>
              <a:rPr lang="ru-RU" sz="3000" dirty="0">
                <a:solidFill>
                  <a:srgbClr val="0F2C68"/>
                </a:solidFill>
                <a:effectLst/>
                <a:latin typeface="Aptos" panose="020B0004020202020204" pitchFamily="34" charset="0"/>
              </a:rPr>
              <a:t> очищаются от:</a:t>
            </a:r>
          </a:p>
          <a:p>
            <a:pPr algn="ctr"/>
            <a:br>
              <a:rPr lang="ru-RU" sz="3000" dirty="0">
                <a:solidFill>
                  <a:srgbClr val="0F2C68"/>
                </a:solidFill>
                <a:effectLst/>
                <a:latin typeface="Aptos" panose="020B0004020202020204" pitchFamily="34" charset="0"/>
              </a:rPr>
            </a:br>
            <a:r>
              <a:rPr lang="ru-RU" sz="3000" dirty="0">
                <a:solidFill>
                  <a:srgbClr val="0F2C68"/>
                </a:solidFill>
                <a:effectLst/>
                <a:latin typeface="Aptos" panose="020B0004020202020204" pitchFamily="34" charset="0"/>
              </a:rPr>
              <a:t>1. Инфляции</a:t>
            </a:r>
            <a:br>
              <a:rPr lang="ru-RU" sz="3000" dirty="0">
                <a:solidFill>
                  <a:srgbClr val="0F2C68"/>
                </a:solidFill>
                <a:effectLst/>
                <a:latin typeface="Aptos" panose="020B0004020202020204" pitchFamily="34" charset="0"/>
              </a:rPr>
            </a:br>
            <a:r>
              <a:rPr lang="ru-RU" sz="3000" dirty="0">
                <a:solidFill>
                  <a:srgbClr val="0F2C68"/>
                </a:solidFill>
                <a:effectLst/>
                <a:latin typeface="Aptos" panose="020B0004020202020204" pitchFamily="34" charset="0"/>
              </a:rPr>
              <a:t>2. От сезонности (</a:t>
            </a:r>
            <a:r>
              <a:rPr lang="ru-RU" sz="3000" dirty="0">
                <a:solidFill>
                  <a:srgbClr val="0F2C68"/>
                </a:solidFill>
                <a:latin typeface="Aptos" panose="020B0004020202020204" pitchFamily="34" charset="0"/>
              </a:rPr>
              <a:t>в идеале, </a:t>
            </a:r>
            <a:r>
              <a:rPr lang="ru-RU" sz="3000" dirty="0">
                <a:solidFill>
                  <a:srgbClr val="0F2C68"/>
                </a:solidFill>
                <a:effectLst/>
                <a:latin typeface="Aptos" panose="020B0004020202020204" pitchFamily="34" charset="0"/>
              </a:rPr>
              <a:t>но это уже совсем другая история…)</a:t>
            </a:r>
            <a:endParaRPr lang="ru-RU" sz="3000" dirty="0">
              <a:effectLst/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DCFE86-C7BD-0AF7-BCE6-CDEA1EEE34D9}"/>
              </a:ext>
            </a:extLst>
          </p:cNvPr>
          <p:cNvSpPr txBox="1"/>
          <p:nvPr/>
        </p:nvSpPr>
        <p:spPr>
          <a:xfrm>
            <a:off x="0" y="1458437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>
                <a:latin typeface="Aptos" panose="020B0004020202020204" pitchFamily="34" charset="0"/>
              </a:rPr>
              <a:t>НОМИНАЛЬНЫЙ И РЕАЛЬНЫЙ ВВП</a:t>
            </a:r>
          </a:p>
        </p:txBody>
      </p:sp>
    </p:spTree>
    <p:extLst>
      <p:ext uri="{BB962C8B-B14F-4D97-AF65-F5344CB8AC3E}">
        <p14:creationId xmlns:p14="http://schemas.microsoft.com/office/powerpoint/2010/main" val="3073950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7AC8064E-5791-204C-B92F-A018279494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НИУ ВШЭ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5A111DD-C00C-2D48-9F7A-4E23C5BA0C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Факультет экономических 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7B3E517-ED8B-0241-AB87-BE49B315EEB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1" y="548720"/>
            <a:ext cx="2967235" cy="408109"/>
          </a:xfrm>
        </p:spPr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Департамент теоретической экономики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B8CFD7-E26F-0F24-CA8D-AEFCF4D2B6A8}"/>
              </a:ext>
            </a:extLst>
          </p:cNvPr>
          <p:cNvSpPr txBox="1"/>
          <p:nvPr/>
        </p:nvSpPr>
        <p:spPr>
          <a:xfrm>
            <a:off x="591127" y="1566755"/>
            <a:ext cx="110097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b="1" dirty="0">
                <a:latin typeface="Aptos" panose="020B0004020202020204" pitchFamily="34" charset="0"/>
                <a:cs typeface="Times New Roman" panose="02020603050405020304" pitchFamily="18" charset="0"/>
              </a:rPr>
              <a:t>Задача 1. </a:t>
            </a:r>
            <a:r>
              <a:rPr lang="ru-RU" sz="2400" dirty="0">
                <a:latin typeface="Aptos" panose="020B0004020202020204" pitchFamily="34" charset="0"/>
                <a:cs typeface="Times New Roman" panose="02020603050405020304" pitchFamily="18" charset="0"/>
              </a:rPr>
              <a:t>Предположим, что в стране производится только два товара. Определите номинальный и реальный ВВП в 2023 и 2024 годах. 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0477C6BB-AC63-51A0-4EAA-F590CCF824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933490"/>
              </p:ext>
            </p:extLst>
          </p:nvPr>
        </p:nvGraphicFramePr>
        <p:xfrm>
          <a:off x="1656852" y="3251488"/>
          <a:ext cx="8878295" cy="1889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75659">
                  <a:extLst>
                    <a:ext uri="{9D8B030D-6E8A-4147-A177-3AD203B41FA5}">
                      <a16:colId xmlns:a16="http://schemas.microsoft.com/office/drawing/2014/main" val="1159054226"/>
                    </a:ext>
                  </a:extLst>
                </a:gridCol>
                <a:gridCol w="1775659">
                  <a:extLst>
                    <a:ext uri="{9D8B030D-6E8A-4147-A177-3AD203B41FA5}">
                      <a16:colId xmlns:a16="http://schemas.microsoft.com/office/drawing/2014/main" val="1763818575"/>
                    </a:ext>
                  </a:extLst>
                </a:gridCol>
                <a:gridCol w="1775659">
                  <a:extLst>
                    <a:ext uri="{9D8B030D-6E8A-4147-A177-3AD203B41FA5}">
                      <a16:colId xmlns:a16="http://schemas.microsoft.com/office/drawing/2014/main" val="1208778395"/>
                    </a:ext>
                  </a:extLst>
                </a:gridCol>
                <a:gridCol w="1775659">
                  <a:extLst>
                    <a:ext uri="{9D8B030D-6E8A-4147-A177-3AD203B41FA5}">
                      <a16:colId xmlns:a16="http://schemas.microsoft.com/office/drawing/2014/main" val="1128774163"/>
                    </a:ext>
                  </a:extLst>
                </a:gridCol>
                <a:gridCol w="1775659">
                  <a:extLst>
                    <a:ext uri="{9D8B030D-6E8A-4147-A177-3AD203B41FA5}">
                      <a16:colId xmlns:a16="http://schemas.microsoft.com/office/drawing/2014/main" val="3453808297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Товары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2023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2024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36476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Цена, руб.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Количество, шт.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Цена, руб.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Количество, шт.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41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1957233"/>
                  </a:ext>
                </a:extLst>
              </a:tr>
              <a:tr h="299473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64714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81" name="Рукописный ввод 180">
                <a:extLst>
                  <a:ext uri="{FF2B5EF4-FFF2-40B4-BE49-F238E27FC236}">
                    <a16:creationId xmlns:a16="http://schemas.microsoft.com/office/drawing/2014/main" id="{AEC0E7A0-98CE-50BA-17F1-99333423E7B4}"/>
                  </a:ext>
                </a:extLst>
              </p14:cNvPr>
              <p14:cNvContentPartPr/>
              <p14:nvPr/>
            </p14:nvContentPartPr>
            <p14:xfrm>
              <a:off x="7627851" y="3007678"/>
              <a:ext cx="80280" cy="8280"/>
            </p14:xfrm>
          </p:contentPart>
        </mc:Choice>
        <mc:Fallback xmlns="">
          <p:pic>
            <p:nvPicPr>
              <p:cNvPr id="181" name="Рукописный ввод 180">
                <a:extLst>
                  <a:ext uri="{FF2B5EF4-FFF2-40B4-BE49-F238E27FC236}">
                    <a16:creationId xmlns:a16="http://schemas.microsoft.com/office/drawing/2014/main" id="{AEC0E7A0-98CE-50BA-17F1-99333423E7B4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7618851" y="2999038"/>
                <a:ext cx="9792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183" name="Рукописный ввод 182">
                <a:extLst>
                  <a:ext uri="{FF2B5EF4-FFF2-40B4-BE49-F238E27FC236}">
                    <a16:creationId xmlns:a16="http://schemas.microsoft.com/office/drawing/2014/main" id="{9EBE4B7D-52AE-6487-2C20-6B5902087583}"/>
                  </a:ext>
                </a:extLst>
              </p14:cNvPr>
              <p14:cNvContentPartPr/>
              <p14:nvPr/>
            </p14:nvContentPartPr>
            <p14:xfrm>
              <a:off x="2816091" y="3409078"/>
              <a:ext cx="24840" cy="12240"/>
            </p14:xfrm>
          </p:contentPart>
        </mc:Choice>
        <mc:Fallback xmlns="">
          <p:pic>
            <p:nvPicPr>
              <p:cNvPr id="183" name="Рукописный ввод 182">
                <a:extLst>
                  <a:ext uri="{FF2B5EF4-FFF2-40B4-BE49-F238E27FC236}">
                    <a16:creationId xmlns:a16="http://schemas.microsoft.com/office/drawing/2014/main" id="{9EBE4B7D-52AE-6487-2C20-6B5902087583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2807091" y="3400078"/>
                <a:ext cx="42480" cy="29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92843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32720-AD05-5ADA-1E26-CEB7CAFF6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740CA7E1-B8E8-D117-BA89-BB6BA2208B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НИУ ВШЭ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F9ACC01-DBF0-0D29-A069-22FE1710B2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Факультет экономических 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27D06F1-8781-16C1-F705-9F500FB8B74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1" y="548720"/>
            <a:ext cx="2967235" cy="408109"/>
          </a:xfrm>
        </p:spPr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Департамент теоретической экономики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7502DB-C4B7-295A-DC98-D77414CB9B32}"/>
              </a:ext>
            </a:extLst>
          </p:cNvPr>
          <p:cNvSpPr txBox="1"/>
          <p:nvPr/>
        </p:nvSpPr>
        <p:spPr>
          <a:xfrm>
            <a:off x="216816" y="956829"/>
            <a:ext cx="8708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https://www.business-gazeta.ru/news/669152?ysclid=m9q05i8woz385094923</a:t>
            </a:r>
            <a:endParaRPr lang="ru-RU" dirty="0"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B86F6B-D769-BE86-56C2-3016F77FE657}"/>
              </a:ext>
            </a:extLst>
          </p:cNvPr>
          <p:cNvSpPr txBox="1"/>
          <p:nvPr/>
        </p:nvSpPr>
        <p:spPr>
          <a:xfrm>
            <a:off x="216816" y="1306824"/>
            <a:ext cx="11660957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2400"/>
              </a:spcAft>
            </a:pPr>
            <a:r>
              <a:rPr lang="ru-RU" sz="1600" b="1" i="0" dirty="0">
                <a:solidFill>
                  <a:srgbClr val="0E2D69"/>
                </a:solidFill>
                <a:effectLst/>
                <a:latin typeface="Aptos" panose="020B0004020202020204" pitchFamily="34" charset="0"/>
              </a:rPr>
              <a:t>Росстат пересмотрел рост российской экономики за 2024 год</a:t>
            </a:r>
          </a:p>
          <a:p>
            <a:pPr algn="just">
              <a:buNone/>
            </a:pPr>
            <a:r>
              <a:rPr lang="ru-RU" b="0" i="0" dirty="0">
                <a:solidFill>
                  <a:srgbClr val="0E2D69"/>
                </a:solidFill>
                <a:effectLst/>
                <a:latin typeface="Aptos" panose="020B0004020202020204" pitchFamily="34" charset="0"/>
              </a:rPr>
              <a:t>Росстат скорректировал оценку роста ВВП России по итогам 2024 года, повысив ее до 4,3%. Первоначальная оценка составляла 4,1%. «Объем ВВП за 2024 год составил в текущих ценах 201,152 триллиона рублей. Индекс физического объема ВВП относительно 2023-го составил 104,3 процента, индекс-дефлятор по отношению к среднегодовым ценам 2023 года </a:t>
            </a:r>
            <a:r>
              <a:rPr lang="en-GB" b="0" i="0" dirty="0">
                <a:solidFill>
                  <a:srgbClr val="0E2D69"/>
                </a:solidFill>
                <a:effectLst/>
                <a:latin typeface="Aptos" panose="020B0004020202020204" pitchFamily="34" charset="0"/>
              </a:rPr>
              <a:t>-</a:t>
            </a:r>
            <a:r>
              <a:rPr lang="ru-RU" b="0" i="0" dirty="0">
                <a:solidFill>
                  <a:srgbClr val="0E2D69"/>
                </a:solidFill>
                <a:effectLst/>
                <a:latin typeface="Aptos" panose="020B0004020202020204" pitchFamily="34" charset="0"/>
              </a:rPr>
              <a:t> 109,3 процента», </a:t>
            </a:r>
            <a:r>
              <a:rPr lang="en-GB" b="0" i="0" dirty="0">
                <a:solidFill>
                  <a:srgbClr val="0E2D69"/>
                </a:solidFill>
                <a:effectLst/>
                <a:latin typeface="Aptos" panose="020B0004020202020204" pitchFamily="34" charset="0"/>
              </a:rPr>
              <a:t>-</a:t>
            </a:r>
            <a:r>
              <a:rPr lang="ru-RU" b="0" i="0" dirty="0">
                <a:solidFill>
                  <a:srgbClr val="0E2D69"/>
                </a:solidFill>
                <a:effectLst/>
                <a:latin typeface="Aptos" panose="020B0004020202020204" pitchFamily="34" charset="0"/>
              </a:rPr>
              <a:t> говорится в документе.</a:t>
            </a:r>
          </a:p>
          <a:p>
            <a:pPr algn="just">
              <a:buNone/>
            </a:pPr>
            <a:r>
              <a:rPr lang="ru-RU" b="0" i="0" dirty="0">
                <a:solidFill>
                  <a:srgbClr val="0E2D69"/>
                </a:solidFill>
                <a:effectLst/>
                <a:latin typeface="Aptos" panose="020B0004020202020204" pitchFamily="34" charset="0"/>
              </a:rPr>
              <a:t>В статслужбе отметили, что пересмотр данных связан с уточнением показателя индекса физического объема добавленной стоимости в следующих отраслях: информация и связь (плюс 12%), гостиницы и рестораны (плюс 9,6%), оптовая и розничная торговля (плюс 6,9%) и обрабатывающие производства (плюс 7,6%).</a:t>
            </a:r>
          </a:p>
          <a:p>
            <a:pPr algn="just">
              <a:buNone/>
            </a:pPr>
            <a:r>
              <a:rPr lang="ru-RU" b="0" i="0" dirty="0">
                <a:solidFill>
                  <a:srgbClr val="0E2D69"/>
                </a:solidFill>
                <a:effectLst/>
                <a:latin typeface="Aptos" panose="020B0004020202020204" pitchFamily="34" charset="0"/>
              </a:rPr>
              <a:t>Помимо того, на положительной динамике сказались такие отрасли, как финансы и страхование (плюс 16,5%), культура и спорт (плюс 8,3%), а также сектора энергетики и транспорта.</a:t>
            </a:r>
          </a:p>
          <a:p>
            <a:pPr algn="just">
              <a:buNone/>
            </a:pPr>
            <a:r>
              <a:rPr lang="ru-RU" b="0" i="0" dirty="0">
                <a:solidFill>
                  <a:srgbClr val="0E2D69"/>
                </a:solidFill>
                <a:effectLst/>
                <a:latin typeface="Aptos" panose="020B0004020202020204" pitchFamily="34" charset="0"/>
              </a:rPr>
              <a:t>Кроме того, анализ структуры ВВП по источникам доходов показал увеличение доли оплаты труда с 41,7 до 43,9% и снижение доли чистых налогов на производство и импорт с 8,7 до 7,7%, а также доли валовой прибыли с 49,6 до 48,4%.</a:t>
            </a:r>
          </a:p>
          <a:p>
            <a:pPr algn="just">
              <a:buNone/>
            </a:pPr>
            <a:r>
              <a:rPr lang="ru-RU" b="0" i="0" dirty="0">
                <a:solidFill>
                  <a:srgbClr val="0E2D69"/>
                </a:solidFill>
                <a:effectLst/>
                <a:latin typeface="Aptos" panose="020B0004020202020204" pitchFamily="34" charset="0"/>
              </a:rPr>
              <a:t>Напомним, по прогнозу Банка России, рост ВВП в 2025 году составит 0,5–1,5%, а вице-премьер РФ </a:t>
            </a:r>
            <a:r>
              <a:rPr lang="ru-RU" b="1" i="0" dirty="0">
                <a:solidFill>
                  <a:srgbClr val="0E2D69"/>
                </a:solidFill>
                <a:effectLst/>
                <a:latin typeface="Aptos" panose="020B0004020202020204" pitchFamily="34" charset="0"/>
              </a:rPr>
              <a:t>Александр Новак</a:t>
            </a:r>
            <a:r>
              <a:rPr lang="ru-RU" b="0" i="0" dirty="0">
                <a:solidFill>
                  <a:srgbClr val="0E2D69"/>
                </a:solidFill>
                <a:effectLst/>
                <a:latin typeface="Aptos" panose="020B0004020202020204" pitchFamily="34" charset="0"/>
              </a:rPr>
              <a:t> в конце 2024-го говорил, что правительство ожидает рост российской экономики на уровне 2–2,5%.</a:t>
            </a:r>
          </a:p>
          <a:p>
            <a:pPr algn="just"/>
            <a:r>
              <a:rPr lang="ru-RU" b="0" i="0" dirty="0">
                <a:solidFill>
                  <a:srgbClr val="0E2D69"/>
                </a:solidFill>
                <a:effectLst/>
                <a:latin typeface="Aptos" panose="020B0004020202020204" pitchFamily="34" charset="0"/>
              </a:rPr>
              <a:t>Глава минэкономразвития РФ </a:t>
            </a:r>
            <a:r>
              <a:rPr lang="ru-RU" b="1" i="0" dirty="0">
                <a:solidFill>
                  <a:srgbClr val="0E2D69"/>
                </a:solidFill>
                <a:effectLst/>
                <a:latin typeface="Aptos" panose="020B0004020202020204" pitchFamily="34" charset="0"/>
              </a:rPr>
              <a:t>Максим Решетников</a:t>
            </a:r>
            <a:r>
              <a:rPr lang="ru-RU" b="0" i="0" dirty="0">
                <a:solidFill>
                  <a:srgbClr val="0E2D69"/>
                </a:solidFill>
                <a:effectLst/>
                <a:latin typeface="Aptos" panose="020B0004020202020204" pitchFamily="34" charset="0"/>
              </a:rPr>
              <a:t> в начале марта предупредил о признаках охлаждения российской экономики. По его оценке, на это указывают опережающие индикаторы: темпы роста в ряде отраслей замедлились, а кредитование сжимается, что влияет на спрос и инвестиции.</a:t>
            </a:r>
          </a:p>
        </p:txBody>
      </p:sp>
    </p:spTree>
    <p:extLst>
      <p:ext uri="{BB962C8B-B14F-4D97-AF65-F5344CB8AC3E}">
        <p14:creationId xmlns:p14="http://schemas.microsoft.com/office/powerpoint/2010/main" val="3152899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73BFC-952F-0864-FD1B-4F840B551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17943C8F-0267-0CC8-3B7A-30A909EC31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НИУ ВШЭ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54EB498-FB96-C3B1-89C8-1B310800C0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Факультет экономических 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766EC13-6194-79A4-8449-8276DB2AE81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1" y="548720"/>
            <a:ext cx="2967235" cy="408109"/>
          </a:xfrm>
        </p:spPr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Департамент теоретической экономики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944438-136A-55A1-4D61-E89E488E3FBF}"/>
              </a:ext>
            </a:extLst>
          </p:cNvPr>
          <p:cNvSpPr txBox="1"/>
          <p:nvPr/>
        </p:nvSpPr>
        <p:spPr>
          <a:xfrm>
            <a:off x="383383" y="1314540"/>
            <a:ext cx="6094428" cy="41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buNone/>
            </a:pPr>
            <a:r>
              <a:rPr lang="ru-RU" sz="2000" b="1" dirty="0">
                <a:latin typeface="Aptos" panose="020B0004020202020204" pitchFamily="34" charset="0"/>
              </a:rPr>
              <a:t>Росстат: рост ВВП России резко замедлился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5B1640-DF08-6321-E730-8E48C98119EA}"/>
              </a:ext>
            </a:extLst>
          </p:cNvPr>
          <p:cNvSpPr txBox="1"/>
          <p:nvPr/>
        </p:nvSpPr>
        <p:spPr>
          <a:xfrm>
            <a:off x="383383" y="951019"/>
            <a:ext cx="7143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https://www.vesti.ru/article/4781674?ysclid=mi39o2vdx8692768285</a:t>
            </a:r>
            <a:endParaRPr lang="ru-RU" dirty="0"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18B002-C714-3993-F8A4-699C29F89A5D}"/>
              </a:ext>
            </a:extLst>
          </p:cNvPr>
          <p:cNvSpPr txBox="1"/>
          <p:nvPr/>
        </p:nvSpPr>
        <p:spPr>
          <a:xfrm>
            <a:off x="383383" y="1829909"/>
            <a:ext cx="1141869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000" dirty="0">
                <a:latin typeface="Aptos" panose="020B0004020202020204" pitchFamily="34" charset="0"/>
              </a:rPr>
              <a:t>По предварительной оценке, рост ВВП России составил в III квартале 2025 года 0,6% в годовом выражении против 1,1% во II квартале и 1,4% в I квартале, сообщает Росстат.</a:t>
            </a:r>
          </a:p>
          <a:p>
            <a:pPr algn="just"/>
            <a:r>
              <a:rPr lang="ru-RU" sz="2000" dirty="0">
                <a:latin typeface="Aptos" panose="020B0004020202020204" pitchFamily="34" charset="0"/>
              </a:rPr>
              <a:t>Рост ВВП в основном обеспечили такие отрасли как общественное питание (+ 8,9%), сельское хозяйство (+ 3,6%), розничная торговля (+ 2,1%), обрабатывающие производства (+ 1,4%) и строительство (+ 1,2%).</a:t>
            </a:r>
          </a:p>
          <a:p>
            <a:pPr algn="just"/>
            <a:endParaRPr lang="ru-RU" sz="2000" dirty="0">
              <a:latin typeface="Aptos" panose="020B0004020202020204" pitchFamily="34" charset="0"/>
            </a:endParaRPr>
          </a:p>
          <a:p>
            <a:pPr algn="just"/>
            <a:r>
              <a:rPr lang="ru-RU" sz="2000" dirty="0">
                <a:latin typeface="Aptos" panose="020B0004020202020204" pitchFamily="34" charset="0"/>
              </a:rPr>
              <a:t>Между тем спад отмечен в таких отраслях как водоснабжение, водоотведение, сбор и утилизация отходов, устранение загрязнений (- 4%), пассажирские перевозки (- 2,9%), оптовая торговля (- 2,8%), грузовые перевозки (- 1,8%).</a:t>
            </a:r>
          </a:p>
          <a:p>
            <a:pPr algn="just"/>
            <a:r>
              <a:rPr lang="ru-RU" sz="2000" dirty="0">
                <a:latin typeface="Aptos" panose="020B0004020202020204" pitchFamily="34" charset="0"/>
              </a:rPr>
              <a:t>Более подробные данные по ВВП России за III квартал Росстат представит 12 декабря 2025 года.</a:t>
            </a:r>
          </a:p>
          <a:p>
            <a:pPr algn="just"/>
            <a:r>
              <a:rPr lang="ru-RU" sz="2000" dirty="0">
                <a:latin typeface="Aptos" panose="020B0004020202020204" pitchFamily="34" charset="0"/>
              </a:rPr>
              <a:t>В целом, ВВП России вырос в январе – сентябре на 1%.</a:t>
            </a:r>
          </a:p>
          <a:p>
            <a:pPr algn="just"/>
            <a:endParaRPr lang="ru-RU" sz="2000" dirty="0">
              <a:latin typeface="Aptos" panose="020B0004020202020204" pitchFamily="34" charset="0"/>
            </a:endParaRPr>
          </a:p>
          <a:p>
            <a:pPr algn="just"/>
            <a:r>
              <a:rPr lang="ru-RU" sz="2000" dirty="0">
                <a:latin typeface="Aptos" panose="020B0004020202020204" pitchFamily="34" charset="0"/>
              </a:rPr>
              <a:t>Минэкономразвития в сентябре понизило прогноз роста ВВП России на 2025 год с 2,5% до 1%, на 2026 год – с 2,4% до 1,3%. Банк России в октябре понизил прогноз роста ВВП России на 2025 год с 1-2% до 0,5%-1%. Прогноз на 2026 год сохранен на уровне 0,5-1,5%.</a:t>
            </a:r>
          </a:p>
        </p:txBody>
      </p:sp>
    </p:spTree>
    <p:extLst>
      <p:ext uri="{BB962C8B-B14F-4D97-AF65-F5344CB8AC3E}">
        <p14:creationId xmlns:p14="http://schemas.microsoft.com/office/powerpoint/2010/main" val="548657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7AC8064E-5791-204C-B92F-A018279494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НИУ ВШЭ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5A111DD-C00C-2D48-9F7A-4E23C5BA0C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Факультет экономических 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7B3E517-ED8B-0241-AB87-BE49B315EEB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1" y="548720"/>
            <a:ext cx="2967235" cy="408109"/>
          </a:xfrm>
        </p:spPr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Департамент теоретической экономики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54A764-27CA-C1DE-CE0D-AA30DA02043B}"/>
              </a:ext>
            </a:extLst>
          </p:cNvPr>
          <p:cNvSpPr txBox="1"/>
          <p:nvPr/>
        </p:nvSpPr>
        <p:spPr>
          <a:xfrm>
            <a:off x="429594" y="4574567"/>
            <a:ext cx="685388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000" dirty="0">
                <a:latin typeface="Aptos" panose="020B0004020202020204" pitchFamily="34" charset="0"/>
              </a:rPr>
              <a:t>Для того чтобы понять, насколько выросла экономика по сравнению с предыдущими годами без влияния инфляции, используется </a:t>
            </a:r>
            <a:r>
              <a:rPr lang="ru-RU" sz="2000" b="1" dirty="0">
                <a:latin typeface="Aptos" panose="020B0004020202020204" pitchFamily="34" charset="0"/>
              </a:rPr>
              <a:t>индекс физического объема ВВП.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B89D31-BBEC-575A-3694-F26AE1D13AC4}"/>
              </a:ext>
            </a:extLst>
          </p:cNvPr>
          <p:cNvSpPr txBox="1"/>
          <p:nvPr/>
        </p:nvSpPr>
        <p:spPr>
          <a:xfrm>
            <a:off x="318279" y="1267770"/>
            <a:ext cx="70765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Aptos" panose="020B0004020202020204" pitchFamily="34" charset="0"/>
              </a:rPr>
              <a:t>Индекс физического объема </a:t>
            </a:r>
            <a:r>
              <a:rPr lang="ru-RU" sz="2000" dirty="0">
                <a:latin typeface="Aptos" panose="020B0004020202020204" pitchFamily="34" charset="0"/>
              </a:rPr>
              <a:t>рассчитывается путем деления реального ВВП текущего года на реальный ВВП базового года.</a:t>
            </a:r>
          </a:p>
          <a:p>
            <a:endParaRPr lang="ru-RU" sz="2000" dirty="0"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ABC650-7009-5D50-C77B-B8C7933D01CF}"/>
              </a:ext>
            </a:extLst>
          </p:cNvPr>
          <p:cNvSpPr txBox="1"/>
          <p:nvPr/>
        </p:nvSpPr>
        <p:spPr>
          <a:xfrm>
            <a:off x="7821175" y="1086245"/>
            <a:ext cx="34783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ptos" panose="020B0004020202020204" pitchFamily="34" charset="0"/>
                <a:hlinkClick r:id="rId2"/>
              </a:rPr>
              <a:t>http://ssl.rosstat.gov.ru/storage/mediabank/osn-09-2025.pdf</a:t>
            </a:r>
            <a:endParaRPr lang="ru-RU" dirty="0">
              <a:latin typeface="Aptos" panose="020B0004020202020204" pitchFamily="34" charset="0"/>
            </a:endParaRPr>
          </a:p>
          <a:p>
            <a:endParaRPr lang="ru-RU" dirty="0">
              <a:latin typeface="Aptos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864CB48-3A69-96EF-120C-A2CED5F7F9FC}"/>
                  </a:ext>
                </a:extLst>
              </p:cNvPr>
              <p:cNvSpPr txBox="1"/>
              <p:nvPr/>
            </p:nvSpPr>
            <p:spPr>
              <a:xfrm>
                <a:off x="702791" y="2930882"/>
                <a:ext cx="6094428" cy="9962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ru-RU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sz="3200" b="0" i="1" smtClean="0">
                            <a:latin typeface="Cambria Math" panose="02040503050406030204" pitchFamily="18" charset="0"/>
                          </a:rPr>
                          <m:t>физического объема</m:t>
                        </m:r>
                      </m:sub>
                    </m:sSub>
                    <m:r>
                      <m:rPr>
                        <m:nor/>
                      </m:rPr>
                      <a:rPr lang="ru-RU" sz="3200">
                        <a:latin typeface="Aptos" panose="020B0004020202020204" pitchFamily="34" charset="0"/>
                      </a:rPr>
                      <m:t>=</m:t>
                    </m:r>
                    <m:r>
                      <m:rPr>
                        <m:nor/>
                      </m:rPr>
                      <a:rPr lang="en-US" sz="3200">
                        <a:latin typeface="Aptos" panose="020B0004020202020204" pitchFamily="34" charset="0"/>
                      </a:rPr>
                      <m:t> </m:t>
                    </m:r>
                    <m:f>
                      <m:fPr>
                        <m:ctrlPr>
                          <a:rPr lang="ru-RU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undOvr"/>
                            <m:subHide m:val="on"/>
                            <m:supHide m:val="on"/>
                            <m:ctrlPr>
                              <a:rPr lang="ru-RU" sz="32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Sup>
                              <m:sSubSupPr>
                                <m:ctrlPr>
                                  <a:rPr lang="ru-RU" sz="32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ru-RU" sz="320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ru-RU" sz="320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ru-RU" sz="3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p>
                            </m:sSubSup>
                            <m:r>
                              <a:rPr lang="ru-RU" sz="3200">
                                <a:latin typeface="Cambria Math" panose="02040503050406030204" pitchFamily="18" charset="0"/>
                              </a:rPr>
                              <m:t>∗</m:t>
                            </m:r>
                            <m:sSubSup>
                              <m:sSubSupPr>
                                <m:ctrlPr>
                                  <a:rPr lang="ru-RU" sz="32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ru-RU" sz="320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ru-RU" sz="320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ru-RU" sz="320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bSup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limLoc m:val="undOvr"/>
                            <m:subHide m:val="on"/>
                            <m:supHide m:val="on"/>
                            <m:ctrlPr>
                              <a:rPr lang="ru-RU" sz="32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Sup>
                              <m:sSubSupPr>
                                <m:ctrlPr>
                                  <a:rPr lang="ru-RU" sz="32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ru-RU" sz="320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ru-RU" sz="320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ru-RU" sz="32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p>
                            </m:sSubSup>
                            <m:r>
                              <a:rPr lang="ru-RU" sz="3200">
                                <a:latin typeface="Cambria Math" panose="02040503050406030204" pitchFamily="18" charset="0"/>
                              </a:rPr>
                              <m:t>∗</m:t>
                            </m:r>
                            <m:sSubSup>
                              <m:sSubSupPr>
                                <m:ctrlPr>
                                  <a:rPr lang="ru-RU" sz="32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ru-RU" sz="320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ru-RU" sz="320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ru-RU" sz="3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p>
                            </m:sSubSup>
                          </m:e>
                        </m:nary>
                      </m:den>
                    </m:f>
                  </m:oMath>
                </a14:m>
                <a:r>
                  <a:rPr lang="ru-RU" sz="3200" dirty="0">
                    <a:latin typeface="Aptos" panose="020B0004020202020204" pitchFamily="34" charset="0"/>
                  </a:rPr>
                  <a:t> *100%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864CB48-3A69-96EF-120C-A2CED5F7F9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791" y="2930882"/>
                <a:ext cx="6094428" cy="996235"/>
              </a:xfrm>
              <a:prstGeom prst="rect">
                <a:avLst/>
              </a:prstGeom>
              <a:blipFill>
                <a:blip r:embed="rId3"/>
                <a:stretch>
                  <a:fillRect t="-47500" r="-416" b="-825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Рисунок 18" descr="Изображение выглядит как текст, снимок экрана, Операционная система, веб-страниц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8B02C49-8B22-AA8B-D49E-2356F2C944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7208" y="1684841"/>
            <a:ext cx="3562325" cy="5013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073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7AC8064E-5791-204C-B92F-A018279494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НИУ ВШЭ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5A111DD-C00C-2D48-9F7A-4E23C5BA0C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Факультет экономических 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7B3E517-ED8B-0241-AB87-BE49B315EEB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1" y="548720"/>
            <a:ext cx="2967235" cy="408109"/>
          </a:xfrm>
        </p:spPr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Департамент теоретической экономики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0F1FD2-676E-8EA6-A038-C9383C0455AC}"/>
              </a:ext>
            </a:extLst>
          </p:cNvPr>
          <p:cNvSpPr txBox="1"/>
          <p:nvPr/>
        </p:nvSpPr>
        <p:spPr>
          <a:xfrm>
            <a:off x="388649" y="1651788"/>
            <a:ext cx="11189855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ru-RU" b="1" u="sng" dirty="0">
                <a:latin typeface="Aptos" panose="020B0004020202020204" pitchFamily="34" charset="0"/>
              </a:rPr>
              <a:t>Экономический рост</a:t>
            </a:r>
            <a:r>
              <a:rPr lang="ru-RU" b="1" dirty="0">
                <a:latin typeface="Aptos" panose="020B0004020202020204" pitchFamily="34" charset="0"/>
              </a:rPr>
              <a:t> </a:t>
            </a:r>
            <a:r>
              <a:rPr lang="ru-RU" dirty="0">
                <a:latin typeface="Aptos" panose="020B0004020202020204" pitchFamily="34" charset="0"/>
              </a:rPr>
              <a:t>– это долгосрочная тенденция увеличения реального ВВП.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ru-RU" b="1" u="sng" dirty="0">
                <a:latin typeface="Aptos" panose="020B0004020202020204" pitchFamily="34" charset="0"/>
              </a:rPr>
              <a:t>Главная цель экономического роста</a:t>
            </a:r>
            <a:r>
              <a:rPr lang="ru-RU" dirty="0">
                <a:latin typeface="Aptos" panose="020B0004020202020204" pitchFamily="34" charset="0"/>
              </a:rPr>
              <a:t> – рост благосостояния и увеличение национального богатства.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ru-RU" b="1" u="sng" dirty="0">
                <a:latin typeface="Aptos" panose="020B0004020202020204" pitchFamily="34" charset="0"/>
              </a:rPr>
              <a:t>Экстенсивный экономический рост</a:t>
            </a:r>
            <a:r>
              <a:rPr lang="en-GB" b="1" dirty="0">
                <a:latin typeface="Aptos" panose="020B0004020202020204" pitchFamily="34" charset="0"/>
              </a:rPr>
              <a:t> </a:t>
            </a:r>
            <a:r>
              <a:rPr lang="ru-RU" dirty="0">
                <a:latin typeface="Aptos" panose="020B0004020202020204" pitchFamily="34" charset="0"/>
              </a:rPr>
              <a:t>характеризуется количественным увеличением факторов производства, участвующих в производстве продукции.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ru-RU" b="1" u="sng" dirty="0">
                <a:latin typeface="Aptos" panose="020B0004020202020204" pitchFamily="34" charset="0"/>
              </a:rPr>
              <a:t>Интенсивный экономический рост</a:t>
            </a:r>
            <a:r>
              <a:rPr lang="en-GB" b="1" dirty="0">
                <a:latin typeface="Aptos" panose="020B0004020202020204" pitchFamily="34" charset="0"/>
              </a:rPr>
              <a:t> </a:t>
            </a:r>
            <a:r>
              <a:rPr lang="ru-RU" dirty="0">
                <a:latin typeface="Aptos" panose="020B0004020202020204" pitchFamily="34" charset="0"/>
              </a:rPr>
              <a:t>характеризуется количественным увеличением производительности факторов производства.</a:t>
            </a:r>
            <a:endParaRPr lang="ru-RU" b="1" u="sng" dirty="0"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6E16F8-6731-EC92-E1F3-D141FCF63A2D}"/>
              </a:ext>
            </a:extLst>
          </p:cNvPr>
          <p:cNvSpPr txBox="1"/>
          <p:nvPr/>
        </p:nvSpPr>
        <p:spPr>
          <a:xfrm>
            <a:off x="388649" y="4098216"/>
            <a:ext cx="1118985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b="1" u="sng" dirty="0">
                <a:latin typeface="Aptos" panose="020B0004020202020204" pitchFamily="34" charset="0"/>
              </a:rPr>
              <a:t>Экономический цикл</a:t>
            </a:r>
            <a:r>
              <a:rPr lang="ru-RU" b="1" dirty="0">
                <a:latin typeface="Aptos" panose="020B0004020202020204" pitchFamily="34" charset="0"/>
              </a:rPr>
              <a:t> </a:t>
            </a:r>
            <a:r>
              <a:rPr lang="ru-RU" dirty="0">
                <a:latin typeface="Aptos" panose="020B0004020202020204" pitchFamily="34" charset="0"/>
              </a:rPr>
              <a:t>– это период цикличности деловой активности, период развития экономики от одного кризиса к другому.</a:t>
            </a:r>
          </a:p>
          <a:p>
            <a:pPr algn="just"/>
            <a:endParaRPr lang="ru-RU" dirty="0">
              <a:latin typeface="Aptos" panose="020B0004020202020204" pitchFamily="34" charset="0"/>
            </a:endParaRPr>
          </a:p>
          <a:p>
            <a:pPr algn="just"/>
            <a:r>
              <a:rPr lang="ru-RU" dirty="0">
                <a:latin typeface="Aptos" panose="020B0004020202020204" pitchFamily="34" charset="0"/>
              </a:rPr>
              <a:t>Выделяют следующие фазы (периоды) экономического цикла: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latin typeface="Aptos" panose="020B0004020202020204" pitchFamily="34" charset="0"/>
              </a:rPr>
              <a:t>Депрессия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latin typeface="Aptos" panose="020B0004020202020204" pitchFamily="34" charset="0"/>
              </a:rPr>
              <a:t>Оживление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latin typeface="Aptos" panose="020B0004020202020204" pitchFamily="34" charset="0"/>
              </a:rPr>
              <a:t>Пик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latin typeface="Aptos" panose="020B0004020202020204" pitchFamily="34" charset="0"/>
              </a:rPr>
              <a:t>Спад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67803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0D927-AF6A-63E9-9834-B294AD481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3AF08F0-435C-62A5-B16C-A269DF55F4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НИУ ВШЭ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1D918B4-4080-289C-DBF7-66BAFFBDF4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Факультет экономических 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1246F54-0C3C-F0C7-5EB5-B01DE831AE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1" y="548720"/>
            <a:ext cx="2967235" cy="408109"/>
          </a:xfrm>
        </p:spPr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Департамент теоретической экономики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44B4EA-5568-9B25-0F93-093F2355D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974" y="1367340"/>
            <a:ext cx="8864518" cy="5074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0269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92C98-D8B8-8A92-2B10-5F8D227C5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E311FE35-F121-35EC-7AE8-594947F0B3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НИУ ВШЭ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6FF8D9A-E09B-19B1-C48E-DCFD9D5CF7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Факультет экономических 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9673CED-2739-D027-E85C-2C9568DB425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1" y="548720"/>
            <a:ext cx="2967235" cy="408109"/>
          </a:xfrm>
        </p:spPr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Департамент теоретической экономики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E0A31D-9C01-ECA0-21DA-20E1AA360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549" y="1715745"/>
            <a:ext cx="10444902" cy="415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8325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7AC8064E-5791-204C-B92F-A018279494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0904"/>
            <a:ext cx="1904283" cy="415925"/>
          </a:xfrm>
        </p:spPr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НИУ ВШЭ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5A111DD-C00C-2D48-9F7A-4E23C5BA0C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072775" cy="408109"/>
          </a:xfrm>
        </p:spPr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Факультет экономических 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7B3E517-ED8B-0241-AB87-BE49B315EEB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1" y="548720"/>
            <a:ext cx="2971069" cy="408109"/>
          </a:xfrm>
        </p:spPr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Департамент теоретической экономики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DCD531-85BD-F2BF-1A83-6C759B279B76}"/>
              </a:ext>
            </a:extLst>
          </p:cNvPr>
          <p:cNvSpPr txBox="1"/>
          <p:nvPr/>
        </p:nvSpPr>
        <p:spPr>
          <a:xfrm>
            <a:off x="434769" y="1683627"/>
            <a:ext cx="11322462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ru-RU" b="1" i="0" dirty="0">
                <a:effectLst/>
                <a:latin typeface="Aptos" panose="020B0004020202020204" pitchFamily="34" charset="0"/>
              </a:rPr>
              <a:t>По направлению изменений макроэкономические показатели </a:t>
            </a:r>
            <a:r>
              <a:rPr lang="ru-RU" b="0" i="0" dirty="0">
                <a:effectLst/>
                <a:latin typeface="Aptos" panose="020B0004020202020204" pitchFamily="34" charset="0"/>
              </a:rPr>
              <a:t>можно подразделить на следующие виды.</a:t>
            </a:r>
          </a:p>
          <a:p>
            <a:pPr algn="just">
              <a:spcBef>
                <a:spcPts val="600"/>
              </a:spcBef>
            </a:pPr>
            <a:endParaRPr lang="ru-RU" sz="500" b="0" i="0" dirty="0">
              <a:effectLst/>
              <a:latin typeface="Aptos" panose="020B0004020202020204" pitchFamily="34" charset="0"/>
            </a:endParaRPr>
          </a:p>
          <a:p>
            <a:pPr algn="just">
              <a:spcBef>
                <a:spcPts val="600"/>
              </a:spcBef>
              <a:buFont typeface="+mj-lt"/>
              <a:buAutoNum type="arabicPeriod"/>
            </a:pPr>
            <a:r>
              <a:rPr lang="ru-RU" b="0" i="0" dirty="0">
                <a:effectLst/>
                <a:latin typeface="Aptos" panose="020B0004020202020204" pitchFamily="34" charset="0"/>
              </a:rPr>
              <a:t> </a:t>
            </a:r>
            <a:r>
              <a:rPr lang="ru-RU" b="0" i="0" dirty="0" err="1">
                <a:effectLst/>
                <a:latin typeface="Aptos" panose="020B0004020202020204" pitchFamily="34" charset="0"/>
              </a:rPr>
              <a:t>Проциклические</a:t>
            </a:r>
            <a:r>
              <a:rPr lang="ru-RU" b="0" i="0" dirty="0">
                <a:effectLst/>
                <a:latin typeface="Aptos" panose="020B0004020202020204" pitchFamily="34" charset="0"/>
              </a:rPr>
              <a:t> - имеют положительную корреляцию с выпуском, меняются в ту же сторону.</a:t>
            </a:r>
          </a:p>
          <a:p>
            <a:pPr algn="just">
              <a:spcBef>
                <a:spcPts val="600"/>
              </a:spcBef>
              <a:buFont typeface="+mj-lt"/>
              <a:buAutoNum type="arabicPeriod"/>
            </a:pPr>
            <a:r>
              <a:rPr lang="ru-RU" b="0" i="0" dirty="0">
                <a:effectLst/>
                <a:latin typeface="Aptos" panose="020B0004020202020204" pitchFamily="34" charset="0"/>
              </a:rPr>
              <a:t> Ациклические - отсутствует устойчивая положительная или отрицательная корреляция с выпуском.</a:t>
            </a:r>
          </a:p>
          <a:p>
            <a:pPr algn="just">
              <a:spcBef>
                <a:spcPts val="600"/>
              </a:spcBef>
              <a:buFont typeface="+mj-lt"/>
              <a:buAutoNum type="arabicPeriod"/>
            </a:pPr>
            <a:r>
              <a:rPr lang="ru-RU" b="0" i="0" dirty="0">
                <a:effectLst/>
                <a:latin typeface="Aptos" panose="020B0004020202020204" pitchFamily="34" charset="0"/>
              </a:rPr>
              <a:t> Контрциклические - имеют отрицательную корреляцию с выпуском, меняются в противоположную сторону.</a:t>
            </a:r>
          </a:p>
          <a:p>
            <a:pPr algn="just">
              <a:spcBef>
                <a:spcPts val="600"/>
              </a:spcBef>
            </a:pPr>
            <a:endParaRPr lang="ru-RU" sz="1000" b="0" i="0" dirty="0">
              <a:effectLst/>
              <a:latin typeface="Aptos" panose="020B0004020202020204" pitchFamily="34" charset="0"/>
            </a:endParaRPr>
          </a:p>
          <a:p>
            <a:pPr algn="just">
              <a:spcBef>
                <a:spcPts val="600"/>
              </a:spcBef>
            </a:pPr>
            <a:r>
              <a:rPr lang="ru-RU" b="1" i="0" dirty="0">
                <a:effectLst/>
                <a:latin typeface="Aptos" panose="020B0004020202020204" pitchFamily="34" charset="0"/>
              </a:rPr>
              <a:t>По согласованности изменений макроэкономические показатели </a:t>
            </a:r>
            <a:r>
              <a:rPr lang="ru-RU" b="0" i="0" dirty="0">
                <a:effectLst/>
                <a:latin typeface="Aptos" panose="020B0004020202020204" pitchFamily="34" charset="0"/>
              </a:rPr>
              <a:t>можно подразделить на следующие виды.</a:t>
            </a:r>
          </a:p>
          <a:p>
            <a:pPr algn="just">
              <a:spcBef>
                <a:spcPts val="600"/>
              </a:spcBef>
            </a:pPr>
            <a:endParaRPr lang="ru-RU" sz="500" b="0" i="0" dirty="0">
              <a:effectLst/>
              <a:latin typeface="Aptos" panose="020B0004020202020204" pitchFamily="34" charset="0"/>
            </a:endParaRPr>
          </a:p>
          <a:p>
            <a:pPr algn="just">
              <a:spcBef>
                <a:spcPts val="600"/>
              </a:spcBef>
              <a:buFont typeface="+mj-lt"/>
              <a:buAutoNum type="arabicPeriod"/>
            </a:pPr>
            <a:r>
              <a:rPr lang="ru-RU" b="0" i="0" dirty="0">
                <a:effectLst/>
                <a:latin typeface="Aptos" panose="020B0004020202020204" pitchFamily="34" charset="0"/>
              </a:rPr>
              <a:t> Опережающие - начинают меняться раньше, чем меняется выпуск.</a:t>
            </a:r>
          </a:p>
          <a:p>
            <a:pPr algn="just">
              <a:spcBef>
                <a:spcPts val="600"/>
              </a:spcBef>
              <a:buFont typeface="+mj-lt"/>
              <a:buAutoNum type="arabicPeriod"/>
            </a:pPr>
            <a:r>
              <a:rPr lang="ru-RU" b="0" i="0" dirty="0">
                <a:effectLst/>
                <a:latin typeface="Aptos" panose="020B0004020202020204" pitchFamily="34" charset="0"/>
              </a:rPr>
              <a:t> Одновременные - меняются одновременно с выпуском.</a:t>
            </a:r>
          </a:p>
          <a:p>
            <a:pPr algn="just">
              <a:spcBef>
                <a:spcPts val="600"/>
              </a:spcBef>
              <a:buFont typeface="+mj-lt"/>
              <a:buAutoNum type="arabicPeriod"/>
            </a:pPr>
            <a:r>
              <a:rPr lang="ru-RU" b="0" i="0" dirty="0">
                <a:effectLst/>
                <a:latin typeface="Aptos" panose="020B0004020202020204" pitchFamily="34" charset="0"/>
              </a:rPr>
              <a:t> Запаздывающие - начинают меняться позднее изменений выпуска.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Рукописный ввод 4">
                <a:extLst>
                  <a:ext uri="{FF2B5EF4-FFF2-40B4-BE49-F238E27FC236}">
                    <a16:creationId xmlns:a16="http://schemas.microsoft.com/office/drawing/2014/main" id="{3A0189AC-97AA-FD74-D4AE-385668FD25D9}"/>
                  </a:ext>
                </a:extLst>
              </p14:cNvPr>
              <p14:cNvContentPartPr/>
              <p14:nvPr/>
            </p14:nvContentPartPr>
            <p14:xfrm>
              <a:off x="6447419" y="2782020"/>
              <a:ext cx="45719" cy="22680"/>
            </p14:xfrm>
          </p:contentPart>
        </mc:Choice>
        <mc:Fallback xmlns="">
          <p:pic>
            <p:nvPicPr>
              <p:cNvPr id="5" name="Рукописный ввод 4">
                <a:extLst>
                  <a:ext uri="{FF2B5EF4-FFF2-40B4-BE49-F238E27FC236}">
                    <a16:creationId xmlns:a16="http://schemas.microsoft.com/office/drawing/2014/main" id="{3A0189AC-97AA-FD74-D4AE-385668FD25D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38419" y="2772875"/>
                <a:ext cx="63359" cy="4060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364555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6D382-FCD5-488C-D8B0-1D7C2130F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CEBC7419-C5D7-B566-CF1F-D0E91D2DEA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НИУ ВШЭ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D38D402-C0C5-0172-1ECE-3F8AF0A48E0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Факультет экономических 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39B3D35-4B4E-14ED-921E-FB5F74A1DE1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1" y="548720"/>
            <a:ext cx="2967235" cy="408109"/>
          </a:xfrm>
        </p:spPr>
        <p:txBody>
          <a:bodyPr/>
          <a:lstStyle/>
          <a:p>
            <a:r>
              <a:rPr lang="ru-RU" dirty="0"/>
              <a:t>Департамент теоретической экономики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Рукописный ввод 4">
                <a:extLst>
                  <a:ext uri="{FF2B5EF4-FFF2-40B4-BE49-F238E27FC236}">
                    <a16:creationId xmlns:a16="http://schemas.microsoft.com/office/drawing/2014/main" id="{E6DCE4FD-8AF5-1F0F-78D8-09D9D079ED8E}"/>
                  </a:ext>
                </a:extLst>
              </p14:cNvPr>
              <p14:cNvContentPartPr/>
              <p14:nvPr/>
            </p14:nvContentPartPr>
            <p14:xfrm>
              <a:off x="6447420" y="2782020"/>
              <a:ext cx="45360" cy="22680"/>
            </p14:xfrm>
          </p:contentPart>
        </mc:Choice>
        <mc:Fallback xmlns="">
          <p:pic>
            <p:nvPicPr>
              <p:cNvPr id="5" name="Рукописный ввод 4">
                <a:extLst>
                  <a:ext uri="{FF2B5EF4-FFF2-40B4-BE49-F238E27FC236}">
                    <a16:creationId xmlns:a16="http://schemas.microsoft.com/office/drawing/2014/main" id="{3A0189AC-97AA-FD74-D4AE-385668FD25D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38780" y="2773380"/>
                <a:ext cx="63000" cy="4032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BEB0BC0D-2267-2397-012B-64E5CF7A00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3288" y="1177226"/>
            <a:ext cx="7893205" cy="5414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5576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87F4A-ABDB-E56F-09E2-4A8B97DF7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13E10567-6B68-F46B-6AEA-8EE355587B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НИУ ВШЭ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73A83FE-604D-E404-8C3C-8E7A436CAD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Факультет экономических 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FF4C3BB-C354-AD7F-6C8B-B9345ADA031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1" y="548720"/>
            <a:ext cx="2967235" cy="408109"/>
          </a:xfrm>
        </p:spPr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Департамент теоретической экономики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09E173D-A9C6-B058-60A6-F5B98C15CA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7899"/>
          <a:stretch>
            <a:fillRect/>
          </a:stretch>
        </p:blipFill>
        <p:spPr>
          <a:xfrm>
            <a:off x="2280350" y="2608444"/>
            <a:ext cx="7631300" cy="29927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82FC6FE-941D-B22A-A7E5-247F0078B979}"/>
              </a:ext>
            </a:extLst>
          </p:cNvPr>
          <p:cNvSpPr txBox="1"/>
          <p:nvPr/>
        </p:nvSpPr>
        <p:spPr>
          <a:xfrm>
            <a:off x="2280350" y="1818070"/>
            <a:ext cx="76313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b="1" i="0" dirty="0">
                <a:solidFill>
                  <a:srgbClr val="0E2D69"/>
                </a:solidFill>
                <a:effectLst/>
                <a:latin typeface="Aptos" panose="020B0004020202020204" pitchFamily="34" charset="0"/>
              </a:rPr>
              <a:t>Характеристика основных макроэкономических индикаторов </a:t>
            </a:r>
            <a:endParaRPr lang="ru-RU" sz="2000" b="1" dirty="0">
              <a:solidFill>
                <a:srgbClr val="0E2D69"/>
              </a:solidFill>
              <a:latin typeface="Aptos" panose="020B00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Рукописный ввод 4">
                <a:extLst>
                  <a:ext uri="{FF2B5EF4-FFF2-40B4-BE49-F238E27FC236}">
                    <a16:creationId xmlns:a16="http://schemas.microsoft.com/office/drawing/2014/main" id="{AD4CDD80-32DF-C340-F461-0EFF7B4F0041}"/>
                  </a:ext>
                </a:extLst>
              </p14:cNvPr>
              <p14:cNvContentPartPr/>
              <p14:nvPr/>
            </p14:nvContentPartPr>
            <p14:xfrm>
              <a:off x="6447420" y="2782020"/>
              <a:ext cx="45360" cy="22680"/>
            </p14:xfrm>
          </p:contentPart>
        </mc:Choice>
        <mc:Fallback xmlns="">
          <p:pic>
            <p:nvPicPr>
              <p:cNvPr id="5" name="Рукописный ввод 4">
                <a:extLst>
                  <a:ext uri="{FF2B5EF4-FFF2-40B4-BE49-F238E27FC236}">
                    <a16:creationId xmlns:a16="http://schemas.microsoft.com/office/drawing/2014/main" id="{3A0189AC-97AA-FD74-D4AE-385668FD25D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38780" y="2773380"/>
                <a:ext cx="63000" cy="40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087995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AB3C0-7161-B96D-0B99-E46987B06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7D20D2FC-8906-67A8-7FFE-2AD9308599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НИУ ВШЭ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6DA5EF-2262-488C-068A-975CCD04454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Факультет экономических 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A72A39E-B692-93E6-647A-F66ACC4293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1" y="548720"/>
            <a:ext cx="2967235" cy="408109"/>
          </a:xfrm>
        </p:spPr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Департамент теоретической экономики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C61D368-582F-DC0F-0710-A3552A72CF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374"/>
          <a:stretch>
            <a:fillRect/>
          </a:stretch>
        </p:blipFill>
        <p:spPr>
          <a:xfrm>
            <a:off x="1886463" y="2804700"/>
            <a:ext cx="8419073" cy="263709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Рукописный ввод 4">
                <a:extLst>
                  <a:ext uri="{FF2B5EF4-FFF2-40B4-BE49-F238E27FC236}">
                    <a16:creationId xmlns:a16="http://schemas.microsoft.com/office/drawing/2014/main" id="{A4BFCC63-CB3E-A4DE-A90F-D9024BC85A06}"/>
                  </a:ext>
                </a:extLst>
              </p14:cNvPr>
              <p14:cNvContentPartPr/>
              <p14:nvPr/>
            </p14:nvContentPartPr>
            <p14:xfrm>
              <a:off x="6447420" y="2782020"/>
              <a:ext cx="45360" cy="22680"/>
            </p14:xfrm>
          </p:contentPart>
        </mc:Choice>
        <mc:Fallback xmlns="">
          <p:pic>
            <p:nvPicPr>
              <p:cNvPr id="5" name="Рукописный ввод 4">
                <a:extLst>
                  <a:ext uri="{FF2B5EF4-FFF2-40B4-BE49-F238E27FC236}">
                    <a16:creationId xmlns:a16="http://schemas.microsoft.com/office/drawing/2014/main" id="{3A0189AC-97AA-FD74-D4AE-385668FD25D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38780" y="2773380"/>
                <a:ext cx="63000" cy="4032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288A34D3-E946-CBF4-14F5-CD69DE519F63}"/>
              </a:ext>
            </a:extLst>
          </p:cNvPr>
          <p:cNvSpPr txBox="1"/>
          <p:nvPr/>
        </p:nvSpPr>
        <p:spPr>
          <a:xfrm>
            <a:off x="2280350" y="1818070"/>
            <a:ext cx="76313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b="1" i="0" dirty="0">
                <a:solidFill>
                  <a:srgbClr val="0E2D69"/>
                </a:solidFill>
                <a:effectLst/>
                <a:latin typeface="Aptos" panose="020B0004020202020204" pitchFamily="34" charset="0"/>
              </a:rPr>
              <a:t>Характеристика основных макроэкономических индикаторов </a:t>
            </a:r>
            <a:endParaRPr lang="ru-RU" sz="2000" b="1" dirty="0">
              <a:solidFill>
                <a:srgbClr val="0E2D69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91457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9BBF9-BB1A-60D2-089C-CC6594994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DE700852-AD35-96BC-76C8-3648BDC607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НИУ ВШЭ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41813DE-B443-3586-6AD3-873FF677DF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Факультет экономических 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B1E9FE1-CA18-F317-914D-F07FFE32AEC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1" y="548720"/>
            <a:ext cx="2967235" cy="408109"/>
          </a:xfrm>
        </p:spPr>
        <p:txBody>
          <a:bodyPr/>
          <a:lstStyle/>
          <a:p>
            <a:r>
              <a:rPr lang="ru-RU" dirty="0"/>
              <a:t>Департамент теоретической экономики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EB4CC587-1BAC-48FA-3275-9ABEEA8CC0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5413086"/>
              </p:ext>
            </p:extLst>
          </p:nvPr>
        </p:nvGraphicFramePr>
        <p:xfrm>
          <a:off x="712102" y="2166635"/>
          <a:ext cx="11095577" cy="1543050"/>
        </p:xfrm>
        <a:graphic>
          <a:graphicData uri="http://schemas.openxmlformats.org/drawingml/2006/table">
            <a:tbl>
              <a:tblPr firstRow="1" firstCol="1" bandRow="1"/>
              <a:tblGrid>
                <a:gridCol w="1656576">
                  <a:extLst>
                    <a:ext uri="{9D8B030D-6E8A-4147-A177-3AD203B41FA5}">
                      <a16:colId xmlns:a16="http://schemas.microsoft.com/office/drawing/2014/main" val="1688517640"/>
                    </a:ext>
                  </a:extLst>
                </a:gridCol>
                <a:gridCol w="1625172">
                  <a:extLst>
                    <a:ext uri="{9D8B030D-6E8A-4147-A177-3AD203B41FA5}">
                      <a16:colId xmlns:a16="http://schemas.microsoft.com/office/drawing/2014/main" val="1554744252"/>
                    </a:ext>
                  </a:extLst>
                </a:gridCol>
                <a:gridCol w="1625172">
                  <a:extLst>
                    <a:ext uri="{9D8B030D-6E8A-4147-A177-3AD203B41FA5}">
                      <a16:colId xmlns:a16="http://schemas.microsoft.com/office/drawing/2014/main" val="2558218317"/>
                    </a:ext>
                  </a:extLst>
                </a:gridCol>
                <a:gridCol w="6188657">
                  <a:extLst>
                    <a:ext uri="{9D8B030D-6E8A-4147-A177-3AD203B41FA5}">
                      <a16:colId xmlns:a16="http://schemas.microsoft.com/office/drawing/2014/main" val="3463713149"/>
                    </a:ext>
                  </a:extLst>
                </a:gridCol>
              </a:tblGrid>
              <a:tr h="253266">
                <a:tc grid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Все население страны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2092984"/>
                  </a:ext>
                </a:extLst>
              </a:tr>
              <a:tr h="518259"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Трудоспособное население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Нетрудоспособное население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2778901"/>
                  </a:ext>
                </a:extLst>
              </a:tr>
              <a:tr h="518259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Рабочая сила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Добровольно незанятые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3564127"/>
                  </a:ext>
                </a:extLst>
              </a:tr>
              <a:tr h="25326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Занятые (Е)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Безработные (</a:t>
                      </a:r>
                      <a:r>
                        <a:rPr lang="en-US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</a:t>
                      </a: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579974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4A9A149-A0D3-2DED-32C5-5C89A05AC19F}"/>
              </a:ext>
            </a:extLst>
          </p:cNvPr>
          <p:cNvSpPr txBox="1"/>
          <p:nvPr/>
        </p:nvSpPr>
        <p:spPr>
          <a:xfrm>
            <a:off x="712102" y="1766271"/>
            <a:ext cx="1109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/>
              <a:t>Структура населения страны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5B9AE11-A866-3D71-6F9C-D4B8EC667270}"/>
                  </a:ext>
                </a:extLst>
              </p:cNvPr>
              <p:cNvSpPr txBox="1"/>
              <p:nvPr/>
            </p:nvSpPr>
            <p:spPr>
              <a:xfrm>
                <a:off x="363258" y="3826266"/>
                <a:ext cx="11465483" cy="29790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sz="1800" dirty="0">
                    <a:latin typeface="Aptos" panose="020B0004020202020204" pitchFamily="34" charset="0"/>
                  </a:rPr>
                  <a:t>Рабочая сила (</a:t>
                </a:r>
                <a:r>
                  <a:rPr lang="en-US" sz="1800" dirty="0">
                    <a:latin typeface="Aptos" panose="020B0004020202020204" pitchFamily="34" charset="0"/>
                  </a:rPr>
                  <a:t>Labor force) </a:t>
                </a:r>
                <a:r>
                  <a:rPr lang="ru-RU" sz="1800" dirty="0">
                    <a:latin typeface="Aptos" panose="020B0004020202020204" pitchFamily="34" charset="0"/>
                  </a:rPr>
                  <a:t>-</a:t>
                </a:r>
                <a:r>
                  <a:rPr lang="en-US" sz="1800" dirty="0">
                    <a:latin typeface="Aptos" panose="020B0004020202020204" pitchFamily="34" charset="0"/>
                  </a:rPr>
                  <a:t> L</a:t>
                </a:r>
              </a:p>
              <a:p>
                <a:pPr algn="ctr"/>
                <a:r>
                  <a:rPr lang="ru-RU" sz="1800" dirty="0">
                    <a:latin typeface="Aptos" panose="020B0004020202020204" pitchFamily="34" charset="0"/>
                  </a:rPr>
                  <a:t>Занятые (</a:t>
                </a:r>
                <a:r>
                  <a:rPr lang="en-US" sz="1800" dirty="0">
                    <a:latin typeface="Aptos" panose="020B0004020202020204" pitchFamily="34" charset="0"/>
                  </a:rPr>
                  <a:t>employed) </a:t>
                </a:r>
                <a:r>
                  <a:rPr lang="ru-RU" sz="1800" dirty="0">
                    <a:latin typeface="Aptos" panose="020B0004020202020204" pitchFamily="34" charset="0"/>
                  </a:rPr>
                  <a:t>-</a:t>
                </a:r>
                <a:r>
                  <a:rPr lang="en-US" sz="1800" dirty="0">
                    <a:latin typeface="Aptos" panose="020B0004020202020204" pitchFamily="34" charset="0"/>
                  </a:rPr>
                  <a:t> E</a:t>
                </a:r>
              </a:p>
              <a:p>
                <a:pPr algn="ctr"/>
                <a:r>
                  <a:rPr lang="ru-RU" sz="1800" dirty="0">
                    <a:latin typeface="Aptos" panose="020B0004020202020204" pitchFamily="34" charset="0"/>
                  </a:rPr>
                  <a:t>Безработные </a:t>
                </a:r>
                <a:r>
                  <a:rPr lang="en-US" sz="1800" dirty="0">
                    <a:latin typeface="Aptos" panose="020B0004020202020204" pitchFamily="34" charset="0"/>
                  </a:rPr>
                  <a:t>(unemployed) </a:t>
                </a:r>
                <a:r>
                  <a:rPr lang="ru-RU" sz="1800" dirty="0">
                    <a:latin typeface="Aptos" panose="020B0004020202020204" pitchFamily="34" charset="0"/>
                  </a:rPr>
                  <a:t>-</a:t>
                </a:r>
                <a:r>
                  <a:rPr lang="en-US" sz="1800" dirty="0">
                    <a:latin typeface="Aptos" panose="020B0004020202020204" pitchFamily="34" charset="0"/>
                  </a:rPr>
                  <a:t> U</a:t>
                </a:r>
              </a:p>
              <a:p>
                <a:pPr algn="ctr"/>
                <a:endParaRPr lang="en-US" sz="900" dirty="0">
                  <a:latin typeface="Aptos" panose="020B0004020202020204" pitchFamily="34" charset="0"/>
                </a:endParaRPr>
              </a:p>
              <a:p>
                <a:pPr algn="ctr"/>
                <a:r>
                  <a:rPr lang="en-US" sz="1800" dirty="0">
                    <a:latin typeface="Aptos" panose="020B0004020202020204" pitchFamily="34" charset="0"/>
                  </a:rPr>
                  <a:t>L = E + U</a:t>
                </a:r>
              </a:p>
              <a:p>
                <a:pPr algn="ctr"/>
                <a:endParaRPr lang="en-US" sz="900" dirty="0">
                  <a:latin typeface="Aptos" panose="020B0004020202020204" pitchFamily="34" charset="0"/>
                </a:endParaRPr>
              </a:p>
              <a:p>
                <a:pPr algn="ctr"/>
                <a:r>
                  <a:rPr lang="ru-RU" sz="1800" dirty="0">
                    <a:latin typeface="Aptos" panose="020B0004020202020204" pitchFamily="34" charset="0"/>
                  </a:rPr>
                  <a:t>Уровень безработицы рассчитывается по формуле:</a:t>
                </a:r>
              </a:p>
              <a:p>
                <a:pPr algn="ctr"/>
                <a:endParaRPr lang="ru-RU" sz="900" dirty="0">
                  <a:latin typeface="Aptos" panose="020B0004020202020204" pitchFamily="34" charset="0"/>
                </a:endParaRPr>
              </a:p>
              <a:p>
                <a:pPr algn="ctr"/>
                <a:r>
                  <a:rPr lang="ru-RU" sz="1800" dirty="0">
                    <a:latin typeface="Aptos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𝑈</m:t>
                        </m:r>
                      </m:num>
                      <m:den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𝐸</m:t>
                        </m:r>
                      </m:den>
                    </m:f>
                  </m:oMath>
                </a14:m>
                <a:r>
                  <a:rPr lang="en-US" sz="1800" dirty="0">
                    <a:latin typeface="Aptos" panose="020B0004020202020204" pitchFamily="34" charset="0"/>
                  </a:rPr>
                  <a:t>*100%</a:t>
                </a:r>
              </a:p>
              <a:p>
                <a:pPr algn="ctr"/>
                <a:endParaRPr lang="en-US" sz="900" dirty="0">
                  <a:latin typeface="Aptos" panose="020B0004020202020204" pitchFamily="34" charset="0"/>
                </a:endParaRPr>
              </a:p>
              <a:p>
                <a:pPr algn="ctr"/>
                <a:r>
                  <a:rPr lang="ru-RU" sz="1800" b="1" dirty="0">
                    <a:latin typeface="Aptos" panose="020B0004020202020204" pitchFamily="34" charset="0"/>
                  </a:rPr>
                  <a:t>Уровнем безработицы </a:t>
                </a:r>
                <a:r>
                  <a:rPr lang="ru-RU" sz="1800" dirty="0">
                    <a:latin typeface="Aptos" panose="020B0004020202020204" pitchFamily="34" charset="0"/>
                  </a:rPr>
                  <a:t>называется доля безработных в общей численности экономически активного населения</a:t>
                </a:r>
                <a:endParaRPr lang="ru-RU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5B9AE11-A866-3D71-6F9C-D4B8EC6672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258" y="3826266"/>
                <a:ext cx="11465483" cy="2979021"/>
              </a:xfrm>
              <a:prstGeom prst="rect">
                <a:avLst/>
              </a:prstGeom>
              <a:blipFill>
                <a:blip r:embed="rId2"/>
                <a:stretch>
                  <a:fillRect t="-851" b="-2128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F74E1CC-BC41-9E05-6FEC-0CE2D7DF2C2D}"/>
              </a:ext>
            </a:extLst>
          </p:cNvPr>
          <p:cNvSpPr txBox="1"/>
          <p:nvPr/>
        </p:nvSpPr>
        <p:spPr>
          <a:xfrm>
            <a:off x="712102" y="1150465"/>
            <a:ext cx="110955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u="sng" dirty="0"/>
              <a:t>БЕЗРАБОТИЦА</a:t>
            </a:r>
          </a:p>
        </p:txBody>
      </p:sp>
    </p:spTree>
    <p:extLst>
      <p:ext uri="{BB962C8B-B14F-4D97-AF65-F5344CB8AC3E}">
        <p14:creationId xmlns:p14="http://schemas.microsoft.com/office/powerpoint/2010/main" val="1593838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7AC8064E-5791-204C-B92F-A018279494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НИУ ВШЭ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5A111DD-C00C-2D48-9F7A-4E23C5BA0C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Факультет экономических 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7B3E517-ED8B-0241-AB87-BE49B315EEB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1" y="548720"/>
            <a:ext cx="2967235" cy="408109"/>
          </a:xfrm>
        </p:spPr>
        <p:txBody>
          <a:bodyPr/>
          <a:lstStyle/>
          <a:p>
            <a:r>
              <a:rPr lang="ru-RU" dirty="0"/>
              <a:t>Департамент теоретической экономики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74DF48-9D8E-7B90-799D-15ACB4D8253F}"/>
              </a:ext>
            </a:extLst>
          </p:cNvPr>
          <p:cNvSpPr txBox="1"/>
          <p:nvPr/>
        </p:nvSpPr>
        <p:spPr>
          <a:xfrm>
            <a:off x="271571" y="1643086"/>
            <a:ext cx="9315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Виды безработицы: </a:t>
            </a:r>
            <a:r>
              <a:rPr lang="ru-RU" dirty="0"/>
              <a:t>фрикционная, структурная, циклическая.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2FF4FB-4C62-7D04-6E4C-C896102BB7FB}"/>
              </a:ext>
            </a:extLst>
          </p:cNvPr>
          <p:cNvSpPr txBox="1"/>
          <p:nvPr/>
        </p:nvSpPr>
        <p:spPr>
          <a:xfrm>
            <a:off x="271571" y="2080222"/>
            <a:ext cx="11648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/>
              <a:t>Уровень безработицы в России снизился до 2,1% в феврале 2026 года с 2,2% в предыдущем месяце, что соответствует </a:t>
            </a:r>
            <a:r>
              <a:rPr lang="ru-RU" b="1" dirty="0"/>
              <a:t>самому низкому показателю </a:t>
            </a:r>
            <a:r>
              <a:rPr lang="ru-RU" dirty="0"/>
              <a:t>за всю историю (</a:t>
            </a:r>
            <a:r>
              <a:rPr lang="en-GB" i="1" dirty="0"/>
              <a:t>Trading Economics</a:t>
            </a:r>
            <a:r>
              <a:rPr lang="en-GB" dirty="0"/>
              <a:t>)</a:t>
            </a:r>
            <a:r>
              <a:rPr lang="ru-RU" dirty="0"/>
              <a:t>. 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F28D639-1AFF-F718-DD4F-2AF91CDC5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4159" y="2698675"/>
            <a:ext cx="7223681" cy="3901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9895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7AC8064E-5791-204C-B92F-A018279494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НИУ ВШЭ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5A111DD-C00C-2D48-9F7A-4E23C5BA0C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Факультет экономических 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7B3E517-ED8B-0241-AB87-BE49B315EEB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1" y="548720"/>
            <a:ext cx="2967235" cy="408109"/>
          </a:xfrm>
        </p:spPr>
        <p:txBody>
          <a:bodyPr/>
          <a:lstStyle/>
          <a:p>
            <a:r>
              <a:rPr lang="ru-RU" dirty="0"/>
              <a:t>Департамент теоретической экономики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223A32-4D51-23A2-1FA6-4654FB457005}"/>
              </a:ext>
            </a:extLst>
          </p:cNvPr>
          <p:cNvSpPr txBox="1"/>
          <p:nvPr/>
        </p:nvSpPr>
        <p:spPr>
          <a:xfrm>
            <a:off x="369890" y="1442874"/>
            <a:ext cx="67539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http://ssl.rosstat.gov.ru/storage/mediabank/Rab_sila_2024.pdf</a:t>
            </a:r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2406B27-8536-B36F-6A7B-E8F94D47A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663" y="2314214"/>
            <a:ext cx="3124191" cy="399506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A372760-0D24-0E17-9B9D-D47FC61CFB44}"/>
              </a:ext>
            </a:extLst>
          </p:cNvPr>
          <p:cNvSpPr txBox="1"/>
          <p:nvPr/>
        </p:nvSpPr>
        <p:spPr>
          <a:xfrm>
            <a:off x="3928470" y="2292591"/>
            <a:ext cx="440231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highlight>
                  <a:srgbClr val="FFFFFF"/>
                </a:highlight>
              </a:rPr>
              <a:t>Причины низкой безработицы в России: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>
                <a:highlight>
                  <a:srgbClr val="FFFFFF"/>
                </a:highlight>
              </a:rPr>
              <a:t>Демографическая яма 90-х годов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>
                <a:highlight>
                  <a:srgbClr val="FFFFFF"/>
                </a:highlight>
              </a:rPr>
              <a:t>Сверхсмертность в </a:t>
            </a:r>
            <a:r>
              <a:rPr lang="ru-RU" sz="2000" dirty="0" err="1">
                <a:highlight>
                  <a:srgbClr val="FFFFFF"/>
                </a:highlight>
              </a:rPr>
              <a:t>короновирус</a:t>
            </a:r>
            <a:endParaRPr lang="ru-RU" sz="2000" dirty="0">
              <a:highlight>
                <a:srgbClr val="FFFFFF"/>
              </a:highlight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>
                <a:highlight>
                  <a:srgbClr val="FFFFFF"/>
                </a:highlight>
              </a:rPr>
              <a:t>Мобилизация и уход на контрактную службу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>
                <a:highlight>
                  <a:srgbClr val="FFFFFF"/>
                </a:highlight>
              </a:rPr>
              <a:t>Снижение количества мигрантов</a:t>
            </a:r>
          </a:p>
          <a:p>
            <a:pPr algn="just"/>
            <a:endParaRPr lang="ru-RU" sz="3200" b="1" dirty="0">
              <a:highlight>
                <a:srgbClr val="FFFFFF"/>
              </a:highlight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BF80FA06-5559-9AA1-A07E-9A7B4D9AF1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372" t="17447" r="29229" b="6525"/>
          <a:stretch/>
        </p:blipFill>
        <p:spPr>
          <a:xfrm>
            <a:off x="8512404" y="2763649"/>
            <a:ext cx="3327560" cy="335636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1E68EC1-1054-89BF-6057-310F7076EB24}"/>
              </a:ext>
            </a:extLst>
          </p:cNvPr>
          <p:cNvSpPr txBox="1"/>
          <p:nvPr/>
        </p:nvSpPr>
        <p:spPr>
          <a:xfrm>
            <a:off x="8739204" y="1899960"/>
            <a:ext cx="29672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b="1" i="1" dirty="0">
                <a:highlight>
                  <a:srgbClr val="FFFFFF"/>
                </a:highlight>
              </a:rPr>
              <a:t>Численность населения в России, </a:t>
            </a:r>
            <a:r>
              <a:rPr lang="ru-RU" b="1" i="1" dirty="0" err="1">
                <a:highlight>
                  <a:srgbClr val="FFFFFF"/>
                </a:highlight>
              </a:rPr>
              <a:t>тыс.чел</a:t>
            </a:r>
            <a:r>
              <a:rPr lang="ru-RU" b="1" i="1" dirty="0">
                <a:highlight>
                  <a:srgbClr val="FFFFFF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494414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2161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000" dirty="0">
            <a:latin typeface="HSE Sans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2A9C74E6E830D74E9B0FDDB4017A5417" ma:contentTypeVersion="13" ma:contentTypeDescription="Создание документа." ma:contentTypeScope="" ma:versionID="d4e423622451d608a8a05f4da7a1e1a2">
  <xsd:schema xmlns:xsd="http://www.w3.org/2001/XMLSchema" xmlns:xs="http://www.w3.org/2001/XMLSchema" xmlns:p="http://schemas.microsoft.com/office/2006/metadata/properties" xmlns:ns2="9875bd71-cde8-496c-a136-433f55d5e6d0" xmlns:ns3="e96afe77-3acb-4328-97fc-408e1bde3ecd" targetNamespace="http://schemas.microsoft.com/office/2006/metadata/properties" ma:root="true" ma:fieldsID="4831203c63c08b9f52ea6d3ee0d7a96e" ns2:_="" ns3:_="">
    <xsd:import namespace="9875bd71-cde8-496c-a136-433f55d5e6d0"/>
    <xsd:import namespace="e96afe77-3acb-4328-97fc-408e1bde3e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75bd71-cde8-496c-a136-433f55d5e6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6afe77-3acb-4328-97fc-408e1bde3ec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33DAF31-D8A6-49A0-9A5D-8B2EA5B1C511}">
  <ds:schemaRefs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dcmitype/"/>
    <ds:schemaRef ds:uri="e96afe77-3acb-4328-97fc-408e1bde3ecd"/>
    <ds:schemaRef ds:uri="http://schemas.microsoft.com/office/2006/metadata/properties"/>
    <ds:schemaRef ds:uri="http://purl.org/dc/terms/"/>
    <ds:schemaRef ds:uri="http://www.w3.org/XML/1998/namespace"/>
    <ds:schemaRef ds:uri="http://schemas.openxmlformats.org/package/2006/metadata/core-properties"/>
    <ds:schemaRef ds:uri="9875bd71-cde8-496c-a136-433f55d5e6d0"/>
  </ds:schemaRefs>
</ds:datastoreItem>
</file>

<file path=customXml/itemProps2.xml><?xml version="1.0" encoding="utf-8"?>
<ds:datastoreItem xmlns:ds="http://schemas.openxmlformats.org/officeDocument/2006/customXml" ds:itemID="{B34386AA-1848-4C75-B336-1053927CB0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4651DD-DCCC-4759-B2F6-7F520BDCC2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75bd71-cde8-496c-a136-433f55d5e6d0"/>
    <ds:schemaRef ds:uri="e96afe77-3acb-4328-97fc-408e1bde3e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11702</TotalTime>
  <Words>1255</Words>
  <Application>Microsoft Macintosh PowerPoint</Application>
  <PresentationFormat>Widescreen</PresentationFormat>
  <Paragraphs>181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Aptos</vt:lpstr>
      <vt:lpstr>Arial</vt:lpstr>
      <vt:lpstr>Calibri</vt:lpstr>
      <vt:lpstr>Calibri Light</vt:lpstr>
      <vt:lpstr>Cambria Math</vt:lpstr>
      <vt:lpstr>HSE Sans</vt:lpstr>
      <vt:lpstr>Office Theme</vt:lpstr>
      <vt:lpstr>Дисциплина «ЭКОНОМИКА»  Семинар 12. Экономический рост и безработица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Кутьков Юрий Юрьевич</dc:creator>
  <cp:lastModifiedBy>Анна Иванова</cp:lastModifiedBy>
  <cp:revision>72</cp:revision>
  <cp:lastPrinted>2021-11-11T13:08:42Z</cp:lastPrinted>
  <dcterms:created xsi:type="dcterms:W3CDTF">2021-11-11T08:52:47Z</dcterms:created>
  <dcterms:modified xsi:type="dcterms:W3CDTF">2026-04-18T10:17:13Z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0x0101002A9C74E6E830D74E9B0FDDB4017A5417</vt:lpwstr>
  </property>
</Properties>
</file>