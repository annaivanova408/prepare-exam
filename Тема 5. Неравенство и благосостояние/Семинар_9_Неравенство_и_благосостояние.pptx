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9" r:id="rId6"/>
    <p:sldId id="285" r:id="rId7"/>
    <p:sldId id="260" r:id="rId8"/>
    <p:sldId id="261" r:id="rId9"/>
    <p:sldId id="286" r:id="rId10"/>
    <p:sldId id="262" r:id="rId11"/>
    <p:sldId id="287" r:id="rId12"/>
    <p:sldId id="264" r:id="rId13"/>
    <p:sldId id="28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22"/>
    <p:sldId id="274" r:id="rId23"/>
    <p:sldId id="275" r:id="rId24"/>
    <p:sldId id="276" r:id="rId25"/>
    <p:sldId id="278" r:id="rId26"/>
    <p:sldId id="279" r:id="rId27"/>
    <p:sldId id="280" r:id="rId28"/>
    <p:sldId id="283" r:id="rId29"/>
  </p:sldIdLst>
  <p:sldSz cx="12193588" cy="6858000"/>
  <p:notesSz cx="12193588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51"/>
    <p:restoredTop sz="94681"/>
  </p:normalViewPr>
  <p:slideViewPr>
    <p:cSldViewPr>
      <p:cViewPr varScale="1">
        <p:scale>
          <a:sx n="105" d="100"/>
          <a:sy n="105" d="100"/>
        </p:scale>
        <p:origin x="200" y="3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 bwMode="auto"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 bwMode="auto"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 bwMode="auto"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 bwMode="auto"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 bwMode="auto"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 bwMode="auto"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 bwMode="auto"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subTitle"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ubTitle"/>
          </p:nvPr>
        </p:nvSpPr>
        <p:spPr bwMode="auto"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 bwMode="auto"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27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34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35" name="PlaceHolder 5"/>
          <p:cNvSpPr>
            <a:spLocks noGrp="1"/>
          </p:cNvSpPr>
          <p:nvPr>
            <p:ph/>
          </p:nvPr>
        </p:nvSpPr>
        <p:spPr bwMode="auto"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 bwMode="auto"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 bwMode="auto"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40" name="PlaceHolder 5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41" name="PlaceHolder 6"/>
          <p:cNvSpPr>
            <a:spLocks noGrp="1"/>
          </p:cNvSpPr>
          <p:nvPr>
            <p:ph/>
          </p:nvPr>
        </p:nvSpPr>
        <p:spPr bwMode="auto"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42" name="PlaceHolder 7"/>
          <p:cNvSpPr>
            <a:spLocks noGrp="1"/>
          </p:cNvSpPr>
          <p:nvPr>
            <p:ph/>
          </p:nvPr>
        </p:nvSpPr>
        <p:spPr bwMode="auto"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 type="subTitle"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ubTitle"/>
          </p:nvPr>
        </p:nvSpPr>
        <p:spPr bwMode="auto">
          <a:xfrm>
            <a:off x="838080" y="365040"/>
            <a:ext cx="10515600" cy="61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59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61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63" name="PlaceHolder 4"/>
          <p:cNvSpPr>
            <a:spLocks noGrp="1"/>
          </p:cNvSpPr>
          <p:nvPr>
            <p:ph/>
          </p:nvPr>
        </p:nvSpPr>
        <p:spPr bwMode="auto"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105156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72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/>
          </p:nvPr>
        </p:nvSpPr>
        <p:spPr bwMode="auto">
          <a:xfrm>
            <a:off x="6226560" y="182520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74" name="PlaceHolder 4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75" name="PlaceHolder 5"/>
          <p:cNvSpPr>
            <a:spLocks noGrp="1"/>
          </p:cNvSpPr>
          <p:nvPr>
            <p:ph/>
          </p:nvPr>
        </p:nvSpPr>
        <p:spPr bwMode="auto">
          <a:xfrm>
            <a:off x="6226560" y="4098240"/>
            <a:ext cx="513144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4400" b="0" strike="noStrike" spc="-1">
              <a:solidFill>
                <a:srgbClr val="0F2C68"/>
              </a:solidFill>
              <a:latin typeface="Calibri Light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 bwMode="auto">
          <a:xfrm>
            <a:off x="83808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/>
          </p:nvPr>
        </p:nvSpPr>
        <p:spPr bwMode="auto">
          <a:xfrm>
            <a:off x="439344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79" name="PlaceHolder 4"/>
          <p:cNvSpPr>
            <a:spLocks noGrp="1"/>
          </p:cNvSpPr>
          <p:nvPr>
            <p:ph/>
          </p:nvPr>
        </p:nvSpPr>
        <p:spPr bwMode="auto">
          <a:xfrm>
            <a:off x="7949160" y="182520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80" name="PlaceHolder 5"/>
          <p:cNvSpPr>
            <a:spLocks noGrp="1"/>
          </p:cNvSpPr>
          <p:nvPr>
            <p:ph/>
          </p:nvPr>
        </p:nvSpPr>
        <p:spPr bwMode="auto">
          <a:xfrm>
            <a:off x="83808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81" name="PlaceHolder 6"/>
          <p:cNvSpPr>
            <a:spLocks noGrp="1"/>
          </p:cNvSpPr>
          <p:nvPr>
            <p:ph/>
          </p:nvPr>
        </p:nvSpPr>
        <p:spPr bwMode="auto">
          <a:xfrm>
            <a:off x="439344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82" name="PlaceHolder 7"/>
          <p:cNvSpPr>
            <a:spLocks noGrp="1"/>
          </p:cNvSpPr>
          <p:nvPr>
            <p:ph/>
          </p:nvPr>
        </p:nvSpPr>
        <p:spPr bwMode="auto">
          <a:xfrm>
            <a:off x="7949160" y="4098240"/>
            <a:ext cx="3385800" cy="20754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" name="Picture 28" descr="A blue circle with white text&#10;&#10;Description automatically generated with low confidence"/>
          <p:cNvPicPr/>
          <p:nvPr/>
        </p:nvPicPr>
        <p:blipFill>
          <a:blip r:embed="rId15"/>
          <a:stretch/>
        </p:blipFill>
        <p:spPr bwMode="auto">
          <a:xfrm>
            <a:off x="1014480" y="961920"/>
            <a:ext cx="885600" cy="887400"/>
          </a:xfrm>
          <a:prstGeom prst="rect">
            <a:avLst/>
          </a:prstGeom>
          <a:ln w="0">
            <a:noFill/>
          </a:ln>
        </p:spPr>
      </p:pic>
      <p:sp>
        <p:nvSpPr>
          <p:cNvPr id="42" name="Straight Connector 48"/>
          <p:cNvSpPr/>
          <p:nvPr/>
        </p:nvSpPr>
        <p:spPr bwMode="auto">
          <a:xfrm>
            <a:off x="6089760" y="985680"/>
            <a:ext cx="0" cy="839879"/>
          </a:xfrm>
          <a:prstGeom prst="line">
            <a:avLst/>
          </a:prstGeom>
          <a:ln w="12600">
            <a:solidFill>
              <a:srgbClr val="102D69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43" name="Straight Connector 50"/>
          <p:cNvSpPr/>
          <p:nvPr/>
        </p:nvSpPr>
        <p:spPr bwMode="auto">
          <a:xfrm>
            <a:off x="8642520" y="985680"/>
            <a:ext cx="0" cy="839879"/>
          </a:xfrm>
          <a:prstGeom prst="line">
            <a:avLst/>
          </a:prstGeom>
          <a:ln w="12600">
            <a:solidFill>
              <a:srgbClr val="102D69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44" name="Straight Connector 51"/>
          <p:cNvSpPr/>
          <p:nvPr/>
        </p:nvSpPr>
        <p:spPr bwMode="auto">
          <a:xfrm>
            <a:off x="11179079" y="985680"/>
            <a:ext cx="0" cy="839879"/>
          </a:xfrm>
          <a:prstGeom prst="line">
            <a:avLst/>
          </a:prstGeom>
          <a:ln w="12600">
            <a:solidFill>
              <a:srgbClr val="102D69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F2C68"/>
                </a:solidFill>
                <a:latin typeface="Calibri Light"/>
              </a:rPr>
              <a:t>Click to edit the title text format</a:t>
            </a:r>
            <a:endParaRPr/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Click to edit the outline text format</a:t>
            </a:r>
            <a:endParaRPr/>
          </a:p>
          <a:p>
            <a:pPr marL="685800" lvl="1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Second Outline Level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Third Outline Level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Fourth Outline Level</a:t>
            </a:r>
            <a:endParaRPr/>
          </a:p>
          <a:p>
            <a:pPr marL="2057400" lvl="4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Fifth Outline Level</a:t>
            </a:r>
            <a:endParaRPr/>
          </a:p>
          <a:p>
            <a:pPr marL="2057400" lvl="5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Sixth Outline Level</a:t>
            </a:r>
            <a:endParaRPr/>
          </a:p>
          <a:p>
            <a:pPr marL="2057400" lvl="6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9" name="Picture 4" descr="Icon&#10;&#10;Description automatically generated"/>
          <p:cNvPicPr/>
          <p:nvPr/>
        </p:nvPicPr>
        <p:blipFill>
          <a:blip r:embed="rId15"/>
          <a:stretch/>
        </p:blipFill>
        <p:spPr bwMode="auto">
          <a:xfrm>
            <a:off x="517680" y="465120"/>
            <a:ext cx="447480" cy="447840"/>
          </a:xfrm>
          <a:prstGeom prst="rect">
            <a:avLst/>
          </a:prstGeom>
          <a:ln w="0">
            <a:noFill/>
          </a:ln>
        </p:spPr>
      </p:pic>
      <p:sp>
        <p:nvSpPr>
          <p:cNvPr id="500" name="Straight Connector 19"/>
          <p:cNvSpPr/>
          <p:nvPr/>
        </p:nvSpPr>
        <p:spPr bwMode="auto">
          <a:xfrm>
            <a:off x="3298680" y="465120"/>
            <a:ext cx="0" cy="585720"/>
          </a:xfrm>
          <a:prstGeom prst="line">
            <a:avLst/>
          </a:prstGeom>
          <a:ln w="12600">
            <a:solidFill>
              <a:srgbClr val="102D69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01" name="Straight Connector 21"/>
          <p:cNvSpPr/>
          <p:nvPr/>
        </p:nvSpPr>
        <p:spPr bwMode="auto">
          <a:xfrm>
            <a:off x="6099120" y="465120"/>
            <a:ext cx="0" cy="585720"/>
          </a:xfrm>
          <a:prstGeom prst="line">
            <a:avLst/>
          </a:prstGeom>
          <a:ln w="12600">
            <a:solidFill>
              <a:srgbClr val="102D69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02" name="Straight Connector 25"/>
          <p:cNvSpPr/>
          <p:nvPr/>
        </p:nvSpPr>
        <p:spPr bwMode="auto">
          <a:xfrm>
            <a:off x="10277640" y="465120"/>
            <a:ext cx="0" cy="585720"/>
          </a:xfrm>
          <a:prstGeom prst="line">
            <a:avLst/>
          </a:prstGeom>
          <a:ln w="12600">
            <a:solidFill>
              <a:srgbClr val="102D69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03" name="TextBox 10"/>
          <p:cNvSpPr/>
          <p:nvPr/>
        </p:nvSpPr>
        <p:spPr bwMode="auto">
          <a:xfrm>
            <a:off x="10410840" y="531720"/>
            <a:ext cx="671400" cy="305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C1CC528-3863-4D57-B168-BB133B01C804}" type="slidenum">
              <a:rPr lang="ru-RU" sz="2000" b="0" strike="noStrike" spc="-1">
                <a:solidFill>
                  <a:srgbClr val="102D69"/>
                </a:solidFill>
                <a:latin typeface="HSE Sans"/>
              </a:rPr>
              <a:t>‹#›</a:t>
            </a:fld>
            <a:endParaRPr lang="en-US" sz="2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04" name="Straight Connector 59"/>
          <p:cNvSpPr/>
          <p:nvPr/>
        </p:nvSpPr>
        <p:spPr bwMode="auto">
          <a:xfrm>
            <a:off x="11644200" y="465120"/>
            <a:ext cx="0" cy="585720"/>
          </a:xfrm>
          <a:prstGeom prst="line">
            <a:avLst/>
          </a:prstGeom>
          <a:ln w="12600">
            <a:solidFill>
              <a:srgbClr val="102D69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F2C68"/>
                </a:solidFill>
                <a:latin typeface="Calibri Light"/>
              </a:rPr>
              <a:t>Click to edit the title text format</a:t>
            </a:r>
            <a:endParaRPr/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Click to edit the outline text format</a:t>
            </a:r>
            <a:endParaRPr/>
          </a:p>
          <a:p>
            <a:pPr marL="685800" lvl="1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Second Outline Level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Third Outline Level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Fourth Outline Level</a:t>
            </a:r>
            <a:endParaRPr/>
          </a:p>
          <a:p>
            <a:pPr marL="2057400" lvl="4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Fifth Outline Level</a:t>
            </a:r>
            <a:endParaRPr/>
          </a:p>
          <a:p>
            <a:pPr marL="2057400" lvl="5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Sixth Outline Level</a:t>
            </a:r>
            <a:endParaRPr/>
          </a:p>
          <a:p>
            <a:pPr marL="2057400" lvl="6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" name="Rectangle 2"/>
          <p:cNvSpPr/>
          <p:nvPr/>
        </p:nvSpPr>
        <p:spPr bwMode="auto">
          <a:xfrm>
            <a:off x="0" y="0"/>
            <a:ext cx="12192120" cy="6858000"/>
          </a:xfrm>
          <a:prstGeom prst="rect">
            <a:avLst/>
          </a:prstGeom>
          <a:solidFill>
            <a:srgbClr val="0F2C68"/>
          </a:solidFill>
          <a:ln w="12600">
            <a:solidFill>
              <a:srgbClr val="081D4A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pic>
        <p:nvPicPr>
          <p:cNvPr id="544" name="Picture 1"/>
          <p:cNvPicPr/>
          <p:nvPr/>
        </p:nvPicPr>
        <p:blipFill>
          <a:blip r:embed="rId15"/>
          <a:stretch/>
        </p:blipFill>
        <p:spPr bwMode="auto">
          <a:xfrm>
            <a:off x="5310360" y="2643120"/>
            <a:ext cx="1571400" cy="1571759"/>
          </a:xfrm>
          <a:prstGeom prst="rect">
            <a:avLst/>
          </a:prstGeom>
          <a:ln w="0">
            <a:noFill/>
          </a:ln>
        </p:spPr>
      </p:pic>
      <p:sp>
        <p:nvSpPr>
          <p:cNvPr id="54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600" cy="1325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0" strike="noStrike" spc="-1">
                <a:solidFill>
                  <a:srgbClr val="0F2C68"/>
                </a:solidFill>
                <a:latin typeface="Calibri Light"/>
              </a:rPr>
              <a:t>Click to edit the title text format</a:t>
            </a:r>
            <a:endParaRPr/>
          </a:p>
        </p:txBody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200"/>
            <a:ext cx="10515600" cy="43513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Click to edit the outline text format</a:t>
            </a:r>
            <a:endParaRPr/>
          </a:p>
          <a:p>
            <a:pPr marL="685800" lvl="1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Second Outline Level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Third Outline Level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Fourth Outline Level</a:t>
            </a:r>
            <a:endParaRPr/>
          </a:p>
          <a:p>
            <a:pPr marL="2057400" lvl="4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Fifth Outline Level</a:t>
            </a:r>
            <a:endParaRPr/>
          </a:p>
          <a:p>
            <a:pPr marL="2057400" lvl="5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Sixth Outline Level</a:t>
            </a:r>
            <a:endParaRPr/>
          </a:p>
          <a:p>
            <a:pPr marL="2057400" lvl="6" indent="-228600">
              <a:lnSpc>
                <a:spcPct val="90000"/>
              </a:lnSpc>
              <a:spcBef>
                <a:spcPts val="1001"/>
              </a:spcBef>
              <a:buClr>
                <a:srgbClr val="0F2C68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0" strike="noStrike" spc="-1">
                <a:solidFill>
                  <a:srgbClr val="0F2C68"/>
                </a:solidFill>
                <a:latin typeface="Calibri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 bwMode="auto">
          <a:xfrm>
            <a:off x="1108994" y="2443288"/>
            <a:ext cx="9975600" cy="197142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700" b="0" strike="noStrike" spc="-1" dirty="0">
                <a:solidFill>
                  <a:srgbClr val="0E2D69"/>
                </a:solidFill>
                <a:latin typeface="Aptos" panose="020B0004020202020204" pitchFamily="34" charset="0"/>
              </a:rPr>
              <a:t>Дисциплина «ЭКОНОМИКА»</a:t>
            </a:r>
            <a:br>
              <a:rPr sz="3700" dirty="0">
                <a:latin typeface="Aptos" panose="020B0004020202020204" pitchFamily="34" charset="0"/>
              </a:rPr>
            </a:br>
            <a:br>
              <a:rPr sz="3700" dirty="0">
                <a:latin typeface="Aptos" panose="020B0004020202020204" pitchFamily="34" charset="0"/>
              </a:rPr>
            </a:br>
            <a:r>
              <a:rPr lang="ru-RU" sz="3700" b="1" i="1" strike="noStrike" spc="-1" dirty="0">
                <a:solidFill>
                  <a:srgbClr val="0E2D69"/>
                </a:solidFill>
                <a:latin typeface="Aptos" panose="020B0004020202020204" pitchFamily="34" charset="0"/>
              </a:rPr>
              <a:t>Тема 5. НЕРАВЕНСТВО И БЛАГОСОСТОЯНИЕ</a:t>
            </a:r>
            <a:endParaRPr lang="en-US" sz="37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/>
          </p:nvPr>
        </p:nvSpPr>
        <p:spPr bwMode="auto">
          <a:xfrm>
            <a:off x="2074680" y="1186920"/>
            <a:ext cx="3848040" cy="43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6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6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/>
          </p:nvPr>
        </p:nvSpPr>
        <p:spPr bwMode="auto">
          <a:xfrm>
            <a:off x="6259320" y="1172880"/>
            <a:ext cx="2277720" cy="46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2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2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586" name="PlaceHolder 4"/>
          <p:cNvSpPr>
            <a:spLocks noGrp="1"/>
          </p:cNvSpPr>
          <p:nvPr>
            <p:ph/>
          </p:nvPr>
        </p:nvSpPr>
        <p:spPr bwMode="auto">
          <a:xfrm>
            <a:off x="8786880" y="1172880"/>
            <a:ext cx="2217600" cy="46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2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Москва 2025</a:t>
            </a:r>
            <a:endParaRPr lang="en-US" sz="12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587" name="PlaceHolder 5"/>
          <p:cNvSpPr>
            <a:spLocks noGrp="1"/>
          </p:cNvSpPr>
          <p:nvPr>
            <p:ph/>
          </p:nvPr>
        </p:nvSpPr>
        <p:spPr bwMode="auto">
          <a:xfrm>
            <a:off x="840210" y="4824000"/>
            <a:ext cx="7812750" cy="65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600" b="0" strike="noStrike" spc="-1" dirty="0">
                <a:solidFill>
                  <a:srgbClr val="0E2D69"/>
                </a:solidFill>
                <a:latin typeface="Aptos" panose="020B0004020202020204" pitchFamily="34" charset="0"/>
              </a:rPr>
              <a:t>Приглашенный преподаватель департамента теоретической экономики</a:t>
            </a:r>
            <a:endParaRPr lang="en-US" sz="16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600" b="0" strike="noStrike" spc="-1" dirty="0">
                <a:solidFill>
                  <a:srgbClr val="0E2D69"/>
                </a:solidFill>
                <a:latin typeface="Aptos" panose="020B0004020202020204" pitchFamily="34" charset="0"/>
              </a:rPr>
              <a:t>Иванова Анна Павловна</a:t>
            </a:r>
            <a:endParaRPr lang="en-US" sz="16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591" name="TextBox 1"/>
          <p:cNvSpPr/>
          <p:nvPr/>
        </p:nvSpPr>
        <p:spPr bwMode="auto">
          <a:xfrm>
            <a:off x="5880770" y="2065377"/>
            <a:ext cx="6912768" cy="341850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54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Назовите </a:t>
            </a:r>
            <a:r>
              <a:rPr lang="ru-RU" sz="5400" b="1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три</a:t>
            </a:r>
            <a:r>
              <a:rPr lang="ru-RU" sz="54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 глобальные экономические проблемы </a:t>
            </a:r>
            <a:endParaRPr lang="en-US" sz="54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F8E634-182F-0FAB-F2D3-BE1A12917A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282" y="1916832"/>
            <a:ext cx="3672408" cy="37495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7" name="TextBox 4"/>
          <p:cNvSpPr/>
          <p:nvPr/>
        </p:nvSpPr>
        <p:spPr bwMode="auto">
          <a:xfrm>
            <a:off x="18971" y="1556792"/>
            <a:ext cx="12193588" cy="55617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0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Игра «УЛЬТИМАТУМ»</a:t>
            </a:r>
            <a:endParaRPr lang="en-US" sz="30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608" name="TextBox 5"/>
          <p:cNvSpPr/>
          <p:nvPr/>
        </p:nvSpPr>
        <p:spPr bwMode="auto">
          <a:xfrm>
            <a:off x="336154" y="2492896"/>
            <a:ext cx="11277720" cy="320626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601"/>
              </a:spcAft>
              <a:buFont typeface="+mj-lt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В игре участвуют два участника: участник 1, участник 2</a:t>
            </a:r>
            <a:endParaRPr lang="en-US" sz="18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601"/>
              </a:spcAft>
              <a:buFont typeface="+mj-lt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Участник 1 бесплатно получает 20 долларов, которые он должен разделить между собой и участником 2. Деление целыми суммами. </a:t>
            </a:r>
            <a:endParaRPr lang="en-US" sz="18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601"/>
              </a:spcAft>
              <a:buFont typeface="+mj-lt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Участник 1 озвучивает участнику 2 свое предложение, т.е. участник 1 говорит сколько денег он решает оставить себе, сколько денег предлагает забрать участнику 2.</a:t>
            </a:r>
            <a:endParaRPr lang="en-US" sz="18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601"/>
              </a:spcAft>
              <a:buFont typeface="+mj-lt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Между участниками согласования суммы деления не происходит!</a:t>
            </a:r>
            <a:endParaRPr lang="en-US" sz="18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601"/>
              </a:spcAft>
              <a:buFont typeface="+mj-lt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Участник 2 должен принять решение, согласен он с предложенным делением или нет.</a:t>
            </a:r>
            <a:endParaRPr lang="en-US" sz="18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10000"/>
              </a:lnSpc>
              <a:spcAft>
                <a:spcPts val="601"/>
              </a:spcAft>
              <a:buFont typeface="+mj-lt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Если второй участник согласен, то деньги делятся согласно предложению первого. Если же второй не соглашается с предложенным делением, то оба игрока лишаются денег. </a:t>
            </a:r>
            <a:endParaRPr lang="en-US" sz="18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EB58437-BC3D-EE89-6EA4-A69928EFBF2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" name="PlaceHolder 1">
            <a:extLst>
              <a:ext uri="{FF2B5EF4-FFF2-40B4-BE49-F238E27FC236}">
                <a16:creationId xmlns:a16="http://schemas.microsoft.com/office/drawing/2014/main" id="{B4AA1DE6-C7CC-5A9B-B707-B0BFEC261171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5" name="PlaceHolder 2">
            <a:extLst>
              <a:ext uri="{FF2B5EF4-FFF2-40B4-BE49-F238E27FC236}">
                <a16:creationId xmlns:a16="http://schemas.microsoft.com/office/drawing/2014/main" id="{84C52C43-67B3-2FA9-2BA0-5405438EF383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6" name="PlaceHolder 3">
            <a:extLst>
              <a:ext uri="{FF2B5EF4-FFF2-40B4-BE49-F238E27FC236}">
                <a16:creationId xmlns:a16="http://schemas.microsoft.com/office/drawing/2014/main" id="{00B97E90-0F37-74D1-939A-495E36C43EAC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7" name="TextBox 4">
            <a:extLst>
              <a:ext uri="{FF2B5EF4-FFF2-40B4-BE49-F238E27FC236}">
                <a16:creationId xmlns:a16="http://schemas.microsoft.com/office/drawing/2014/main" id="{7B20C258-5E1F-E601-15D7-27F4FB5543CB}"/>
              </a:ext>
            </a:extLst>
          </p:cNvPr>
          <p:cNvSpPr/>
          <p:nvPr/>
        </p:nvSpPr>
        <p:spPr bwMode="auto">
          <a:xfrm>
            <a:off x="18971" y="1556792"/>
            <a:ext cx="12193588" cy="55617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0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Игра «УЛЬТИМАТУМ»</a:t>
            </a:r>
            <a:endParaRPr lang="en-US" sz="30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608" name="TextBox 5">
            <a:extLst>
              <a:ext uri="{FF2B5EF4-FFF2-40B4-BE49-F238E27FC236}">
                <a16:creationId xmlns:a16="http://schemas.microsoft.com/office/drawing/2014/main" id="{5A292C24-2F35-66B8-6377-C8D7CE708F77}"/>
              </a:ext>
            </a:extLst>
          </p:cNvPr>
          <p:cNvSpPr/>
          <p:nvPr/>
        </p:nvSpPr>
        <p:spPr bwMode="auto">
          <a:xfrm>
            <a:off x="336154" y="2564904"/>
            <a:ext cx="11277720" cy="329539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spc="-1" dirty="0" err="1">
                <a:solidFill>
                  <a:srgbClr val="002060"/>
                </a:solidFill>
                <a:latin typeface="Aptos" panose="020B0004020202020204" pitchFamily="34" charset="0"/>
              </a:rPr>
              <a:t>Güth</a:t>
            </a:r>
            <a:r>
              <a:rPr lang="en-GB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, </a:t>
            </a:r>
            <a:r>
              <a:rPr lang="en-GB" sz="2000" spc="-1" dirty="0" err="1">
                <a:solidFill>
                  <a:srgbClr val="002060"/>
                </a:solidFill>
                <a:latin typeface="Aptos" panose="020B0004020202020204" pitchFamily="34" charset="0"/>
              </a:rPr>
              <a:t>Schmittberger</a:t>
            </a:r>
            <a:r>
              <a:rPr lang="en-GB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, Schwarze (1982)</a:t>
            </a:r>
            <a:endParaRPr lang="ru-RU" sz="2000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spc="-1" dirty="0">
                <a:solidFill>
                  <a:srgbClr val="002060"/>
                </a:solidFill>
                <a:latin typeface="Aptos" panose="020B0004020202020204" pitchFamily="34" charset="0"/>
              </a:rPr>
              <a:t>Основная гипотеза</a:t>
            </a:r>
            <a:r>
              <a:rPr lang="ru-RU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: игрок 1 должен предлагать минимум, игрок 2 - принимать любую положительную сумму.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spc="-1" dirty="0">
                <a:solidFill>
                  <a:srgbClr val="002060"/>
                </a:solidFill>
                <a:latin typeface="Aptos" panose="020B0004020202020204" pitchFamily="34" charset="0"/>
              </a:rPr>
              <a:t>Эмпирический результат</a:t>
            </a:r>
            <a:r>
              <a:rPr lang="ru-RU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: участники предлагали заметно больше минимума; модальным было предложение 50/50.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spc="-1" dirty="0">
                <a:solidFill>
                  <a:srgbClr val="002060"/>
                </a:solidFill>
                <a:latin typeface="Aptos" panose="020B0004020202020204" pitchFamily="34" charset="0"/>
              </a:rPr>
              <a:t>Среднее предложение </a:t>
            </a:r>
            <a:r>
              <a:rPr lang="ru-RU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второму игроку составляло примерно </a:t>
            </a:r>
            <a:r>
              <a:rPr lang="ru-RU" sz="2000" b="1" spc="-1" dirty="0">
                <a:solidFill>
                  <a:srgbClr val="002060"/>
                </a:solidFill>
                <a:latin typeface="Aptos" panose="020B0004020202020204" pitchFamily="34" charset="0"/>
              </a:rPr>
              <a:t>36.7%</a:t>
            </a:r>
            <a:r>
              <a:rPr lang="ru-RU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 от общей суммы.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spc="-1" dirty="0">
                <a:solidFill>
                  <a:srgbClr val="002060"/>
                </a:solidFill>
                <a:latin typeface="Aptos" panose="020B0004020202020204" pitchFamily="34" charset="0"/>
              </a:rPr>
              <a:t>Низкие предложения часто отвергались</a:t>
            </a:r>
            <a:r>
              <a:rPr lang="ru-RU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, хотя это лишало денег обоих игроков.</a:t>
            </a:r>
          </a:p>
          <a:p>
            <a:pPr algn="just"/>
            <a:endParaRPr lang="ru-RU" sz="2000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ctr"/>
            <a:r>
              <a:rPr lang="ru-RU" sz="2400" b="1" spc="-1" dirty="0">
                <a:solidFill>
                  <a:srgbClr val="002060"/>
                </a:solidFill>
                <a:latin typeface="Aptos" panose="020B0004020202020204" pitchFamily="34" charset="0"/>
              </a:rPr>
              <a:t>Поведение людей определяется не только денежной выгодой, но и нормами справедливости и готовностью наказывать несправедливость.</a:t>
            </a:r>
          </a:p>
        </p:txBody>
      </p:sp>
    </p:spTree>
    <p:extLst>
      <p:ext uri="{BB962C8B-B14F-4D97-AF65-F5344CB8AC3E}">
        <p14:creationId xmlns:p14="http://schemas.microsoft.com/office/powerpoint/2010/main" val="1194531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/>
          </p:nvPr>
        </p:nvSpPr>
        <p:spPr bwMode="auto">
          <a:xfrm>
            <a:off x="3541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3" name="TextBox 2"/>
          <p:cNvSpPr/>
          <p:nvPr/>
        </p:nvSpPr>
        <p:spPr bwMode="auto">
          <a:xfrm>
            <a:off x="980294" y="2276872"/>
            <a:ext cx="10233000" cy="286450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6000" b="1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Стремление к равенству как важная часть человеческой природы</a:t>
            </a:r>
            <a:endParaRPr lang="en-US" sz="6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Экономический факультет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12" name="TextBox 7"/>
          <p:cNvSpPr/>
          <p:nvPr/>
        </p:nvSpPr>
        <p:spPr bwMode="auto">
          <a:xfrm>
            <a:off x="0" y="1601413"/>
            <a:ext cx="12193588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i="1" strike="noStrike" spc="-1" dirty="0" err="1">
                <a:solidFill>
                  <a:srgbClr val="0F2C68"/>
                </a:solidFill>
                <a:latin typeface="Aptos" panose="020B0004020202020204" pitchFamily="34" charset="0"/>
              </a:rPr>
              <a:t>https</a:t>
            </a:r>
            <a:r>
              <a:rPr lang="ru-RU" sz="1800" b="0" i="1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://</a:t>
            </a:r>
            <a:r>
              <a:rPr lang="ru-RU" sz="1800" b="0" i="1" strike="noStrike" spc="-1" dirty="0" err="1">
                <a:solidFill>
                  <a:srgbClr val="0F2C68"/>
                </a:solidFill>
                <a:latin typeface="Aptos" panose="020B0004020202020204" pitchFamily="34" charset="0"/>
              </a:rPr>
              <a:t>www.youtube.com</a:t>
            </a:r>
            <a:r>
              <a:rPr lang="ru-RU" sz="1800" b="0" i="1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/</a:t>
            </a:r>
            <a:r>
              <a:rPr lang="ru-RU" sz="1800" b="0" i="1" strike="noStrike" spc="-1" dirty="0" err="1">
                <a:solidFill>
                  <a:srgbClr val="0F2C68"/>
                </a:solidFill>
                <a:latin typeface="Aptos" panose="020B0004020202020204" pitchFamily="34" charset="0"/>
              </a:rPr>
              <a:t>watch?v</a:t>
            </a:r>
            <a:r>
              <a:rPr lang="ru-RU" sz="1800" b="0" i="1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=cZ7LzE3u7Bw&amp;ab_channel=TED</a:t>
            </a:r>
            <a:endParaRPr lang="en-US" sz="1800" b="0" i="1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pic>
        <p:nvPicPr>
          <p:cNvPr id="613" name="Рисунок 9" descr="Изображение выглядит как снимок экрана, шаблон, круг, черно-белый&#10;&#10;Автоматически созданное описание"/>
          <p:cNvPicPr/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632298" y="2420888"/>
            <a:ext cx="3384000" cy="3384000"/>
          </a:xfrm>
          <a:prstGeom prst="rect">
            <a:avLst/>
          </a:prstGeom>
          <a:ln w="0">
            <a:noFill/>
          </a:ln>
        </p:spPr>
      </p:pic>
      <p:sp>
        <p:nvSpPr>
          <p:cNvPr id="614" name="TextBox 11"/>
          <p:cNvSpPr/>
          <p:nvPr/>
        </p:nvSpPr>
        <p:spPr bwMode="auto">
          <a:xfrm>
            <a:off x="5448722" y="2614226"/>
            <a:ext cx="6095880" cy="280294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Ричард </a:t>
            </a:r>
            <a:r>
              <a:rPr lang="ru-RU" sz="4400" b="1" strike="noStrike" spc="-1" dirty="0" err="1">
                <a:solidFill>
                  <a:srgbClr val="002060"/>
                </a:solidFill>
                <a:latin typeface="Aptos" panose="020B0004020202020204" pitchFamily="34" charset="0"/>
              </a:rPr>
              <a:t>Вилкинсон</a:t>
            </a:r>
            <a:r>
              <a:rPr lang="ru-RU" sz="44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: </a:t>
            </a:r>
            <a:endParaRPr lang="en-US" sz="44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4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Как экономическое неравенство вредит обществу</a:t>
            </a:r>
            <a:endParaRPr lang="en-US" sz="44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9D56F38-E3AB-8161-C306-C2D0682EBFA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" name="PlaceHolder 1">
            <a:extLst>
              <a:ext uri="{FF2B5EF4-FFF2-40B4-BE49-F238E27FC236}">
                <a16:creationId xmlns:a16="http://schemas.microsoft.com/office/drawing/2014/main" id="{3BBFB93F-E8DC-E800-899A-81B0C12B22FB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5" name="PlaceHolder 2">
            <a:extLst>
              <a:ext uri="{FF2B5EF4-FFF2-40B4-BE49-F238E27FC236}">
                <a16:creationId xmlns:a16="http://schemas.microsoft.com/office/drawing/2014/main" id="{90803564-782B-4627-E539-A1F135E3BB2C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6" name="PlaceHolder 3">
            <a:extLst>
              <a:ext uri="{FF2B5EF4-FFF2-40B4-BE49-F238E27FC236}">
                <a16:creationId xmlns:a16="http://schemas.microsoft.com/office/drawing/2014/main" id="{93CD66D1-87E1-A1F3-189F-E80EF44CC888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07" name="TextBox 4">
            <a:extLst>
              <a:ext uri="{FF2B5EF4-FFF2-40B4-BE49-F238E27FC236}">
                <a16:creationId xmlns:a16="http://schemas.microsoft.com/office/drawing/2014/main" id="{FD86954C-63B6-91EB-F853-0D739050581E}"/>
              </a:ext>
            </a:extLst>
          </p:cNvPr>
          <p:cNvSpPr/>
          <p:nvPr/>
        </p:nvSpPr>
        <p:spPr bwMode="auto">
          <a:xfrm>
            <a:off x="18971" y="1556792"/>
            <a:ext cx="12193588" cy="55617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0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Как экономическое неравенство вредит обществу</a:t>
            </a:r>
          </a:p>
        </p:txBody>
      </p:sp>
      <p:sp>
        <p:nvSpPr>
          <p:cNvPr id="608" name="TextBox 5">
            <a:extLst>
              <a:ext uri="{FF2B5EF4-FFF2-40B4-BE49-F238E27FC236}">
                <a16:creationId xmlns:a16="http://schemas.microsoft.com/office/drawing/2014/main" id="{46B8E575-B0B6-D4A0-F528-29883840FAB2}"/>
              </a:ext>
            </a:extLst>
          </p:cNvPr>
          <p:cNvSpPr/>
          <p:nvPr/>
        </p:nvSpPr>
        <p:spPr bwMode="auto">
          <a:xfrm>
            <a:off x="552178" y="2504917"/>
            <a:ext cx="11061696" cy="352622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Проблема не просто в бедности, а в </a:t>
            </a:r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разрыве между богатыми и бедными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.  </a:t>
            </a:r>
          </a:p>
          <a:p>
            <a:pPr algn="just"/>
            <a:endParaRPr lang="ru-RU" sz="5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Чем выше неравенство, тем хуже социальные показатели: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 ниже доверие, хуже здоровье, выше насилие, преступность и социальная напряженность.  </a:t>
            </a:r>
          </a:p>
          <a:p>
            <a:pPr algn="just"/>
            <a:endParaRPr lang="ru-RU" sz="5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Эффект касается не только бедных: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 от сильного неравенства страдает </a:t>
            </a:r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все общество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, включая средний класс и обеспеченные группы.</a:t>
            </a:r>
          </a:p>
          <a:p>
            <a:pPr algn="just"/>
            <a:endParaRPr lang="ru-RU" sz="5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В богатых странах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 дальнейший рост среднего дохода уже не так важен, как </a:t>
            </a:r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то, насколько равномерно распределены ресурсы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.  </a:t>
            </a:r>
          </a:p>
          <a:p>
            <a:pPr algn="just"/>
            <a:endParaRPr lang="ru-RU" sz="20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ctr"/>
            <a:r>
              <a:rPr lang="ru-RU" sz="2400" b="1" dirty="0">
                <a:solidFill>
                  <a:srgbClr val="002060"/>
                </a:solidFill>
                <a:latin typeface="Aptos" panose="020B0004020202020204" pitchFamily="34" charset="0"/>
              </a:rPr>
              <a:t>Снижение экономического неравенства улучшает не только положение бедных, но и социальное благополучие общества в целом.  </a:t>
            </a:r>
          </a:p>
        </p:txBody>
      </p:sp>
    </p:spTree>
    <p:extLst>
      <p:ext uri="{BB962C8B-B14F-4D97-AF65-F5344CB8AC3E}">
        <p14:creationId xmlns:p14="http://schemas.microsoft.com/office/powerpoint/2010/main" val="33396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Экономический факультет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 bwMode="auto">
          <a:xfrm>
            <a:off x="1142859" y="2996952"/>
            <a:ext cx="9907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7200" b="1" spc="-1" dirty="0">
                <a:solidFill>
                  <a:srgbClr val="113379"/>
                </a:solidFill>
                <a:latin typeface="Aptos" panose="020B0004020202020204" pitchFamily="34" charset="0"/>
              </a:rPr>
              <a:t>ДОХОД =</a:t>
            </a:r>
            <a:r>
              <a:rPr lang="en-GB" sz="7200" b="1" spc="-1" dirty="0">
                <a:solidFill>
                  <a:srgbClr val="113379"/>
                </a:solidFill>
                <a:latin typeface="Aptos" panose="020B0004020202020204" pitchFamily="34" charset="0"/>
              </a:rPr>
              <a:t> </a:t>
            </a:r>
            <a:r>
              <a:rPr lang="ru-RU" sz="7200" b="1" spc="-1" dirty="0">
                <a:solidFill>
                  <a:srgbClr val="113379"/>
                </a:solidFill>
                <a:latin typeface="Aptos" panose="020B0004020202020204" pitchFamily="34" charset="0"/>
              </a:rPr>
              <a:t>БОГАТСТВО</a:t>
            </a:r>
            <a:r>
              <a:rPr lang="en-GB" sz="7200" b="1" spc="-1" dirty="0">
                <a:solidFill>
                  <a:srgbClr val="113379"/>
                </a:solidFill>
                <a:latin typeface="Aptos" panose="020B0004020202020204" pitchFamily="34" charset="0"/>
              </a:rPr>
              <a:t>?</a:t>
            </a: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68E7F3F-A720-0FEF-1B32-23CDBF67BE3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" name="PlaceHolder 1">
            <a:extLst>
              <a:ext uri="{FF2B5EF4-FFF2-40B4-BE49-F238E27FC236}">
                <a16:creationId xmlns:a16="http://schemas.microsoft.com/office/drawing/2014/main" id="{04B3B052-5F4F-2CBC-5FE6-736D6F83B695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10" name="PlaceHolder 2">
            <a:extLst>
              <a:ext uri="{FF2B5EF4-FFF2-40B4-BE49-F238E27FC236}">
                <a16:creationId xmlns:a16="http://schemas.microsoft.com/office/drawing/2014/main" id="{44463E01-17F2-78E0-70AF-A0322F69D3C5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Экономический факультет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11" name="PlaceHolder 3">
            <a:extLst>
              <a:ext uri="{FF2B5EF4-FFF2-40B4-BE49-F238E27FC236}">
                <a16:creationId xmlns:a16="http://schemas.microsoft.com/office/drawing/2014/main" id="{C24707CF-7E43-2386-8438-0B2DC11AF5CD}"/>
              </a:ext>
            </a:extLst>
          </p:cNvPr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5789E5-4083-A770-B3F0-146B3F6BCA2F}"/>
              </a:ext>
            </a:extLst>
          </p:cNvPr>
          <p:cNvSpPr txBox="1"/>
          <p:nvPr/>
        </p:nvSpPr>
        <p:spPr bwMode="auto">
          <a:xfrm>
            <a:off x="1142859" y="2996952"/>
            <a:ext cx="9907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7200" b="1" spc="-1" dirty="0">
                <a:solidFill>
                  <a:srgbClr val="113379"/>
                </a:solidFill>
                <a:latin typeface="Aptos" panose="020B0004020202020204" pitchFamily="34" charset="0"/>
              </a:rPr>
              <a:t>ДОХОД ≠ БОГАТСТВО</a:t>
            </a:r>
            <a:endParaRPr lang="ru-RU" sz="7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358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57" name="TextBox 6"/>
          <p:cNvSpPr/>
          <p:nvPr/>
        </p:nvSpPr>
        <p:spPr bwMode="auto">
          <a:xfrm>
            <a:off x="477748" y="1312419"/>
            <a:ext cx="5475030" cy="155645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9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Доход </a:t>
            </a:r>
            <a:r>
              <a:rPr lang="en-GB" sz="190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-</a:t>
            </a:r>
            <a:r>
              <a:rPr lang="ru-RU" sz="190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это регулярные денежные поступления, получаемые домохозяйством, фирмой или иным экономическим субъектом в результате труда, предпринимательской деятельности, владения активами или трансфертов.</a:t>
            </a:r>
          </a:p>
        </p:txBody>
      </p:sp>
      <p:sp>
        <p:nvSpPr>
          <p:cNvPr id="658" name="TextBox 12"/>
          <p:cNvSpPr/>
          <p:nvPr/>
        </p:nvSpPr>
        <p:spPr bwMode="auto">
          <a:xfrm>
            <a:off x="6096794" y="1312419"/>
            <a:ext cx="5619046" cy="12640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9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Богатство </a:t>
            </a:r>
            <a:r>
              <a:rPr lang="en-GB" sz="1900" spc="-1" dirty="0">
                <a:solidFill>
                  <a:srgbClr val="002060"/>
                </a:solidFill>
                <a:latin typeface="Aptos" panose="020B0004020202020204" pitchFamily="34" charset="0"/>
              </a:rPr>
              <a:t>-</a:t>
            </a:r>
            <a:r>
              <a:rPr lang="ru-RU" sz="190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это совокупная рыночная стоимость активов, принадлежащих экономическому субъекту и накопленных им на определенный момент времени.</a:t>
            </a:r>
          </a:p>
        </p:txBody>
      </p:sp>
      <p:graphicFrame>
        <p:nvGraphicFramePr>
          <p:cNvPr id="659" name="Таблица 6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7470976"/>
              </p:ext>
            </p:extLst>
          </p:nvPr>
        </p:nvGraphicFramePr>
        <p:xfrm>
          <a:off x="612720" y="3021120"/>
          <a:ext cx="11103120" cy="3413360"/>
        </p:xfrm>
        <a:graphic>
          <a:graphicData uri="http://schemas.openxmlformats.org/drawingml/2006/table">
            <a:tbl>
              <a:tblPr/>
              <a:tblGrid>
                <a:gridCol w="2819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48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Основа для сравнения</a:t>
                      </a:r>
                      <a:endParaRPr lang="en-US" sz="1800" b="1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Доход</a:t>
                      </a:r>
                      <a:endParaRPr lang="en-US" sz="1800" b="1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Богатство</a:t>
                      </a:r>
                      <a:endParaRPr lang="en-US" sz="1800" b="1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488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Смысл понятия</a:t>
                      </a:r>
                      <a:endParaRPr lang="en-US" sz="1800" b="1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Денежные поступления, получаемые за определенный период</a:t>
                      </a: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Совокупность активов, накопленных на определенный момент времени</a:t>
                      </a: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48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>
                          <a:solidFill>
                            <a:srgbClr val="0F2C68"/>
                          </a:solidFill>
                          <a:latin typeface="Calibri"/>
                        </a:rPr>
                        <a:t>Что это?</a:t>
                      </a:r>
                      <a:endParaRPr lang="en-US" sz="1800" b="1" strike="noStrike" spc="-1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Поток денежных средств</a:t>
                      </a:r>
                      <a:endParaRPr lang="en-US" sz="1800" b="0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>
                          <a:solidFill>
                            <a:srgbClr val="0F2C68"/>
                          </a:solidFill>
                          <a:latin typeface="Calibri"/>
                        </a:rPr>
                        <a:t>Запас активов</a:t>
                      </a:r>
                      <a:endParaRPr lang="en-US" sz="1800" b="0" strike="noStrike" spc="-1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632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Временное измерение</a:t>
                      </a:r>
                      <a:endParaRPr lang="en-US" sz="1800" b="1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Формируется и учитывается за период</a:t>
                      </a: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>
                          <a:solidFill>
                            <a:srgbClr val="0F2C68"/>
                          </a:solidFill>
                          <a:latin typeface="Calibri"/>
                        </a:rPr>
                        <a:t>Накапливется</a:t>
                      </a: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 с течением времени</a:t>
                      </a: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80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Примеры</a:t>
                      </a:r>
                      <a:endParaRPr lang="en-US" sz="1800" b="1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Заработная плата, прибыль, проценты, рента</a:t>
                      </a: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Недвижимость, сбережения</a:t>
                      </a: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760508"/>
                  </a:ext>
                </a:extLst>
              </a:tr>
              <a:tr h="465480"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1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Налог взимается</a:t>
                      </a:r>
                      <a:endParaRPr lang="en-US" sz="1800" b="1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>
                          <a:solidFill>
                            <a:srgbClr val="0F2C68"/>
                          </a:solidFill>
                          <a:latin typeface="Calibri"/>
                        </a:rPr>
                        <a:t>Подоходный налог</a:t>
                      </a:r>
                      <a:endParaRPr lang="en-US" sz="1800" b="0" strike="noStrike" spc="-1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lang="ru-RU" sz="1800" b="0" strike="noStrike" spc="-1" dirty="0">
                          <a:solidFill>
                            <a:srgbClr val="0F2C68"/>
                          </a:solidFill>
                          <a:latin typeface="Calibri"/>
                        </a:rPr>
                        <a:t>Налог на имущество</a:t>
                      </a:r>
                      <a:endParaRPr lang="en-US" sz="1800" b="0" strike="noStrike" spc="-1" dirty="0">
                        <a:solidFill>
                          <a:srgbClr val="0F2C68"/>
                        </a:solidFill>
                        <a:latin typeface="Calibri"/>
                      </a:endParaRPr>
                    </a:p>
                  </a:txBody>
                  <a:tcPr marL="95400" marR="9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480170" y="2921168"/>
            <a:ext cx="11233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Задача.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 В стране </a:t>
            </a:r>
            <a:r>
              <a:rPr lang="ru-RU" sz="2000" dirty="0" err="1">
                <a:solidFill>
                  <a:srgbClr val="002060"/>
                </a:solidFill>
                <a:latin typeface="Aptos" panose="020B0004020202020204" pitchFamily="34" charset="0"/>
              </a:rPr>
              <a:t>Креативия</a:t>
            </a:r>
            <a:r>
              <a:rPr lang="ru-RU" sz="2000" dirty="0">
                <a:solidFill>
                  <a:srgbClr val="002060"/>
                </a:solidFill>
                <a:latin typeface="Aptos" panose="020B0004020202020204" pitchFamily="34" charset="0"/>
              </a:rPr>
              <a:t> прогрессивная система налогообложения, где доходы до $50,000 облагаются налогом в 20%, а доходы свыше этой суммы - налогом в 30%. Если у вас доход $60,000, сколько налогов вы заплатите?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64" name="TextBox 6"/>
          <p:cNvSpPr/>
          <p:nvPr/>
        </p:nvSpPr>
        <p:spPr bwMode="auto">
          <a:xfrm>
            <a:off x="6369929" y="3151959"/>
            <a:ext cx="4969080" cy="10793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3200" b="1" strike="noStrike" spc="-1" dirty="0">
                <a:solidFill>
                  <a:srgbClr val="113379"/>
                </a:solidFill>
                <a:latin typeface="Aptos" panose="020B0004020202020204" pitchFamily="34" charset="0"/>
              </a:rPr>
              <a:t>База данных о мировом неравенстве (</a:t>
            </a:r>
            <a:r>
              <a:rPr lang="ru-RU" sz="3200" b="1" strike="noStrike" spc="-1" dirty="0" err="1">
                <a:solidFill>
                  <a:srgbClr val="113379"/>
                </a:solidFill>
                <a:latin typeface="Aptos" panose="020B0004020202020204" pitchFamily="34" charset="0"/>
              </a:rPr>
              <a:t>WID.world</a:t>
            </a:r>
            <a:r>
              <a:rPr lang="ru-RU" sz="3200" b="1" strike="noStrike" spc="-1" dirty="0">
                <a:solidFill>
                  <a:srgbClr val="113379"/>
                </a:solidFill>
                <a:latin typeface="Aptos" panose="020B0004020202020204" pitchFamily="34" charset="0"/>
              </a:rPr>
              <a:t>)</a:t>
            </a:r>
            <a:endParaRPr lang="en-US" sz="32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233A95-B3E0-C364-EC9D-FE7D52E1F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875" y="1196752"/>
            <a:ext cx="3795894" cy="5340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A9632D-CC33-C972-8B87-361154959427}"/>
              </a:ext>
            </a:extLst>
          </p:cNvPr>
          <p:cNvSpPr txBox="1"/>
          <p:nvPr/>
        </p:nvSpPr>
        <p:spPr>
          <a:xfrm>
            <a:off x="6656114" y="4365104"/>
            <a:ext cx="4396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RU" sz="1200" i="1" dirty="0">
                <a:solidFill>
                  <a:srgbClr val="002060"/>
                </a:solidFill>
                <a:latin typeface="Aptos" panose="020B0004020202020204" pitchFamily="34" charset="0"/>
              </a:rPr>
              <a:t>https://wir2026.wid.world/www-site/uploads/2025/12/WIR26_Executive_Summary_Russian.pdf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HSE Sans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72" name="TextBox 7"/>
          <p:cNvSpPr/>
          <p:nvPr/>
        </p:nvSpPr>
        <p:spPr bwMode="auto">
          <a:xfrm>
            <a:off x="3211560" y="6169410"/>
            <a:ext cx="6096240" cy="2791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/>
            <a:r>
              <a:rPr lang="en-GB" sz="1200" i="1" dirty="0">
                <a:solidFill>
                  <a:srgbClr val="002060"/>
                </a:solidFill>
                <a:latin typeface="Aptos" panose="020B0004020202020204" pitchFamily="34" charset="0"/>
              </a:rPr>
              <a:t>wir2026.wid.world/methodology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183060-26AF-8AEE-9634-082AA9197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94" y="1534307"/>
            <a:ext cx="10441160" cy="44149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HSE Sans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08D67-930F-FB3B-2081-B416094C41E4}"/>
              </a:ext>
            </a:extLst>
          </p:cNvPr>
          <p:cNvSpPr txBox="1"/>
          <p:nvPr/>
        </p:nvSpPr>
        <p:spPr>
          <a:xfrm>
            <a:off x="701565" y="1484784"/>
            <a:ext cx="104411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000" b="1" dirty="0"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Доля личного богатства, принадлежащего 0,001% самых богатых взрослых, выросла с примерно 3,8% от общего</a:t>
            </a:r>
            <a:r>
              <a:rPr lang="en-GB" sz="2000" b="1" dirty="0"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effectLst/>
                <a:latin typeface="Aptos" panose="020B0004020202020204" pitchFamily="34" charset="0"/>
              </a:rPr>
              <a:t>богатства в 1995 году до почти 6,1% в 2025 году.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9B895E-7E15-4812-07B3-D7BF5D072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5"/>
          <a:stretch>
            <a:fillRect/>
          </a:stretch>
        </p:blipFill>
        <p:spPr>
          <a:xfrm>
            <a:off x="1313632" y="2420888"/>
            <a:ext cx="9217024" cy="40543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HSE Sans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80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D6F6D2-01F3-F6D0-CBA4-7B5D18DF3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2"/>
          <a:stretch>
            <a:fillRect/>
          </a:stretch>
        </p:blipFill>
        <p:spPr>
          <a:xfrm>
            <a:off x="1776313" y="2559469"/>
            <a:ext cx="8280920" cy="3965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0F9137-86B4-0559-7C54-3552EBEDF6F7}"/>
              </a:ext>
            </a:extLst>
          </p:cNvPr>
          <p:cNvSpPr txBox="1"/>
          <p:nvPr/>
        </p:nvSpPr>
        <p:spPr bwMode="auto">
          <a:xfrm>
            <a:off x="696194" y="1352962"/>
            <a:ext cx="104411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Во всех странах женщины постоянно получают более</a:t>
            </a:r>
          </a:p>
          <a:p>
            <a:pPr algn="ctr"/>
            <a:r>
              <a:rPr lang="ru-RU" sz="2000" b="1" dirty="0">
                <a:solidFill>
                  <a:srgbClr val="002060"/>
                </a:solidFill>
                <a:latin typeface="Aptos" panose="020B0004020202020204" pitchFamily="34" charset="0"/>
              </a:rPr>
              <a:t>низкий трудовой доход, чем мужчины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AC07C-0F9A-C56D-F889-78F04344E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70" r="8870" b="93415"/>
          <a:stretch>
            <a:fillRect/>
          </a:stretch>
        </p:blipFill>
        <p:spPr bwMode="auto">
          <a:xfrm>
            <a:off x="3576514" y="2204864"/>
            <a:ext cx="4824536" cy="2880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pic>
        <p:nvPicPr>
          <p:cNvPr id="688" name="Рисунок 8"/>
          <p:cNvPicPr/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142640" y="1700808"/>
            <a:ext cx="4286160" cy="4286160"/>
          </a:xfrm>
          <a:prstGeom prst="rect">
            <a:avLst/>
          </a:prstGeom>
          <a:ln w="0">
            <a:noFill/>
          </a:ln>
        </p:spPr>
      </p:pic>
      <p:sp>
        <p:nvSpPr>
          <p:cNvPr id="689" name="TextBox 10"/>
          <p:cNvSpPr/>
          <p:nvPr/>
        </p:nvSpPr>
        <p:spPr bwMode="auto">
          <a:xfrm>
            <a:off x="5592738" y="3284984"/>
            <a:ext cx="5814918" cy="1312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000" b="0" strike="noStrike" spc="-1" dirty="0" err="1">
                <a:solidFill>
                  <a:srgbClr val="0F2C68"/>
                </a:solidFill>
                <a:latin typeface="Aptos" panose="020B0004020202020204" pitchFamily="34" charset="0"/>
              </a:rPr>
              <a:t>https</a:t>
            </a:r>
            <a:r>
              <a:rPr lang="ru-RU" sz="40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://</a:t>
            </a:r>
            <a:r>
              <a:rPr lang="ru-RU" sz="4000" b="0" strike="noStrike" spc="-1" dirty="0" err="1">
                <a:solidFill>
                  <a:srgbClr val="0F2C68"/>
                </a:solidFill>
                <a:latin typeface="Aptos" panose="020B0004020202020204" pitchFamily="34" charset="0"/>
              </a:rPr>
              <a:t>wid.world</a:t>
            </a:r>
            <a:r>
              <a:rPr lang="ru-RU" sz="40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/</a:t>
            </a:r>
            <a:r>
              <a:rPr lang="ru-RU" sz="4000" b="0" strike="noStrike" spc="-1" dirty="0" err="1">
                <a:solidFill>
                  <a:srgbClr val="0F2C68"/>
                </a:solidFill>
                <a:latin typeface="Aptos" panose="020B0004020202020204" pitchFamily="34" charset="0"/>
              </a:rPr>
              <a:t>income-comparator</a:t>
            </a:r>
            <a:r>
              <a:rPr lang="ru-RU" sz="40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/</a:t>
            </a:r>
            <a:endParaRPr lang="en-US" sz="4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93" name="TextBox 5"/>
          <p:cNvSpPr/>
          <p:nvPr/>
        </p:nvSpPr>
        <p:spPr bwMode="auto">
          <a:xfrm>
            <a:off x="508154" y="1320839"/>
            <a:ext cx="11177280" cy="498816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4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Оценкой уровня развития стран занимается Организация Объединенных Наций (ООН). </a:t>
            </a:r>
            <a:endParaRPr lang="en-US" sz="24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К беднейшим государствам она применяет термин «Наименее развитые страны» (НРС).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GB" sz="500" b="0" strike="noStrike" spc="-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Таковых насчитывается 48, по регионам планеты они распределены следующим образом: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674688" indent="-217488">
              <a:lnSpc>
                <a:spcPct val="10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4794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Африка </a:t>
            </a:r>
            <a:r>
              <a:rPr lang="en-GB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–</a:t>
            </a: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34</a:t>
            </a:r>
            <a:r>
              <a:rPr lang="en-GB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;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674688" indent="-217488">
              <a:lnSpc>
                <a:spcPct val="10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4794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Азия </a:t>
            </a:r>
            <a:r>
              <a:rPr lang="en-GB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–</a:t>
            </a: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14</a:t>
            </a:r>
            <a:r>
              <a:rPr lang="en-GB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;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674688" indent="-217488">
              <a:lnSpc>
                <a:spcPct val="10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479425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Латинская Америка и Карибский бассейн </a:t>
            </a:r>
            <a:r>
              <a:rPr lang="en-GB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-</a:t>
            </a: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1.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  <a:buClr>
                <a:srgbClr val="002060"/>
              </a:buCl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На территории НРС проживает 11% населения планеты. Список формируется из трех критериев, два из которых состоят из множества компонентов и имеют сложную формулу: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5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674688" indent="-228600">
              <a:lnSpc>
                <a:spcPct val="10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i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ВВП на душу населения</a:t>
            </a:r>
            <a:endParaRPr lang="en-US" sz="2000" b="0" i="1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674688" indent="-228600">
              <a:lnSpc>
                <a:spcPct val="10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i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Расширенный индекс реального качества жизни </a:t>
            </a: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(высчитывается из качества питания, уровня образования и грамотности, состояния здоровья населения)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marL="674688" indent="-228600">
              <a:lnSpc>
                <a:spcPct val="10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i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Индекс экономической уязвимости</a:t>
            </a:r>
            <a:endParaRPr lang="en-US" sz="2000" b="0" i="1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919089"/>
              </p:ext>
            </p:extLst>
          </p:nvPr>
        </p:nvGraphicFramePr>
        <p:xfrm>
          <a:off x="641958" y="1743565"/>
          <a:ext cx="10603555" cy="4474488"/>
        </p:xfrm>
        <a:graphic>
          <a:graphicData uri="http://schemas.openxmlformats.org/drawingml/2006/table">
            <a:tbl>
              <a:tblPr/>
              <a:tblGrid>
                <a:gridCol w="479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5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81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1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№</a:t>
                      </a:r>
                      <a:endParaRPr lang="ru-RU" sz="1800" b="0" dirty="0">
                        <a:solidFill>
                          <a:schemeClr val="tx2"/>
                        </a:solidFill>
                        <a:latin typeface="Aptos" panose="020B0004020202020204" pitchFamily="34" charset="0"/>
                        <a:cs typeface="Calibri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1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Название страны</a:t>
                      </a:r>
                      <a:endParaRPr lang="ru-RU" sz="1800" b="0" dirty="0">
                        <a:solidFill>
                          <a:schemeClr val="tx2"/>
                        </a:solidFill>
                        <a:latin typeface="Aptos" panose="020B0004020202020204" pitchFamily="34" charset="0"/>
                        <a:cs typeface="Calibri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1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ВВП на душу</a:t>
                      </a:r>
                      <a:endParaRPr lang="en-GB" sz="1800" b="1" dirty="0">
                        <a:solidFill>
                          <a:schemeClr val="tx2"/>
                        </a:solidFill>
                        <a:latin typeface="Aptos" panose="020B0004020202020204" pitchFamily="34" charset="0"/>
                        <a:cs typeface="Calibri"/>
                      </a:endParaRPr>
                    </a:p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1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населения</a:t>
                      </a:r>
                      <a:endParaRPr lang="ru-RU" sz="1800" b="0" dirty="0">
                        <a:solidFill>
                          <a:schemeClr val="tx2"/>
                        </a:solidFill>
                        <a:latin typeface="Aptos" panose="020B0004020202020204" pitchFamily="34" charset="0"/>
                        <a:cs typeface="Calibri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1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Континент</a:t>
                      </a:r>
                      <a:endParaRPr lang="ru-RU" sz="1800" b="0">
                        <a:solidFill>
                          <a:schemeClr val="tx2"/>
                        </a:solidFill>
                        <a:latin typeface="Aptos" panose="020B0004020202020204" pitchFamily="34" charset="0"/>
                        <a:cs typeface="Calibri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4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1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Южный Судан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$455.16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608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2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Бурунди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$915.88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97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3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Центральноафриканская Республика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$1,200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539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4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Демократическая Республика Конго (ДРК)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$1,550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454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5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Мозамбик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$1,650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454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6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Нигер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$1,670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454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7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Малави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$1,710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454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8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Либерия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$1,880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454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9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Мадагаскар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$1,980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Африка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EEEEE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3539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10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DBDB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Йемен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DBDB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$2</a:t>
                      </a:r>
                      <a:r>
                        <a:rPr lang="en-GB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,</a:t>
                      </a: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000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DBDBD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buNone/>
                        <a:defRPr/>
                      </a:pPr>
                      <a:r>
                        <a:rPr lang="ru-RU" sz="1800" b="0" dirty="0">
                          <a:solidFill>
                            <a:schemeClr val="tx2"/>
                          </a:solidFill>
                          <a:latin typeface="Aptos" panose="020B0004020202020204" pitchFamily="34" charset="0"/>
                          <a:cs typeface="Calibri"/>
                        </a:rPr>
                        <a:t>Азия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53862" marR="53862" marT="53862" marB="53862" anchor="ctr">
                    <a:lnL w="9525" algn="ctr">
                      <a:solidFill>
                        <a:srgbClr val="DBDBDB"/>
                      </a:solidFill>
                    </a:lnL>
                    <a:lnR w="9525" algn="ctr">
                      <a:solidFill>
                        <a:srgbClr val="DBDBDB"/>
                      </a:solidFill>
                    </a:lnR>
                    <a:lnT w="9525" algn="ctr">
                      <a:solidFill>
                        <a:srgbClr val="EEEEEE"/>
                      </a:solidFill>
                    </a:lnT>
                    <a:lnB w="9525" algn="ctr">
                      <a:solidFill>
                        <a:srgbClr val="DBDBD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641958" y="1237666"/>
            <a:ext cx="10135356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  <a:defRPr/>
            </a:pPr>
            <a:r>
              <a:rPr lang="ru-RU" b="1">
                <a:solidFill>
                  <a:schemeClr val="tx2"/>
                </a:solidFill>
                <a:latin typeface="Aptos" panose="020B0004020202020204" pitchFamily="34" charset="0"/>
                <a:cs typeface="Calibri"/>
              </a:rPr>
              <a:t>Беднейшие страны мира в 2024 году, основанные на ВВП на душу населения: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4243456" y="6309000"/>
            <a:ext cx="40324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900" dirty="0">
                <a:solidFill>
                  <a:schemeClr val="tx2"/>
                </a:solidFill>
                <a:latin typeface="Aptos" panose="020B0004020202020204" pitchFamily="34" charset="0"/>
                <a:cs typeface="Calibri"/>
              </a:rPr>
              <a:t>Источник: Международный валютный фонд (МВФ)</a:t>
            </a:r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06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08" name="TextBox 5"/>
          <p:cNvSpPr/>
          <p:nvPr/>
        </p:nvSpPr>
        <p:spPr bwMode="auto">
          <a:xfrm>
            <a:off x="691016" y="1772816"/>
            <a:ext cx="10811556" cy="440338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Коэффициент Джини </a:t>
            </a:r>
            <a:r>
              <a:rPr lang="en-GB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-</a:t>
            </a: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 статистический показатель, который используется для оценки экономического неравенства, степени расслоения общества данной страны или региона по какому-либо изучаемому признаку. </a:t>
            </a:r>
            <a:endParaRPr lang="en-US" sz="2000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Коэффициент Джини изменяется от 0 до 1. Чем больше его значение отклоняется от нуля и приближается к единице, тем в большей степени доходы сконцентрированы в руках отдельных групп населения.</a:t>
            </a:r>
            <a:endParaRPr lang="en-US" sz="2000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Кривая Лоренца </a:t>
            </a:r>
            <a:r>
              <a:rPr lang="en-GB" sz="2000" spc="-1" dirty="0">
                <a:solidFill>
                  <a:srgbClr val="002060"/>
                </a:solidFill>
                <a:latin typeface="Aptos" panose="020B0004020202020204" pitchFamily="34" charset="0"/>
              </a:rPr>
              <a:t>-</a:t>
            </a: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графическое представление распределения доходов или богатства среди населения. </a:t>
            </a:r>
            <a:endParaRPr lang="en-US" sz="2000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15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Эта наглядность делает кривую Лоренца удобным инструментом для определения уровня неравенства по любой группе населения. 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10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12" name="TextBox 5"/>
          <p:cNvSpPr/>
          <p:nvPr/>
        </p:nvSpPr>
        <p:spPr bwMode="auto">
          <a:xfrm>
            <a:off x="7087499" y="2870371"/>
            <a:ext cx="4627800" cy="266957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Кривая Лоренца </a:t>
            </a:r>
            <a:r>
              <a:rPr lang="en-GB" spc="-1" dirty="0">
                <a:solidFill>
                  <a:srgbClr val="002060"/>
                </a:solidFill>
                <a:latin typeface="Aptos" panose="020B0004020202020204" pitchFamily="34" charset="0"/>
              </a:rPr>
              <a:t>-</a:t>
            </a: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графическое представление распределения доходов или богатства среди населения. </a:t>
            </a:r>
            <a:endParaRPr lang="en-US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0000"/>
              </a:lnSpc>
              <a:spcAft>
                <a:spcPts val="150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1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Горизонтальная ось </a:t>
            </a: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- доля населения, а по вертикальной </a:t>
            </a:r>
            <a:r>
              <a:rPr lang="en-GB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-</a:t>
            </a:r>
            <a:r>
              <a:rPr lang="ru-RU" sz="18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 проценты от общего дохода или богатства. Каждая точка кривой отражает соотношение доли людей и их доходов</a:t>
            </a:r>
            <a:endParaRPr lang="en-US" sz="18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pic>
        <p:nvPicPr>
          <p:cNvPr id="713" name="Рисунок 6" descr="Изображение выглядит как текст, снимок экрана, линия, График&#10;&#10;Автоматически созданное описание"/>
          <p:cNvPicPr/>
          <p:nvPr/>
        </p:nvPicPr>
        <p:blipFill>
          <a:blip r:embed="rId2"/>
          <a:stretch/>
        </p:blipFill>
        <p:spPr bwMode="auto">
          <a:xfrm>
            <a:off x="419040" y="2101680"/>
            <a:ext cx="6404039" cy="4206960"/>
          </a:xfrm>
          <a:prstGeom prst="rect">
            <a:avLst/>
          </a:prstGeom>
          <a:ln w="0">
            <a:noFill/>
          </a:ln>
        </p:spPr>
      </p:pic>
      <p:sp>
        <p:nvSpPr>
          <p:cNvPr id="714" name="TextBox 7"/>
          <p:cNvSpPr/>
          <p:nvPr/>
        </p:nvSpPr>
        <p:spPr bwMode="auto">
          <a:xfrm>
            <a:off x="388800" y="1231920"/>
            <a:ext cx="8802720" cy="520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800" b="1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КАК ИЗМЕРИТЬ НЕРАВЕНСТВО?</a:t>
            </a:r>
            <a:endParaRPr lang="en-US" sz="28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15" name="TextBox 4"/>
          <p:cNvSpPr/>
          <p:nvPr/>
        </p:nvSpPr>
        <p:spPr bwMode="auto">
          <a:xfrm>
            <a:off x="2997360" y="4390920"/>
            <a:ext cx="46188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S</a:t>
            </a:r>
            <a:r>
              <a:rPr lang="en-US" sz="14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16" name="TextBox 8"/>
          <p:cNvSpPr/>
          <p:nvPr/>
        </p:nvSpPr>
        <p:spPr bwMode="auto">
          <a:xfrm>
            <a:off x="3905280" y="5022720"/>
            <a:ext cx="46188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S</a:t>
            </a:r>
            <a:r>
              <a:rPr lang="en-US" sz="14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20" name="TextBox 5"/>
          <p:cNvSpPr/>
          <p:nvPr/>
        </p:nvSpPr>
        <p:spPr bwMode="auto">
          <a:xfrm>
            <a:off x="480170" y="2348880"/>
            <a:ext cx="10972800" cy="255672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Пусть в некотором царстве бедных было 70%,  </a:t>
            </a:r>
            <a:endParaRPr lang="en-US" sz="4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4000" b="0" strike="noStrike" spc="-1" dirty="0">
                <a:solidFill>
                  <a:srgbClr val="002060"/>
                </a:solidFill>
                <a:latin typeface="Aptos" panose="020B0004020202020204" pitchFamily="34" charset="0"/>
              </a:rPr>
              <a:t>и они владели 40% совокупного дохода, а богатых – 30%, и они владели оставшимися 60%. Найти коэффициент Джини.</a:t>
            </a:r>
            <a:endParaRPr lang="en-US" sz="4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HSE Sans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24" name="TextBox 10"/>
          <p:cNvSpPr/>
          <p:nvPr/>
        </p:nvSpPr>
        <p:spPr bwMode="auto">
          <a:xfrm>
            <a:off x="3552840" y="5827680"/>
            <a:ext cx="1976400" cy="246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HSE Sans"/>
              </a:rPr>
              <a:t>Доля населения, %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25" name="TextBox 49"/>
          <p:cNvSpPr/>
          <p:nvPr/>
        </p:nvSpPr>
        <p:spPr bwMode="auto">
          <a:xfrm>
            <a:off x="4789440" y="2135160"/>
            <a:ext cx="3260880" cy="646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1" strike="noStrike" spc="-1">
                <a:solidFill>
                  <a:srgbClr val="002060"/>
                </a:solidFill>
                <a:latin typeface="YS Text"/>
              </a:rPr>
              <a:t>G =S1</a:t>
            </a:r>
            <a:r>
              <a:rPr lang="ru-RU" sz="1800" b="1" strike="noStrike" spc="-1">
                <a:solidFill>
                  <a:srgbClr val="002060"/>
                </a:solidFill>
                <a:latin typeface="YS Text"/>
              </a:rPr>
              <a:t>/</a:t>
            </a:r>
            <a:r>
              <a:rPr lang="en-US" sz="1800" b="1" strike="noStrike" spc="-1">
                <a:solidFill>
                  <a:srgbClr val="002060"/>
                </a:solidFill>
                <a:latin typeface="YS Text"/>
              </a:rPr>
              <a:t>S2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 G = S</a:t>
            </a:r>
            <a:r>
              <a:rPr lang="ru-RU" sz="1800" b="0" strike="noStrike" spc="-1">
                <a:solidFill>
                  <a:srgbClr val="002060"/>
                </a:solidFill>
                <a:latin typeface="YS Text"/>
              </a:rPr>
              <a:t>о</a:t>
            </a: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ab/Sobc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S</a:t>
            </a:r>
            <a:r>
              <a:rPr lang="ru-RU" sz="1800" b="0" strike="noStrike" spc="-1">
                <a:solidFill>
                  <a:srgbClr val="002060"/>
                </a:solidFill>
                <a:latin typeface="YS Text"/>
              </a:rPr>
              <a:t>овс = 5000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Soab= Sobc-Soad-Sdaec-Saeb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Soad=40*70*0,5=1400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Sdaec=30*40=1200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Saeb=60*30*0,5=900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800" b="0" strike="noStrike" spc="-1">
                <a:solidFill>
                  <a:srgbClr val="002060"/>
                </a:solidFill>
                <a:latin typeface="YS Text"/>
              </a:rPr>
              <a:t>Soab=5000-1400-1200-900=1500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1" strike="noStrike" spc="-1">
                <a:solidFill>
                  <a:srgbClr val="002060"/>
                </a:solidFill>
                <a:latin typeface="YS Text"/>
              </a:rPr>
              <a:t>G=1500/5000=0,3 (30%)</a:t>
            </a:r>
            <a:endParaRPr lang="en-US" sz="20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grpSp>
        <p:nvGrpSpPr>
          <p:cNvPr id="726" name="Группа 54"/>
          <p:cNvGrpSpPr/>
          <p:nvPr/>
        </p:nvGrpSpPr>
        <p:grpSpPr bwMode="auto">
          <a:xfrm>
            <a:off x="322200" y="2668680"/>
            <a:ext cx="3483000" cy="3546360"/>
            <a:chOff x="322200" y="2668680"/>
            <a:chExt cx="3483000" cy="3546360"/>
          </a:xfrm>
        </p:grpSpPr>
        <p:cxnSp>
          <p:nvCxnSpPr>
            <p:cNvPr id="727" name="Прямая со стрелкой 6"/>
            <p:cNvCxnSpPr>
              <a:cxnSpLocks/>
            </p:cNvCxnSpPr>
            <p:nvPr/>
          </p:nvCxnSpPr>
          <p:spPr bwMode="auto">
            <a:xfrm flipV="1">
              <a:off x="959760" y="3093480"/>
              <a:ext cx="1080" cy="2625120"/>
            </a:xfrm>
            <a:prstGeom prst="straightConnector1">
              <a:avLst/>
            </a:prstGeom>
            <a:ln w="6480">
              <a:solidFill>
                <a:srgbClr val="4472C4"/>
              </a:solidFill>
              <a:miter/>
              <a:tailEnd type="triangle" w="med" len="med"/>
            </a:ln>
          </p:spPr>
        </p:cxnSp>
        <p:cxnSp>
          <p:nvCxnSpPr>
            <p:cNvPr id="728" name="Прямая со стрелкой 8"/>
            <p:cNvCxnSpPr>
              <a:cxnSpLocks/>
            </p:cNvCxnSpPr>
            <p:nvPr/>
          </p:nvCxnSpPr>
          <p:spPr bwMode="auto">
            <a:xfrm>
              <a:off x="959760" y="5717880"/>
              <a:ext cx="2845800" cy="1080"/>
            </a:xfrm>
            <a:prstGeom prst="straightConnector1">
              <a:avLst/>
            </a:prstGeom>
            <a:ln w="6480">
              <a:solidFill>
                <a:srgbClr val="4472C4"/>
              </a:solidFill>
              <a:miter/>
              <a:tailEnd type="triangle" w="med" len="med"/>
            </a:ln>
          </p:spPr>
        </p:cxnSp>
        <p:sp>
          <p:nvSpPr>
            <p:cNvPr id="729" name="TextBox 9"/>
            <p:cNvSpPr/>
            <p:nvPr/>
          </p:nvSpPr>
          <p:spPr bwMode="auto">
            <a:xfrm>
              <a:off x="360000" y="2668680"/>
              <a:ext cx="284472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Доля от общего дохода, 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0" name="Прямая соединительная линия 12"/>
            <p:cNvSpPr/>
            <p:nvPr/>
          </p:nvSpPr>
          <p:spPr bwMode="auto">
            <a:xfrm flipV="1">
              <a:off x="960120" y="4063680"/>
              <a:ext cx="1930320" cy="165420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1" name="Прямая соединительная линия 14"/>
            <p:cNvSpPr/>
            <p:nvPr/>
          </p:nvSpPr>
          <p:spPr bwMode="auto">
            <a:xfrm>
              <a:off x="2890800" y="4064040"/>
              <a:ext cx="0" cy="165420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2" name="Прямая соединительная линия 16"/>
            <p:cNvSpPr/>
            <p:nvPr/>
          </p:nvSpPr>
          <p:spPr bwMode="auto">
            <a:xfrm>
              <a:off x="960120" y="4064040"/>
              <a:ext cx="193032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3" name="TextBox 17"/>
            <p:cNvSpPr/>
            <p:nvPr/>
          </p:nvSpPr>
          <p:spPr bwMode="auto">
            <a:xfrm>
              <a:off x="498600" y="3965400"/>
              <a:ext cx="57096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100 %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4" name="TextBox 18"/>
            <p:cNvSpPr/>
            <p:nvPr/>
          </p:nvSpPr>
          <p:spPr bwMode="auto">
            <a:xfrm>
              <a:off x="2675880" y="5816520"/>
              <a:ext cx="50796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100 %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5" name="Прямая соединительная линия 20"/>
            <p:cNvSpPr/>
            <p:nvPr/>
          </p:nvSpPr>
          <p:spPr bwMode="auto">
            <a:xfrm>
              <a:off x="2382840" y="5718240"/>
              <a:ext cx="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6" name="Прямая соединительная линия 25"/>
            <p:cNvSpPr/>
            <p:nvPr/>
          </p:nvSpPr>
          <p:spPr bwMode="auto">
            <a:xfrm>
              <a:off x="2317680" y="5181840"/>
              <a:ext cx="0" cy="647640"/>
            </a:xfrm>
            <a:prstGeom prst="line">
              <a:avLst/>
            </a:prstGeom>
            <a:ln w="6480">
              <a:solidFill>
                <a:srgbClr val="4472C4"/>
              </a:solidFill>
              <a:prstDash val="lgDash"/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7" name="TextBox 26"/>
            <p:cNvSpPr/>
            <p:nvPr/>
          </p:nvSpPr>
          <p:spPr bwMode="auto">
            <a:xfrm>
              <a:off x="2129040" y="5816520"/>
              <a:ext cx="50796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70%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8" name="Прямая соединительная линия 28"/>
            <p:cNvSpPr/>
            <p:nvPr/>
          </p:nvSpPr>
          <p:spPr bwMode="auto">
            <a:xfrm>
              <a:off x="960120" y="5181840"/>
              <a:ext cx="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39" name="TextBox 29"/>
            <p:cNvSpPr/>
            <p:nvPr/>
          </p:nvSpPr>
          <p:spPr bwMode="auto">
            <a:xfrm>
              <a:off x="322200" y="5058720"/>
              <a:ext cx="45252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40%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0" name="Прямая соединительная линия 31"/>
            <p:cNvSpPr/>
            <p:nvPr/>
          </p:nvSpPr>
          <p:spPr bwMode="auto">
            <a:xfrm>
              <a:off x="774360" y="5181840"/>
              <a:ext cx="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1" name="Прямая соединительная линия 34"/>
            <p:cNvSpPr/>
            <p:nvPr/>
          </p:nvSpPr>
          <p:spPr bwMode="auto">
            <a:xfrm>
              <a:off x="831600" y="5181840"/>
              <a:ext cx="1485720" cy="0"/>
            </a:xfrm>
            <a:prstGeom prst="line">
              <a:avLst/>
            </a:prstGeom>
            <a:ln w="6480">
              <a:solidFill>
                <a:srgbClr val="4472C4"/>
              </a:solidFill>
              <a:prstDash val="lgDash"/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2" name="Прямая соединительная линия 42"/>
            <p:cNvSpPr/>
            <p:nvPr/>
          </p:nvSpPr>
          <p:spPr bwMode="auto">
            <a:xfrm flipV="1">
              <a:off x="960120" y="5181840"/>
              <a:ext cx="1357200" cy="536400"/>
            </a:xfrm>
            <a:prstGeom prst="line">
              <a:avLst/>
            </a:prstGeom>
            <a:ln w="15840">
              <a:solidFill>
                <a:srgbClr val="E61F3D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3" name="Прямая соединительная линия 44"/>
            <p:cNvSpPr/>
            <p:nvPr/>
          </p:nvSpPr>
          <p:spPr bwMode="auto">
            <a:xfrm flipV="1">
              <a:off x="2317680" y="4087800"/>
              <a:ext cx="573120" cy="1093680"/>
            </a:xfrm>
            <a:prstGeom prst="line">
              <a:avLst/>
            </a:prstGeom>
            <a:ln w="15840">
              <a:solidFill>
                <a:srgbClr val="FF0000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4" name="TextBox 45"/>
            <p:cNvSpPr/>
            <p:nvPr/>
          </p:nvSpPr>
          <p:spPr bwMode="auto">
            <a:xfrm>
              <a:off x="701640" y="5545440"/>
              <a:ext cx="45252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О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5" name="TextBox 47"/>
            <p:cNvSpPr/>
            <p:nvPr/>
          </p:nvSpPr>
          <p:spPr bwMode="auto">
            <a:xfrm>
              <a:off x="2830320" y="3921120"/>
              <a:ext cx="33480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6" name="TextBox 48"/>
            <p:cNvSpPr/>
            <p:nvPr/>
          </p:nvSpPr>
          <p:spPr bwMode="auto">
            <a:xfrm>
              <a:off x="2837519" y="5505480"/>
              <a:ext cx="415439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47" name="TextBox 50"/>
            <p:cNvSpPr/>
            <p:nvPr/>
          </p:nvSpPr>
          <p:spPr bwMode="auto">
            <a:xfrm>
              <a:off x="2243520" y="5530320"/>
              <a:ext cx="17532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</p:grpSp>
      <p:grpSp>
        <p:nvGrpSpPr>
          <p:cNvPr id="748" name="Группа 84"/>
          <p:cNvGrpSpPr/>
          <p:nvPr/>
        </p:nvGrpSpPr>
        <p:grpSpPr bwMode="auto">
          <a:xfrm>
            <a:off x="7431120" y="2558880"/>
            <a:ext cx="3483000" cy="3535920"/>
            <a:chOff x="7431120" y="2558880"/>
            <a:chExt cx="3483000" cy="3535920"/>
          </a:xfrm>
        </p:grpSpPr>
        <p:cxnSp>
          <p:nvCxnSpPr>
            <p:cNvPr id="749" name="Прямая со стрелкой 58"/>
            <p:cNvCxnSpPr>
              <a:cxnSpLocks/>
            </p:cNvCxnSpPr>
            <p:nvPr/>
          </p:nvCxnSpPr>
          <p:spPr bwMode="auto">
            <a:xfrm flipV="1">
              <a:off x="8068680" y="2983680"/>
              <a:ext cx="1080" cy="2622960"/>
            </a:xfrm>
            <a:prstGeom prst="straightConnector1">
              <a:avLst/>
            </a:prstGeom>
            <a:ln w="6480">
              <a:solidFill>
                <a:srgbClr val="4472C4"/>
              </a:solidFill>
              <a:miter/>
              <a:tailEnd type="triangle" w="med" len="med"/>
            </a:ln>
          </p:spPr>
        </p:cxnSp>
        <p:cxnSp>
          <p:nvCxnSpPr>
            <p:cNvPr id="750" name="Прямая со стрелкой 59"/>
            <p:cNvCxnSpPr>
              <a:cxnSpLocks/>
            </p:cNvCxnSpPr>
            <p:nvPr/>
          </p:nvCxnSpPr>
          <p:spPr bwMode="auto">
            <a:xfrm>
              <a:off x="8068680" y="5606640"/>
              <a:ext cx="2845800" cy="1080"/>
            </a:xfrm>
            <a:prstGeom prst="straightConnector1">
              <a:avLst/>
            </a:prstGeom>
            <a:ln w="6480">
              <a:solidFill>
                <a:srgbClr val="4472C4"/>
              </a:solidFill>
              <a:miter/>
              <a:tailEnd type="triangle" w="med" len="med"/>
            </a:ln>
          </p:spPr>
        </p:cxnSp>
        <p:sp>
          <p:nvSpPr>
            <p:cNvPr id="751" name="TextBox 60"/>
            <p:cNvSpPr/>
            <p:nvPr/>
          </p:nvSpPr>
          <p:spPr bwMode="auto">
            <a:xfrm>
              <a:off x="7468920" y="2558880"/>
              <a:ext cx="284472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Доля от общего дохода, 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2" name="Прямая соединительная линия 61"/>
            <p:cNvSpPr/>
            <p:nvPr/>
          </p:nvSpPr>
          <p:spPr bwMode="auto">
            <a:xfrm flipV="1">
              <a:off x="8069039" y="3953880"/>
              <a:ext cx="1930320" cy="1652759"/>
            </a:xfrm>
            <a:prstGeom prst="line">
              <a:avLst/>
            </a:prstGeom>
            <a:ln w="15840">
              <a:solidFill>
                <a:srgbClr val="385723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3" name="Прямая соединительная линия 62"/>
            <p:cNvSpPr/>
            <p:nvPr/>
          </p:nvSpPr>
          <p:spPr bwMode="auto">
            <a:xfrm>
              <a:off x="9999720" y="3954240"/>
              <a:ext cx="0" cy="1652759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4" name="Прямая соединительная линия 63"/>
            <p:cNvSpPr/>
            <p:nvPr/>
          </p:nvSpPr>
          <p:spPr bwMode="auto">
            <a:xfrm>
              <a:off x="8069039" y="3954240"/>
              <a:ext cx="193032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5" name="TextBox 64"/>
            <p:cNvSpPr/>
            <p:nvPr/>
          </p:nvSpPr>
          <p:spPr bwMode="auto">
            <a:xfrm>
              <a:off x="7607520" y="3854880"/>
              <a:ext cx="57096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100 %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6" name="TextBox 65"/>
            <p:cNvSpPr/>
            <p:nvPr/>
          </p:nvSpPr>
          <p:spPr bwMode="auto">
            <a:xfrm>
              <a:off x="9784800" y="5696280"/>
              <a:ext cx="50796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100 %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7" name="Прямая соединительная линия 66"/>
            <p:cNvSpPr/>
            <p:nvPr/>
          </p:nvSpPr>
          <p:spPr bwMode="auto">
            <a:xfrm>
              <a:off x="9491760" y="5607000"/>
              <a:ext cx="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8" name="Прямая соединительная линия 67"/>
            <p:cNvSpPr/>
            <p:nvPr/>
          </p:nvSpPr>
          <p:spPr bwMode="auto">
            <a:xfrm>
              <a:off x="9426600" y="5070600"/>
              <a:ext cx="0" cy="647640"/>
            </a:xfrm>
            <a:prstGeom prst="line">
              <a:avLst/>
            </a:prstGeom>
            <a:ln w="6480">
              <a:solidFill>
                <a:srgbClr val="4472C4"/>
              </a:solidFill>
              <a:prstDash val="lgDash"/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59" name="TextBox 68"/>
            <p:cNvSpPr/>
            <p:nvPr/>
          </p:nvSpPr>
          <p:spPr bwMode="auto">
            <a:xfrm>
              <a:off x="9237960" y="5705640"/>
              <a:ext cx="507960" cy="24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70%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0" name="Прямая соединительная линия 69"/>
            <p:cNvSpPr/>
            <p:nvPr/>
          </p:nvSpPr>
          <p:spPr bwMode="auto">
            <a:xfrm>
              <a:off x="8069039" y="5070600"/>
              <a:ext cx="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1" name="TextBox 70"/>
            <p:cNvSpPr/>
            <p:nvPr/>
          </p:nvSpPr>
          <p:spPr bwMode="auto">
            <a:xfrm>
              <a:off x="7431120" y="4948200"/>
              <a:ext cx="452520" cy="398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000" b="0" strike="noStrike" spc="-1">
                  <a:solidFill>
                    <a:srgbClr val="0F2C68"/>
                  </a:solidFill>
                  <a:latin typeface="HSE Sans"/>
                </a:rPr>
                <a:t>40%</a:t>
              </a:r>
              <a:endParaRPr lang="en-US" sz="10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2" name="Прямая соединительная линия 71"/>
            <p:cNvSpPr/>
            <p:nvPr/>
          </p:nvSpPr>
          <p:spPr bwMode="auto">
            <a:xfrm>
              <a:off x="7883280" y="5070600"/>
              <a:ext cx="0" cy="0"/>
            </a:xfrm>
            <a:prstGeom prst="line">
              <a:avLst/>
            </a:prstGeom>
            <a:ln w="6480">
              <a:solidFill>
                <a:srgbClr val="4472C4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3" name="Прямая соединительная линия 72"/>
            <p:cNvSpPr/>
            <p:nvPr/>
          </p:nvSpPr>
          <p:spPr bwMode="auto">
            <a:xfrm>
              <a:off x="7940520" y="5070600"/>
              <a:ext cx="2059200" cy="0"/>
            </a:xfrm>
            <a:prstGeom prst="line">
              <a:avLst/>
            </a:prstGeom>
            <a:ln w="6480">
              <a:solidFill>
                <a:srgbClr val="4472C4"/>
              </a:solidFill>
              <a:prstDash val="lgDash"/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-46800" rIns="90000" bIns="-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4" name="Прямая соединительная линия 73"/>
            <p:cNvSpPr/>
            <p:nvPr/>
          </p:nvSpPr>
          <p:spPr bwMode="auto">
            <a:xfrm flipV="1">
              <a:off x="8069039" y="5070600"/>
              <a:ext cx="1357200" cy="536400"/>
            </a:xfrm>
            <a:prstGeom prst="line">
              <a:avLst/>
            </a:prstGeom>
            <a:ln w="15840">
              <a:solidFill>
                <a:srgbClr val="E61F3D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5" name="Прямая соединительная линия 74"/>
            <p:cNvSpPr/>
            <p:nvPr/>
          </p:nvSpPr>
          <p:spPr bwMode="auto">
            <a:xfrm flipV="1">
              <a:off x="9426600" y="3978000"/>
              <a:ext cx="573120" cy="1092240"/>
            </a:xfrm>
            <a:prstGeom prst="line">
              <a:avLst/>
            </a:prstGeom>
            <a:ln w="15840">
              <a:solidFill>
                <a:srgbClr val="FF0000"/>
              </a:solidFill>
              <a:miter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noAutofit/>
            </a:bodyPr>
            <a:lstStyle/>
            <a:p>
              <a:pPr>
                <a:defRPr/>
              </a:pPr>
              <a:endParaRPr lang="en-US" sz="18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6" name="TextBox 75"/>
            <p:cNvSpPr/>
            <p:nvPr/>
          </p:nvSpPr>
          <p:spPr bwMode="auto">
            <a:xfrm>
              <a:off x="7810560" y="5434560"/>
              <a:ext cx="45252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200" b="1" strike="noStrike" spc="-1">
                  <a:solidFill>
                    <a:srgbClr val="0F2C68"/>
                  </a:solidFill>
                  <a:latin typeface="HSE Sans"/>
                </a:rPr>
                <a:t>О</a:t>
              </a:r>
              <a:endParaRPr lang="en-US" sz="12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7" name="TextBox 76"/>
            <p:cNvSpPr/>
            <p:nvPr/>
          </p:nvSpPr>
          <p:spPr bwMode="auto">
            <a:xfrm>
              <a:off x="9427320" y="4875840"/>
              <a:ext cx="22032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200" b="1" strike="noStrike" spc="-1">
                  <a:solidFill>
                    <a:srgbClr val="0F2C68"/>
                  </a:solidFill>
                  <a:latin typeface="Calibri"/>
                </a:rPr>
                <a:t>А</a:t>
              </a:r>
              <a:endParaRPr lang="en-US" sz="12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8" name="TextBox 77"/>
            <p:cNvSpPr/>
            <p:nvPr/>
          </p:nvSpPr>
          <p:spPr bwMode="auto">
            <a:xfrm>
              <a:off x="9946440" y="3794400"/>
              <a:ext cx="33480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200" b="1" strike="noStrike" spc="-1">
                  <a:solidFill>
                    <a:srgbClr val="0F2C68"/>
                  </a:solidFill>
                  <a:latin typeface="Calibri"/>
                </a:rPr>
                <a:t>В</a:t>
              </a:r>
              <a:endParaRPr lang="en-US" sz="12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69" name="TextBox 78"/>
            <p:cNvSpPr/>
            <p:nvPr/>
          </p:nvSpPr>
          <p:spPr bwMode="auto">
            <a:xfrm>
              <a:off x="9946440" y="5394600"/>
              <a:ext cx="415439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ru-RU" sz="1200" b="1" strike="noStrike" spc="-1">
                  <a:solidFill>
                    <a:srgbClr val="0F2C68"/>
                  </a:solidFill>
                  <a:latin typeface="Calibri"/>
                </a:rPr>
                <a:t>С</a:t>
              </a:r>
              <a:endParaRPr lang="en-US" sz="12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70" name="TextBox 79"/>
            <p:cNvSpPr/>
            <p:nvPr/>
          </p:nvSpPr>
          <p:spPr bwMode="auto">
            <a:xfrm>
              <a:off x="9388800" y="5391720"/>
              <a:ext cx="175320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US" sz="1200" b="1" strike="noStrike" spc="-1">
                  <a:solidFill>
                    <a:srgbClr val="0F2C68"/>
                  </a:solidFill>
                  <a:latin typeface="Calibri"/>
                </a:rPr>
                <a:t>D</a:t>
              </a:r>
              <a:endParaRPr lang="en-US" sz="12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  <p:sp>
          <p:nvSpPr>
            <p:cNvPr id="771" name="TextBox 81"/>
            <p:cNvSpPr/>
            <p:nvPr/>
          </p:nvSpPr>
          <p:spPr bwMode="auto">
            <a:xfrm>
              <a:off x="9968040" y="4877280"/>
              <a:ext cx="207719" cy="27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lIns="90000" tIns="46800" rIns="90000" bIns="46800" anchor="t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US" sz="1200" b="1" strike="noStrike" spc="-1">
                  <a:solidFill>
                    <a:srgbClr val="0F2C68"/>
                  </a:solidFill>
                  <a:latin typeface="Calibri"/>
                </a:rPr>
                <a:t>E</a:t>
              </a:r>
              <a:endParaRPr lang="en-US" sz="1200" b="0" strike="noStrike" spc="-1">
                <a:solidFill>
                  <a:srgbClr val="0F2C68"/>
                </a:solidFill>
                <a:latin typeface="Calibri"/>
              </a:endParaRPr>
            </a:p>
          </p:txBody>
        </p:sp>
      </p:grpSp>
      <p:sp>
        <p:nvSpPr>
          <p:cNvPr id="772" name="TextBox 82"/>
          <p:cNvSpPr/>
          <p:nvPr/>
        </p:nvSpPr>
        <p:spPr bwMode="auto">
          <a:xfrm>
            <a:off x="10710720" y="5816520"/>
            <a:ext cx="1419480" cy="398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HSE Sans"/>
              </a:rPr>
              <a:t>Доля населения, %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73" name="Прямая соединительная линия 86"/>
          <p:cNvSpPr/>
          <p:nvPr/>
        </p:nvSpPr>
        <p:spPr bwMode="auto">
          <a:xfrm>
            <a:off x="4716360" y="2135160"/>
            <a:ext cx="6480" cy="4514760"/>
          </a:xfrm>
          <a:prstGeom prst="line">
            <a:avLst/>
          </a:prstGeom>
          <a:ln w="6480">
            <a:solidFill>
              <a:srgbClr val="4472C4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74" name="Прямая соединительная линия 88"/>
          <p:cNvSpPr/>
          <p:nvPr/>
        </p:nvSpPr>
        <p:spPr bwMode="auto">
          <a:xfrm>
            <a:off x="8069400" y="5618160"/>
            <a:ext cx="1969920" cy="9360"/>
          </a:xfrm>
          <a:prstGeom prst="line">
            <a:avLst/>
          </a:prstGeom>
          <a:ln w="15840">
            <a:solidFill>
              <a:srgbClr val="4472C4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-37440" rIns="90000" bIns="-3744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75" name="Прямая соединительная линия 91"/>
          <p:cNvSpPr/>
          <p:nvPr/>
        </p:nvSpPr>
        <p:spPr bwMode="auto">
          <a:xfrm>
            <a:off x="10009079" y="4019400"/>
            <a:ext cx="7920" cy="1611360"/>
          </a:xfrm>
          <a:prstGeom prst="line">
            <a:avLst/>
          </a:prstGeom>
          <a:ln w="22320">
            <a:solidFill>
              <a:srgbClr val="4472C4"/>
            </a:solidFill>
            <a:miter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>
              <a:defRPr/>
            </a:pP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76" name="TextBox 5"/>
          <p:cNvSpPr/>
          <p:nvPr/>
        </p:nvSpPr>
        <p:spPr bwMode="auto">
          <a:xfrm>
            <a:off x="2533680" y="4883039"/>
            <a:ext cx="42696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0" strike="noStrike" spc="-1" dirty="0">
                <a:solidFill>
                  <a:srgbClr val="203864"/>
                </a:solidFill>
                <a:latin typeface="HSE Sans"/>
              </a:rPr>
              <a:t>S</a:t>
            </a:r>
            <a:r>
              <a:rPr lang="ru-RU" sz="1600" b="0" strike="noStrike" spc="-1" dirty="0">
                <a:solidFill>
                  <a:srgbClr val="203864"/>
                </a:solidFill>
                <a:latin typeface="HSE Sans"/>
              </a:rPr>
              <a:t>2</a:t>
            </a:r>
            <a:endParaRPr lang="en-US" sz="1600" b="0" strike="noStrike" spc="-1" dirty="0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77" name="TextBox 7"/>
          <p:cNvSpPr/>
          <p:nvPr/>
        </p:nvSpPr>
        <p:spPr bwMode="auto">
          <a:xfrm>
            <a:off x="2101680" y="4780080"/>
            <a:ext cx="4273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0" strike="noStrike" spc="-1" dirty="0">
                <a:solidFill>
                  <a:srgbClr val="FF0000"/>
                </a:solidFill>
                <a:latin typeface="HSE Sans"/>
              </a:rPr>
              <a:t>S</a:t>
            </a:r>
            <a:r>
              <a:rPr lang="ru-RU" sz="1600" b="0" strike="noStrike" spc="-1" dirty="0">
                <a:solidFill>
                  <a:srgbClr val="FF0000"/>
                </a:solidFill>
                <a:latin typeface="HSE Sans"/>
              </a:rPr>
              <a:t>1</a:t>
            </a:r>
            <a:endParaRPr lang="en-US" sz="1600" b="0" strike="noStrike" spc="-1" dirty="0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78" name="TextBox 13"/>
          <p:cNvSpPr/>
          <p:nvPr/>
        </p:nvSpPr>
        <p:spPr bwMode="auto">
          <a:xfrm>
            <a:off x="352439" y="1265400"/>
            <a:ext cx="1115676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800" b="0" strike="noStrike" spc="-1">
                <a:solidFill>
                  <a:srgbClr val="002060"/>
                </a:solidFill>
                <a:latin typeface="YS Text"/>
              </a:rPr>
              <a:t>Пусть в некотором царстве бедных было 70%,  и они владели 40% совокупного дохода, а богатых – 30%, и они владели оставшимися 60%. Найти коэффициент Джини.</a:t>
            </a:r>
            <a:endParaRPr lang="en-US" sz="1800" b="0" strike="noStrike" spc="-1">
              <a:solidFill>
                <a:srgbClr val="0F2C6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HSE Sans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HSE Sans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DADC2-ECE7-3067-0AD1-8771BE1AB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02"/>
          <a:stretch>
            <a:fillRect/>
          </a:stretch>
        </p:blipFill>
        <p:spPr>
          <a:xfrm>
            <a:off x="2100350" y="956880"/>
            <a:ext cx="7992888" cy="55681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0" y="1484784"/>
            <a:ext cx="121935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750"/>
              </a:spcBef>
              <a:spcAft>
                <a:spcPts val="1125"/>
              </a:spcAft>
              <a:defRPr/>
            </a:pPr>
            <a:r>
              <a:rPr lang="ru-RU" sz="3200" b="1" spc="-1" dirty="0">
                <a:solidFill>
                  <a:srgbClr val="113379"/>
                </a:solidFill>
                <a:latin typeface="Aptos" panose="020B0004020202020204" pitchFamily="34" charset="0"/>
              </a:rPr>
              <a:t>Меры по снижению неравенства</a:t>
            </a:r>
            <a:endParaRPr lang="en-GB" sz="14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8E10B-6C05-1EDF-9E49-7010F33B7A9F}"/>
              </a:ext>
            </a:extLst>
          </p:cNvPr>
          <p:cNvSpPr txBox="1"/>
          <p:nvPr/>
        </p:nvSpPr>
        <p:spPr>
          <a:xfrm>
            <a:off x="2856434" y="2420888"/>
            <a:ext cx="7514425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Прогрессивное налогообложение</a:t>
            </a:r>
            <a:endParaRPr lang="ru-RU" sz="2400" dirty="0"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Введение безусловного базового дохода</a:t>
            </a:r>
            <a:endParaRPr lang="ru-RU" sz="2400" dirty="0"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Повышение доступности образования</a:t>
            </a:r>
            <a:endParaRPr lang="ru-RU" sz="2400" dirty="0"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Развитие инфраструктуры</a:t>
            </a:r>
            <a:endParaRPr lang="ru-RU" sz="2400" dirty="0"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Поддержка малого и среднего бизнеса</a:t>
            </a:r>
            <a:endParaRPr lang="ru-RU" sz="2400" dirty="0"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Социальная защита и социальные программы</a:t>
            </a:r>
            <a:endParaRPr lang="ru-RU" sz="2400" dirty="0"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Борьба с коррупцией</a:t>
            </a:r>
            <a:endParaRPr lang="ru-RU" sz="2400" dirty="0">
              <a:latin typeface="Aptos" panose="020B0004020202020204" pitchFamily="34" charset="0"/>
            </a:endParaRPr>
          </a:p>
          <a:p>
            <a:pPr marL="457200" indent="-457200">
              <a:spcAft>
                <a:spcPts val="800"/>
              </a:spcAft>
              <a:buFont typeface="Arial"/>
              <a:buChar char="•"/>
              <a:defRPr/>
            </a:pPr>
            <a:r>
              <a:rPr lang="ru-RU" sz="2400" spc="-1" dirty="0">
                <a:solidFill>
                  <a:srgbClr val="113379"/>
                </a:solidFill>
                <a:latin typeface="Aptos" panose="020B0004020202020204" pitchFamily="34" charset="0"/>
              </a:rPr>
              <a:t>…</a:t>
            </a:r>
            <a:endParaRPr lang="ru-RU" sz="2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/>
          </p:nvPr>
        </p:nvSpPr>
        <p:spPr bwMode="auto">
          <a:xfrm>
            <a:off x="1142640" y="541080"/>
            <a:ext cx="1901880" cy="41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F2C68"/>
                </a:solidFill>
                <a:latin typeface="Aptos" panose="020B0004020202020204" pitchFamily="34" charset="0"/>
              </a:rPr>
              <a:t>НИУ ВШЭ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 bwMode="auto">
          <a:xfrm>
            <a:off x="345924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Факультет экономических наук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/>
          </p:nvPr>
        </p:nvSpPr>
        <p:spPr bwMode="auto">
          <a:xfrm>
            <a:off x="6259680" y="549000"/>
            <a:ext cx="2070000" cy="40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1000" b="0" strike="noStrike" spc="-1">
                <a:solidFill>
                  <a:srgbClr val="0E2D69"/>
                </a:solidFill>
                <a:latin typeface="Aptos" panose="020B0004020202020204" pitchFamily="34" charset="0"/>
              </a:rPr>
              <a:t>Департамент теоретической экономики</a:t>
            </a:r>
            <a:endParaRPr lang="en-US" sz="1000" b="0" strike="noStrike" spc="-1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  <p:sp>
        <p:nvSpPr>
          <p:cNvPr id="800" name="TextBox 6"/>
          <p:cNvSpPr/>
          <p:nvPr/>
        </p:nvSpPr>
        <p:spPr bwMode="auto">
          <a:xfrm>
            <a:off x="538200" y="1550880"/>
            <a:ext cx="10788480" cy="4617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1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Вопрос 1.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В начале июня 2016 года у швейцарцев спросили: не будете ли вы против того, чтобы ежемесячный минимальный гарантированный доход составил у взрослых жителей страны 2500 франков ($2600)? Инициаторы референдума предполагали, что зарабатывающие больше гарантированного минимума швейцарцы ничего от государства получать не будут. А тем, чьи доходы ниже, государство доплатит недостающую до минимума сумму, которая не будет облагаться налогами. 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Как Вы думаете, эта инициатива была поддержана швейцарцами?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b="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А. Да</a:t>
            </a: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ru-RU" sz="2000" strike="noStrike" spc="-1" dirty="0">
                <a:solidFill>
                  <a:srgbClr val="0F2C68"/>
                </a:solidFill>
                <a:latin typeface="Aptos" panose="020B0004020202020204" pitchFamily="34" charset="0"/>
              </a:rPr>
              <a:t>В. Нет</a:t>
            </a:r>
            <a:endParaRPr lang="en-US" sz="200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799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000" b="0" strike="noStrike" spc="-1" dirty="0">
              <a:solidFill>
                <a:srgbClr val="0F2C68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</TotalTime>
  <Words>1388</Words>
  <Application>Microsoft Macintosh PowerPoint</Application>
  <DocSecurity>0</DocSecurity>
  <PresentationFormat>Custom</PresentationFormat>
  <Paragraphs>269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HSE Sans</vt:lpstr>
      <vt:lpstr>YS Text</vt:lpstr>
      <vt:lpstr>Office Theme</vt:lpstr>
      <vt:lpstr>Office Theme</vt:lpstr>
      <vt:lpstr>Office Theme</vt:lpstr>
      <vt:lpstr>Дисциплина «ЭКОНОМИКА»  Тема 5. НЕРАВЕНСТВО И БЛАГОСОСТОЯНИЕ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Кутьков Юрий Юрьевич</dc:creator>
  <cp:keywords/>
  <dc:description/>
  <cp:lastModifiedBy>Анна Иванова</cp:lastModifiedBy>
  <cp:revision>81</cp:revision>
  <dcterms:created xsi:type="dcterms:W3CDTF">2021-11-11T11:52:47Z</dcterms:created>
  <dcterms:modified xsi:type="dcterms:W3CDTF">2026-04-18T10:15:25Z</dcterms:modified>
  <cp:category/>
  <dc:identifier/>
  <cp:contentStatus/>
  <dc:language>en-US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